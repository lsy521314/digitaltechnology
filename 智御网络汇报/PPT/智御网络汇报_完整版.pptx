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7.xml" ContentType="application/vnd.openxmlformats-officedocument.presentationml.slide+xml"/>
  <Override PartName="/ppt/tableStyles.xml" ContentType="application/vnd.openxmlformats-officedocument.presentationml.tableStyles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2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0" Type="http://schemas.openxmlformats.org/officeDocument/2006/relationships/slide" Target="slides/slide20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3" Type="http://schemas.openxmlformats.org/officeDocument/2006/relationships/slide" Target="slides/slide13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1" Type="http://schemas.openxmlformats.org/officeDocument/2006/relationships/slide" Target="slides/slide21.xml" /><Relationship Id="rId9" Type="http://schemas.openxmlformats.org/officeDocument/2006/relationships/slide" Target="slides/slide9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9" Type="http://schemas.openxmlformats.org/officeDocument/2006/relationships/notesMaster" Target="notesMasters/notesMaster1.xml" /><Relationship Id="rId26" Type="http://schemas.openxmlformats.org/officeDocument/2006/relationships/slide" Target="slides/slide26.xml" /><Relationship Id="rId8" Type="http://schemas.openxmlformats.org/officeDocument/2006/relationships/slide" Target="slides/slide8.xml" /><Relationship Id="rId27" Type="http://schemas.openxmlformats.org/officeDocument/2006/relationships/slide" Target="slides/slide27.xml" /><Relationship Id="rId28" Type="http://schemas.openxmlformats.org/officeDocument/2006/relationships/slide" Target="slides/slide28.xml" /><Relationship Id="rId3" Type="http://schemas.openxmlformats.org/officeDocument/2006/relationships/slide" Target="slides/slide3.xml" /><Relationship Id="rId30" Type="http://schemas.openxmlformats.org/officeDocument/2006/relationships/presProps" Target="presProps.xml" /><Relationship Id="rId31" Type="http://schemas.openxmlformats.org/officeDocument/2006/relationships/tableStyles" Target="tableStyles.xml" /><Relationship Id="rId32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1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2.svg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33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35.png" /><Relationship Id="rId1" Type="http://schemas.openxmlformats.org/officeDocument/2006/relationships/image" Target="media/image34.svg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2" Type="http://schemas.openxmlformats.org/officeDocument/2006/relationships/image" Target="media/image36.pn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7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Relationship Id="rId2" Type="http://schemas.openxmlformats.org/officeDocument/2006/relationships/image" Target="media/image3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2" Type="http://schemas.openxmlformats.org/officeDocument/2006/relationships/image" Target="media/image5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Relationship Id="rId2" Type="http://schemas.openxmlformats.org/officeDocument/2006/relationships/image" Target="media/image7.sv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8.png" /><Relationship Id="rId1" Type="http://schemas.openxmlformats.org/officeDocument/2006/relationships/image" Target="media/image4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/Relationships>
</file>

<file path=ppt/slides/_rels/slide18.xml.rels><?xml version="1.0" encoding="UTF-8" standalone="yes"?><Relationships xmlns="http://schemas.openxmlformats.org/package/2006/relationships"><Relationship Id="rId2" Type="http://schemas.openxmlformats.org/officeDocument/2006/relationships/image" Target="media/image12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3.sv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5.svg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6.svg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7.svg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2" Type="http://schemas.openxmlformats.org/officeDocument/2006/relationships/image" Target="media/image18.png" /><Relationship Id="rId3" Type="http://schemas.openxmlformats.org/officeDocument/2006/relationships/image" Target="media/image19.png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2" Type="http://schemas.openxmlformats.org/officeDocument/2006/relationships/image" Target="media/image20.png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3" Type="http://schemas.openxmlformats.org/officeDocument/2006/relationships/image" Target="media/image22.png" /><Relationship Id="rId2" Type="http://schemas.openxmlformats.org/officeDocument/2006/relationships/image" Target="media/image21.png" /><Relationship Id="rId4" Type="http://schemas.openxmlformats.org/officeDocument/2006/relationships/image" Target="media/image23.png" /></Relationships>
</file>

<file path=ppt/slides/_rels/slide26.xml.rels><?xml version="1.0" encoding="UTF-8" standalone="yes"?><Relationships xmlns="http://schemas.openxmlformats.org/package/2006/relationships"><Relationship Id="rId4" Type="http://schemas.openxmlformats.org/officeDocument/2006/relationships/image" Target="media/image26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3" Type="http://schemas.openxmlformats.org/officeDocument/2006/relationships/image" Target="media/image25.png" /><Relationship Id="rId2" Type="http://schemas.openxmlformats.org/officeDocument/2006/relationships/image" Target="media/image24.png" /><Relationship Id="rId5" Type="http://schemas.openxmlformats.org/officeDocument/2006/relationships/image" Target="media/image27.png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2" Type="http://schemas.openxmlformats.org/officeDocument/2006/relationships/image" Target="media/image28.png" /><Relationship Id="rId3" Type="http://schemas.openxmlformats.org/officeDocument/2006/relationships/image" Target="media/image29.png" /><Relationship Id="rId4" Type="http://schemas.openxmlformats.org/officeDocument/2006/relationships/image" Target="media/image30.png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 descr="&lt;Slide style={{ width: 1280, height: 720, background: '#07111B', padding: 0, position: 'relative', overflow: 'hidden' }}&gt;&#13;&#10;    &lt;Image src=&quot;assets/cover_topology.png&quot; style={{ position: 'absolute', left: 0, top: 0, width: 1280, height: 720, objectFit: 'cover', opacity: 0.62 }} /&gt;&#13;&#10;    &lt;Box style={{ position: 'absolute', left: 0, top: 0, width: 1280, height: 720, background: 'linear-gradient(90deg, #07111B 0%, rgba(7,17,27,0.98) 34%, rgba(7,17,27,0.78) 56%, rgba(7,17,27,0.38) 100%)' }} /&gt;&#13;&#10;    &lt;Box style={{ position: 'absolute', left: 0, top: 0, width: 1280, height: 720, background: 'linear-gradient(180deg, rgba(7,17,27,0.30) 0%, rgba(7,17,27,0) 30%, rgba(7,17,27,0) 70%, rgba(7,17,27,0.72) 100%)' }} /&gt;&#13;&#10;    &lt;Box style={{ position: 'absolute', left: 0, top: 0, width: 5, height: 720, background: '#6BC8D1', opacity: 0.6 }} /&gt;&#13;&#10;&#13;&#10;    &lt;Box style={{ position: 'absolute', left: 72, top: 88, width: 560 }}&gt;&#13;&#10;        &lt;Box style={{ flexDirection: 'row', alignItems: 'center', gap: 10 }}&gt;&#13;&#10;            &lt;Box style={{ width: 18, height: 1, background: '#6BC8D1' }} /&gt;&#13;&#10;            &lt;Text style={{ fontFamily: 'Consolas', fontSize: 11, color: '#6BC8D1', letterSpacing: 1.5 }}&gt;2026 全国大学生数字媒体科技作品及创意竞赛&lt;/Text&gt;&#13;&#10;        &lt;/Box&gt;&#13;&#10;        &lt;Text style={{ marginTop: 24, fontFamily: 'Microsoft YaHei', fontSize: 82, fontWeight: 'bold', color: '#F2F7F8', letterSpacing: 4, lineHeight: 1.05 }}&gt;智御网络&lt;/Text&gt;&#13;&#10;        &lt;Box style={{ marginTop: 14, width: 48, height: 3, background: '#6BC8D1' }} /&gt;&#13;&#10;        &lt;Text style={{ marginTop: 18, fontFamily: 'Microsoft YaHei', fontSize: 24, color: '#F2F7F8', letterSpacing: 1.2 }}&gt;三维网络安全策略交互验证平台&lt;/Text&gt;&#13;&#10;        &lt;Text style={{ marginTop: 18, fontFamily: 'Microsoft YaHei', fontSize: 14.5, color: 'rgba(242,247,248,0.68)', lineHeight: 1.8, width: 450 }}&gt;&#13;&#10;            在企业网络沙盘中调整拓扑与防御策略，观察事件路径、攻击状态、业务可达性，并用 A/B 对照验证每一次改动。&#13;&#10;        &lt;/Text&gt;&#13;&#10;        &lt;Box style={{ marginTop: 26, flexDirection: 'row', gap: 10 }}&gt;&#13;&#10;            &lt;Box style={{ paddingLeft: 12, paddingRight: 12, paddingTop: 6, paddingBottom: 6, border: '1px solid rgba(107,200,209,0.30)', borderRadius: 4 }}&gt;&#13;&#10;                &lt;Text style={{ fontFamily: 'Consolas', fontSize: 10.5, color: '#6BC8D1', letterSpacing: 0.8 }}&gt;三维交互&lt;/Text&gt;&#13;&#10;            &lt;/Box&gt;&#13;&#10;            &lt;Box style={{ paddingLeft: 12, paddingRight: 12, paddingTop: 6, paddingBottom: 6, border: '1px solid rgba(107,200,209,0.30)', borderRadius: 4 }}&gt;&#13;&#10;                &lt;Text style={{ fontFamily: 'Consolas', fontSize: 10.5, color: '#6BC8D1', letterSpacing: 0.8 }}&gt;状态推演&lt;/Text&gt;&#13;&#10;            &lt;/Box&gt;&#13;&#10;            &lt;Box style={{ paddingLeft: 12, paddingRight: 12, paddingTop: 6, paddingBottom: 6, border: '1px solid rgba(107,200,209,0.30)', borderRadius: 4 }}&gt;&#13;&#10;                &lt;Text style={{ fontFamily: 'Consolas', fontSize: 10.5, color: '#6BC8D1', letterSpacing: 0.8 }}&gt;A/B 验证&lt;/Text&gt;&#13;&#10;            &lt;/Box&gt;&#13;&#10;        &lt;/Box&gt;&#13;&#10;    &lt;/Box&gt;&#13;&#10;&#13;&#10;    &lt;Box style={{ position: 'absolute', left: 72, bottom: 50, flexDirection: 'row', alignItems: 'center', gap: 14 }}&gt;&#13;&#10;        &lt;Text style={{ fontFamily: 'Consolas', fontSize: 11, color: 'rgba(242,247,248,0.48)', letterSpacing: 1.4 }}&gt;参赛作品汇报&lt;/Text&gt;&#13;&#10;        &lt;Box style={{ width: 26, height: 1, background: 'rgba(242,247,248,0.24)' }} /&gt;&#13;&#10;        &lt;Text style={{ fontFamily: 'Consolas', fontSize: 11, color: 'rgba(242,247,248,0.48)', letterSpacing: 1.4 }}&gt;2026.10&lt;/Text&gt;&#13;&#10;    &lt;/Box&gt;&#13;&#10;&#13;&#10;    &lt;Box style={{ position: 'absolute', right: 56, top: 44, flexDirection: 'row', alignItems: 'center', gap: 8 }}&gt;&#13;&#10;        &lt;Box style={{ width: 6, height: 6, borderRadius: 3, background: '#6BC8D1' }} /&gt;&#13;&#10;        &lt;Text style={{ fontFamily: 'Consolas', fontSize: 10, color: 'rgba(242,247,248,0.52)', letterSpacing: 1.6 }}&gt;INTERACTIVE SECURITY SANDBOX&lt;/Text&gt;&#13;&#10;    &lt;/Box&gt;&#13;&#10;&#13;&#10;    &lt;Box style={{ position: 'absolute', right: 56, bottom: 50, flexDirection: 'row', alignItems: 'center', gap: 10 }}&gt;&#13;&#10;        &lt;Text style={{ fontFamily: 'Consolas', fontSize: 10, color: 'rgba(242,247,248,0.46)', letterSpacing: 1 }}&gt;核心实验 · 终端失陷与横向传播&lt;/Text&gt;&#13;&#10;        &lt;Box style={{ width: 22, height: 1, background: 'rgba(107,200,209,0.46)' }} /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>
            <a:alphaModFix amt="62000"/>
          </a:blip>
          <a:srcRect l="43" t="0" r="43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B"/>
              </a:gs>
              <a:gs pos="34000">
                <a:srgbClr val="07111B">
                  <a:alpha val="98000"/>
                </a:srgbClr>
              </a:gs>
              <a:gs pos="56000">
                <a:srgbClr val="07111B">
                  <a:alpha val="78000"/>
                </a:srgbClr>
              </a:gs>
              <a:gs pos="100000">
                <a:srgbClr val="07111B">
                  <a:alpha val="38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B">
                  <a:alpha val="30000"/>
                </a:srgbClr>
              </a:gs>
              <a:gs pos="30000">
                <a:srgbClr val="07111B">
                  <a:alpha val="0"/>
                </a:srgbClr>
              </a:gs>
              <a:gs pos="70000">
                <a:srgbClr val="07111B">
                  <a:alpha val="0"/>
                </a:srgbClr>
              </a:gs>
              <a:gs pos="100000">
                <a:srgbClr val="07111B">
                  <a:alpha val="72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6" name=""/>
          <p:cNvSpPr/>
          <p:nvPr/>
        </p:nvSpPr>
        <p:spPr>
          <a:xfrm rot="0" flipH="0" flipV="0">
            <a:off x="0" y="0"/>
            <a:ext cx="47625" cy="6858000"/>
          </a:xfrm>
          <a:prstGeom prst="rect">
            <a:avLst/>
          </a:prstGeom>
          <a:solidFill>
            <a:srgbClr val="6BC8D1">
              <a:alpha val="60000"/>
            </a:srgbClr>
          </a:solidFill>
          <a:ln/>
        </p:spPr>
        <p:txBody>
          <a:bodyPr/>
          <a:p/>
        </p:txBody>
      </p:sp>
      <p:sp>
        <p:nvSpPr>
          <p:cNvPr id="7" name=""/>
          <p:cNvSpPr/>
          <p:nvPr/>
        </p:nvSpPr>
        <p:spPr>
          <a:xfrm rot="0" flipH="0" flipV="0">
            <a:off x="685800" y="904875"/>
            <a:ext cx="17145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52500" y="838200"/>
            <a:ext cx="3533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13">
                <a:solidFill>
                  <a:srgbClr val="6BC8D1"/>
                </a:solidFill>
                <a:latin typeface="Consolas"/>
                <a:ea typeface="Consolas"/>
              </a:rPr>
              <a:t>2026 </a:t>
            </a:r>
            <a:r>
              <a:rPr lang="zh-CN" sz="825" spc="113">
                <a:solidFill>
                  <a:srgbClr val="6BC8D1"/>
                </a:solidFill>
                <a:latin typeface="Consolas"/>
                <a:ea typeface="Consolas"/>
              </a:rPr>
              <a:t>全国大学生数字媒体科技作品及创意竞赛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85800" y="1200150"/>
            <a:ext cx="5334000" cy="99060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zh-CN" sz="6150" b="1" spc="300">
                <a:solidFill>
                  <a:srgbClr val="F2F7F8"/>
                </a:solidFill>
                <a:latin typeface="Microsoft YaHei"/>
                <a:ea typeface="Microsoft YaHei"/>
              </a:rPr>
              <a:t>智御网络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685800" y="2324100"/>
            <a:ext cx="457200" cy="2857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5334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90">
                <a:solidFill>
                  <a:srgbClr val="F2F7F8"/>
                </a:solidFill>
                <a:latin typeface="Microsoft YaHei"/>
                <a:ea typeface="Microsoft YaHei"/>
              </a:rPr>
              <a:t>三维网络安全策略交互验证平台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85800" y="2971800"/>
            <a:ext cx="428625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88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在企业网络沙盘中调整拓扑与防御策略，观察事件路径、攻击状态、业务可达性，并用</a:t>
            </a:r>
            <a:r>
              <a:rPr lang="en-US" sz="1088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 A/B </a:t>
            </a:r>
            <a:r>
              <a:rPr lang="zh-CN" sz="1088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对照验证每一次改动。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685800" y="3819525"/>
            <a:ext cx="914400" cy="238125"/>
          </a:xfrm>
          <a:prstGeom prst="roundRect">
            <a:avLst>
              <a:gd name="adj" fmla="val 16000"/>
            </a:avLst>
          </a:prstGeom>
          <a:ln w="12700">
            <a:solidFill>
              <a:srgbClr val="6BC8D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00100" y="3876675"/>
            <a:ext cx="6858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6BC8D1"/>
                </a:solidFill>
                <a:latin typeface="Consolas"/>
                <a:ea typeface="Consolas"/>
              </a:rPr>
              <a:t>三维交互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1695450" y="3819525"/>
            <a:ext cx="914400" cy="238125"/>
          </a:xfrm>
          <a:prstGeom prst="roundRect">
            <a:avLst>
              <a:gd name="adj" fmla="val 16000"/>
            </a:avLst>
          </a:prstGeom>
          <a:ln w="12700">
            <a:solidFill>
              <a:srgbClr val="6BC8D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809750" y="3876675"/>
            <a:ext cx="6858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6BC8D1"/>
                </a:solidFill>
                <a:latin typeface="Consolas"/>
                <a:ea typeface="Consolas"/>
              </a:rPr>
              <a:t>状态推演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2705100" y="3819525"/>
            <a:ext cx="819150" cy="238125"/>
          </a:xfrm>
          <a:prstGeom prst="roundRect">
            <a:avLst>
              <a:gd name="adj" fmla="val 16000"/>
            </a:avLst>
          </a:prstGeom>
          <a:ln w="12700">
            <a:solidFill>
              <a:srgbClr val="6BC8D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2819400" y="3876675"/>
            <a:ext cx="5905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60">
                <a:solidFill>
                  <a:srgbClr val="6BC8D1"/>
                </a:solidFill>
                <a:latin typeface="Consolas"/>
                <a:ea typeface="Consolas"/>
              </a:rPr>
              <a:t>A/B </a:t>
            </a:r>
            <a:r>
              <a:rPr lang="zh-CN" sz="788" spc="60">
                <a:solidFill>
                  <a:srgbClr val="6BC8D1"/>
                </a:solidFill>
                <a:latin typeface="Consolas"/>
                <a:ea typeface="Consolas"/>
              </a:rPr>
              <a:t>验证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85800" y="6248400"/>
            <a:ext cx="1057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105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参赛作品汇报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1876425" y="6315075"/>
            <a:ext cx="247650" cy="9525"/>
          </a:xfrm>
          <a:prstGeom prst="rect">
            <a:avLst/>
          </a:prstGeom>
          <a:solidFill>
            <a:srgbClr val="F2F7F8">
              <a:alpha val="24000"/>
            </a:srgbClr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2257425" y="6248400"/>
            <a:ext cx="504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05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2026.10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9629775" y="4476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9763125" y="419100"/>
            <a:ext cx="18954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120">
                <a:solidFill>
                  <a:srgbClr val="F2F7F8">
                    <a:alpha val="52000"/>
                  </a:srgbClr>
                </a:solidFill>
                <a:latin typeface="Consolas"/>
                <a:ea typeface="Consolas"/>
              </a:rPr>
              <a:t>INTERACTIVE SECURITY SANDBOX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934450" y="6267450"/>
            <a:ext cx="2419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75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核心实验</a:t>
            </a:r>
            <a:r>
              <a:rPr lang="en-US" sz="750" spc="75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50" spc="75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终端失陷与横向传播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49050" y="6324600"/>
            <a:ext cx="209550" cy="9525"/>
          </a:xfrm>
          <a:prstGeom prst="rect">
            <a:avLst/>
          </a:prstGeom>
          <a:solidFill>
            <a:srgbClr val="6BC8D1">
              <a:alpha val="46000"/>
            </a:srgbClr>
          </a:solidFill>
          <a:ln/>
        </p:spPr>
        <p:txBody>
          <a:bodyPr/>
          <a:p/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66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8)' strokeWidth='1'&gt;&#13;&#10;            &lt;path d='M0 64H1280M0 128H1280M0 192H1280M0 256H1280M0 320H1280M0 384H1280M0 448H1280M0 512H1280M0 576H1280M0 640H1280' /&gt;&#13;&#10;            &lt;path d='M64 0V720M128 0V720M192 0V720M256 0V720M320 0V720M384 0V720M448 0V720M512 0V720M576 0V720M640 0V720M704 0V720M768 0V720M832 0V720M896 0V720M960 0V720M1024 0V720M1088 0V720M1152 0V720M1216 0V720' /&gt;&#13;&#10;        &lt;/g&gt;&#13;&#10;        &lt;circle cx='1120' cy='60' r='260' fill='rgba(107,200,209,0.05)' /&gt;&#13;&#10;    &lt;/svg&gt;&#13;&#10;    &lt;Box style={{ position: 'absolute', left: 0, top: 0, width: 4, height: 720, background: '#6BC8D1', opacity: 0.5 }} /&gt;&#13;&#10;&#13;&#10;    &lt;Box style={{ position: 'absolute', left: 56, top: 38 }}&gt;&#13;&#10;        &lt;Text style={{ fontFamily: 'Consolas', fontSize: 11, color: '#6BC8D1', letterSpacing: 2 }}&gt;CONTENTS&lt;/Text&gt;&#13;&#10;    &lt;/Box&gt;&#13;&#10;&#13;&#10;    &lt;Box style={{ position: 'absolute', left: 56, top: 94, width: 268 }}&gt;&#13;&#10;        &lt;Text style={{ fontFamily: 'Microsoft YaHei', fontSize: 54, fontWeight: 'bold', color: '#F2F7F8', letterSpacing: 2 }}&gt;目录&lt;/Text&gt;&#13;&#10;        &lt;Box style={{ marginTop: 18, width: 34, height: 2, background: '#6BC8D1' }} /&gt;&#13;&#10;        &lt;Text style={{ marginTop: 22, fontFamily: 'Microsoft YaHei', fontSize: 13, color: 'rgba(242,247,248,0.58)', lineHeight: 1.9 }}&gt;&#13;&#10;            五章，回答五个问题：&lt;br /&gt;为什么做、做了什么、&lt;br /&gt;怎么做到、怎么验证、&lt;br /&gt;价值在哪里。&#13;&#10;        &lt;/Text&gt;&#13;&#10;        &lt;Box style={{ marginTop: 30, paddingTop: 12, borderTop: '1px solid rgba(242,247,248,0.12)', flexDirection: 'row', gap: 20 }}&gt;&#13;&#10;            &lt;Box&gt;&#13;&#10;                &lt;Text style={{ fontFamily: 'Consolas', fontSize: 26, fontWeight: 'bold', color: '#F2F7F8' }}&gt;05&lt;/Text&gt;&#13;&#10;                &lt;Text style={{ marginTop: 2, fontFamily: 'Consolas', fontSize: 9.5, color: 'rgba(242,247,248,0.40)', letterSpacing: 1 }}&gt;CHAPTERS&lt;/Text&gt;&#13;&#10;            &lt;/Box&gt;&#13;&#10;            &lt;Box&gt;&#13;&#10;                &lt;Text style={{ fontFamily: 'Consolas', fontSize: 26, fontWeight: 'bold', color: '#F2F7F8' }}&gt;28&lt;/Text&gt;&#13;&#10;                &lt;Text style={{ marginTop: 2, fontFamily: 'Consolas', fontSize: 9.5, color: 'rgba(242,247,248,0.40)', letterSpacing: 1 }}&gt;PAGES&lt;/Text&gt;&#13;&#10;            &lt;/Box&gt;&#13;&#10;        &lt;/Box&gt;&#13;&#10;    &lt;/Box&gt;&#13;&#10;&#13;&#10;    &lt;Box style={{ position: 'absolute', left: 366, top: 84, width: 2, height: 566, background: 'rgba(242,247,248,0.10)' }} /&gt;&#13;&#10;&#13;&#10;    &lt;Box style={{ position: 'absolute', left: 410, top: 72, width: 814 }}&gt;&#13;&#10;        &lt;Box style={{ flexDirection: 'row', alignItems: 'center', height: 100, borderBottom: '1px solid rgba(242,247,248,0.10)' }}&gt;&#13;&#10;            &lt;Text style={{ width: 58, fontFamily: 'Consolas', fontSize: 13, color: '#6BC8D1', letterSpacing: 1 }}&gt;01&lt;/Text&gt;&#13;&#10;            &lt;Box style={{ width: 620 }}&gt;&#13;&#10;                &lt;Text style={{ fontFamily: 'Microsoft YaHei', fontSize: 23, fontWeight: 'bold', color: '#F2F7F8', letterSpacing: 0.5 }}&gt;背景与问题&lt;/Text&gt;&#13;&#10;                &lt;Text style={{ marginTop: 5, fontFamily: 'Microsoft YaHei', fontSize: 12, color: 'rgba(242,247,248,0.55)' }}&gt;安全策略教学，为什么“讲了”却“不会用”？&lt;/Text&gt;&#13;&#10;            &lt;/Box&gt;&#13;&#10;            &lt;Text style={{ width: 84, textAlign: 'right', fontFamily: 'Consolas', fontSize: 11, color: 'rgba(242,247,248,0.40)' }}&gt;P.03&lt;/Text&gt;&#13;&#10;        &lt;/Box&gt;&#13;&#10;        &lt;Box style={{ flexDirection: 'row', alignItems: 'center', height: 100, borderBottom: '1px solid rgba(242,247,248,0.10)' }}&gt;&#13;&#10;            &lt;Text style={{ width: 58, fontFamily: 'Consolas', fontSize: 13, color: '#6BC8D1', letterSpacing: 1 }}&gt;02&lt;/Text&gt;&#13;&#10;            &lt;Box style={{ width: 620 }}&gt;&#13;&#10;                &lt;Text style={{ fontFamily: 'Microsoft YaHei', fontSize: 23, fontWeight: 'bold', color: '#F2F7F8', letterSpacing: 0.5 }}&gt;作品概览&lt;/Text&gt;&#13;&#10;                &lt;Text style={{ marginTop: 5, fontFamily: 'Microsoft YaHei', fontSize: 12, color: 'rgba(242,247,248,0.55)' }}&gt;一个平台、六个工作面、七个实验场景。&lt;/Text&gt;&#13;&#10;            &lt;/Box&gt;&#13;&#10;            &lt;Text style={{ width: 84, textAlign: 'right', fontFamily: 'Consolas', fontSize: 11, color: 'rgba(242,247,248,0.40)' }}&gt;P.05&lt;/Text&gt;&#13;&#10;        &lt;/Box&gt;&#13;&#10;        &lt;Box style={{ flexDirection: 'row', alignItems: 'center', height: 100, borderBottom: '1px solid rgba(242,247,248,0.10)' }}&gt;&#13;&#10;            &lt;Text style={{ width: 58, fontFamily: 'Consolas', fontSize: 13, color: '#6BC8D1', letterSpacing: 1 }}&gt;03&lt;/Text&gt;&#13;&#10;            &lt;Box style={{ width: 620 }}&gt;&#13;&#10;                &lt;Text style={{ fontFamily: 'Microsoft YaHei', fontSize: 23, fontWeight: 'bold', color: '#F2F7F8', letterSpacing: 0.5 }}&gt;核心机制&lt;/Text&gt;&#13;&#10;                &lt;Text style={{ marginTop: 5, fontFamily: 'Microsoft YaHei', fontSize: 12, color: 'rgba(242,247,248,0.55)' }}&gt;双引擎、三维沙盘、策略判定与状态链。&lt;/Text&gt;&#13;&#10;            &lt;/Box&gt;&#13;&#10;            &lt;Text style={{ width: 84, textAlign: 'right', fontFamily: 'Consolas', fontSize: 11, color: 'rgba(242,247,248,0.40)' }}&gt;P.09&lt;/Text&gt;&#13;&#10;        &lt;/Box&gt;&#13;&#10;        &lt;Box style={{ flexDirection: 'row', alignItems: 'center', height: 100, borderBottom: '1px solid rgba(242,247,248,0.10)' }}&gt;&#13;&#10;            &lt;Text style={{ width: 58, fontFamily: 'Consolas', fontSize: 13, color: '#6BC8D1', letterSpacing: 1 }}&gt;04&lt;/Text&gt;&#13;&#10;            &lt;Box style={{ width: 620 }}&gt;&#13;&#10;                &lt;Text style={{ fontFamily: 'Microsoft YaHei', fontSize: 23, fontWeight: 'bold', color: '#F2F7F8', letterSpacing: 0.5 }}&gt;实验与验证&lt;/Text&gt;&#13;&#10;                &lt;Text style={{ marginTop: 5, fontFamily: 'Microsoft YaHei', fontSize: 12, color: 'rgba(242,247,248,0.55)' }}&gt;七个场景、一条教学闭环、清晰的模型边界。&lt;/Text&gt;&#13;&#10;            &lt;/Box&gt;&#13;&#10;            &lt;Text style={{ width: 84, textAlign: 'right', fontFamily: 'Consolas', fontSize: 11, color: 'rgba(242,247,248,0.40)' }}&gt;P.16&lt;/Text&gt;&#13;&#10;        &lt;/Box&gt;&#13;&#10;        &lt;Box style={{ flexDirection: 'row', alignItems: 'center', height: 100 }}&gt;&#13;&#10;            &lt;Text style={{ width: 58, fontFamily: 'Consolas', fontSize: 13, color: '#6BC8D1', letterSpacing: 1 }}&gt;05&lt;/Text&gt;&#13;&#10;            &lt;Box style={{ width: 620 }}&gt;&#13;&#10;                &lt;Text style={{ fontFamily: 'Microsoft YaHei', fontSize: 23, fontWeight: 'bold', color: '#F2F7F8', letterSpacing: 0.5 }}&gt;价值与展望&lt;/Text&gt;&#13;&#10;                &lt;Text style={{ marginTop: 5, fontFamily: 'Microsoft YaHei', fontSize: 12, color: 'rgba(242,247,248,0.55)' }}&gt;三个创新点，最终都指向“可验证”。&lt;/Text&gt;&#13;&#10;            &lt;/Box&gt;&#13;&#10;            &lt;Text style={{ width: 84, textAlign: 'right', fontFamily: 'Consolas', fontSize: 11, color: 'rgba(242,247,248,0.40)' }}&gt;P.20&lt;/Text&gt;&#13;&#10;        &lt;/Box&gt;&#13;&#10;    &lt;/Box&gt;&#13;&#10;&#13;&#10;    &lt;Box style={{ position: 'absolute', left: 410, top: 604, flexDirection: 'row', alignItems: 'center', gap: 8 }}&gt;&#13;&#10;        &lt;Text style={{ fontFamily: 'Consolas', fontSize: 9.5, color: '#6BC8D1', letterSpacing: 1.2 }}&gt;APPENDIX&lt;/Text&gt;&#13;&#10;        &lt;Box style={{ width: 18, height: 1, background: 'rgba(107,200,209,0.40)' }} /&gt;&#13;&#10;        &lt;Text style={{ fontFamily: 'Microsoft YaHei', fontSize: 10.5, color: 'rgba(242,247,248,0.44)' }}&gt;功能图集 · 6 页 · P.22–27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02 / 2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5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69" name=""/>
          <p:cNvSpPr/>
          <p:nvPr/>
        </p:nvSpPr>
        <p:spPr>
          <a:xfrm rot="0" flipH="0" flipV="0">
            <a:off x="0" y="0"/>
            <a:ext cx="38100" cy="6858000"/>
          </a:xfrm>
          <a:prstGeom prst="rect">
            <a:avLst/>
          </a:prstGeom>
          <a:solidFill>
            <a:srgbClr val="6BC8D1">
              <a:alpha val="50000"/>
            </a:srgbClr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6191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50">
                <a:solidFill>
                  <a:srgbClr val="6BC8D1"/>
                </a:solidFill>
                <a:latin typeface="Consolas"/>
                <a:ea typeface="Consolas"/>
              </a:rPr>
              <a:t>CONTENTS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533400" y="895350"/>
            <a:ext cx="25527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050" b="1" spc="150">
                <a:solidFill>
                  <a:srgbClr val="F2F7F8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533400" y="1685925"/>
            <a:ext cx="323850" cy="19050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533400" y="1914525"/>
            <a:ext cx="2552700" cy="11334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97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五章，回答五个问题：</a:t>
            </a:r>
            <a:endParaRPr/>
          </a:p>
          <a:p>
            <a:pPr>
              <a:lnSpc>
                <a:spcPct val="190000"/>
              </a:lnSpc>
            </a:pPr>
            <a:r>
              <a:rPr lang="zh-CN" sz="97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为什么做、做了什么、</a:t>
            </a:r>
            <a:endParaRPr/>
          </a:p>
          <a:p>
            <a:pPr>
              <a:lnSpc>
                <a:spcPct val="190000"/>
              </a:lnSpc>
            </a:pPr>
            <a:r>
              <a:rPr lang="zh-CN" sz="97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怎么做到、怎么验证、</a:t>
            </a:r>
            <a:endParaRPr/>
          </a:p>
          <a:p>
            <a:pPr>
              <a:lnSpc>
                <a:spcPct val="190000"/>
              </a:lnSpc>
            </a:pPr>
            <a:r>
              <a:rPr lang="zh-CN" sz="97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价值在哪里。</a:t>
            </a:r>
            <a:endParaRPr/>
          </a:p>
        </p:txBody>
      </p:sp>
      <p:sp>
        <p:nvSpPr>
          <p:cNvPr id="574" name=""/>
          <p:cNvSpPr/>
          <p:nvPr/>
        </p:nvSpPr>
        <p:spPr>
          <a:xfrm rot="0" flipH="0" flipV="0">
            <a:off x="533400" y="3333750"/>
            <a:ext cx="2552700" cy="571500"/>
          </a:xfrm>
          <a:custGeom>
            <a:pathLst>
              <a:path w="268" h="60">
                <a:moveTo>
                  <a:pt x="0" y="0"/>
                </a:moveTo>
                <a:lnTo>
                  <a:pt x="268" y="0"/>
                </a:lnTo>
                <a:lnTo>
                  <a:pt x="2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533400" y="3457575"/>
            <a:ext cx="476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2F7F8"/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533400" y="3781425"/>
            <a:ext cx="476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CHAPTERS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1200150" y="3457575"/>
            <a:ext cx="3048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2F7F8"/>
                </a:solidFill>
                <a:latin typeface="Consolas"/>
                <a:ea typeface="Consolas"/>
              </a:rPr>
              <a:t>28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1200150" y="3781425"/>
            <a:ext cx="3048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PAGES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3486150" y="800100"/>
            <a:ext cx="19050" cy="5391150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80" name=""/>
          <p:cNvSpPr/>
          <p:nvPr/>
        </p:nvSpPr>
        <p:spPr>
          <a:xfrm rot="0" flipH="0" flipV="0">
            <a:off x="3905250" y="685800"/>
            <a:ext cx="7753350" cy="952500"/>
          </a:xfrm>
          <a:custGeom>
            <a:pathLst>
              <a:path w="814" h="100">
                <a:moveTo>
                  <a:pt x="0" y="99"/>
                </a:moveTo>
                <a:lnTo>
                  <a:pt x="814" y="99"/>
                </a:lnTo>
                <a:lnTo>
                  <a:pt x="814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3905250" y="1085850"/>
            <a:ext cx="55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4457700" y="933450"/>
            <a:ext cx="59055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 spc="38">
                <a:solidFill>
                  <a:srgbClr val="F2F7F8"/>
                </a:solidFill>
                <a:latin typeface="Microsoft YaHei"/>
                <a:ea typeface="Microsoft YaHei"/>
              </a:rPr>
              <a:t>背景与问题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4457700" y="1247775"/>
            <a:ext cx="5905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2F7F8">
                    <a:alpha val="55000"/>
                  </a:srgbClr>
                </a:solidFill>
                <a:latin typeface="Microsoft YaHei"/>
                <a:ea typeface="Microsoft YaHei"/>
              </a:rPr>
              <a:t>安全策略教学，为什么“讲了”却“不会用”？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10363200" y="1095375"/>
            <a:ext cx="8001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P.03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3905250" y="1638300"/>
            <a:ext cx="7753350" cy="952500"/>
          </a:xfrm>
          <a:custGeom>
            <a:pathLst>
              <a:path w="814" h="100">
                <a:moveTo>
                  <a:pt x="0" y="99"/>
                </a:moveTo>
                <a:lnTo>
                  <a:pt x="814" y="99"/>
                </a:lnTo>
                <a:lnTo>
                  <a:pt x="814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3905250" y="2038350"/>
            <a:ext cx="55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4457700" y="1885950"/>
            <a:ext cx="59055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 spc="38">
                <a:solidFill>
                  <a:srgbClr val="F2F7F8"/>
                </a:solidFill>
                <a:latin typeface="Microsoft YaHei"/>
                <a:ea typeface="Microsoft YaHei"/>
              </a:rPr>
              <a:t>作品概览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4457700" y="2200275"/>
            <a:ext cx="5905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2F7F8">
                    <a:alpha val="55000"/>
                  </a:srgbClr>
                </a:solidFill>
                <a:latin typeface="Microsoft YaHei"/>
                <a:ea typeface="Microsoft YaHei"/>
              </a:rPr>
              <a:t>一个平台、六个工作面、七个实验场景。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10363200" y="2047875"/>
            <a:ext cx="8001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P.05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3905250" y="2590800"/>
            <a:ext cx="7753350" cy="952500"/>
          </a:xfrm>
          <a:custGeom>
            <a:pathLst>
              <a:path w="814" h="100">
                <a:moveTo>
                  <a:pt x="0" y="99"/>
                </a:moveTo>
                <a:lnTo>
                  <a:pt x="814" y="99"/>
                </a:lnTo>
                <a:lnTo>
                  <a:pt x="814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3905250" y="2990850"/>
            <a:ext cx="55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4457700" y="2838450"/>
            <a:ext cx="59055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 spc="38">
                <a:solidFill>
                  <a:srgbClr val="F2F7F8"/>
                </a:solidFill>
                <a:latin typeface="Microsoft YaHei"/>
                <a:ea typeface="Microsoft YaHei"/>
              </a:rPr>
              <a:t>核心机制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4457700" y="3152775"/>
            <a:ext cx="5905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2F7F8">
                    <a:alpha val="55000"/>
                  </a:srgbClr>
                </a:solidFill>
                <a:latin typeface="Microsoft YaHei"/>
                <a:ea typeface="Microsoft YaHei"/>
              </a:rPr>
              <a:t>双引擎、三维沙盘、策略判定与状态链。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10363200" y="3000375"/>
            <a:ext cx="8001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P.09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3905250" y="3543300"/>
            <a:ext cx="7753350" cy="952500"/>
          </a:xfrm>
          <a:custGeom>
            <a:pathLst>
              <a:path w="814" h="100">
                <a:moveTo>
                  <a:pt x="0" y="99"/>
                </a:moveTo>
                <a:lnTo>
                  <a:pt x="814" y="99"/>
                </a:lnTo>
                <a:lnTo>
                  <a:pt x="814" y="100"/>
                </a:lnTo>
                <a:lnTo>
                  <a:pt x="0" y="100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3905250" y="3943350"/>
            <a:ext cx="55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BC8D1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4457700" y="3790950"/>
            <a:ext cx="59055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 spc="38">
                <a:solidFill>
                  <a:srgbClr val="F2F7F8"/>
                </a:solidFill>
                <a:latin typeface="Microsoft YaHei"/>
                <a:ea typeface="Microsoft YaHei"/>
              </a:rPr>
              <a:t>实验与验证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4457700" y="4105275"/>
            <a:ext cx="5905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2F7F8">
                    <a:alpha val="55000"/>
                  </a:srgbClr>
                </a:solidFill>
                <a:latin typeface="Microsoft YaHei"/>
                <a:ea typeface="Microsoft YaHei"/>
              </a:rPr>
              <a:t>七个场景、一条教学闭环、清晰的模型边界。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10363200" y="3952875"/>
            <a:ext cx="8001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P.16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3905250" y="4895850"/>
            <a:ext cx="552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BC8D1"/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4457700" y="4743450"/>
            <a:ext cx="59055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 spc="38">
                <a:solidFill>
                  <a:srgbClr val="F2F7F8"/>
                </a:solidFill>
                <a:latin typeface="Microsoft YaHei"/>
                <a:ea typeface="Microsoft YaHei"/>
              </a:rPr>
              <a:t>价值与展望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4457700" y="5057775"/>
            <a:ext cx="5905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2F7F8">
                    <a:alpha val="55000"/>
                  </a:srgbClr>
                </a:solidFill>
                <a:latin typeface="Microsoft YaHei"/>
                <a:ea typeface="Microsoft YaHei"/>
              </a:rPr>
              <a:t>三个创新点，最终都指向“可验证”。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10363200" y="4905375"/>
            <a:ext cx="8001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825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P.20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3905250" y="5762625"/>
            <a:ext cx="495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APPENDIX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4476750" y="5810250"/>
            <a:ext cx="171450" cy="9525"/>
          </a:xfrm>
          <a:prstGeom prst="rect">
            <a:avLst/>
          </a:prstGeom>
          <a:solidFill>
            <a:srgbClr val="6BC8D1">
              <a:alpha val="40000"/>
            </a:srgbClr>
          </a:solidFill>
          <a:ln/>
        </p:spPr>
        <p:txBody>
          <a:bodyPr/>
          <a:p/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4724400" y="5753100"/>
            <a:ext cx="11144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功能图集</a:t>
            </a:r>
            <a:r>
              <a:rPr lang="en-US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 · 6 </a:t>
            </a: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页</a:t>
            </a:r>
            <a:r>
              <a:rPr lang="en-US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 · P.22–27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02 / 28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983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3)' strokeWidth='1'&gt;&#13;&#10;            &lt;path d='M0 80H1280M0 160H1280M0 240H1280M0 320H1280M0 400H1280M0 480H1280M0 560H1280M0 640H1280' /&gt;&#13;&#10;            &lt;path d='M80 0V720M160 0V720M240 0V720M320 0V720M400 0V720M480 0V720M560 0V720M640 0V720M720 0V720M800 0V720M880 0V720M960 0V720M1040 0V720M1120 0V720M1200 0V720' /&gt;&#13;&#10;        &lt;/g&gt;&#13;&#10;        &lt;g stroke='rgba(107,200,209,0.22)' strokeWidth='1' fill='none'&gt;&#13;&#10;            &lt;path d='M760 450L850 340L980 400L1090 280L1180 340' /&gt;&#13;&#10;            &lt;path d='M850 340L900 480L1010 520L1090 280' /&gt;&#13;&#10;        &lt;/g&gt;&#13;&#10;        &lt;g fill='#6BC8D1'&gt;&#13;&#10;            &lt;circle cx='760' cy='450' r='4' opacity='0.6' /&gt;&#13;&#10;            &lt;circle cx='850' cy='340' r='5' opacity='0.8' /&gt;&#13;&#10;            &lt;circle cx='980' cy='400' r='4' opacity='0.55' /&gt;&#13;&#10;            &lt;circle cx='1090' cy='280' r='6' opacity='0.9' /&gt;&#13;&#10;            &lt;circle cx='1180' cy='340' r='3.5' opacity='0.5' /&gt;&#13;&#10;            &lt;circle cx='900' cy='480' r='4' opacity='0.55' /&gt;&#13;&#10;            &lt;circle cx='1010' cy='520' r='5' opacity='0.65' /&gt;&#13;&#10;        &lt;/g&gt;&#13;&#10;    &lt;/svg&gt;&#13;&#10;    &lt;Text style={{ position: 'absolute', right: 56, top: 154, width: 520, textAlign: 'right', fontFamily: 'Consolas', fontSize: 290, fontWeight: 'bold', color: '#F2F7F8', opacity: 0.055, lineHeight: 1 }}&gt;01&lt;/Text&gt;&#13;&#10;    &lt;Box style={{ position: 'absolute', left: 0, top: 0, width: 5, height: 720, background: '#6BC8D1', opacity: 0.55 }} /&gt;&#13;&#10;&#13;&#10;    &lt;Box style={{ position: 'absolute', left: 72, top: 46 }}&gt;&#13;&#10;        &lt;Text style={{ fontFamily: 'Consolas', fontSize: 11, color: '#6BC8D1', letterSpacing: 2 }}&gt;CHAPTER 01 / 05&lt;/Text&gt;&#13;&#10;    &lt;/Box&gt;&#13;&#10;    &lt;Box style={{ position: 'absolute', left: 72, top: 176, width: 620 }}&gt;&#13;&#10;        &lt;Text style={{ fontFamily: 'Microsoft YaHei', fontSize: 58, fontWeight: 'bold', color: '#F2F7F8', letterSpacing: 2 }}&gt;背景与问题&lt;/Text&gt;&#13;&#10;        &lt;Box style={{ marginTop: 22, width: 52, height: 3, background: '#6BC8D1' }} /&gt;&#13;&#10;        &lt;Text style={{ marginTop: 24, fontFamily: 'Microsoft YaHei', fontSize: 19, color: 'rgba(242,247,248,0.68)', lineHeight: 1.7, width: 560 }}&gt;&#13;&#10;            安全策略教学，缺的不是知识，而是一次可重复的验证。&#13;&#10;        &lt;/Text&gt;&#13;&#10;    &lt;/Box&gt;&#13;&#10;&#13;&#10;    &lt;Box style={{ position: 'absolute', left: 72, top: 420, width: 560 }}&gt;&#13;&#10;        &lt;Box style={{ flexDirection: 'row', alignItems: 'center', height: 48, borderTop: '1px solid rgba(242,247,248,0.12)' }}&gt;&#13;&#10;            &lt;Text style={{ width: 54, fontFamily: 'Consolas', fontSize: 10, color: '#6BC8D1' }}&gt;01.1&lt;/Text&gt;&#13;&#10;            &lt;Text style={{ fontFamily: 'Microsoft YaHei', fontSize: 14, color: 'rgba(242,247,248,0.72)' }}&gt;三个教学困境：看不见、不敢动、难验证&lt;/Text&gt;&#13;&#10;        &lt;/Box&gt;&#13;&#10;        &lt;Box style={{ flexDirection: 'row', alignItems: 'center', height: 48, borderTop: '1px solid rgba(242,247,248,0.12)' }}&gt;&#13;&#10;            &lt;Text style={{ width: 54, fontFamily: 'Consolas', fontSize: 10, color: '#6BC8D1' }}&gt;01.2&lt;/Text&gt;&#13;&#10;            &lt;Text style={{ fontFamily: 'Microsoft YaHei', fontSize: 14, color: 'rgba(242,247,248,0.72)' }}&gt;一个核心矛盾：效果必须可观察，网络不允许试错&lt;/Text&gt;&#13;&#10;        &lt;/Box&gt;&#13;&#10;        &lt;Box style={{ flexDirection: 'row', alignItems: 'center', height: 48, borderTop: '1px solid rgba(242,247,248,0.12)', borderBottom: '1px solid rgba(242,247,248,0.12)' }}&gt;&#13;&#10;            &lt;Text style={{ width: 54, fontFamily: 'Consolas', fontSize: 10, color: '#6BC8D1' }}&gt;01.3&lt;/Text&gt;&#13;&#10;            &lt;Text style={{ fontFamily: 'Microsoft YaHei', fontSize: 14, color: 'rgba(242,247,248,0.72)' }}&gt;从“记住规则”走向“看见后果”&lt;/Text&gt;&#13;&#10;        &lt;/Box&gt;&#13;&#10;    &lt;/Box&gt;&#13;&#10;&#13;&#10;    &lt;Box style={{ position: 'absolute', left: 72, top: 664, flexDirection: 'row', alignItems: 'center', gap: 8 }}&gt;&#13;&#10;        &lt;Text style={{ fontFamily: 'Consolas', fontSize: 10.5, color: 'rgba(242,247,248,0.40)' }}&gt;智御网络&lt;/Text&gt;&#13;&#10;        &lt;Box style={{ width: 16, height: 1, background: 'rgba(242,247,248,0.20)' }} /&gt;&#13;&#10;        &lt;Text style={{ fontFamily: 'Consolas', fontSize: 10.5, color: 'rgba(242,247,248,0.40)' }}&gt;BACKGROUND&lt;/Text&gt;&#13;&#10;    &lt;/Box&gt;&#13;&#10;    &lt;Text style={{ position: 'absolute', right: 56, top: 664, fontFamily: 'Consolas', fontSize: 10.5, color: 'rgba(242,247,248,0.40)' }}&gt;03 / 2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9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986" name="" descr="{&quot;isTemplate&quot;:true,&quot;type&quot;:&quot;text&quot;}"/>
          <p:cNvSpPr txBox="1"/>
          <p:nvPr/>
        </p:nvSpPr>
        <p:spPr>
          <a:xfrm rot="0" flipH="0" flipV="0">
            <a:off x="6705600" y="1466850"/>
            <a:ext cx="4953000" cy="33147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750" b="1">
                <a:solidFill>
                  <a:srgbClr val="F2F7F8">
                    <a:alpha val="5500"/>
                  </a:srgbClr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987" name=""/>
          <p:cNvSpPr/>
          <p:nvPr/>
        </p:nvSpPr>
        <p:spPr>
          <a:xfrm rot="0" flipH="0" flipV="0">
            <a:off x="0" y="0"/>
            <a:ext cx="47625" cy="6858000"/>
          </a:xfrm>
          <a:prstGeom prst="rect">
            <a:avLst/>
          </a:prstGeom>
          <a:solidFill>
            <a:srgbClr val="6BC8D1">
              <a:alpha val="55000"/>
            </a:srgbClr>
          </a:solidFill>
          <a:ln/>
        </p:spPr>
        <p:txBody>
          <a:bodyPr/>
          <a:p/>
        </p:txBody>
      </p:sp>
      <p:sp>
        <p:nvSpPr>
          <p:cNvPr id="988" name="" descr="{&quot;isTemplate&quot;:true,&quot;type&quot;:&quot;text&quot;}"/>
          <p:cNvSpPr txBox="1"/>
          <p:nvPr/>
        </p:nvSpPr>
        <p:spPr>
          <a:xfrm rot="0" flipH="0" flipV="0">
            <a:off x="685800" y="438150"/>
            <a:ext cx="1152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50">
                <a:solidFill>
                  <a:srgbClr val="6BC8D1"/>
                </a:solidFill>
                <a:latin typeface="Consolas"/>
                <a:ea typeface="Consolas"/>
              </a:rPr>
              <a:t>CHAPTER 01 / 05</a:t>
            </a:r>
            <a:endParaRPr/>
          </a:p>
        </p:txBody>
      </p:sp>
      <p:sp>
        <p:nvSpPr>
          <p:cNvPr id="989" name="" descr="{&quot;isTemplate&quot;:true,&quot;type&quot;:&quot;text&quot;}"/>
          <p:cNvSpPr txBox="1"/>
          <p:nvPr/>
        </p:nvSpPr>
        <p:spPr>
          <a:xfrm rot="0" flipH="0" flipV="0">
            <a:off x="685800" y="1676400"/>
            <a:ext cx="590550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350" b="1" spc="150">
                <a:solidFill>
                  <a:srgbClr val="F2F7F8"/>
                </a:solidFill>
                <a:latin typeface="Microsoft YaHei"/>
                <a:ea typeface="Microsoft YaHei"/>
              </a:rPr>
              <a:t>背景与问题</a:t>
            </a:r>
            <a:endParaRPr/>
          </a:p>
        </p:txBody>
      </p:sp>
      <p:sp>
        <p:nvSpPr>
          <p:cNvPr id="990" name=""/>
          <p:cNvSpPr/>
          <p:nvPr/>
        </p:nvSpPr>
        <p:spPr>
          <a:xfrm rot="0" flipH="0" flipV="0">
            <a:off x="685800" y="2552700"/>
            <a:ext cx="495300" cy="2857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991" name="" descr="{&quot;isTemplate&quot;:true,&quot;type&quot;:&quot;text&quot;}"/>
          <p:cNvSpPr txBox="1"/>
          <p:nvPr/>
        </p:nvSpPr>
        <p:spPr>
          <a:xfrm rot="0" flipH="0" flipV="0">
            <a:off x="685800" y="2809875"/>
            <a:ext cx="5334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安全策略教学，缺的不是知识，而是一次可重复的验证。</a:t>
            </a:r>
            <a:endParaRPr/>
          </a:p>
        </p:txBody>
      </p:sp>
      <p:sp>
        <p:nvSpPr>
          <p:cNvPr id="992" name=""/>
          <p:cNvSpPr/>
          <p:nvPr/>
        </p:nvSpPr>
        <p:spPr>
          <a:xfrm rot="0" flipH="0" flipV="0">
            <a:off x="685800" y="40005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993" name="" descr="{&quot;isTemplate&quot;:true,&quot;type&quot;:&quot;text&quot;}"/>
          <p:cNvSpPr txBox="1"/>
          <p:nvPr/>
        </p:nvSpPr>
        <p:spPr>
          <a:xfrm rot="0" flipH="0" flipV="0">
            <a:off x="685800" y="41814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01.1</a:t>
            </a:r>
            <a:endParaRPr/>
          </a:p>
        </p:txBody>
      </p:sp>
      <p:sp>
        <p:nvSpPr>
          <p:cNvPr id="994" name="" descr="{&quot;isTemplate&quot;:true,&quot;type&quot;:&quot;text&quot;}"/>
          <p:cNvSpPr txBox="1"/>
          <p:nvPr/>
        </p:nvSpPr>
        <p:spPr>
          <a:xfrm rot="0" flipH="0" flipV="0">
            <a:off x="1200150" y="415290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三个教学困境：看不见、不敢动、难验证</a:t>
            </a:r>
            <a:endParaRPr/>
          </a:p>
        </p:txBody>
      </p:sp>
      <p:sp>
        <p:nvSpPr>
          <p:cNvPr id="995" name=""/>
          <p:cNvSpPr/>
          <p:nvPr/>
        </p:nvSpPr>
        <p:spPr>
          <a:xfrm rot="0" flipH="0" flipV="0">
            <a:off x="685800" y="44577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996" name="" descr="{&quot;isTemplate&quot;:true,&quot;type&quot;:&quot;text&quot;}"/>
          <p:cNvSpPr txBox="1"/>
          <p:nvPr/>
        </p:nvSpPr>
        <p:spPr>
          <a:xfrm rot="0" flipH="0" flipV="0">
            <a:off x="685800" y="46386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01.2</a:t>
            </a:r>
            <a:endParaRPr/>
          </a:p>
        </p:txBody>
      </p:sp>
      <p:sp>
        <p:nvSpPr>
          <p:cNvPr id="997" name="" descr="{&quot;isTemplate&quot;:true,&quot;type&quot;:&quot;text&quot;}"/>
          <p:cNvSpPr txBox="1"/>
          <p:nvPr/>
        </p:nvSpPr>
        <p:spPr>
          <a:xfrm rot="0" flipH="0" flipV="0">
            <a:off x="1200150" y="4610100"/>
            <a:ext cx="2933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一个核心矛盾：效果必须可观察，网络不允许试错</a:t>
            </a:r>
            <a:endParaRPr/>
          </a:p>
        </p:txBody>
      </p:sp>
      <p:sp>
        <p:nvSpPr>
          <p:cNvPr id="998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999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47"/>
                </a:moveTo>
                <a:lnTo>
                  <a:pt x="560" y="47"/>
                </a:lnTo>
                <a:lnTo>
                  <a:pt x="560" y="48"/>
                </a:lnTo>
                <a:lnTo>
                  <a:pt x="0" y="48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000" name="" descr="{&quot;isTemplate&quot;:true,&quot;type&quot;:&quot;text&quot;}"/>
          <p:cNvSpPr txBox="1"/>
          <p:nvPr/>
        </p:nvSpPr>
        <p:spPr>
          <a:xfrm rot="0" flipH="0" flipV="0">
            <a:off x="685800" y="5086350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01.3</a:t>
            </a:r>
            <a:endParaRPr/>
          </a:p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1200150" y="506730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从“记住规则”走向“看见后果”</a:t>
            </a:r>
            <a:endParaRPr/>
          </a:p>
        </p:txBody>
      </p:sp>
      <p:sp>
        <p:nvSpPr>
          <p:cNvPr id="1002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647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endParaRPr/>
          </a:p>
        </p:txBody>
      </p:sp>
      <p:sp>
        <p:nvSpPr>
          <p:cNvPr id="1003" name=""/>
          <p:cNvSpPr/>
          <p:nvPr/>
        </p:nvSpPr>
        <p:spPr>
          <a:xfrm rot="0" flipH="0" flipV="0">
            <a:off x="1409700" y="6381750"/>
            <a:ext cx="152400" cy="9525"/>
          </a:xfrm>
          <a:prstGeom prst="rect">
            <a:avLst/>
          </a:prstGeom>
          <a:solidFill>
            <a:srgbClr val="F2F7F8">
              <a:alpha val="20000"/>
            </a:srgbClr>
          </a:solidFill>
          <a:ln/>
        </p:spPr>
        <p:txBody>
          <a:bodyPr/>
          <a:p/>
        </p:txBody>
      </p:sp>
      <p:sp>
        <p:nvSpPr>
          <p:cNvPr id="1004" name="" descr="{&quot;isTemplate&quot;:true,&quot;type&quot;:&quot;text&quot;}"/>
          <p:cNvSpPr txBox="1"/>
          <p:nvPr/>
        </p:nvSpPr>
        <p:spPr>
          <a:xfrm rot="0" flipH="0" flipV="0">
            <a:off x="1638300" y="6324600"/>
            <a:ext cx="5524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BACKGROUND</a:t>
            </a:r>
            <a:endParaRPr/>
          </a:p>
        </p:txBody>
      </p:sp>
      <p:sp>
        <p:nvSpPr>
          <p:cNvPr id="1005" name="" descr="{&quot;isTemplate&quot;:true,&quot;type&quot;:&quot;text&quot;}"/>
          <p:cNvSpPr txBox="1"/>
          <p:nvPr/>
        </p:nvSpPr>
        <p:spPr>
          <a:xfrm rot="0" flipH="0" flipV="0">
            <a:off x="11268075" y="632460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03 / 28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006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5)' strokeWidth='1'&gt;&#13;&#10;            &lt;path d='M0 96H1280M0 192H1280M0 288H1280M0 384H1280M0 480H1280M0 576H1280M0 672H1280' /&gt;&#13;&#10;        &lt;/g&gt;&#13;&#10;        &lt;circle cx='1180' cy='120' r='220' fill='rgba(107,200,209,0.035)' /&gt;&#13;&#10;    &lt;/svg&gt;&#13;&#10;&#13;&#10;    &lt;Box style={{ position: 'absolute', left: 56, top: 38 }}&gt;&#13;&#10;        &lt;Text style={{ fontFamily: 'Consolas', fontSize: 11, color: '#6BC8D1', letterSpacing: 1.8 }}&gt;01 / 背景与问题&lt;/Text&gt;&#13;&#10;    &lt;/Box&gt;&#13;&#10;    &lt;Text style={{ position: 'absolute', left: 56, top: 62, fontFamily: 'Microsoft YaHei', fontSize: 32, fontWeight: 'bold', color: '#F2F7F8', letterSpacing: 0.5 }}&gt;为什么“讲了”却“不会用”？&lt;/Text&gt;&#13;&#10;    &lt;Text style={{ position: 'absolute', right: 56, top: 76, fontFamily: 'Consolas', fontSize: 10.5, color: 'rgba(242,247,248,0.42)' }}&gt;THREE GAPS · ONE CONTRADICTION&lt;/Text&gt;&#13;&#10;&#13;&#10;    &lt;Box style={{ position: 'absolute', left: 56, top: 140, width: 650 }}&gt;&#13;&#10;        &lt;Box style={{ flexDirection: 'row', alignItems: 'flex-start', height: 118, borderTop: '1px solid rgba(242,247,248,0.12)' }}&gt;&#13;&#10;            &lt;Text style={{ width: 62, marginTop: 18, fontFamily: 'Consolas', fontSize: 13, color: '#6BC8D1' }}&gt;01&lt;/Text&gt;&#13;&#10;            &lt;Box style={{ width: 560 }}&gt;&#13;&#10;                &lt;Text style={{ marginTop: 16, fontFamily: 'Microsoft YaHei', fontSize: 19, fontWeight: 'bold', color: '#F2F7F8' }}&gt;看不见&lt;/Text&gt;&#13;&#10;                &lt;Text style={{ marginTop: 8, fontFamily: 'Microsoft YaHei', fontSize: 13.5, color: 'rgba(242,247,248,0.64)', lineHeight: 1.75 }}&gt;&#13;&#10;                    拓扑、VLAN、路由和规则顺序都藏在配置里。学生只能靠想象还原一条路径，更看不见它在哪一跳被拒绝。&#13;&#10;                &lt;/Text&gt;&#13;&#10;            &lt;/Box&gt;&#13;&#10;        &lt;/Box&gt;&#13;&#10;        &lt;Box style={{ flexDirection: 'row', alignItems: 'flex-start', height: 118, borderTop: '1px solid rgba(242,247,248,0.12)' }}&gt;&#13;&#10;            &lt;Text style={{ width: 62, marginTop: 18, fontFamily: 'Consolas', fontSize: 13, color: '#6BC8D1' }}&gt;02&lt;/Text&gt;&#13;&#10;            &lt;Box style={{ width: 560 }}&gt;&#13;&#10;                &lt;Text style={{ marginTop: 16, fontFamily: 'Microsoft YaHei', fontSize: 19, fontWeight: 'bold', color: '#F2F7F8' }}&gt;不敢动&lt;/Text&gt;&#13;&#10;                &lt;Text style={{ marginTop: 8, fontFamily: 'Microsoft YaHei', fontSize: 13.5, color: 'rgba(242,247,248,0.64)', lineHeight: 1.75 }}&gt;&#13;&#10;                    真实设备不能反复试错。一次错误的放行、一条位置不当的规则，都可能直接中断业务。&#13;&#10;                &lt;/Text&gt;&#13;&#10;            &lt;/Box&gt;&#13;&#10;        &lt;/Box&gt;&#13;&#10;        &lt;Box style={{ flexDirection: 'row', alignItems: 'flex-start', height: 118, borderTop: '1px solid rgba(242,247,248,0.12)' }}&gt;&#13;&#10;            &lt;Text style={{ width: 62, marginTop: 18, fontFamily: 'Consolas', fontSize: 13, color: '#E78172' }}&gt;03&lt;/Text&gt;&#13;&#10;            &lt;Box style={{ width: 560 }}&gt;&#13;&#10;                &lt;Text style={{ marginTop: 16, fontFamily: 'Microsoft YaHei', fontSize: 19, fontWeight: 'bold', color: '#F2F7F8' }}&gt;难验证&lt;/Text&gt;&#13;&#10;                &lt;Text style={{ marginTop: 8, fontFamily: 'Microsoft YaHei', fontSize: 13.5, color: 'rgba(242,247,248,0.64)', lineHeight: 1.75 }}&gt;&#13;&#10;                    改完规则只知道“好像更安全”，却说不清是挡住了风险，还是把必要业务一起切断了。&#13;&#10;                &lt;/Text&gt;&#13;&#10;            &lt;/Box&gt;&#13;&#10;        &lt;/Box&gt;&#13;&#10;        &lt;Text style={{ marginTop: 18, width: 620, fontFamily: 'Microsoft YaHei', fontSize: 14.5, color: 'rgba(242,247,248,0.58)', lineHeight: 1.8 }}&gt;&#13;&#10;            所以问题不是“再讲一遍规则”，而是让学生在一个允许犯错的网络里，看见每一次改动的后果。&#13;&#10;        &lt;/Text&gt;&#13;&#10;    &lt;/Box&gt;&#13;&#10;&#13;&#10;    &lt;Box style={{ position: 'absolute', left: 742, top: 140, width: 482, height: 392, padding: 22, background: 'linear-gradient(145deg, rgba(242,247,248,0.055) 0%, rgba(242,247,248,0.022) 100%)', border: '1px solid rgba(107,200,209,0.16)', borderRadius: 10 }}&gt;&#13;&#10;        &lt;Text style={{ fontFamily: 'Consolas', fontSize: 10, color: 'rgba(242,247,248,0.42)', letterSpacing: 1.5 }}&gt;THE GAP&lt;/Text&gt;&#13;&#10;        &lt;Text style={{ marginTop: 8, fontFamily: 'Microsoft YaHei', fontSize: 15, fontWeight: 'bold', color: '#F2F7F8' }}&gt;同一组规则，顺序不同，结果相反&lt;/Text&gt;&#13;&#10;        &lt;Box style={{ marginTop: 16, padding: 12, background: 'rgba(7,17,27,0.55)', border: '1px solid rgba(242,247,248,0.08)', borderRadius: 6 }}&gt;&#13;&#10;            &lt;Text style={{ fontFamily: 'Consolas', fontSize: 10.5, color: 'rgba(242,247,248,0.62)', lineHeight: 1.9 }}&gt;&#13;&#10;                10  ALLOW  Office → DB  DATABASE&lt;br /&gt;&#13;&#10;                20  DENY   Office → Database  ANY&#13;&#10;            &lt;/Text&gt;&#13;&#10;        &lt;/Box&gt;&#13;&#10;        &lt;Box style={{ marginTop: 14, flexDirection: 'row', alignItems: 'center', gap: 12 }}&gt;&#13;&#10;            &lt;Box style={{ flex: 1, height: 1, background: 'rgba(242,247,248,0.12)' }} /&gt;&#13;&#10;            &lt;Text style={{ fontFamily: 'Consolas', fontSize: 10, color: 'rgba(242,247,248,0.38)', letterSpacing: 1 }}&gt;CONFIG TEXT&lt;/Text&gt;&#13;&#10;            &lt;Box style={{ flex: 1, height: 1, background: 'rgba(242,247,248,0.12)' }} /&gt;&#13;&#10;        &lt;/Box&gt;&#13;&#10;        &lt;Text style={{ marginTop: 8, textAlign: 'center', fontFamily: 'Consolas', fontSize: 64, fontWeight: 'bold', color: '#6BC8D1', lineHeight: 1 }}&gt;?&lt;/Text&gt;&#13;&#10;        &lt;Box style={{ marginTop: 4, flexDirection: 'row', gap: 8 }}&gt;&#13;&#10;            &lt;Box style={{ flex: 1, padding: 10, border: '1px solid rgba(231,129,114,0.26)', borderRadius: 6, background: 'rgba(231,129,114,0.06)' }}&gt;&#13;&#10;                &lt;Text style={{ fontFamily: 'Microsoft YaHei', fontSize: 11.5, color: '#E78172', fontWeight: 'bold' }}&gt;风险被阻断？&lt;/Text&gt;&#13;&#10;                &lt;Text style={{ marginTop: 4, fontFamily: 'Microsoft YaHei', fontSize: 10.5, color: 'rgba(242,247,248,0.48)', lineHeight: 1.6 }}&gt;还是只是路径没走到&lt;/Text&gt;&#13;&#10;            &lt;/Box&gt;&#13;&#10;            &lt;Box style={{ flex: 1, padding: 10, border: '1px solid rgba(107,200,209,0.24)', borderRadius: 6, background: 'rgba(107,200,209,0.05)' }}&gt;&#13;&#10;                &lt;Text style={{ fontFamily: 'Microsoft YaHei', fontSize: 11.5, color: '#6BC8D1', fontWeight: 'bold' }}&gt;业务仍可达？&lt;/Text&gt;&#13;&#10;                &lt;Text style={{ marginTop: 4, fontFamily: 'Microsoft YaHei', fontSize: 10.5, color: 'rgba(242,247,248,0.48)', lineHeight: 1.6 }}&gt;还是被一起切断&lt;/Text&gt;&#13;&#10;            &lt;/Box&gt;&#13;&#10;        &lt;/Box&gt;&#13;&#10;        &lt;Text style={{ marginTop: 12, fontFamily: 'Microsoft YaHei', fontSize: 10.5, color: 'rgba(242,247,248,0.38)', lineHeight: 1.6 }}&gt;没有可观察的结果，规则就只是一段文本。&lt;/Text&gt;&#13;&#10;    &lt;/Box&gt;&#13;&#10;&#13;&#10;    &lt;Box style={{ position: 'absolute', left: 56, top: 580, width: 1168, height: 56, paddingLeft: 18, paddingRight: 18, flexDirection: 'row', alignItems: 'center', background: 'rgba(107,200,209,0.055)', borderLeft: '2px solid #6BC8D1' }}&gt;&#13;&#10;        &lt;Text style={{ fontFamily: 'Consolas', fontSize: 10, color: '#6BC8D1', letterSpacing: 1.2, width: 92 }}&gt;核心矛盾&lt;/Text&gt;&#13;&#10;        &lt;Text style={{ fontFamily: 'Microsoft YaHei', fontSize: 15, color: 'rgba(242,247,248,0.82)' }}&gt;&#13;&#10;            策略效果必须可观察，但真实网络不允许反复试错——这正是“沙盘”存在的理由。&#13;&#10;        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04 / 2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100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009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276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01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背景与问题</a:t>
            </a:r>
            <a:endParaRPr/>
          </a:p>
        </p:txBody>
      </p:sp>
      <p:sp>
        <p:nvSpPr>
          <p:cNvPr id="1010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3338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为什么“讲了”却“不会用”？</a:t>
            </a:r>
            <a:endParaRPr/>
          </a:p>
        </p:txBody>
      </p:sp>
      <p:sp>
        <p:nvSpPr>
          <p:cNvPr id="1011" name="" descr="{&quot;isTemplate&quot;:true,&quot;type&quot;:&quot;text&quot;}"/>
          <p:cNvSpPr txBox="1"/>
          <p:nvPr/>
        </p:nvSpPr>
        <p:spPr>
          <a:xfrm rot="0" flipH="0" flipV="0">
            <a:off x="10001250" y="723900"/>
            <a:ext cx="16573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THREE GAPS · ONE CONTRADICTION</a:t>
            </a:r>
            <a:endParaRPr/>
          </a:p>
        </p:txBody>
      </p:sp>
      <p:sp>
        <p:nvSpPr>
          <p:cNvPr id="1012" name=""/>
          <p:cNvSpPr/>
          <p:nvPr/>
        </p:nvSpPr>
        <p:spPr>
          <a:xfrm rot="0" flipH="0" flipV="0">
            <a:off x="533400" y="1333500"/>
            <a:ext cx="6191250" cy="1123950"/>
          </a:xfrm>
          <a:custGeom>
            <a:pathLst>
              <a:path w="650" h="118">
                <a:moveTo>
                  <a:pt x="0" y="0"/>
                </a:moveTo>
                <a:lnTo>
                  <a:pt x="650" y="0"/>
                </a:lnTo>
                <a:lnTo>
                  <a:pt x="65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013" name="" descr="{&quot;isTemplate&quot;:true,&quot;type&quot;:&quot;text&quot;}"/>
          <p:cNvSpPr txBox="1"/>
          <p:nvPr/>
        </p:nvSpPr>
        <p:spPr>
          <a:xfrm rot="0" flipH="0" flipV="0">
            <a:off x="533400" y="1514475"/>
            <a:ext cx="590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1014" name="" descr="{&quot;isTemplate&quot;:true,&quot;type&quot;:&quot;text&quot;}"/>
          <p:cNvSpPr txBox="1"/>
          <p:nvPr/>
        </p:nvSpPr>
        <p:spPr>
          <a:xfrm rot="0" flipH="0" flipV="0">
            <a:off x="1123950" y="1495425"/>
            <a:ext cx="5334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看不见</a:t>
            </a:r>
            <a:endParaRPr/>
          </a:p>
        </p:txBody>
      </p:sp>
      <p:sp>
        <p:nvSpPr>
          <p:cNvPr id="1015" name="" descr="{&quot;isTemplate&quot;:true,&quot;type&quot;:&quot;text&quot;}"/>
          <p:cNvSpPr txBox="1"/>
          <p:nvPr/>
        </p:nvSpPr>
        <p:spPr>
          <a:xfrm rot="0" flipH="0" flipV="0">
            <a:off x="1123950" y="1790700"/>
            <a:ext cx="5334000" cy="5429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13">
                <a:solidFill>
                  <a:srgbClr val="F2F7F8">
                    <a:alpha val="64000"/>
                  </a:srgbClr>
                </a:solidFill>
                <a:latin typeface="Microsoft YaHei"/>
                <a:ea typeface="Microsoft YaHei"/>
              </a:rPr>
              <a:t>拓扑、</a:t>
            </a:r>
            <a:r>
              <a:rPr lang="en-US" sz="1013">
                <a:solidFill>
                  <a:srgbClr val="F2F7F8">
                    <a:alpha val="64000"/>
                  </a:srgbClr>
                </a:solidFill>
                <a:latin typeface="Microsoft YaHei"/>
                <a:ea typeface="Microsoft YaHei"/>
              </a:rPr>
              <a:t>VLAN</a:t>
            </a:r>
            <a:r>
              <a:rPr lang="zh-CN" sz="1013">
                <a:solidFill>
                  <a:srgbClr val="F2F7F8">
                    <a:alpha val="64000"/>
                  </a:srgbClr>
                </a:solidFill>
                <a:latin typeface="Microsoft YaHei"/>
                <a:ea typeface="Microsoft YaHei"/>
              </a:rPr>
              <a:t>、路由和规则顺序都藏在配置里。学生只能靠想象还原一条路径，更看不见它在哪一跳被拒绝。</a:t>
            </a:r>
            <a:endParaRPr/>
          </a:p>
        </p:txBody>
      </p:sp>
      <p:sp>
        <p:nvSpPr>
          <p:cNvPr id="1016" name=""/>
          <p:cNvSpPr/>
          <p:nvPr/>
        </p:nvSpPr>
        <p:spPr>
          <a:xfrm rot="0" flipH="0" flipV="0">
            <a:off x="533400" y="2457450"/>
            <a:ext cx="6191250" cy="1123950"/>
          </a:xfrm>
          <a:custGeom>
            <a:pathLst>
              <a:path w="650" h="118">
                <a:moveTo>
                  <a:pt x="0" y="0"/>
                </a:moveTo>
                <a:lnTo>
                  <a:pt x="650" y="0"/>
                </a:lnTo>
                <a:lnTo>
                  <a:pt x="65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017" name="" descr="{&quot;isTemplate&quot;:true,&quot;type&quot;:&quot;text&quot;}"/>
          <p:cNvSpPr txBox="1"/>
          <p:nvPr/>
        </p:nvSpPr>
        <p:spPr>
          <a:xfrm rot="0" flipH="0" flipV="0">
            <a:off x="533400" y="2638425"/>
            <a:ext cx="590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018" name="" descr="{&quot;isTemplate&quot;:true,&quot;type&quot;:&quot;text&quot;}"/>
          <p:cNvSpPr txBox="1"/>
          <p:nvPr/>
        </p:nvSpPr>
        <p:spPr>
          <a:xfrm rot="0" flipH="0" flipV="0">
            <a:off x="1123950" y="2619375"/>
            <a:ext cx="5334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不敢动</a:t>
            </a:r>
            <a:endParaRPr/>
          </a:p>
        </p:txBody>
      </p:sp>
      <p:sp>
        <p:nvSpPr>
          <p:cNvPr id="1019" name="" descr="{&quot;isTemplate&quot;:true,&quot;type&quot;:&quot;text&quot;}"/>
          <p:cNvSpPr txBox="1"/>
          <p:nvPr/>
        </p:nvSpPr>
        <p:spPr>
          <a:xfrm rot="0" flipH="0" flipV="0">
            <a:off x="1123950" y="2914650"/>
            <a:ext cx="5334000" cy="2762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13">
                <a:solidFill>
                  <a:srgbClr val="F2F7F8">
                    <a:alpha val="64000"/>
                  </a:srgbClr>
                </a:solidFill>
                <a:latin typeface="Microsoft YaHei"/>
                <a:ea typeface="Microsoft YaHei"/>
              </a:rPr>
              <a:t>真实设备不能反复试错。一次错误的放行、一条位置不当的规则，都可能直接中断业务。</a:t>
            </a:r>
            <a:endParaRPr/>
          </a:p>
        </p:txBody>
      </p:sp>
      <p:sp>
        <p:nvSpPr>
          <p:cNvPr id="1020" name=""/>
          <p:cNvSpPr/>
          <p:nvPr/>
        </p:nvSpPr>
        <p:spPr>
          <a:xfrm rot="0" flipH="0" flipV="0">
            <a:off x="533400" y="3581400"/>
            <a:ext cx="6191250" cy="1123950"/>
          </a:xfrm>
          <a:custGeom>
            <a:pathLst>
              <a:path w="650" h="118">
                <a:moveTo>
                  <a:pt x="0" y="0"/>
                </a:moveTo>
                <a:lnTo>
                  <a:pt x="650" y="0"/>
                </a:lnTo>
                <a:lnTo>
                  <a:pt x="65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021" name="" descr="{&quot;isTemplate&quot;:true,&quot;type&quot;:&quot;text&quot;}"/>
          <p:cNvSpPr txBox="1"/>
          <p:nvPr/>
        </p:nvSpPr>
        <p:spPr>
          <a:xfrm rot="0" flipH="0" flipV="0">
            <a:off x="533400" y="3762375"/>
            <a:ext cx="590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78172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022" name="" descr="{&quot;isTemplate&quot;:true,&quot;type&quot;:&quot;text&quot;}"/>
          <p:cNvSpPr txBox="1"/>
          <p:nvPr/>
        </p:nvSpPr>
        <p:spPr>
          <a:xfrm rot="0" flipH="0" flipV="0">
            <a:off x="1123950" y="3743325"/>
            <a:ext cx="5334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难验证</a:t>
            </a:r>
            <a:endParaRPr/>
          </a:p>
        </p:txBody>
      </p:sp>
      <p:sp>
        <p:nvSpPr>
          <p:cNvPr id="1023" name="" descr="{&quot;isTemplate&quot;:true,&quot;type&quot;:&quot;text&quot;}"/>
          <p:cNvSpPr txBox="1"/>
          <p:nvPr/>
        </p:nvSpPr>
        <p:spPr>
          <a:xfrm rot="0" flipH="0" flipV="0">
            <a:off x="1123950" y="4038600"/>
            <a:ext cx="5334000" cy="2762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13">
                <a:solidFill>
                  <a:srgbClr val="F2F7F8">
                    <a:alpha val="64000"/>
                  </a:srgbClr>
                </a:solidFill>
                <a:latin typeface="Microsoft YaHei"/>
                <a:ea typeface="Microsoft YaHei"/>
              </a:rPr>
              <a:t>改完规则只知道“好像更安全”，却说不清是挡住了风险，还是把必要业务一起切断了。</a:t>
            </a:r>
            <a:endParaRPr/>
          </a:p>
        </p:txBody>
      </p:sp>
      <p:sp>
        <p:nvSpPr>
          <p:cNvPr id="1024" name="" descr="{&quot;isTemplate&quot;:true,&quot;type&quot;:&quot;text&quot;}"/>
          <p:cNvSpPr txBox="1"/>
          <p:nvPr/>
        </p:nvSpPr>
        <p:spPr>
          <a:xfrm rot="0" flipH="0" flipV="0">
            <a:off x="533400" y="4876800"/>
            <a:ext cx="59055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88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所以问题不是“再讲一遍规则”，而是让学生在一个允许犯错的网络里，看见每一次改动的后果。</a:t>
            </a:r>
            <a:endParaRPr/>
          </a:p>
        </p:txBody>
      </p:sp>
      <p:sp>
        <p:nvSpPr>
          <p:cNvPr id="1025" name=""/>
          <p:cNvSpPr/>
          <p:nvPr/>
        </p:nvSpPr>
        <p:spPr>
          <a:xfrm rot="0" flipH="0" flipV="0">
            <a:off x="7067550" y="1333500"/>
            <a:ext cx="4591050" cy="3733800"/>
          </a:xfrm>
          <a:prstGeom prst="roundRect">
            <a:avLst>
              <a:gd name="adj" fmla="val 2551"/>
            </a:avLst>
          </a:prstGeom>
          <a:gradFill>
            <a:gsLst>
              <a:gs pos="0">
                <a:srgbClr val="F2F7F8">
                  <a:alpha val="5500"/>
                </a:srgbClr>
              </a:gs>
              <a:gs pos="100000">
                <a:srgbClr val="F2F7F8">
                  <a:alpha val="2200"/>
                </a:srgbClr>
              </a:gs>
            </a:gsLst>
            <a:lin ang="3300000" scaled="1"/>
          </a:gradFill>
          <a:ln w="12700">
            <a:solidFill>
              <a:srgbClr val="6BC8D1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26" name="" descr="{&quot;isTemplate&quot;:true,&quot;type&quot;:&quot;text&quot;}"/>
          <p:cNvSpPr txBox="1"/>
          <p:nvPr/>
        </p:nvSpPr>
        <p:spPr>
          <a:xfrm rot="0" flipH="0" flipV="0">
            <a:off x="7277100" y="1543050"/>
            <a:ext cx="41719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113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THE GAP</a:t>
            </a:r>
            <a:endParaRPr/>
          </a:p>
        </p:txBody>
      </p:sp>
      <p:sp>
        <p:nvSpPr>
          <p:cNvPr id="1027" name="" descr="{&quot;isTemplate&quot;:true,&quot;type&quot;:&quot;text&quot;}"/>
          <p:cNvSpPr txBox="1"/>
          <p:nvPr/>
        </p:nvSpPr>
        <p:spPr>
          <a:xfrm rot="0" flipH="0" flipV="0">
            <a:off x="7277100" y="1733550"/>
            <a:ext cx="4171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2F7F8"/>
                </a:solidFill>
                <a:latin typeface="Microsoft YaHei"/>
                <a:ea typeface="Microsoft YaHei"/>
              </a:rPr>
              <a:t>同一组规则，顺序不同，结果相反</a:t>
            </a:r>
            <a:endParaRPr/>
          </a:p>
        </p:txBody>
      </p:sp>
      <p:sp>
        <p:nvSpPr>
          <p:cNvPr id="1028" name=""/>
          <p:cNvSpPr/>
          <p:nvPr/>
        </p:nvSpPr>
        <p:spPr>
          <a:xfrm rot="0" flipH="0" flipV="0">
            <a:off x="7277100" y="2057400"/>
            <a:ext cx="4171950" cy="685800"/>
          </a:xfrm>
          <a:prstGeom prst="roundRect">
            <a:avLst>
              <a:gd name="adj" fmla="val 8333"/>
            </a:avLst>
          </a:prstGeom>
          <a:solidFill>
            <a:srgbClr val="07111B">
              <a:alpha val="55000"/>
            </a:srgbClr>
          </a:solidFill>
          <a:ln w="12700">
            <a:solidFill>
              <a:srgbClr val="F2F7F8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29" name="" descr="{&quot;isTemplate&quot;:true,&quot;type&quot;:&quot;text&quot;}"/>
          <p:cNvSpPr txBox="1"/>
          <p:nvPr/>
        </p:nvSpPr>
        <p:spPr>
          <a:xfrm rot="0" flipH="0" flipV="0">
            <a:off x="7391400" y="2171700"/>
            <a:ext cx="3943350" cy="4572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788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10  ALLOW  Office → DB  DATABASE</a:t>
            </a:r>
            <a:endParaRPr/>
          </a:p>
          <a:p>
            <a:pPr>
              <a:lnSpc>
                <a:spcPct val="190000"/>
              </a:lnSpc>
            </a:pPr>
            <a:r>
              <a:rPr lang="en-US" sz="788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20  DENY   Office → Database  ANY</a:t>
            </a:r>
            <a:endParaRPr/>
          </a:p>
        </p:txBody>
      </p:sp>
      <p:sp>
        <p:nvSpPr>
          <p:cNvPr id="1030" name=""/>
          <p:cNvSpPr/>
          <p:nvPr/>
        </p:nvSpPr>
        <p:spPr>
          <a:xfrm rot="0" flipH="0" flipV="0">
            <a:off x="7277100" y="2933700"/>
            <a:ext cx="1628775" cy="9525"/>
          </a:xfrm>
          <a:prstGeom prst="rect">
            <a:avLst/>
          </a:pr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031" name="" descr="{&quot;isTemplate&quot;:true,&quot;type&quot;:&quot;text&quot;}"/>
          <p:cNvSpPr txBox="1"/>
          <p:nvPr/>
        </p:nvSpPr>
        <p:spPr>
          <a:xfrm rot="0" flipH="0" flipV="0">
            <a:off x="9020175" y="2876550"/>
            <a:ext cx="6858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CONFIG TEXT</a:t>
            </a:r>
            <a:endParaRPr/>
          </a:p>
        </p:txBody>
      </p:sp>
      <p:sp>
        <p:nvSpPr>
          <p:cNvPr id="1032" name=""/>
          <p:cNvSpPr/>
          <p:nvPr/>
        </p:nvSpPr>
        <p:spPr>
          <a:xfrm rot="0" flipH="0" flipV="0">
            <a:off x="9820275" y="2933700"/>
            <a:ext cx="1628775" cy="9525"/>
          </a:xfrm>
          <a:prstGeom prst="rect">
            <a:avLst/>
          </a:pr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033" name="" descr="{&quot;isTemplate&quot;:true,&quot;type&quot;:&quot;text&quot;}"/>
          <p:cNvSpPr txBox="1"/>
          <p:nvPr/>
        </p:nvSpPr>
        <p:spPr>
          <a:xfrm rot="0" flipH="0" flipV="0">
            <a:off x="7277100" y="3067050"/>
            <a:ext cx="4171950" cy="7334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4800" b="1">
                <a:solidFill>
                  <a:srgbClr val="6BC8D1"/>
                </a:solidFill>
                <a:latin typeface="Consolas"/>
                <a:ea typeface="Consolas"/>
              </a:rPr>
              <a:t>?</a:t>
            </a:r>
            <a:endParaRPr/>
          </a:p>
        </p:txBody>
      </p:sp>
      <p:sp>
        <p:nvSpPr>
          <p:cNvPr id="1034" name=""/>
          <p:cNvSpPr/>
          <p:nvPr/>
        </p:nvSpPr>
        <p:spPr>
          <a:xfrm rot="0" flipH="0" flipV="0">
            <a:off x="7277100" y="3838575"/>
            <a:ext cx="2047875" cy="561975"/>
          </a:xfrm>
          <a:prstGeom prst="roundRect">
            <a:avLst>
              <a:gd name="adj" fmla="val 10169"/>
            </a:avLst>
          </a:prstGeom>
          <a:solidFill>
            <a:srgbClr val="E78172">
              <a:alpha val="6000"/>
            </a:srgbClr>
          </a:solidFill>
          <a:ln w="12700">
            <a:solidFill>
              <a:srgbClr val="E78172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35" name="" descr="{&quot;isTemplate&quot;:true,&quot;type&quot;:&quot;text&quot;}"/>
          <p:cNvSpPr txBox="1"/>
          <p:nvPr/>
        </p:nvSpPr>
        <p:spPr>
          <a:xfrm rot="0" flipH="0" flipV="0">
            <a:off x="7372350" y="3933825"/>
            <a:ext cx="1857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E78172"/>
                </a:solidFill>
                <a:latin typeface="Microsoft YaHei"/>
                <a:ea typeface="Microsoft YaHei"/>
              </a:rPr>
              <a:t>风险被阻断？</a:t>
            </a:r>
            <a:endParaRPr/>
          </a:p>
        </p:txBody>
      </p:sp>
      <p:sp>
        <p:nvSpPr>
          <p:cNvPr id="1036" name="" descr="{&quot;isTemplate&quot;:true,&quot;type&quot;:&quot;text&quot;}"/>
          <p:cNvSpPr txBox="1"/>
          <p:nvPr/>
        </p:nvSpPr>
        <p:spPr>
          <a:xfrm rot="0" flipH="0" flipV="0">
            <a:off x="7372350" y="4105275"/>
            <a:ext cx="1857375" cy="2000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还是只是路径没走到</a:t>
            </a:r>
            <a:endParaRPr/>
          </a:p>
        </p:txBody>
      </p:sp>
      <p:sp>
        <p:nvSpPr>
          <p:cNvPr id="1037" name=""/>
          <p:cNvSpPr/>
          <p:nvPr/>
        </p:nvSpPr>
        <p:spPr>
          <a:xfrm rot="0" flipH="0" flipV="0">
            <a:off x="9401175" y="3838575"/>
            <a:ext cx="2047875" cy="561975"/>
          </a:xfrm>
          <a:prstGeom prst="roundRect">
            <a:avLst>
              <a:gd name="adj" fmla="val 10169"/>
            </a:avLst>
          </a:prstGeom>
          <a:solidFill>
            <a:srgbClr val="6BC8D1">
              <a:alpha val="5000"/>
            </a:srgbClr>
          </a:solidFill>
          <a:ln w="12700">
            <a:solidFill>
              <a:srgbClr val="6BC8D1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38" name="" descr="{&quot;isTemplate&quot;:true,&quot;type&quot;:&quot;text&quot;}"/>
          <p:cNvSpPr txBox="1"/>
          <p:nvPr/>
        </p:nvSpPr>
        <p:spPr>
          <a:xfrm rot="0" flipH="0" flipV="0">
            <a:off x="9496425" y="3933825"/>
            <a:ext cx="1857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6BC8D1"/>
                </a:solidFill>
                <a:latin typeface="Microsoft YaHei"/>
                <a:ea typeface="Microsoft YaHei"/>
              </a:rPr>
              <a:t>业务仍可达？</a:t>
            </a:r>
            <a:endParaRPr/>
          </a:p>
        </p:txBody>
      </p:sp>
      <p:sp>
        <p:nvSpPr>
          <p:cNvPr id="1039" name="" descr="{&quot;isTemplate&quot;:true,&quot;type&quot;:&quot;text&quot;}"/>
          <p:cNvSpPr txBox="1"/>
          <p:nvPr/>
        </p:nvSpPr>
        <p:spPr>
          <a:xfrm rot="0" flipH="0" flipV="0">
            <a:off x="9496425" y="4105275"/>
            <a:ext cx="1857375" cy="2000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还是被一起切断</a:t>
            </a:r>
            <a:endParaRPr/>
          </a:p>
        </p:txBody>
      </p:sp>
      <p:sp>
        <p:nvSpPr>
          <p:cNvPr id="1040" name="" descr="{&quot;isTemplate&quot;:true,&quot;type&quot;:&quot;text&quot;}"/>
          <p:cNvSpPr txBox="1"/>
          <p:nvPr/>
        </p:nvSpPr>
        <p:spPr>
          <a:xfrm rot="0" flipH="0" flipV="0">
            <a:off x="7277100" y="4514850"/>
            <a:ext cx="4171950" cy="2000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没有可观察的结果，规则就只是一段文本。</a:t>
            </a:r>
            <a:endParaRPr/>
          </a:p>
        </p:txBody>
      </p:sp>
      <p:sp>
        <p:nvSpPr>
          <p:cNvPr id="1041" name=""/>
          <p:cNvSpPr/>
          <p:nvPr/>
        </p:nvSpPr>
        <p:spPr>
          <a:xfrm rot="0" flipH="0" flipV="0">
            <a:off x="552450" y="5524500"/>
            <a:ext cx="11106150" cy="533400"/>
          </a:xfrm>
          <a:prstGeom prst="rect">
            <a:avLst/>
          </a:prstGeom>
          <a:solidFill>
            <a:srgbClr val="6BC8D1">
              <a:alpha val="5500"/>
            </a:srgbClr>
          </a:solidFill>
          <a:ln/>
        </p:spPr>
        <p:txBody>
          <a:bodyPr/>
          <a:p/>
        </p:txBody>
      </p:sp>
      <p:sp>
        <p:nvSpPr>
          <p:cNvPr id="1042" name=""/>
          <p:cNvSpPr/>
          <p:nvPr/>
        </p:nvSpPr>
        <p:spPr>
          <a:xfrm rot="0" flipH="0" flipV="0">
            <a:off x="533400" y="5524500"/>
            <a:ext cx="11125200" cy="533400"/>
          </a:xfrm>
          <a:custGeom>
            <a:pathLst>
              <a:path w="1168" h="56">
                <a:moveTo>
                  <a:pt x="0" y="0"/>
                </a:moveTo>
                <a:lnTo>
                  <a:pt x="2" y="0"/>
                </a:lnTo>
                <a:lnTo>
                  <a:pt x="2" y="56"/>
                </a:lnTo>
                <a:lnTo>
                  <a:pt x="0" y="56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1043" name="" descr="{&quot;isTemplate&quot;:true,&quot;type&quot;:&quot;text&quot;}"/>
          <p:cNvSpPr txBox="1"/>
          <p:nvPr/>
        </p:nvSpPr>
        <p:spPr>
          <a:xfrm rot="0" flipH="0" flipV="0">
            <a:off x="723900" y="5734050"/>
            <a:ext cx="876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90">
                <a:solidFill>
                  <a:srgbClr val="6BC8D1"/>
                </a:solidFill>
                <a:latin typeface="Consolas"/>
                <a:ea typeface="Consolas"/>
              </a:rPr>
              <a:t>核心矛盾</a:t>
            </a:r>
            <a:endParaRPr/>
          </a:p>
        </p:txBody>
      </p:sp>
      <p:sp>
        <p:nvSpPr>
          <p:cNvPr id="1044" name="" descr="{&quot;isTemplate&quot;:true,&quot;type&quot;:&quot;text&quot;}"/>
          <p:cNvSpPr txBox="1"/>
          <p:nvPr/>
        </p:nvSpPr>
        <p:spPr>
          <a:xfrm rot="0" flipH="0" flipV="0">
            <a:off x="1600200" y="5705475"/>
            <a:ext cx="531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2F7F8">
                    <a:alpha val="82000"/>
                  </a:srgbClr>
                </a:solidFill>
                <a:latin typeface="Microsoft YaHei"/>
                <a:ea typeface="Microsoft YaHei"/>
              </a:rPr>
              <a:t>策略效果必须可观察，但真实网络不允许反复试错——这正是“沙盘”存在的理由。</a:t>
            </a:r>
            <a:endParaRPr/>
          </a:p>
        </p:txBody>
      </p:sp>
      <p:sp>
        <p:nvSpPr>
          <p:cNvPr id="1045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046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1047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04 / 28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048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3)' strokeWidth='1'&gt;&#13;&#10;            &lt;path d='M0 80H1280M0 160H1280M0 240H1280M0 320H1280M0 400H1280M0 480H1280M0 560H1280M0 640H1280' /&gt;&#13;&#10;            &lt;path d='M80 0V720M160 0V720M240 0V720M320 0V720M400 0V720M480 0V720M560 0V720M640 0V720M720 0V720M800 0V720M880 0V720M960 0V720M1040 0V720M1120 0V720M1200 0V720' /&gt;&#13;&#10;        &lt;/g&gt;&#13;&#10;        &lt;g stroke='rgba(107,200,209,0.20)' strokeWidth='1' fill='none'&gt;&#13;&#10;            &lt;path d='M780 300L880 380L1010 330L1110 430L1200 380' /&gt;&#13;&#10;            &lt;path d='M880 380L960 510L1080 480' /&gt;&#13;&#10;        &lt;/g&gt;&#13;&#10;        &lt;g fill='#6BC8D1'&gt;&#13;&#10;            &lt;circle cx='780' cy='300' r='4' opacity='0.55' /&gt;&#13;&#10;            &lt;circle cx='880' cy='380' r='6' opacity='0.9' /&gt;&#13;&#10;            &lt;circle cx='1010' cy='330' r='5' opacity='0.7' /&gt;&#13;&#10;            &lt;circle cx='1110' cy='430' r='4.5' opacity='0.6' /&gt;&#13;&#10;            &lt;circle cx='1200' cy='380' r='3.5' opacity='0.45' /&gt;&#13;&#10;            &lt;circle cx='960' cy='510' r='5' opacity='0.65' /&gt;&#13;&#10;            &lt;circle cx='1080' cy='480' r='4' opacity='0.5' /&gt;&#13;&#10;        &lt;/g&gt;&#13;&#10;    &lt;/svg&gt;&#13;&#10;    &lt;Text style={{ position: 'absolute', right: 56, top: 154, width: 520, textAlign: 'right', fontFamily: 'Consolas', fontSize: 290, fontWeight: 'bold', color: '#F2F7F8', opacity: 0.055, lineHeight: 1 }}&gt;02&lt;/Text&gt;&#13;&#10;    &lt;Box style={{ position: 'absolute', left: 0, top: 0, width: 5, height: 720, background: '#6BC8D1', opacity: 0.55 }} /&gt;&#13;&#10;&#13;&#10;    &lt;Box style={{ position: 'absolute', left: 72, top: 46 }}&gt;&#13;&#10;        &lt;Text style={{ fontFamily: 'Consolas', fontSize: 11, color: '#6BC8D1', letterSpacing: 2 }}&gt;CHAPTER 02 / 05&lt;/Text&gt;&#13;&#10;    &lt;/Box&gt;&#13;&#10;    &lt;Box style={{ position: 'absolute', left: 72, top: 176, width: 620 }}&gt;&#13;&#10;        &lt;Text style={{ fontFamily: 'Microsoft YaHei', fontSize: 58, fontWeight: 'bold', color: '#F2F7F8', letterSpacing: 2 }}&gt;作品概览&lt;/Text&gt;&#13;&#10;        &lt;Box style={{ marginTop: 22, width: 52, height: 3, background: '#6BC8D1' }} /&gt;&#13;&#10;        &lt;Text style={{ marginTop: 24, fontFamily: 'Microsoft YaHei', fontSize: 19, color: 'rgba(242,247,248,0.68)', lineHeight: 1.7, width: 560 }}&gt;&#13;&#10;            一个平台，六个工作面，七个可验证的实验场景。&#13;&#10;        &lt;/Text&gt;&#13;&#10;    &lt;/Box&gt;&#13;&#10;&#13;&#10;    &lt;Box style={{ position: 'absolute', left: 72, top: 420, width: 560 }}&gt;&#13;&#10;        &lt;Box style={{ flexDirection: 'row', alignItems: 'center', height: 48, borderTop: '1px solid rgba(242,247,248,0.12)' }}&gt;&#13;&#10;            &lt;Text style={{ width: 54, fontFamily: 'Consolas', fontSize: 10, color: '#6BC8D1' }}&gt;02.1&lt;/Text&gt;&#13;&#10;            &lt;Text style={{ fontFamily: 'Microsoft YaHei', fontSize: 14, color: 'rgba(242,247,248,0.72)' }}&gt;产品定位：可观察、可干预、可验证&lt;/Text&gt;&#13;&#10;        &lt;/Box&gt;&#13;&#10;        &lt;Box style={{ flexDirection: 'row', alignItems: 'center', height: 48, borderTop: '1px solid rgba(242,247,248,0.12)' }}&gt;&#13;&#10;            &lt;Text style={{ width: 54, fontFamily: 'Consolas', fontSize: 10, color: '#6BC8D1' }}&gt;02.2&lt;/Text&gt;&#13;&#10;            &lt;Text style={{ fontFamily: 'Microsoft YaHei', fontSize: 14, color: 'rgba(242,247,248,0.72)' }}&gt;功能全景：总览、实验、对比、分析、学习&lt;/Text&gt;&#13;&#10;        &lt;/Box&gt;&#13;&#10;        &lt;Box style={{ flexDirection: 'row', alignItems: 'center', height: 48, borderTop: '1px solid rgba(242,247,248,0.12)', borderBottom: '1px solid rgba(242,247,248,0.12)' }}&gt;&#13;&#10;            &lt;Text style={{ width: 54, fontFamily: 'Consolas', fontSize: 10, color: '#6BC8D1' }}&gt;02.3&lt;/Text&gt;&#13;&#10;            &lt;Text style={{ fontFamily: 'Microsoft YaHei', fontSize: 14, color: 'rgba(242,247,248,0.72)' }}&gt;实验室：六个工作面串成一次完整实验&lt;/Text&gt;&#13;&#10;        &lt;/Box&gt;&#13;&#10;    &lt;/Box&gt;&#13;&#10;&#13;&#10;    &lt;Box style={{ position: 'absolute', left: 72, top: 664, flexDirection: 'row', alignItems: 'center', gap: 8 }}&gt;&#13;&#10;        &lt;Text style={{ fontFamily: 'Consolas', fontSize: 10.5, color: 'rgba(242,247,248,0.40)' }}&gt;智御网络&lt;/Text&gt;&#13;&#10;        &lt;Box style={{ width: 16, height: 1, background: 'rgba(242,247,248,0.20)' }} /&gt;&#13;&#10;        &lt;Text style={{ fontFamily: 'Consolas', fontSize: 10.5, color: 'rgba(242,247,248,0.40)' }}&gt;OVERVIEW&lt;/Text&gt;&#13;&#10;    &lt;/Box&gt;&#13;&#10;    &lt;Text style={{ position: 'absolute', right: 56, top: 664, fontFamily: 'Consolas', fontSize: 10.5, color: 'rgba(242,247,248,0.40)' }}&gt;05 / 2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10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051" name="" descr="{&quot;isTemplate&quot;:true,&quot;type&quot;:&quot;text&quot;}"/>
          <p:cNvSpPr txBox="1"/>
          <p:nvPr/>
        </p:nvSpPr>
        <p:spPr>
          <a:xfrm rot="0" flipH="0" flipV="0">
            <a:off x="6705600" y="1466850"/>
            <a:ext cx="4953000" cy="33147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750" b="1">
                <a:solidFill>
                  <a:srgbClr val="F2F7F8">
                    <a:alpha val="5500"/>
                  </a:srgbClr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052" name=""/>
          <p:cNvSpPr/>
          <p:nvPr/>
        </p:nvSpPr>
        <p:spPr>
          <a:xfrm rot="0" flipH="0" flipV="0">
            <a:off x="0" y="0"/>
            <a:ext cx="47625" cy="6858000"/>
          </a:xfrm>
          <a:prstGeom prst="rect">
            <a:avLst/>
          </a:prstGeom>
          <a:solidFill>
            <a:srgbClr val="6BC8D1">
              <a:alpha val="55000"/>
            </a:srgbClr>
          </a:solidFill>
          <a:ln/>
        </p:spPr>
        <p:txBody>
          <a:bodyPr/>
          <a:p/>
        </p:txBody>
      </p:sp>
      <p:sp>
        <p:nvSpPr>
          <p:cNvPr id="1053" name="" descr="{&quot;isTemplate&quot;:true,&quot;type&quot;:&quot;text&quot;}"/>
          <p:cNvSpPr txBox="1"/>
          <p:nvPr/>
        </p:nvSpPr>
        <p:spPr>
          <a:xfrm rot="0" flipH="0" flipV="0">
            <a:off x="685800" y="438150"/>
            <a:ext cx="1152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50">
                <a:solidFill>
                  <a:srgbClr val="6BC8D1"/>
                </a:solidFill>
                <a:latin typeface="Consolas"/>
                <a:ea typeface="Consolas"/>
              </a:rPr>
              <a:t>CHAPTER 02 / 05</a:t>
            </a:r>
            <a:endParaRPr/>
          </a:p>
        </p:txBody>
      </p:sp>
      <p:sp>
        <p:nvSpPr>
          <p:cNvPr id="1054" name="" descr="{&quot;isTemplate&quot;:true,&quot;type&quot;:&quot;text&quot;}"/>
          <p:cNvSpPr txBox="1"/>
          <p:nvPr/>
        </p:nvSpPr>
        <p:spPr>
          <a:xfrm rot="0" flipH="0" flipV="0">
            <a:off x="685800" y="1676400"/>
            <a:ext cx="590550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350" b="1" spc="150">
                <a:solidFill>
                  <a:srgbClr val="F2F7F8"/>
                </a:solidFill>
                <a:latin typeface="Microsoft YaHei"/>
                <a:ea typeface="Microsoft YaHei"/>
              </a:rPr>
              <a:t>作品概览</a:t>
            </a:r>
            <a:endParaRPr/>
          </a:p>
        </p:txBody>
      </p:sp>
      <p:sp>
        <p:nvSpPr>
          <p:cNvPr id="1055" name=""/>
          <p:cNvSpPr/>
          <p:nvPr/>
        </p:nvSpPr>
        <p:spPr>
          <a:xfrm rot="0" flipH="0" flipV="0">
            <a:off x="685800" y="2552700"/>
            <a:ext cx="495300" cy="2857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056" name="" descr="{&quot;isTemplate&quot;:true,&quot;type&quot;:&quot;text&quot;}"/>
          <p:cNvSpPr txBox="1"/>
          <p:nvPr/>
        </p:nvSpPr>
        <p:spPr>
          <a:xfrm rot="0" flipH="0" flipV="0">
            <a:off x="685800" y="2809875"/>
            <a:ext cx="5334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一个平台，六个工作面，七个可验证的实验场景。</a:t>
            </a:r>
            <a:endParaRPr/>
          </a:p>
        </p:txBody>
      </p:sp>
      <p:sp>
        <p:nvSpPr>
          <p:cNvPr id="1057" name=""/>
          <p:cNvSpPr/>
          <p:nvPr/>
        </p:nvSpPr>
        <p:spPr>
          <a:xfrm rot="0" flipH="0" flipV="0">
            <a:off x="685800" y="40005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058" name="" descr="{&quot;isTemplate&quot;:true,&quot;type&quot;:&quot;text&quot;}"/>
          <p:cNvSpPr txBox="1"/>
          <p:nvPr/>
        </p:nvSpPr>
        <p:spPr>
          <a:xfrm rot="0" flipH="0" flipV="0">
            <a:off x="685800" y="41814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02.1</a:t>
            </a:r>
            <a:endParaRPr/>
          </a:p>
        </p:txBody>
      </p:sp>
      <p:sp>
        <p:nvSpPr>
          <p:cNvPr id="1059" name="" descr="{&quot;isTemplate&quot;:true,&quot;type&quot;:&quot;text&quot;}"/>
          <p:cNvSpPr txBox="1"/>
          <p:nvPr/>
        </p:nvSpPr>
        <p:spPr>
          <a:xfrm rot="0" flipH="0" flipV="0">
            <a:off x="1200150" y="41529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产品定位：可观察、可干预、可验证</a:t>
            </a:r>
            <a:endParaRPr/>
          </a:p>
        </p:txBody>
      </p:sp>
      <p:sp>
        <p:nvSpPr>
          <p:cNvPr id="1060" name=""/>
          <p:cNvSpPr/>
          <p:nvPr/>
        </p:nvSpPr>
        <p:spPr>
          <a:xfrm rot="0" flipH="0" flipV="0">
            <a:off x="685800" y="44577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061" name="" descr="{&quot;isTemplate&quot;:true,&quot;type&quot;:&quot;text&quot;}"/>
          <p:cNvSpPr txBox="1"/>
          <p:nvPr/>
        </p:nvSpPr>
        <p:spPr>
          <a:xfrm rot="0" flipH="0" flipV="0">
            <a:off x="685800" y="46386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02.2</a:t>
            </a:r>
            <a:endParaRPr/>
          </a:p>
        </p:txBody>
      </p:sp>
      <p:sp>
        <p:nvSpPr>
          <p:cNvPr id="1062" name="" descr="{&quot;isTemplate&quot;:true,&quot;type&quot;:&quot;text&quot;}"/>
          <p:cNvSpPr txBox="1"/>
          <p:nvPr/>
        </p:nvSpPr>
        <p:spPr>
          <a:xfrm rot="0" flipH="0" flipV="0">
            <a:off x="1200150" y="4610100"/>
            <a:ext cx="2533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功能全景：总览、实验、对比、分析、学习</a:t>
            </a:r>
            <a:endParaRPr/>
          </a:p>
        </p:txBody>
      </p:sp>
      <p:sp>
        <p:nvSpPr>
          <p:cNvPr id="1063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064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47"/>
                </a:moveTo>
                <a:lnTo>
                  <a:pt x="560" y="47"/>
                </a:lnTo>
                <a:lnTo>
                  <a:pt x="560" y="48"/>
                </a:lnTo>
                <a:lnTo>
                  <a:pt x="0" y="48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065" name="" descr="{&quot;isTemplate&quot;:true,&quot;type&quot;:&quot;text&quot;}"/>
          <p:cNvSpPr txBox="1"/>
          <p:nvPr/>
        </p:nvSpPr>
        <p:spPr>
          <a:xfrm rot="0" flipH="0" flipV="0">
            <a:off x="685800" y="5086350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02.3</a:t>
            </a:r>
            <a:endParaRPr/>
          </a:p>
        </p:txBody>
      </p:sp>
      <p:sp>
        <p:nvSpPr>
          <p:cNvPr id="1066" name="" descr="{&quot;isTemplate&quot;:true,&quot;type&quot;:&quot;text&quot;}"/>
          <p:cNvSpPr txBox="1"/>
          <p:nvPr/>
        </p:nvSpPr>
        <p:spPr>
          <a:xfrm rot="0" flipH="0" flipV="0">
            <a:off x="1200150" y="506730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实验室：六个工作面串成一次完整实验</a:t>
            </a:r>
            <a:endParaRPr/>
          </a:p>
        </p:txBody>
      </p:sp>
      <p:sp>
        <p:nvSpPr>
          <p:cNvPr id="1067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647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endParaRPr/>
          </a:p>
        </p:txBody>
      </p:sp>
      <p:sp>
        <p:nvSpPr>
          <p:cNvPr id="1068" name=""/>
          <p:cNvSpPr/>
          <p:nvPr/>
        </p:nvSpPr>
        <p:spPr>
          <a:xfrm rot="0" flipH="0" flipV="0">
            <a:off x="1409700" y="6381750"/>
            <a:ext cx="152400" cy="9525"/>
          </a:xfrm>
          <a:prstGeom prst="rect">
            <a:avLst/>
          </a:prstGeom>
          <a:solidFill>
            <a:srgbClr val="F2F7F8">
              <a:alpha val="20000"/>
            </a:srgbClr>
          </a:solidFill>
          <a:ln/>
        </p:spPr>
        <p:txBody>
          <a:bodyPr/>
          <a:p/>
        </p:txBody>
      </p:sp>
      <p:sp>
        <p:nvSpPr>
          <p:cNvPr id="1069" name="" descr="{&quot;isTemplate&quot;:true,&quot;type&quot;:&quot;text&quot;}"/>
          <p:cNvSpPr txBox="1"/>
          <p:nvPr/>
        </p:nvSpPr>
        <p:spPr>
          <a:xfrm rot="0" flipH="0" flipV="0">
            <a:off x="1638300" y="6324600"/>
            <a:ext cx="447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OVERVIEW</a:t>
            </a:r>
            <a:endParaRPr/>
          </a:p>
        </p:txBody>
      </p:sp>
      <p:sp>
        <p:nvSpPr>
          <p:cNvPr id="1070" name="" descr="{&quot;isTemplate&quot;:true,&quot;type&quot;:&quot;text&quot;}"/>
          <p:cNvSpPr txBox="1"/>
          <p:nvPr/>
        </p:nvSpPr>
        <p:spPr>
          <a:xfrm rot="0" flipH="0" flipV="0">
            <a:off x="11268075" y="632460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05 / 28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071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5)' strokeWidth='1'&gt;&#13;&#10;            &lt;path d='M0 96H1280M0 192H1280M0 288H1280M0 384H1280M0 480H1280M0 576H1280M0 672H1280' /&gt;&#13;&#10;        &lt;/g&gt;&#13;&#10;        &lt;circle cx='1200' cy='80' r='240' fill='rgba(107,200,209,0.04)' /&gt;&#13;&#10;    &lt;/svg&gt;&#13;&#10;&#13;&#10;    &lt;Box style={{ position: 'absolute', left: 56, top: 38 }}&gt;&#13;&#10;        &lt;Text style={{ fontFamily: 'Consolas', fontSize: 11, color: '#6BC8D1', letterSpacing: 1.8 }}&gt;02 / 作品概览&lt;/Text&gt;&#13;&#10;    &lt;/Box&gt;&#13;&#10;    &lt;Text style={{ position: 'absolute', left: 56, top: 62, fontFamily: 'Microsoft YaHei', fontSize: 31, fontWeight: 'bold', color: '#F2F7F8', letterSpacing: 0.5 }}&gt;把企业网络，变成可反复试错的沙盘&lt;/Text&gt;&#13;&#10;    &lt;Text style={{ position: 'absolute', right: 56, top: 76, fontFamily: 'Consolas', fontSize: 10.5, color: 'rgba(242,247,248,0.42)' }}&gt;PRODUCT OVERVIEW&lt;/Text&gt;&#13;&#10;&#13;&#10;    &lt;Box style={{ position: 'absolute', left: 56, top: 140, width: 468 }}&gt;&#13;&#10;        &lt;Text style={{ fontFamily: 'Microsoft YaHei', fontSize: 15.5, color: 'rgba(242,247,248,0.72)', lineHeight: 1.8, width: 450 }}&gt;&#13;&#10;            不是一段预设动画，而是一套会重新计算的沙盘：改一条规则，路径、状态与业务可达性都会随之变化。&#13;&#10;        &lt;/Text&gt;&#13;&#10;        &lt;Box style={{ marginTop: 20 }}&gt;&#13;&#10;            &lt;Box style={{ flexDirection: 'row', alignItems: 'flex-start', paddingTop: 10, paddingBottom: 10, borderTop: '1px solid rgba(242,247,248,0.10)' }}&gt;&#13;&#10;                &lt;Text style={{ width: 42, fontFamily: 'Consolas', fontSize: 10, color: '#6BC8D1' }}&gt;01&lt;/Text&gt;&#13;&#10;                &lt;Box style={{ width: 395 }}&gt;&#13;&#10;                    &lt;Text style={{ fontFamily: 'Microsoft YaHei', fontSize: 14.5, fontWeight: 'bold', color: '#F2F7F8' }}&gt;三维路径观察&lt;/Text&gt;&#13;&#10;                    &lt;Text style={{ marginTop: 3, fontFamily: 'Microsoft YaHei', fontSize: 11.5, color: 'rgba(242,247,248,0.54)', lineHeight: 1.6 }}&gt;设备、区域、VLAN 与真实路由路径在同一空间里可见。&lt;/Text&gt;&#13;&#10;                &lt;/Box&gt;&#13;&#10;            &lt;/Box&gt;&#13;&#10;            &lt;Box style={{ flexDirection: 'row', alignItems: 'flex-start', paddingTop: 10, paddingBottom: 10, borderTop: '1px solid rgba(242,247,248,0.10)' }}&gt;&#13;&#10;                &lt;Text style={{ width: 42, fontFamily: 'Consolas', fontSize: 10, color: '#6BC8D1' }}&gt;02&lt;/Text&gt;&#13;&#10;                &lt;Box style={{ width: 395 }}&gt;&#13;&#10;                    &lt;Text style={{ fontFamily: 'Microsoft YaHei', fontSize: 14.5, fontWeight: 'bold', color: '#F2F7F8' }}&gt;攻击状态推演&lt;/Text&gt;&#13;&#10;                    &lt;Text style={{ marginTop: 3, fontFamily: 'Microsoft YaHei', fontSize: 11.5, color: 'rgba(242,247,248,0.54)', lineHeight: 1.6 }}&gt;权限、教学条件与安全控制共同决定状态是否改变。&lt;/Text&gt;&#13;&#10;                &lt;/Box&gt;&#13;&#10;            &lt;/Box&gt;&#13;&#10;            &lt;Box style={{ flexDirection: 'row', alignItems: 'flex-start', paddingTop: 10, paddingBottom: 10, borderTop: '1px solid rgba(242,247,248,0.10)' }}&gt;&#13;&#10;                &lt;Text style={{ width: 42, fontFamily: 'Consolas', fontSize: 10, color: '#6BC8D1' }}&gt;03&lt;/Text&gt;&#13;&#10;                &lt;Box style={{ width: 395 }}&gt;&#13;&#10;                    &lt;Text style={{ fontFamily: 'Microsoft YaHei', fontSize: 14.5, fontWeight: 'bold', color: '#F2F7F8' }}&gt;策略 A/B 验证&lt;/Text&gt;&#13;&#10;                    &lt;Text style={{ marginTop: 3, fontFamily: 'Microsoft YaHei', fontSize: 11.5, color: 'rgba(242,247,248,0.54)', lineHeight: 1.6 }}&gt;原始基线 vs 当前配置，同源重算，指标逐项对照。&lt;/Text&gt;&#13;&#10;                &lt;/Box&gt;&#13;&#10;            &lt;/Box&gt;&#13;&#10;            &lt;Box style={{ flexDirection: 'row', alignItems: 'flex-start', paddingTop: 10, paddingBottom: 10, borderTop: '1px solid rgba(242,247,248,0.10)', borderBottom: '1px solid rgba(242,247,248,0.10)' }}&gt;&#13;&#10;                &lt;Text style={{ width: 42, fontFamily: 'Consolas', fontSize: 10, color: '#6BC8D1' }}&gt;04&lt;/Text&gt;&#13;&#10;                &lt;Box style={{ width: 395 }}&gt;&#13;&#10;                    &lt;Text style={{ fontFamily: 'Microsoft YaHei', fontSize: 14.5, fontWeight: 'bold', color: '#F2F7F8' }}&gt;教学闭环&lt;/Text&gt;&#13;&#10;                    &lt;Text style={{ marginTop: 3, fontFamily: 'Microsoft YaHei', fontSize: 11.5, color: 'rgba(242,247,248,0.54)', lineHeight: 1.6 }}&gt;知识卡片、20 题练习、模拟考试与实验挑战互相直达。&lt;/Text&gt;&#13;&#10;                &lt;/Box&gt;&#13;&#10;            &lt;/Box&gt;&#13;&#10;        &lt;/Box&gt;&#13;&#10;    &lt;/Box&gt;&#13;&#10;&#13;&#10;    &lt;Box style={{ position: 'absolute', left: 574, top: 136, width: 650, height: 345 }}&gt;&#13;&#10;        &lt;Image src=&quot;assets/home_hero.png&quot; style={{ width: 650, height: 345, objectFit: 'cover', borderRadius: 10, border: '1px solid rgba(107,200,209,0.22)' }} /&gt;&#13;&#10;        &lt;Box style={{ position: 'absolute', left: 0, right: 0, bottom: 0, height: 36, paddingLeft: 14, paddingRight: 14, flexDirection: 'row', alignItems: 'center', justifyContent: 'space-between', background: 'rgba(7,17,27,0.82)', borderTop: '1px solid rgba(107,200,209,0.18)' }}&gt;&#13;&#10;            &lt;Text style={{ fontFamily: 'Consolas', fontSize: 10, color: 'rgba(242,247,248,0.62)', letterSpacing: 0.8 }}&gt;真实运行界面 · 首页 / 核心实验入口&lt;/Text&gt;&#13;&#10;            &lt;Text style={{ fontFamily: 'Consolas', fontSize: 10, color: '#6BC8D1' }}&gt;01 CORE LAB&lt;/Text&gt;&#13;&#10;        &lt;/Box&gt;&#13;&#10;        &lt;Box style={{ position: 'absolute', left: 14, top: 14, paddingLeft: 10, paddingRight: 10, paddingTop: 5, paddingBottom: 5, background: 'rgba(7,17,27,0.78)', border: '1px solid rgba(107,200,209,0.28)', borderRadius: 4 }}&gt;&#13;&#10;            &lt;Text style={{ fontFamily: 'Consolas', fontSize: 9.5, color: '#6BC8D1', letterSpacing: 1 }}&gt;LIVE PREVIEW&lt;/Text&gt;&#13;&#10;        &lt;/Box&gt;&#13;&#10;    &lt;/Box&gt;&#13;&#10;&#13;&#10;    &lt;Box style={{ position: 'absolute', left: 574, top: 520, width: 650, flexDirection: 'row', justifyContent: 'space-between', alignItems: 'center' }}&gt;&#13;&#10;        &lt;Box style={{ flexDirection: 'row', alignItems: 'flex-end', gap: 8 }}&gt;&#13;&#10;            &lt;Text style={{ fontFamily: 'Consolas', fontSize: 40, fontWeight: 'bold', color: '#F2F7F8', lineHeight: 1 }}&gt;07&lt;/Text&gt;&#13;&#10;            &lt;Text style={{ fontFamily: 'Microsoft YaHei', fontSize: 11.5, color: 'rgba(242,247,248,0.52)', marginBottom: 4 }}&gt;个实验场景&lt;/Text&gt;&#13;&#10;        &lt;/Box&gt;&#13;&#10;        &lt;Box style={{ width: 1, height: 30, background: 'rgba(242,247,248,0.12)' }} /&gt;&#13;&#10;        &lt;Box style={{ flexDirection: 'row', alignItems: 'flex-end', gap: 8 }}&gt;&#13;&#10;            &lt;Text style={{ fontFamily: 'Consolas', fontSize: 40, fontWeight: 'bold', color: '#F2F7F8', lineHeight: 1 }}&gt;02&lt;/Text&gt;&#13;&#10;            &lt;Text style={{ fontFamily: 'Microsoft YaHei', fontSize: 11.5, color: 'rgba(242,247,248,0.52)', marginBottom: 4 }}&gt;种仿真模式&lt;/Text&gt;&#13;&#10;        &lt;/Box&gt;&#13;&#10;        &lt;Box style={{ width: 1, height: 30, background: 'rgba(242,247,248,0.12)' }} /&gt;&#13;&#10;        &lt;Box style={{ flexDirection: 'row', alignItems: 'flex-end', gap: 8 }}&gt;&#13;&#10;            &lt;Text style={{ fontFamily: 'Consolas', fontSize: 40, fontWeight: 'bold', color: '#6BC8D1', lineHeight: 1 }}&gt;111&lt;/Text&gt;&#13;&#10;            &lt;Text style={{ fontFamily: 'Microsoft YaHei', fontSize: 11.5, color: 'rgba(242,247,248,0.52)', marginBottom: 4 }}&gt;项自动化测试&lt;/Text&gt;&#13;&#10;        &lt;/Box&gt;&#13;&#10;    &lt;/Box&gt;&#13;&#10;&#13;&#10;    &lt;Box style={{ position: 'absolute', left: 56, top: 512, width: 468, paddingLeft: 14, borderLeft: '2px solid rgba(107,200,209,0.50)' }}&gt;&#13;&#10;        &lt;Text style={{ fontFamily: 'Microsoft YaHei', fontSize: 12.5, color: 'rgba(242,247,248,0.52)', lineHeight: 1.8 }}&gt;&#13;&#10;            沙盘的价值，不是演示一次结果，&lt;br /&gt;而是允许学生问：如果改成这样呢？&#13;&#10;        &lt;/Text&gt;&#13;&#10;    &lt;/Box&gt;&#13;&#10;&#13;&#10;    &lt;Box style={{ position: 'absolute', left: 574, top: 600, width: 650, flexDirection: 'row', alignItems: 'center', gap: 10 }}&gt;&#13;&#10;        &lt;Box style={{ width: 18, height: 1, background: 'rgba(107,200,209,0.40)' }} /&gt;&#13;&#10;        &lt;Text style={{ fontFamily: 'Consolas', fontSize: 9.5, color: 'rgba(242,247,248,0.36)', letterSpacing: 0.8 }}&gt;同一份场景状态 · 同一套判定引擎 · 每次改动都会重新计算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06 / 2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10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074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02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作品概览</a:t>
            </a:r>
            <a:endParaRPr/>
          </a:p>
        </p:txBody>
      </p:sp>
      <p:sp>
        <p:nvSpPr>
          <p:cNvPr id="1075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8006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把企业网络，变成可反复试错的沙盘</a:t>
            </a:r>
            <a:endParaRPr/>
          </a:p>
        </p:txBody>
      </p:sp>
      <p:sp>
        <p:nvSpPr>
          <p:cNvPr id="1076" name="" descr="{&quot;isTemplate&quot;:true,&quot;type&quot;:&quot;text&quot;}"/>
          <p:cNvSpPr txBox="1"/>
          <p:nvPr/>
        </p:nvSpPr>
        <p:spPr>
          <a:xfrm rot="0" flipH="0" flipV="0">
            <a:off x="10772775" y="723900"/>
            <a:ext cx="885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PRODUCT OVERVIEW</a:t>
            </a:r>
            <a:endParaRPr/>
          </a:p>
        </p:txBody>
      </p:sp>
      <p:sp>
        <p:nvSpPr>
          <p:cNvPr id="1077" name="" descr="{&quot;isTemplate&quot;:true,&quot;type&quot;:&quot;text&quot;}"/>
          <p:cNvSpPr txBox="1"/>
          <p:nvPr/>
        </p:nvSpPr>
        <p:spPr>
          <a:xfrm rot="0" flipH="0" flipV="0">
            <a:off x="533400" y="1333500"/>
            <a:ext cx="42862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63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不是一段预设动画，而是一套会重新计算的沙盘：改一条规则，路径、状态与业务可达性都会随之变化。</a:t>
            </a:r>
            <a:endParaRPr/>
          </a:p>
        </p:txBody>
      </p:sp>
      <p:sp>
        <p:nvSpPr>
          <p:cNvPr id="1078" name=""/>
          <p:cNvSpPr/>
          <p:nvPr/>
        </p:nvSpPr>
        <p:spPr>
          <a:xfrm rot="0" flipH="0" flipV="0">
            <a:off x="533400" y="2162175"/>
            <a:ext cx="4457700" cy="628650"/>
          </a:xfrm>
          <a:custGeom>
            <a:pathLst>
              <a:path w="468" h="66">
                <a:moveTo>
                  <a:pt x="0" y="0"/>
                </a:moveTo>
                <a:lnTo>
                  <a:pt x="468" y="0"/>
                </a:lnTo>
                <a:lnTo>
                  <a:pt x="4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079" name="" descr="{&quot;isTemplate&quot;:true,&quot;type&quot;:&quot;text&quot;}"/>
          <p:cNvSpPr txBox="1"/>
          <p:nvPr/>
        </p:nvSpPr>
        <p:spPr>
          <a:xfrm rot="0" flipH="0" flipV="0">
            <a:off x="533400" y="2266950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1080" name="" descr="{&quot;isTemplate&quot;:true,&quot;type&quot;:&quot;text&quot;}"/>
          <p:cNvSpPr txBox="1"/>
          <p:nvPr/>
        </p:nvSpPr>
        <p:spPr>
          <a:xfrm rot="0" flipH="0" flipV="0">
            <a:off x="933450" y="2266950"/>
            <a:ext cx="3762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三维路径观察</a:t>
            </a:r>
            <a:endParaRPr/>
          </a:p>
        </p:txBody>
      </p:sp>
      <p:sp>
        <p:nvSpPr>
          <p:cNvPr id="1081" name="" descr="{&quot;isTemplate&quot;:true,&quot;type&quot;:&quot;text&quot;}"/>
          <p:cNvSpPr txBox="1"/>
          <p:nvPr/>
        </p:nvSpPr>
        <p:spPr>
          <a:xfrm rot="0" flipH="0" flipV="0">
            <a:off x="933450" y="2466975"/>
            <a:ext cx="3762375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设备、区域、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VLAN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与真实路由路径在同一空间里可见。</a:t>
            </a:r>
            <a:endParaRPr/>
          </a:p>
        </p:txBody>
      </p:sp>
      <p:sp>
        <p:nvSpPr>
          <p:cNvPr id="1082" name=""/>
          <p:cNvSpPr/>
          <p:nvPr/>
        </p:nvSpPr>
        <p:spPr>
          <a:xfrm rot="0" flipH="0" flipV="0">
            <a:off x="533400" y="2781300"/>
            <a:ext cx="4457700" cy="628650"/>
          </a:xfrm>
          <a:custGeom>
            <a:pathLst>
              <a:path w="468" h="66">
                <a:moveTo>
                  <a:pt x="0" y="0"/>
                </a:moveTo>
                <a:lnTo>
                  <a:pt x="468" y="0"/>
                </a:lnTo>
                <a:lnTo>
                  <a:pt x="4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083" name="" descr="{&quot;isTemplate&quot;:true,&quot;type&quot;:&quot;text&quot;}"/>
          <p:cNvSpPr txBox="1"/>
          <p:nvPr/>
        </p:nvSpPr>
        <p:spPr>
          <a:xfrm rot="0" flipH="0" flipV="0">
            <a:off x="533400" y="2886075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084" name="" descr="{&quot;isTemplate&quot;:true,&quot;type&quot;:&quot;text&quot;}"/>
          <p:cNvSpPr txBox="1"/>
          <p:nvPr/>
        </p:nvSpPr>
        <p:spPr>
          <a:xfrm rot="0" flipH="0" flipV="0">
            <a:off x="933450" y="2886075"/>
            <a:ext cx="3762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攻击状态推演</a:t>
            </a:r>
            <a:endParaRPr/>
          </a:p>
        </p:txBody>
      </p:sp>
      <p:sp>
        <p:nvSpPr>
          <p:cNvPr id="1085" name="" descr="{&quot;isTemplate&quot;:true,&quot;type&quot;:&quot;text&quot;}"/>
          <p:cNvSpPr txBox="1"/>
          <p:nvPr/>
        </p:nvSpPr>
        <p:spPr>
          <a:xfrm rot="0" flipH="0" flipV="0">
            <a:off x="933450" y="3086100"/>
            <a:ext cx="3762375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权限、教学条件与安全控制共同决定状态是否改变。</a:t>
            </a:r>
            <a:endParaRPr/>
          </a:p>
        </p:txBody>
      </p:sp>
      <p:sp>
        <p:nvSpPr>
          <p:cNvPr id="1086" name=""/>
          <p:cNvSpPr/>
          <p:nvPr/>
        </p:nvSpPr>
        <p:spPr>
          <a:xfrm rot="0" flipH="0" flipV="0">
            <a:off x="533400" y="3400425"/>
            <a:ext cx="4457700" cy="628650"/>
          </a:xfrm>
          <a:custGeom>
            <a:pathLst>
              <a:path w="468" h="66">
                <a:moveTo>
                  <a:pt x="0" y="0"/>
                </a:moveTo>
                <a:lnTo>
                  <a:pt x="468" y="0"/>
                </a:lnTo>
                <a:lnTo>
                  <a:pt x="4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087" name="" descr="{&quot;isTemplate&quot;:true,&quot;type&quot;:&quot;text&quot;}"/>
          <p:cNvSpPr txBox="1"/>
          <p:nvPr/>
        </p:nvSpPr>
        <p:spPr>
          <a:xfrm rot="0" flipH="0" flipV="0">
            <a:off x="533400" y="3505200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088" name="" descr="{&quot;isTemplate&quot;:true,&quot;type&quot;:&quot;text&quot;}"/>
          <p:cNvSpPr txBox="1"/>
          <p:nvPr/>
        </p:nvSpPr>
        <p:spPr>
          <a:xfrm rot="0" flipH="0" flipV="0">
            <a:off x="933450" y="3505200"/>
            <a:ext cx="3762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策略</a:t>
            </a:r>
            <a:r>
              <a:rPr lang="en-US" sz="1088" b="1">
                <a:solidFill>
                  <a:srgbClr val="F2F7F8"/>
                </a:solidFill>
                <a:latin typeface="Microsoft YaHei"/>
                <a:ea typeface="Microsoft YaHei"/>
              </a:rPr>
              <a:t> A/B </a:t>
            </a: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验证</a:t>
            </a:r>
            <a:endParaRPr/>
          </a:p>
        </p:txBody>
      </p:sp>
      <p:sp>
        <p:nvSpPr>
          <p:cNvPr id="1089" name="" descr="{&quot;isTemplate&quot;:true,&quot;type&quot;:&quot;text&quot;}"/>
          <p:cNvSpPr txBox="1"/>
          <p:nvPr/>
        </p:nvSpPr>
        <p:spPr>
          <a:xfrm rot="0" flipH="0" flipV="0">
            <a:off x="933450" y="3705225"/>
            <a:ext cx="3762375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原始基线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vs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当前配置，同源重算，指标逐项对照。</a:t>
            </a:r>
            <a:endParaRPr/>
          </a:p>
        </p:txBody>
      </p:sp>
      <p:sp>
        <p:nvSpPr>
          <p:cNvPr id="1090" name=""/>
          <p:cNvSpPr/>
          <p:nvPr/>
        </p:nvSpPr>
        <p:spPr>
          <a:xfrm rot="0" flipH="0" flipV="0">
            <a:off x="533400" y="4019550"/>
            <a:ext cx="4457700" cy="647700"/>
          </a:xfrm>
          <a:custGeom>
            <a:pathLst>
              <a:path w="468" h="68">
                <a:moveTo>
                  <a:pt x="0" y="0"/>
                </a:moveTo>
                <a:lnTo>
                  <a:pt x="468" y="0"/>
                </a:lnTo>
                <a:lnTo>
                  <a:pt x="4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091" name=""/>
          <p:cNvSpPr/>
          <p:nvPr/>
        </p:nvSpPr>
        <p:spPr>
          <a:xfrm rot="0" flipH="0" flipV="0">
            <a:off x="533400" y="4019550"/>
            <a:ext cx="4457700" cy="647700"/>
          </a:xfrm>
          <a:custGeom>
            <a:pathLst>
              <a:path w="468" h="68">
                <a:moveTo>
                  <a:pt x="0" y="67"/>
                </a:moveTo>
                <a:lnTo>
                  <a:pt x="468" y="67"/>
                </a:lnTo>
                <a:lnTo>
                  <a:pt x="468" y="68"/>
                </a:lnTo>
                <a:lnTo>
                  <a:pt x="0" y="68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092" name="" descr="{&quot;isTemplate&quot;:true,&quot;type&quot;:&quot;text&quot;}"/>
          <p:cNvSpPr txBox="1"/>
          <p:nvPr/>
        </p:nvSpPr>
        <p:spPr>
          <a:xfrm rot="0" flipH="0" flipV="0">
            <a:off x="533400" y="4124325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1093" name="" descr="{&quot;isTemplate&quot;:true,&quot;type&quot;:&quot;text&quot;}"/>
          <p:cNvSpPr txBox="1"/>
          <p:nvPr/>
        </p:nvSpPr>
        <p:spPr>
          <a:xfrm rot="0" flipH="0" flipV="0">
            <a:off x="933450" y="4124325"/>
            <a:ext cx="3762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教学闭环</a:t>
            </a:r>
            <a:endParaRPr/>
          </a:p>
        </p:txBody>
      </p:sp>
      <p:sp>
        <p:nvSpPr>
          <p:cNvPr id="1094" name="" descr="{&quot;isTemplate&quot;:true,&quot;type&quot;:&quot;text&quot;}"/>
          <p:cNvSpPr txBox="1"/>
          <p:nvPr/>
        </p:nvSpPr>
        <p:spPr>
          <a:xfrm rot="0" flipH="0" flipV="0">
            <a:off x="933450" y="4324350"/>
            <a:ext cx="3762375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知识卡片、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20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题练习、模拟考试与实验挑战互相直达。</a:t>
            </a:r>
            <a:endParaRPr/>
          </a:p>
        </p:txBody>
      </p:sp>
      <p:sp>
        <p:nvSpPr>
          <p:cNvPr id="1095" name=""/>
          <p:cNvSpPr/>
          <p:nvPr/>
        </p:nvSpPr>
        <p:spPr>
          <a:xfrm rot="0" flipH="0" flipV="0">
            <a:off x="5467350" y="1295400"/>
            <a:ext cx="6191250" cy="3286125"/>
          </a:xfrm>
          <a:prstGeom prst="rect">
            <a:avLst/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96" name=""/>
          <p:cNvPicPr>
            <a:picLocks noChangeAspect="1"/>
          </p:cNvPicPr>
          <p:nvPr/>
        </p:nvPicPr>
        <p:blipFill>
          <a:blip r:embed="rId2"/>
          <a:srcRect l="14" t="0" r="14" b="0"/>
          <a:stretch>
            <a:fillRect/>
          </a:stretch>
        </p:blipFill>
        <p:spPr>
          <a:xfrm rot="0" flipH="0" flipV="0">
            <a:off x="5467350" y="1295400"/>
            <a:ext cx="6191250" cy="3286125"/>
          </a:xfrm>
          <a:prstGeom prst="roundRect">
            <a:avLst>
              <a:gd name="adj" fmla="val 2899"/>
            </a:avLst>
          </a:prstGeom>
          <a:ln/>
        </p:spPr>
      </p:pic>
      <p:sp>
        <p:nvSpPr>
          <p:cNvPr id="1097" name=""/>
          <p:cNvSpPr/>
          <p:nvPr/>
        </p:nvSpPr>
        <p:spPr>
          <a:xfrm rot="0" flipH="0" flipV="0">
            <a:off x="5467350" y="4248150"/>
            <a:ext cx="6191250" cy="333375"/>
          </a:xfrm>
          <a:prstGeom prst="rect">
            <a:avLst/>
          </a:prstGeom>
          <a:solidFill>
            <a:srgbClr val="07111B">
              <a:alpha val="82000"/>
            </a:srgbClr>
          </a:solidFill>
          <a:ln/>
        </p:spPr>
        <p:txBody>
          <a:bodyPr/>
          <a:p/>
        </p:txBody>
      </p:sp>
      <p:sp>
        <p:nvSpPr>
          <p:cNvPr id="1098" name=""/>
          <p:cNvSpPr/>
          <p:nvPr/>
        </p:nvSpPr>
        <p:spPr>
          <a:xfrm rot="0" flipH="0" flipV="0">
            <a:off x="5467350" y="4238625"/>
            <a:ext cx="6191250" cy="342900"/>
          </a:xfrm>
          <a:custGeom>
            <a:pathLst>
              <a:path w="650" h="36">
                <a:moveTo>
                  <a:pt x="0" y="0"/>
                </a:moveTo>
                <a:lnTo>
                  <a:pt x="650" y="0"/>
                </a:lnTo>
                <a:lnTo>
                  <a:pt x="650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18000"/>
            </a:srgbClr>
          </a:solidFill>
          <a:ln/>
        </p:spPr>
        <p:txBody>
          <a:bodyPr/>
          <a:p/>
        </p:txBody>
      </p:sp>
      <p:sp>
        <p:nvSpPr>
          <p:cNvPr id="1099" name="" descr="{&quot;isTemplate&quot;:true,&quot;type&quot;:&quot;text&quot;}"/>
          <p:cNvSpPr txBox="1"/>
          <p:nvPr/>
        </p:nvSpPr>
        <p:spPr>
          <a:xfrm rot="0" flipH="0" flipV="0">
            <a:off x="5600700" y="4362450"/>
            <a:ext cx="27336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spc="60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真实运行界面</a:t>
            </a:r>
            <a:r>
              <a:rPr lang="en-US" sz="750" spc="60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50" spc="60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首页</a:t>
            </a:r>
            <a:r>
              <a:rPr lang="en-US" sz="750" spc="60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 / </a:t>
            </a:r>
            <a:r>
              <a:rPr lang="zh-CN" sz="750" spc="60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核心实验入口</a:t>
            </a:r>
            <a:endParaRPr/>
          </a:p>
        </p:txBody>
      </p:sp>
      <p:sp>
        <p:nvSpPr>
          <p:cNvPr id="1100" name="" descr="{&quot;isTemplate&quot;:true,&quot;type&quot;:&quot;text&quot;}"/>
          <p:cNvSpPr txBox="1"/>
          <p:nvPr/>
        </p:nvSpPr>
        <p:spPr>
          <a:xfrm rot="0" flipH="0" flipV="0">
            <a:off x="10944225" y="4362450"/>
            <a:ext cx="5810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 CORE LAB</a:t>
            </a:r>
            <a:endParaRPr/>
          </a:p>
        </p:txBody>
      </p:sp>
      <p:sp>
        <p:nvSpPr>
          <p:cNvPr id="1101" name=""/>
          <p:cNvSpPr/>
          <p:nvPr/>
        </p:nvSpPr>
        <p:spPr>
          <a:xfrm rot="0" flipH="0" flipV="0">
            <a:off x="5600700" y="1428750"/>
            <a:ext cx="904875" cy="209550"/>
          </a:xfrm>
          <a:prstGeom prst="roundRect">
            <a:avLst>
              <a:gd name="adj" fmla="val 18182"/>
            </a:avLst>
          </a:prstGeom>
          <a:solidFill>
            <a:srgbClr val="07111B">
              <a:alpha val="78000"/>
            </a:srgbClr>
          </a:solidFill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02" name="" descr="{&quot;isTemplate&quot;:true,&quot;type&quot;:&quot;text&quot;}"/>
          <p:cNvSpPr txBox="1"/>
          <p:nvPr/>
        </p:nvSpPr>
        <p:spPr>
          <a:xfrm rot="0" flipH="0" flipV="0">
            <a:off x="5695950" y="1476375"/>
            <a:ext cx="7143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6BC8D1"/>
                </a:solidFill>
                <a:latin typeface="Consolas"/>
                <a:ea typeface="Consolas"/>
              </a:rPr>
              <a:t>LIVE PREVIEW</a:t>
            </a:r>
            <a:endParaRPr/>
          </a:p>
        </p:txBody>
      </p:sp>
      <p:sp>
        <p:nvSpPr>
          <p:cNvPr id="1103" name="" descr="{&quot;isTemplate&quot;:true,&quot;type&quot;:&quot;text&quot;}"/>
          <p:cNvSpPr txBox="1"/>
          <p:nvPr/>
        </p:nvSpPr>
        <p:spPr>
          <a:xfrm rot="0" flipH="0" flipV="0">
            <a:off x="5467350" y="4953000"/>
            <a:ext cx="419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2F7F8"/>
                </a:solidFill>
                <a:latin typeface="Consolas"/>
                <a:ea typeface="Consolas"/>
              </a:rPr>
              <a:t>07</a:t>
            </a:r>
            <a:endParaRPr/>
          </a:p>
        </p:txBody>
      </p:sp>
      <p:sp>
        <p:nvSpPr>
          <p:cNvPr id="1104" name="" descr="{&quot;isTemplate&quot;:true,&quot;type&quot;:&quot;text&quot;}"/>
          <p:cNvSpPr txBox="1"/>
          <p:nvPr/>
        </p:nvSpPr>
        <p:spPr>
          <a:xfrm rot="0" flipH="0" flipV="0">
            <a:off x="5962650" y="5238750"/>
            <a:ext cx="552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个实验场景</a:t>
            </a:r>
            <a:endParaRPr/>
          </a:p>
        </p:txBody>
      </p:sp>
      <p:sp>
        <p:nvSpPr>
          <p:cNvPr id="1105" name=""/>
          <p:cNvSpPr/>
          <p:nvPr/>
        </p:nvSpPr>
        <p:spPr>
          <a:xfrm rot="0" flipH="0" flipV="0">
            <a:off x="7191375" y="5038725"/>
            <a:ext cx="9525" cy="285750"/>
          </a:xfrm>
          <a:prstGeom prst="rect">
            <a:avLst/>
          </a:pr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106" name="" descr="{&quot;isTemplate&quot;:true,&quot;type&quot;:&quot;text&quot;}"/>
          <p:cNvSpPr txBox="1"/>
          <p:nvPr/>
        </p:nvSpPr>
        <p:spPr>
          <a:xfrm rot="0" flipH="0" flipV="0">
            <a:off x="7886700" y="4953000"/>
            <a:ext cx="419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2F7F8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107" name="" descr="{&quot;isTemplate&quot;:true,&quot;type&quot;:&quot;text&quot;}"/>
          <p:cNvSpPr txBox="1"/>
          <p:nvPr/>
        </p:nvSpPr>
        <p:spPr>
          <a:xfrm rot="0" flipH="0" flipV="0">
            <a:off x="8382000" y="5238750"/>
            <a:ext cx="552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种仿真模式</a:t>
            </a:r>
            <a:endParaRPr/>
          </a:p>
        </p:txBody>
      </p:sp>
      <p:sp>
        <p:nvSpPr>
          <p:cNvPr id="1108" name=""/>
          <p:cNvSpPr/>
          <p:nvPr/>
        </p:nvSpPr>
        <p:spPr>
          <a:xfrm rot="0" flipH="0" flipV="0">
            <a:off x="9610725" y="5038725"/>
            <a:ext cx="9525" cy="285750"/>
          </a:xfrm>
          <a:prstGeom prst="rect">
            <a:avLst/>
          </a:pr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109" name="" descr="{&quot;isTemplate&quot;:true,&quot;type&quot;:&quot;text&quot;}"/>
          <p:cNvSpPr txBox="1"/>
          <p:nvPr/>
        </p:nvSpPr>
        <p:spPr>
          <a:xfrm rot="0" flipH="0" flipV="0">
            <a:off x="10296525" y="4953000"/>
            <a:ext cx="6286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6BC8D1"/>
                </a:solidFill>
                <a:latin typeface="Consolas"/>
                <a:ea typeface="Consolas"/>
              </a:rPr>
              <a:t>111</a:t>
            </a:r>
            <a:endParaRPr/>
          </a:p>
        </p:txBody>
      </p:sp>
      <p:sp>
        <p:nvSpPr>
          <p:cNvPr id="1110" name="" descr="{&quot;isTemplate&quot;:true,&quot;type&quot;:&quot;text&quot;}"/>
          <p:cNvSpPr txBox="1"/>
          <p:nvPr/>
        </p:nvSpPr>
        <p:spPr>
          <a:xfrm rot="0" flipH="0" flipV="0">
            <a:off x="11001375" y="5238750"/>
            <a:ext cx="657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项自动化测试</a:t>
            </a:r>
            <a:endParaRPr/>
          </a:p>
        </p:txBody>
      </p:sp>
      <p:sp>
        <p:nvSpPr>
          <p:cNvPr id="1111" name=""/>
          <p:cNvSpPr/>
          <p:nvPr/>
        </p:nvSpPr>
        <p:spPr>
          <a:xfrm rot="0" flipH="0" flipV="0">
            <a:off x="533400" y="4876800"/>
            <a:ext cx="4457700" cy="514350"/>
          </a:xfrm>
          <a:custGeom>
            <a:pathLst>
              <a:path w="468" h="54">
                <a:moveTo>
                  <a:pt x="0" y="0"/>
                </a:moveTo>
                <a:lnTo>
                  <a:pt x="2" y="0"/>
                </a:lnTo>
                <a:lnTo>
                  <a:pt x="2" y="54"/>
                </a:lnTo>
                <a:lnTo>
                  <a:pt x="0" y="54"/>
                </a:lnTo>
                <a:close/>
              </a:path>
            </a:pathLst>
          </a:custGeom>
          <a:solidFill>
            <a:srgbClr val="6BC8D1">
              <a:alpha val="50000"/>
            </a:srgbClr>
          </a:solidFill>
          <a:ln/>
        </p:spPr>
        <p:txBody>
          <a:bodyPr/>
          <a:p/>
        </p:txBody>
      </p:sp>
      <p:sp>
        <p:nvSpPr>
          <p:cNvPr id="1112" name="" descr="{&quot;isTemplate&quot;:true,&quot;type&quot;:&quot;text&quot;}"/>
          <p:cNvSpPr txBox="1"/>
          <p:nvPr/>
        </p:nvSpPr>
        <p:spPr>
          <a:xfrm rot="0" flipH="0" flipV="0">
            <a:off x="685800" y="4876800"/>
            <a:ext cx="4305300" cy="5143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938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沙盘的价值，不是演示一次结果，</a:t>
            </a:r>
            <a:endParaRPr/>
          </a:p>
          <a:p>
            <a:pPr>
              <a:lnSpc>
                <a:spcPct val="180000"/>
              </a:lnSpc>
            </a:pPr>
            <a:r>
              <a:rPr lang="zh-CN" sz="938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而是允许学生问：如果改成这样呢？</a:t>
            </a:r>
            <a:endParaRPr/>
          </a:p>
        </p:txBody>
      </p:sp>
      <p:sp>
        <p:nvSpPr>
          <p:cNvPr id="1113" name=""/>
          <p:cNvSpPr/>
          <p:nvPr/>
        </p:nvSpPr>
        <p:spPr>
          <a:xfrm rot="0" flipH="0" flipV="0">
            <a:off x="5467350" y="5772150"/>
            <a:ext cx="171450" cy="9525"/>
          </a:xfrm>
          <a:prstGeom prst="rect">
            <a:avLst/>
          </a:prstGeom>
          <a:solidFill>
            <a:srgbClr val="6BC8D1">
              <a:alpha val="40000"/>
            </a:srgbClr>
          </a:solidFill>
          <a:ln/>
        </p:spPr>
        <p:txBody>
          <a:bodyPr/>
          <a:p/>
        </p:txBody>
      </p:sp>
      <p:sp>
        <p:nvSpPr>
          <p:cNvPr id="1114" name="" descr="{&quot;isTemplate&quot;:true,&quot;type&quot;:&quot;text&quot;}"/>
          <p:cNvSpPr txBox="1"/>
          <p:nvPr/>
        </p:nvSpPr>
        <p:spPr>
          <a:xfrm rot="0" flipH="0" flipV="0">
            <a:off x="5734050" y="5715000"/>
            <a:ext cx="44196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 spc="60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同一份场景状态</a:t>
            </a:r>
            <a:r>
              <a:rPr lang="en-US" sz="713" spc="60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13" spc="60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同一套判定引擎</a:t>
            </a:r>
            <a:r>
              <a:rPr lang="en-US" sz="713" spc="60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13" spc="60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每次改动都会重新计算</a:t>
            </a:r>
            <a:endParaRPr/>
          </a:p>
        </p:txBody>
      </p:sp>
      <p:sp>
        <p:nvSpPr>
          <p:cNvPr id="1115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116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1117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06 / 28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118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02 / 作品概览&lt;/Text&gt;&#13;&#10;    &lt;/Box&gt;&#13;&#10;    &lt;Text style={{ position: 'absolute', left: 56, top: 62, fontFamily: 'Microsoft YaHei', fontSize: 32, fontWeight: 'bold', color: '#F2F7F8', letterSpacing: 0.5 }}&gt;一个平台，六个工作面&lt;/Text&gt;&#13;&#10;    &lt;Text style={{ position: 'absolute', right: 56, top: 76, fontFamily: 'Consolas', fontSize: 10.5, color: 'rgba(242,247,248,0.42)' }}&gt;SIX SURFACES · ONE ENGINE&lt;/Text&gt;&#13;&#10;&#13;&#10;    &lt;Box style={{ position: 'absolute', left: 56, top: 138, width: 420, height: 224, padding: 18, background: 'linear-gradient(145deg, rgba(107,200,209,0.10) 0%, rgba(242,247,248,0.025) 100%)', border: '1px solid rgba(107,200,209,0.26)', borderRadius: 10 }}&gt;&#13;&#10;        &lt;Box style={{ flexDirection: 'row', justifyContent: 'space-between', alignItems: 'center' }}&gt;&#13;&#10;            &lt;Text style={{ fontFamily: 'Consolas', fontSize: 10, color: '#6BC8D1', letterSpacing: 1 }}&gt;01 / OVERVIEW&lt;/Text&gt;&#13;&#10;            &lt;Text style={{ fontFamily: 'Consolas', fontSize: 10, color: 'rgba(242,247,248,0.32)' }}&gt;入口&lt;/Text&gt;&#13;&#10;        &lt;/Box&gt;&#13;&#10;        &lt;Text style={{ marginTop: 10, fontFamily: 'Microsoft YaHei', fontSize: 19, fontWeight: 'bold', color: '#F2F7F8' }}&gt;总览&lt;/Text&gt;&#13;&#10;        &lt;Text style={{ marginTop: 8, fontFamily: 'Microsoft YaHei', fontSize: 10.5, color: 'rgba(242,247,248,0.42)' }}&gt;进入实验的第一屏&lt;/Text&gt;&#13;&#10;        &lt;Box style={{ marginTop: 9 }}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核心实验入口与初始条件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六个扩展场景矩阵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三维拓扑实时预览&lt;/Text&gt;&#13;&#10;            &lt;/Box&gt;&#13;&#10;        &lt;/Box&gt;&#13;&#10;        &lt;Box style={{ marginTop: 'auto', flexDirection: 'row', alignItems: 'center', justifyContent: 'space-between' }}&gt;&#13;&#10;            &lt;Text style={{ fontFamily: 'Microsoft YaHei', fontSize: 10.5, color: 'rgba(242,247,248,0.38)' }}&gt;选场景 → 进实验&lt;/Text&gt;&#13;&#10;            &lt;Text style={{ fontFamily: 'Consolas', fontSize: 16, color: '#6BC8D1' }}&gt;→&lt;/Text&gt;&#13;&#10;        &lt;/Box&gt;&#13;&#10;    &lt;/Box&gt;&#13;&#10;&#13;&#10;    &lt;Box style={{ position: 'absolute', left: 492, top: 138, width: 356, height: 224, padding: 18, background: 'linear-gradient(145deg, rgba(242,247,248,0.05) 0%, rgba(242,247,248,0.02) 100%)', border: '1px solid rgba(242,247,248,0.10)', borderRadius: 10 }}&gt;&#13;&#10;        &lt;Text style={{ fontFamily: 'Consolas', fontSize: 10, color: 'rgba(242,247,248,0.42)', letterSpacing: 1 }}&gt;02 / LABORATORY&lt;/Text&gt;&#13;&#10;        &lt;Text style={{ marginTop: 10, fontFamily: 'Microsoft YaHei', fontSize: 19, fontWeight: 'bold', color: '#F2F7F8' }}&gt;三维实验室&lt;/Text&gt;&#13;&#10;        &lt;Text style={{ marginTop: 8, fontFamily: 'Microsoft YaHei', fontSize: 10.5, color: 'rgba(242,247,248,0.42)' }}&gt;核心工作面&lt;/Text&gt;&#13;&#10;        &lt;Box style={{ marginTop: 9 }}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拓扑拖拽、缩放与点选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规则编辑、排序与启停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事件时间线与代表链回放&lt;/Text&gt;&#13;&#10;            &lt;/Box&gt;&#13;&#10;        &lt;/Box&gt;&#13;&#10;        &lt;Box style={{ marginTop: 'auto', flexDirection: 'row', alignItems: 'center', justifyContent: 'space-between' }}&gt;&#13;&#10;            &lt;Text style={{ fontFamily: 'Microsoft YaHei', fontSize: 10.5, color: 'rgba(242,247,248,0.38)' }}&gt;改一处 → 重新验证&lt;/Text&gt;&#13;&#10;            &lt;Text style={{ fontFamily: 'Consolas', fontSize: 16, color: '#6BC8D1' }}&gt;→&lt;/Text&gt;&#13;&#10;        &lt;/Box&gt;&#13;&#10;    &lt;/Box&gt;&#13;&#10;&#13;&#10;    &lt;Box style={{ position: 'absolute', left: 864, top: 138, width: 356, height: 224, padding: 18, background: 'linear-gradient(145deg, rgba(242,247,248,0.05) 0%, rgba(242,247,248,0.02) 100%)', border: '1px solid rgba(242,247,248,0.10)', borderRadius: 10 }}&gt;&#13;&#10;        &lt;Text style={{ fontFamily: 'Consolas', fontSize: 10, color: 'rgba(242,247,248,0.42)', letterSpacing: 1 }}&gt;03 / COMPARE&lt;/Text&gt;&#13;&#10;        &lt;Text style={{ marginTop: 10, fontFamily: 'Microsoft YaHei', fontSize: 19, fontWeight: 'bold', color: '#F2F7F8' }}&gt;方案对比&lt;/Text&gt;&#13;&#10;        &lt;Text style={{ marginTop: 8, fontFamily: 'Microsoft YaHei', fontSize: 10.5, color: 'rgba(242,247,248,0.42)' }}&gt;两次独立计算&lt;/Text&gt;&#13;&#10;        &lt;Box style={{ marginTop: 9 }}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原始基线 vs 当前配置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关键指标差异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代表链并排查看&lt;/Text&gt;&#13;&#10;            &lt;/Box&gt;&#13;&#10;        &lt;/Box&gt;&#13;&#10;        &lt;Box style={{ marginTop: 'auto', flexDirection: 'row', alignItems: 'center', justifyContent: 'space-between' }}&gt;&#13;&#10;            &lt;Text style={{ fontFamily: 'Microsoft YaHei', fontSize: 10.5, color: 'rgba(242,247,248,0.38)' }}&gt;A → B 的净变化&lt;/Text&gt;&#13;&#10;            &lt;Text style={{ fontFamily: 'Consolas', fontSize: 16, color: '#6BC8D1' }}&gt;→&lt;/Text&gt;&#13;&#10;        &lt;/Box&gt;&#13;&#10;    &lt;/Box&gt;&#13;&#10;&#13;&#10;    &lt;Box style={{ position: 'absolute', left: 56, top: 380, width: 356, height: 224, padding: 18, background: 'linear-gradient(145deg, rgba(242,247,248,0.05) 0%, rgba(242,247,248,0.02) 100%)', border: '1px solid rgba(242,247,248,0.10)', borderRadius: 10 }}&gt;&#13;&#10;        &lt;Text style={{ fontFamily: 'Consolas', fontSize: 10, color: 'rgba(242,247,248,0.42)', letterSpacing: 1 }}&gt;04 / ANALYSIS&lt;/Text&gt;&#13;&#10;        &lt;Text style={{ marginTop: 10, fontFamily: 'Microsoft YaHei', fontSize: 19, fontWeight: 'bold', color: '#F2F7F8' }}&gt;实验分析&lt;/Text&gt;&#13;&#10;        &lt;Text style={{ marginTop: 8, fontFamily: 'Microsoft YaHei', fontSize: 10.5, color: 'rgba(242,247,248,0.42)' }}&gt;结果回看&lt;/Text&gt;&#13;&#10;        &lt;Box style={{ marginTop: 9 }}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结论与业务可达率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状态分布与影响趋势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关键事件与报告导出&lt;/Text&gt;&#13;&#10;            &lt;/Box&gt;&#13;&#10;        &lt;/Box&gt;&#13;&#10;        &lt;Box style={{ marginTop: 'auto', flexDirection: 'row', alignItems: 'center', justifyContent: 'space-between' }}&gt;&#13;&#10;            &lt;Text style={{ fontFamily: 'Microsoft YaHei', fontSize: 10.5, color: 'rgba(242,247,248,0.38)' }}&gt;结论 → 证据&lt;/Text&gt;&#13;&#10;            &lt;Text style={{ fontFamily: 'Consolas', fontSize: 16, color: '#6BC8D1' }}&gt;→&lt;/Text&gt;&#13;&#10;        &lt;/Box&gt;&#13;&#10;    &lt;/Box&gt;&#13;&#10;&#13;&#10;    &lt;Box style={{ position: 'absolute', left: 428, top: 380, width: 420, height: 224, padding: 18, background: 'linear-gradient(145deg, rgba(107,200,209,0.10) 0%, rgba(242,247,248,0.025) 100%)', border: '1px solid rgba(107,200,209,0.26)', borderRadius: 10 }}&gt;&#13;&#10;        &lt;Box style={{ flexDirection: 'row', justifyContent: 'space-between', alignItems: 'center' }}&gt;&#13;&#10;            &lt;Text style={{ fontFamily: 'Consolas', fontSize: 10, color: '#6BC8D1', letterSpacing: 1 }}&gt;05 / LEARN&lt;/Text&gt;&#13;&#10;            &lt;Text style={{ fontFamily: 'Consolas', fontSize: 10, color: 'rgba(242,247,248,0.32)' }}&gt;20 题&lt;/Text&gt;&#13;&#10;        &lt;/Box&gt;&#13;&#10;        &lt;Text style={{ marginTop: 10, fontFamily: 'Microsoft YaHei', fontSize: 19, fontWeight: 'bold', color: '#F2F7F8' }}&gt;学习中心&lt;/Text&gt;&#13;&#10;        &lt;Text style={{ marginTop: 8, fontFamily: 'Microsoft YaHei', fontSize: 10.5, color: 'rgba(242,247,248,0.42)' }}&gt;学 · 练 · 考&lt;/Text&gt;&#13;&#10;        &lt;Box style={{ marginTop: 9 }}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六个知识模块，直达实验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20 题随堂练习与解析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模拟考试、评分与错题回看&lt;/Text&gt;&#13;&#10;            &lt;/Box&gt;&#13;&#10;        &lt;/Box&gt;&#13;&#10;        &lt;Box style={{ marginTop: 'auto', flexDirection: 'row', alignItems: 'center', justifyContent: 'space-between' }}&gt;&#13;&#10;            &lt;Text style={{ fontFamily: 'Microsoft YaHei', fontSize: 10.5, color: 'rgba(242,247,248,0.38)' }}&gt;知识 → 操作&lt;/Text&gt;&#13;&#10;            &lt;Text style={{ fontFamily: 'Consolas', fontSize: 16, color: '#6BC8D1' }}&gt;→&lt;/Text&gt;&#13;&#10;        &lt;/Box&gt;&#13;&#10;    &lt;/Box&gt;&#13;&#10;&#13;&#10;    &lt;Box style={{ position: 'absolute', left: 864, top: 380, width: 356, height: 224, padding: 18, background: 'linear-gradient(145deg, rgba(242,247,248,0.05) 0%, rgba(242,247,248,0.02) 100%)', border: '1px solid rgba(242,247,248,0.10)', borderRadius: 10 }}&gt;&#13;&#10;        &lt;Text style={{ fontFamily: 'Consolas', fontSize: 10, color: 'rgba(242,247,248,0.42)', letterSpacing: 1 }}&gt;06 / SCENARIOS&lt;/Text&gt;&#13;&#10;        &lt;Text style={{ marginTop: 10, fontFamily: 'Microsoft YaHei', fontSize: 19, fontWeight: 'bold', color: '#F2F7F8' }}&gt;场景与说明&lt;/Text&gt;&#13;&#10;        &lt;Text style={{ marginTop: 8, fontFamily: 'Microsoft YaHei', fontSize: 10.5, color: 'rgba(242,247,248,0.42)' }}&gt;同一套判定&lt;/Text&gt;&#13;&#10;        &lt;Box style={{ marginTop: 9 }}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7 个场景 / 3 档难度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2 种仿真模式&lt;/Text&gt;&#13;&#10;            &lt;/Box&gt;&#13;&#10;            &lt;Box style={{ flexDirection: 'row', alignItems: 'center', height: 22, gap: 8 }}&gt;&#13;&#10;                &lt;Box style={{ width: 3, height: 3, borderRadius: 2, background: '#6BC8D1' }} /&gt;&#13;&#10;                &lt;Text style={{ fontFamily: 'Microsoft YaHei', fontSize: 11.5, color: 'rgba(242,247,248,0.66)' }}&gt;项目说明与模型边界&lt;/Text&gt;&#13;&#10;            &lt;/Box&gt;&#13;&#10;        &lt;/Box&gt;&#13;&#10;        &lt;Box style={{ marginTop: 'auto', flexDirection: 'row', alignItems: 'center', justifyContent: 'space-between' }}&gt;&#13;&#10;            &lt;Text style={{ fontFamily: 'Microsoft YaHei', fontSize: 10.5, color: 'rgba(242,247,248,0.38)' }}&gt;场景 → 策略&lt;/Text&gt;&#13;&#10;            &lt;Text style={{ fontFamily: 'Consolas', fontSize: 16, color: '#6BC8D1' }}&gt;→&lt;/Text&gt;&#13;&#10;        &lt;/Box&gt;&#13;&#10;    &lt;/Box&gt;&#13;&#10;&#13;&#10;    &lt;Box style={{ position: 'absolute', left: 56, top: 620, flexDirection: 'row', alignItems: 'center', gap: 10 }}&gt;&#13;&#10;        &lt;Box style={{ width: 20, height: 1, background: '#6BC8D1' }} /&gt;&#13;&#10;        &lt;Text style={{ fontFamily: 'Microsoft YaHei', fontSize: 11.5, color: 'rgba(242,247,248,0.48)' }}&gt;六个工作面共享同一套数据模型与确定性引擎；界面只是结果的视图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07 / 2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11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121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02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作品概览</a:t>
            </a:r>
            <a:endParaRPr/>
          </a:p>
        </p:txBody>
      </p:sp>
      <p:sp>
        <p:nvSpPr>
          <p:cNvPr id="1122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30956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一个平台，六个工作面</a:t>
            </a:r>
            <a:endParaRPr/>
          </a:p>
        </p:txBody>
      </p:sp>
      <p:sp>
        <p:nvSpPr>
          <p:cNvPr id="1123" name="" descr="{&quot;isTemplate&quot;:true,&quot;type&quot;:&quot;text&quot;}"/>
          <p:cNvSpPr txBox="1"/>
          <p:nvPr/>
        </p:nvSpPr>
        <p:spPr>
          <a:xfrm rot="0" flipH="0" flipV="0">
            <a:off x="10277475" y="723900"/>
            <a:ext cx="1381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SIX SURFACES · ONE ENGINE</a:t>
            </a:r>
            <a:endParaRPr/>
          </a:p>
        </p:txBody>
      </p:sp>
      <p:sp>
        <p:nvSpPr>
          <p:cNvPr id="1124" name=""/>
          <p:cNvSpPr/>
          <p:nvPr/>
        </p:nvSpPr>
        <p:spPr>
          <a:xfrm rot="0" flipH="0" flipV="0">
            <a:off x="533400" y="1314450"/>
            <a:ext cx="4000500" cy="2133600"/>
          </a:xfrm>
          <a:prstGeom prst="roundRect">
            <a:avLst>
              <a:gd name="adj" fmla="val 4464"/>
            </a:avLst>
          </a:prstGeom>
          <a:gradFill>
            <a:gsLst>
              <a:gs pos="0">
                <a:srgbClr val="6BC8D1">
                  <a:alpha val="10000"/>
                </a:srgbClr>
              </a:gs>
              <a:gs pos="100000">
                <a:srgbClr val="F2F7F8">
                  <a:alpha val="2500"/>
                </a:srgbClr>
              </a:gs>
            </a:gsLst>
            <a:lin ang="3300000" scaled="1"/>
          </a:gradFill>
          <a:ln w="12700">
            <a:solidFill>
              <a:srgbClr val="6BC8D1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25" name="" descr="{&quot;isTemplate&quot;:true,&quot;type&quot;:&quot;text&quot;}"/>
          <p:cNvSpPr txBox="1"/>
          <p:nvPr/>
        </p:nvSpPr>
        <p:spPr>
          <a:xfrm rot="0" flipH="0" flipV="0">
            <a:off x="704850" y="1485900"/>
            <a:ext cx="8096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6BC8D1"/>
                </a:solidFill>
                <a:latin typeface="Consolas"/>
                <a:ea typeface="Consolas"/>
              </a:rPr>
              <a:t>01 / OVERVIEW</a:t>
            </a:r>
            <a:endParaRPr/>
          </a:p>
        </p:txBody>
      </p:sp>
      <p:sp>
        <p:nvSpPr>
          <p:cNvPr id="1126" name="" descr="{&quot;isTemplate&quot;:true,&quot;type&quot;:&quot;text&quot;}"/>
          <p:cNvSpPr txBox="1"/>
          <p:nvPr/>
        </p:nvSpPr>
        <p:spPr>
          <a:xfrm rot="0" flipH="0" flipV="0">
            <a:off x="4038600" y="1485900"/>
            <a:ext cx="323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32000"/>
                  </a:srgbClr>
                </a:solidFill>
                <a:latin typeface="Consolas"/>
                <a:ea typeface="Consolas"/>
              </a:rPr>
              <a:t>入口</a:t>
            </a:r>
            <a:endParaRPr/>
          </a:p>
        </p:txBody>
      </p:sp>
      <p:sp>
        <p:nvSpPr>
          <p:cNvPr id="1127" name="" descr="{&quot;isTemplate&quot;:true,&quot;type&quot;:&quot;text&quot;}"/>
          <p:cNvSpPr txBox="1"/>
          <p:nvPr/>
        </p:nvSpPr>
        <p:spPr>
          <a:xfrm rot="0" flipH="0" flipV="0">
            <a:off x="704850" y="1695450"/>
            <a:ext cx="3657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总览</a:t>
            </a:r>
            <a:endParaRPr/>
          </a:p>
        </p:txBody>
      </p:sp>
      <p:sp>
        <p:nvSpPr>
          <p:cNvPr id="1128" name="" descr="{&quot;isTemplate&quot;:true,&quot;type&quot;:&quot;text&quot;}"/>
          <p:cNvSpPr txBox="1"/>
          <p:nvPr/>
        </p:nvSpPr>
        <p:spPr>
          <a:xfrm rot="0" flipH="0" flipV="0">
            <a:off x="704850" y="1990725"/>
            <a:ext cx="3657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进入实验的第一屏</a:t>
            </a:r>
            <a:endParaRPr/>
          </a:p>
        </p:txBody>
      </p:sp>
      <p:sp>
        <p:nvSpPr>
          <p:cNvPr id="1129" name=""/>
          <p:cNvSpPr/>
          <p:nvPr/>
        </p:nvSpPr>
        <p:spPr>
          <a:xfrm rot="0" flipH="0" flipV="0">
            <a:off x="704850" y="22955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130" name="" descr="{&quot;isTemplate&quot;:true,&quot;type&quot;:&quot;text&quot;}"/>
          <p:cNvSpPr txBox="1"/>
          <p:nvPr/>
        </p:nvSpPr>
        <p:spPr>
          <a:xfrm rot="0" flipH="0" flipV="0">
            <a:off x="809625" y="2238375"/>
            <a:ext cx="1209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核心实验入口与初始条件</a:t>
            </a:r>
            <a:endParaRPr/>
          </a:p>
        </p:txBody>
      </p:sp>
      <p:sp>
        <p:nvSpPr>
          <p:cNvPr id="1131" name=""/>
          <p:cNvSpPr/>
          <p:nvPr/>
        </p:nvSpPr>
        <p:spPr>
          <a:xfrm rot="0" flipH="0" flipV="0">
            <a:off x="704850" y="25050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132" name="" descr="{&quot;isTemplate&quot;:true,&quot;type&quot;:&quot;text&quot;}"/>
          <p:cNvSpPr txBox="1"/>
          <p:nvPr/>
        </p:nvSpPr>
        <p:spPr>
          <a:xfrm rot="0" flipH="0" flipV="0">
            <a:off x="809625" y="2447925"/>
            <a:ext cx="876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六个扩展场景矩阵</a:t>
            </a:r>
            <a:endParaRPr/>
          </a:p>
        </p:txBody>
      </p:sp>
      <p:sp>
        <p:nvSpPr>
          <p:cNvPr id="1133" name=""/>
          <p:cNvSpPr/>
          <p:nvPr/>
        </p:nvSpPr>
        <p:spPr>
          <a:xfrm rot="0" flipH="0" flipV="0">
            <a:off x="704850" y="27146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134" name="" descr="{&quot;isTemplate&quot;:true,&quot;type&quot;:&quot;text&quot;}"/>
          <p:cNvSpPr txBox="1"/>
          <p:nvPr/>
        </p:nvSpPr>
        <p:spPr>
          <a:xfrm rot="0" flipH="0" flipV="0">
            <a:off x="809625" y="2657475"/>
            <a:ext cx="876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三维拓扑实时预览</a:t>
            </a:r>
            <a:endParaRPr/>
          </a:p>
        </p:txBody>
      </p:sp>
      <p:sp>
        <p:nvSpPr>
          <p:cNvPr id="1135" name="" descr="{&quot;isTemplate&quot;:true,&quot;type&quot;:&quot;text&quot;}"/>
          <p:cNvSpPr txBox="1"/>
          <p:nvPr/>
        </p:nvSpPr>
        <p:spPr>
          <a:xfrm rot="0" flipH="0" flipV="0">
            <a:off x="704850" y="3124200"/>
            <a:ext cx="762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选场景</a:t>
            </a:r>
            <a:r>
              <a:rPr lang="en-US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进实验</a:t>
            </a:r>
            <a:endParaRPr/>
          </a:p>
        </p:txBody>
      </p:sp>
      <p:sp>
        <p:nvSpPr>
          <p:cNvPr id="1136" name="" descr="{&quot;isTemplate&quot;:true,&quot;type&quot;:&quot;text&quot;}"/>
          <p:cNvSpPr txBox="1"/>
          <p:nvPr/>
        </p:nvSpPr>
        <p:spPr>
          <a:xfrm rot="0" flipH="0" flipV="0">
            <a:off x="4276725" y="308610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6BC8D1"/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1137" name=""/>
          <p:cNvSpPr/>
          <p:nvPr/>
        </p:nvSpPr>
        <p:spPr>
          <a:xfrm rot="0" flipH="0" flipV="0">
            <a:off x="4686300" y="1314450"/>
            <a:ext cx="3390900" cy="2133600"/>
          </a:xfrm>
          <a:prstGeom prst="roundRect">
            <a:avLst>
              <a:gd name="adj" fmla="val 4464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38" name="" descr="{&quot;isTemplate&quot;:true,&quot;type&quot;:&quot;text&quot;}"/>
          <p:cNvSpPr txBox="1"/>
          <p:nvPr/>
        </p:nvSpPr>
        <p:spPr>
          <a:xfrm rot="0" flipH="0" flipV="0">
            <a:off x="4857750" y="1485900"/>
            <a:ext cx="3048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02 / LABORATORY</a:t>
            </a:r>
            <a:endParaRPr/>
          </a:p>
        </p:txBody>
      </p:sp>
      <p:sp>
        <p:nvSpPr>
          <p:cNvPr id="1139" name="" descr="{&quot;isTemplate&quot;:true,&quot;type&quot;:&quot;text&quot;}"/>
          <p:cNvSpPr txBox="1"/>
          <p:nvPr/>
        </p:nvSpPr>
        <p:spPr>
          <a:xfrm rot="0" flipH="0" flipV="0">
            <a:off x="4857750" y="169545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三维实验室</a:t>
            </a:r>
            <a:endParaRPr/>
          </a:p>
        </p:txBody>
      </p:sp>
      <p:sp>
        <p:nvSpPr>
          <p:cNvPr id="1140" name="" descr="{&quot;isTemplate&quot;:true,&quot;type&quot;:&quot;text&quot;}"/>
          <p:cNvSpPr txBox="1"/>
          <p:nvPr/>
        </p:nvSpPr>
        <p:spPr>
          <a:xfrm rot="0" flipH="0" flipV="0">
            <a:off x="4857750" y="1990725"/>
            <a:ext cx="3048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核心工作面</a:t>
            </a:r>
            <a:endParaRPr/>
          </a:p>
        </p:txBody>
      </p:sp>
      <p:sp>
        <p:nvSpPr>
          <p:cNvPr id="1141" name=""/>
          <p:cNvSpPr/>
          <p:nvPr/>
        </p:nvSpPr>
        <p:spPr>
          <a:xfrm rot="0" flipH="0" flipV="0">
            <a:off x="4857750" y="22955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142" name="" descr="{&quot;isTemplate&quot;:true,&quot;type&quot;:&quot;text&quot;}"/>
          <p:cNvSpPr txBox="1"/>
          <p:nvPr/>
        </p:nvSpPr>
        <p:spPr>
          <a:xfrm rot="0" flipH="0" flipV="0">
            <a:off x="4962525" y="2238375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拓扑拖拽、缩放与点选</a:t>
            </a:r>
            <a:endParaRPr/>
          </a:p>
        </p:txBody>
      </p:sp>
      <p:sp>
        <p:nvSpPr>
          <p:cNvPr id="1143" name=""/>
          <p:cNvSpPr/>
          <p:nvPr/>
        </p:nvSpPr>
        <p:spPr>
          <a:xfrm rot="0" flipH="0" flipV="0">
            <a:off x="4857750" y="25050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144" name="" descr="{&quot;isTemplate&quot;:true,&quot;type&quot;:&quot;text&quot;}"/>
          <p:cNvSpPr txBox="1"/>
          <p:nvPr/>
        </p:nvSpPr>
        <p:spPr>
          <a:xfrm rot="0" flipH="0" flipV="0">
            <a:off x="4962525" y="2447925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规则编辑、排序与启停</a:t>
            </a:r>
            <a:endParaRPr/>
          </a:p>
        </p:txBody>
      </p:sp>
      <p:sp>
        <p:nvSpPr>
          <p:cNvPr id="1145" name=""/>
          <p:cNvSpPr/>
          <p:nvPr/>
        </p:nvSpPr>
        <p:spPr>
          <a:xfrm rot="0" flipH="0" flipV="0">
            <a:off x="4857750" y="27146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146" name="" descr="{&quot;isTemplate&quot;:true,&quot;type&quot;:&quot;text&quot;}"/>
          <p:cNvSpPr txBox="1"/>
          <p:nvPr/>
        </p:nvSpPr>
        <p:spPr>
          <a:xfrm rot="0" flipH="0" flipV="0">
            <a:off x="4962525" y="2657475"/>
            <a:ext cx="1209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事件时间线与代表链回放</a:t>
            </a:r>
            <a:endParaRPr/>
          </a:p>
        </p:txBody>
      </p:sp>
      <p:sp>
        <p:nvSpPr>
          <p:cNvPr id="1147" name="" descr="{&quot;isTemplate&quot;:true,&quot;type&quot;:&quot;text&quot;}"/>
          <p:cNvSpPr txBox="1"/>
          <p:nvPr/>
        </p:nvSpPr>
        <p:spPr>
          <a:xfrm rot="0" flipH="0" flipV="0">
            <a:off x="4857750" y="3124200"/>
            <a:ext cx="8667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改一处</a:t>
            </a:r>
            <a:r>
              <a:rPr lang="en-US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重新验证</a:t>
            </a:r>
            <a:endParaRPr/>
          </a:p>
        </p:txBody>
      </p:sp>
      <p:sp>
        <p:nvSpPr>
          <p:cNvPr id="1148" name="" descr="{&quot;isTemplate&quot;:true,&quot;type&quot;:&quot;text&quot;}"/>
          <p:cNvSpPr txBox="1"/>
          <p:nvPr/>
        </p:nvSpPr>
        <p:spPr>
          <a:xfrm rot="0" flipH="0" flipV="0">
            <a:off x="7820025" y="308610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6BC8D1"/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1149" name=""/>
          <p:cNvSpPr/>
          <p:nvPr/>
        </p:nvSpPr>
        <p:spPr>
          <a:xfrm rot="0" flipH="0" flipV="0">
            <a:off x="8229600" y="1314450"/>
            <a:ext cx="3390900" cy="2133600"/>
          </a:xfrm>
          <a:prstGeom prst="roundRect">
            <a:avLst>
              <a:gd name="adj" fmla="val 4464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50" name="" descr="{&quot;isTemplate&quot;:true,&quot;type&quot;:&quot;text&quot;}"/>
          <p:cNvSpPr txBox="1"/>
          <p:nvPr/>
        </p:nvSpPr>
        <p:spPr>
          <a:xfrm rot="0" flipH="0" flipV="0">
            <a:off x="8401050" y="1485900"/>
            <a:ext cx="3048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03 / COMPARE</a:t>
            </a:r>
            <a:endParaRPr/>
          </a:p>
        </p:txBody>
      </p:sp>
      <p:sp>
        <p:nvSpPr>
          <p:cNvPr id="1151" name="" descr="{&quot;isTemplate&quot;:true,&quot;type&quot;:&quot;text&quot;}"/>
          <p:cNvSpPr txBox="1"/>
          <p:nvPr/>
        </p:nvSpPr>
        <p:spPr>
          <a:xfrm rot="0" flipH="0" flipV="0">
            <a:off x="8401050" y="169545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方案对比</a:t>
            </a:r>
            <a:endParaRPr/>
          </a:p>
        </p:txBody>
      </p:sp>
      <p:sp>
        <p:nvSpPr>
          <p:cNvPr id="1152" name="" descr="{&quot;isTemplate&quot;:true,&quot;type&quot;:&quot;text&quot;}"/>
          <p:cNvSpPr txBox="1"/>
          <p:nvPr/>
        </p:nvSpPr>
        <p:spPr>
          <a:xfrm rot="0" flipH="0" flipV="0">
            <a:off x="8401050" y="1990725"/>
            <a:ext cx="3048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两次独立计算</a:t>
            </a:r>
            <a:endParaRPr/>
          </a:p>
        </p:txBody>
      </p:sp>
      <p:sp>
        <p:nvSpPr>
          <p:cNvPr id="1153" name=""/>
          <p:cNvSpPr/>
          <p:nvPr/>
        </p:nvSpPr>
        <p:spPr>
          <a:xfrm rot="0" flipH="0" flipV="0">
            <a:off x="8401050" y="22955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154" name="" descr="{&quot;isTemplate&quot;:true,&quot;type&quot;:&quot;text&quot;}"/>
          <p:cNvSpPr txBox="1"/>
          <p:nvPr/>
        </p:nvSpPr>
        <p:spPr>
          <a:xfrm rot="0" flipH="0" flipV="0">
            <a:off x="8505825" y="2238375"/>
            <a:ext cx="1057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原始基线</a:t>
            </a:r>
            <a:r>
              <a:rPr lang="en-US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 vs </a:t>
            </a: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当前配置</a:t>
            </a:r>
            <a:endParaRPr/>
          </a:p>
        </p:txBody>
      </p:sp>
      <p:sp>
        <p:nvSpPr>
          <p:cNvPr id="1155" name=""/>
          <p:cNvSpPr/>
          <p:nvPr/>
        </p:nvSpPr>
        <p:spPr>
          <a:xfrm rot="0" flipH="0" flipV="0">
            <a:off x="8401050" y="25050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156" name="" descr="{&quot;isTemplate&quot;:true,&quot;type&quot;:&quot;text&quot;}"/>
          <p:cNvSpPr txBox="1"/>
          <p:nvPr/>
        </p:nvSpPr>
        <p:spPr>
          <a:xfrm rot="0" flipH="0" flipV="0">
            <a:off x="8505825" y="2447925"/>
            <a:ext cx="657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关键指标差异</a:t>
            </a:r>
            <a:endParaRPr/>
          </a:p>
        </p:txBody>
      </p:sp>
      <p:sp>
        <p:nvSpPr>
          <p:cNvPr id="1157" name=""/>
          <p:cNvSpPr/>
          <p:nvPr/>
        </p:nvSpPr>
        <p:spPr>
          <a:xfrm rot="0" flipH="0" flipV="0">
            <a:off x="8401050" y="27146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158" name="" descr="{&quot;isTemplate&quot;:true,&quot;type&quot;:&quot;text&quot;}"/>
          <p:cNvSpPr txBox="1"/>
          <p:nvPr/>
        </p:nvSpPr>
        <p:spPr>
          <a:xfrm rot="0" flipH="0" flipV="0">
            <a:off x="8505825" y="2657475"/>
            <a:ext cx="771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代表链并排查看</a:t>
            </a:r>
            <a:endParaRPr/>
          </a:p>
        </p:txBody>
      </p:sp>
      <p:sp>
        <p:nvSpPr>
          <p:cNvPr id="1159" name="" descr="{&quot;isTemplate&quot;:true,&quot;type&quot;:&quot;text&quot;}"/>
          <p:cNvSpPr txBox="1"/>
          <p:nvPr/>
        </p:nvSpPr>
        <p:spPr>
          <a:xfrm rot="0" flipH="0" flipV="0">
            <a:off x="8401050" y="3124200"/>
            <a:ext cx="723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A → B </a:t>
            </a: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的净变化</a:t>
            </a:r>
            <a:endParaRPr/>
          </a:p>
        </p:txBody>
      </p:sp>
      <p:sp>
        <p:nvSpPr>
          <p:cNvPr id="1160" name="" descr="{&quot;isTemplate&quot;:true,&quot;type&quot;:&quot;text&quot;}"/>
          <p:cNvSpPr txBox="1"/>
          <p:nvPr/>
        </p:nvSpPr>
        <p:spPr>
          <a:xfrm rot="0" flipH="0" flipV="0">
            <a:off x="11363325" y="308610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6BC8D1"/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1161" name=""/>
          <p:cNvSpPr/>
          <p:nvPr/>
        </p:nvSpPr>
        <p:spPr>
          <a:xfrm rot="0" flipH="0" flipV="0">
            <a:off x="533400" y="3619500"/>
            <a:ext cx="3390900" cy="2133600"/>
          </a:xfrm>
          <a:prstGeom prst="roundRect">
            <a:avLst>
              <a:gd name="adj" fmla="val 4464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62" name="" descr="{&quot;isTemplate&quot;:true,&quot;type&quot;:&quot;text&quot;}"/>
          <p:cNvSpPr txBox="1"/>
          <p:nvPr/>
        </p:nvSpPr>
        <p:spPr>
          <a:xfrm rot="0" flipH="0" flipV="0">
            <a:off x="704850" y="3790950"/>
            <a:ext cx="3048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04 / ANALYSIS</a:t>
            </a:r>
            <a:endParaRPr/>
          </a:p>
        </p:txBody>
      </p:sp>
      <p:sp>
        <p:nvSpPr>
          <p:cNvPr id="1163" name="" descr="{&quot;isTemplate&quot;:true,&quot;type&quot;:&quot;text&quot;}"/>
          <p:cNvSpPr txBox="1"/>
          <p:nvPr/>
        </p:nvSpPr>
        <p:spPr>
          <a:xfrm rot="0" flipH="0" flipV="0">
            <a:off x="704850" y="400050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实验分析</a:t>
            </a:r>
            <a:endParaRPr/>
          </a:p>
        </p:txBody>
      </p:sp>
      <p:sp>
        <p:nvSpPr>
          <p:cNvPr id="1164" name="" descr="{&quot;isTemplate&quot;:true,&quot;type&quot;:&quot;text&quot;}"/>
          <p:cNvSpPr txBox="1"/>
          <p:nvPr/>
        </p:nvSpPr>
        <p:spPr>
          <a:xfrm rot="0" flipH="0" flipV="0">
            <a:off x="704850" y="4295775"/>
            <a:ext cx="3048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结果回看</a:t>
            </a:r>
            <a:endParaRPr/>
          </a:p>
        </p:txBody>
      </p:sp>
      <p:sp>
        <p:nvSpPr>
          <p:cNvPr id="1165" name=""/>
          <p:cNvSpPr/>
          <p:nvPr/>
        </p:nvSpPr>
        <p:spPr>
          <a:xfrm rot="0" flipH="0" flipV="0">
            <a:off x="704850" y="46005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166" name="" descr="{&quot;isTemplate&quot;:true,&quot;type&quot;:&quot;text&quot;}"/>
          <p:cNvSpPr txBox="1"/>
          <p:nvPr/>
        </p:nvSpPr>
        <p:spPr>
          <a:xfrm rot="0" flipH="0" flipV="0">
            <a:off x="809625" y="4543425"/>
            <a:ext cx="876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结论与业务可达率</a:t>
            </a:r>
            <a:endParaRPr/>
          </a:p>
        </p:txBody>
      </p:sp>
      <p:sp>
        <p:nvSpPr>
          <p:cNvPr id="1167" name=""/>
          <p:cNvSpPr/>
          <p:nvPr/>
        </p:nvSpPr>
        <p:spPr>
          <a:xfrm rot="0" flipH="0" flipV="0">
            <a:off x="704850" y="48101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168" name="" descr="{&quot;isTemplate&quot;:true,&quot;type&quot;:&quot;text&quot;}"/>
          <p:cNvSpPr txBox="1"/>
          <p:nvPr/>
        </p:nvSpPr>
        <p:spPr>
          <a:xfrm rot="0" flipH="0" flipV="0">
            <a:off x="809625" y="4752975"/>
            <a:ext cx="990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状态分布与影响趋势</a:t>
            </a:r>
            <a:endParaRPr/>
          </a:p>
        </p:txBody>
      </p:sp>
      <p:sp>
        <p:nvSpPr>
          <p:cNvPr id="1169" name=""/>
          <p:cNvSpPr/>
          <p:nvPr/>
        </p:nvSpPr>
        <p:spPr>
          <a:xfrm rot="0" flipH="0" flipV="0">
            <a:off x="704850" y="50196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170" name="" descr="{&quot;isTemplate&quot;:true,&quot;type&quot;:&quot;text&quot;}"/>
          <p:cNvSpPr txBox="1"/>
          <p:nvPr/>
        </p:nvSpPr>
        <p:spPr>
          <a:xfrm rot="0" flipH="0" flipV="0">
            <a:off x="809625" y="4962525"/>
            <a:ext cx="990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关键事件与报告导出</a:t>
            </a:r>
            <a:endParaRPr/>
          </a:p>
        </p:txBody>
      </p:sp>
      <p:sp>
        <p:nvSpPr>
          <p:cNvPr id="1171" name="" descr="{&quot;isTemplate&quot;:true,&quot;type&quot;:&quot;text&quot;}"/>
          <p:cNvSpPr txBox="1"/>
          <p:nvPr/>
        </p:nvSpPr>
        <p:spPr>
          <a:xfrm rot="0" flipH="0" flipV="0">
            <a:off x="704850" y="5429250"/>
            <a:ext cx="5619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结论</a:t>
            </a:r>
            <a:r>
              <a:rPr lang="en-US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证据</a:t>
            </a:r>
            <a:endParaRPr/>
          </a:p>
        </p:txBody>
      </p:sp>
      <p:sp>
        <p:nvSpPr>
          <p:cNvPr id="1172" name="" descr="{&quot;isTemplate&quot;:true,&quot;type&quot;:&quot;text&quot;}"/>
          <p:cNvSpPr txBox="1"/>
          <p:nvPr/>
        </p:nvSpPr>
        <p:spPr>
          <a:xfrm rot="0" flipH="0" flipV="0">
            <a:off x="3667125" y="539115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6BC8D1"/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1173" name=""/>
          <p:cNvSpPr/>
          <p:nvPr/>
        </p:nvSpPr>
        <p:spPr>
          <a:xfrm rot="0" flipH="0" flipV="0">
            <a:off x="4076700" y="3619500"/>
            <a:ext cx="4000500" cy="2133600"/>
          </a:xfrm>
          <a:prstGeom prst="roundRect">
            <a:avLst>
              <a:gd name="adj" fmla="val 4464"/>
            </a:avLst>
          </a:prstGeom>
          <a:gradFill>
            <a:gsLst>
              <a:gs pos="0">
                <a:srgbClr val="6BC8D1">
                  <a:alpha val="10000"/>
                </a:srgbClr>
              </a:gs>
              <a:gs pos="100000">
                <a:srgbClr val="F2F7F8">
                  <a:alpha val="2500"/>
                </a:srgbClr>
              </a:gs>
            </a:gsLst>
            <a:lin ang="3300000" scaled="1"/>
          </a:gradFill>
          <a:ln w="12700">
            <a:solidFill>
              <a:srgbClr val="6BC8D1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74" name="" descr="{&quot;isTemplate&quot;:true,&quot;type&quot;:&quot;text&quot;}"/>
          <p:cNvSpPr txBox="1"/>
          <p:nvPr/>
        </p:nvSpPr>
        <p:spPr>
          <a:xfrm rot="0" flipH="0" flipV="0">
            <a:off x="4248150" y="3790950"/>
            <a:ext cx="6191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6BC8D1"/>
                </a:solidFill>
                <a:latin typeface="Consolas"/>
                <a:ea typeface="Consolas"/>
              </a:rPr>
              <a:t>05 / LEARN</a:t>
            </a:r>
            <a:endParaRPr/>
          </a:p>
        </p:txBody>
      </p:sp>
      <p:sp>
        <p:nvSpPr>
          <p:cNvPr id="1175" name="" descr="{&quot;isTemplate&quot;:true,&quot;type&quot;:&quot;text&quot;}"/>
          <p:cNvSpPr txBox="1"/>
          <p:nvPr/>
        </p:nvSpPr>
        <p:spPr>
          <a:xfrm rot="0" flipH="0" flipV="0">
            <a:off x="7581900" y="3790950"/>
            <a:ext cx="323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32000"/>
                  </a:srgbClr>
                </a:solidFill>
                <a:latin typeface="Consolas"/>
                <a:ea typeface="Consolas"/>
              </a:rPr>
              <a:t>20 </a:t>
            </a:r>
            <a:r>
              <a:rPr lang="zh-CN" sz="750">
                <a:solidFill>
                  <a:srgbClr val="F2F7F8">
                    <a:alpha val="32000"/>
                  </a:srgbClr>
                </a:solidFill>
                <a:latin typeface="Consolas"/>
                <a:ea typeface="Consolas"/>
              </a:rPr>
              <a:t>题</a:t>
            </a:r>
            <a:endParaRPr/>
          </a:p>
        </p:txBody>
      </p:sp>
      <p:sp>
        <p:nvSpPr>
          <p:cNvPr id="1176" name="" descr="{&quot;isTemplate&quot;:true,&quot;type&quot;:&quot;text&quot;}"/>
          <p:cNvSpPr txBox="1"/>
          <p:nvPr/>
        </p:nvSpPr>
        <p:spPr>
          <a:xfrm rot="0" flipH="0" flipV="0">
            <a:off x="4248150" y="4000500"/>
            <a:ext cx="3657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学习中心</a:t>
            </a:r>
            <a:endParaRPr/>
          </a:p>
        </p:txBody>
      </p:sp>
      <p:sp>
        <p:nvSpPr>
          <p:cNvPr id="1177" name="" descr="{&quot;isTemplate&quot;:true,&quot;type&quot;:&quot;text&quot;}"/>
          <p:cNvSpPr txBox="1"/>
          <p:nvPr/>
        </p:nvSpPr>
        <p:spPr>
          <a:xfrm rot="0" flipH="0" flipV="0">
            <a:off x="4248150" y="4295775"/>
            <a:ext cx="3657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学</a:t>
            </a:r>
            <a:r>
              <a:rPr lang="en-US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练</a:t>
            </a:r>
            <a:r>
              <a:rPr lang="en-US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考</a:t>
            </a:r>
            <a:endParaRPr/>
          </a:p>
        </p:txBody>
      </p:sp>
      <p:sp>
        <p:nvSpPr>
          <p:cNvPr id="1178" name=""/>
          <p:cNvSpPr/>
          <p:nvPr/>
        </p:nvSpPr>
        <p:spPr>
          <a:xfrm rot="0" flipH="0" flipV="0">
            <a:off x="4248150" y="46005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179" name="" descr="{&quot;isTemplate&quot;:true,&quot;type&quot;:&quot;text&quot;}"/>
          <p:cNvSpPr txBox="1"/>
          <p:nvPr/>
        </p:nvSpPr>
        <p:spPr>
          <a:xfrm rot="0" flipH="0" flipV="0">
            <a:off x="4352925" y="4543425"/>
            <a:ext cx="1209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六个知识模块，直达实验</a:t>
            </a:r>
            <a:endParaRPr/>
          </a:p>
        </p:txBody>
      </p:sp>
      <p:sp>
        <p:nvSpPr>
          <p:cNvPr id="1180" name=""/>
          <p:cNvSpPr/>
          <p:nvPr/>
        </p:nvSpPr>
        <p:spPr>
          <a:xfrm rot="0" flipH="0" flipV="0">
            <a:off x="4248150" y="48101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181" name="" descr="{&quot;isTemplate&quot;:true,&quot;type&quot;:&quot;text&quot;}"/>
          <p:cNvSpPr txBox="1"/>
          <p:nvPr/>
        </p:nvSpPr>
        <p:spPr>
          <a:xfrm rot="0" flipH="0" flipV="0">
            <a:off x="4352925" y="4752975"/>
            <a:ext cx="1038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20 </a:t>
            </a: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题随堂练习与解析</a:t>
            </a:r>
            <a:endParaRPr/>
          </a:p>
        </p:txBody>
      </p:sp>
      <p:sp>
        <p:nvSpPr>
          <p:cNvPr id="1182" name=""/>
          <p:cNvSpPr/>
          <p:nvPr/>
        </p:nvSpPr>
        <p:spPr>
          <a:xfrm rot="0" flipH="0" flipV="0">
            <a:off x="4248150" y="50196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183" name="" descr="{&quot;isTemplate&quot;:true,&quot;type&quot;:&quot;text&quot;}"/>
          <p:cNvSpPr txBox="1"/>
          <p:nvPr/>
        </p:nvSpPr>
        <p:spPr>
          <a:xfrm rot="0" flipH="0" flipV="0">
            <a:off x="4352925" y="4962525"/>
            <a:ext cx="1314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模拟考试、评分与错题回看</a:t>
            </a:r>
            <a:endParaRPr/>
          </a:p>
        </p:txBody>
      </p:sp>
      <p:sp>
        <p:nvSpPr>
          <p:cNvPr id="1184" name="" descr="{&quot;isTemplate&quot;:true,&quot;type&quot;:&quot;text&quot;}"/>
          <p:cNvSpPr txBox="1"/>
          <p:nvPr/>
        </p:nvSpPr>
        <p:spPr>
          <a:xfrm rot="0" flipH="0" flipV="0">
            <a:off x="4248150" y="5429250"/>
            <a:ext cx="5619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知识</a:t>
            </a:r>
            <a:r>
              <a:rPr lang="en-US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操作</a:t>
            </a:r>
            <a:endParaRPr/>
          </a:p>
        </p:txBody>
      </p:sp>
      <p:sp>
        <p:nvSpPr>
          <p:cNvPr id="1185" name="" descr="{&quot;isTemplate&quot;:true,&quot;type&quot;:&quot;text&quot;}"/>
          <p:cNvSpPr txBox="1"/>
          <p:nvPr/>
        </p:nvSpPr>
        <p:spPr>
          <a:xfrm rot="0" flipH="0" flipV="0">
            <a:off x="7820025" y="539115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6BC8D1"/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1186" name=""/>
          <p:cNvSpPr/>
          <p:nvPr/>
        </p:nvSpPr>
        <p:spPr>
          <a:xfrm rot="0" flipH="0" flipV="0">
            <a:off x="8229600" y="3619500"/>
            <a:ext cx="3390900" cy="2133600"/>
          </a:xfrm>
          <a:prstGeom prst="roundRect">
            <a:avLst>
              <a:gd name="adj" fmla="val 4464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87" name="" descr="{&quot;isTemplate&quot;:true,&quot;type&quot;:&quot;text&quot;}"/>
          <p:cNvSpPr txBox="1"/>
          <p:nvPr/>
        </p:nvSpPr>
        <p:spPr>
          <a:xfrm rot="0" flipH="0" flipV="0">
            <a:off x="8401050" y="3790950"/>
            <a:ext cx="3048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06 / SCENARIOS</a:t>
            </a:r>
            <a:endParaRPr/>
          </a:p>
        </p:txBody>
      </p:sp>
      <p:sp>
        <p:nvSpPr>
          <p:cNvPr id="1188" name="" descr="{&quot;isTemplate&quot;:true,&quot;type&quot;:&quot;text&quot;}"/>
          <p:cNvSpPr txBox="1"/>
          <p:nvPr/>
        </p:nvSpPr>
        <p:spPr>
          <a:xfrm rot="0" flipH="0" flipV="0">
            <a:off x="8401050" y="4000500"/>
            <a:ext cx="3048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2F7F8"/>
                </a:solidFill>
                <a:latin typeface="Microsoft YaHei"/>
                <a:ea typeface="Microsoft YaHei"/>
              </a:rPr>
              <a:t>场景与说明</a:t>
            </a:r>
            <a:endParaRPr/>
          </a:p>
        </p:txBody>
      </p:sp>
      <p:sp>
        <p:nvSpPr>
          <p:cNvPr id="1189" name="" descr="{&quot;isTemplate&quot;:true,&quot;type&quot;:&quot;text&quot;}"/>
          <p:cNvSpPr txBox="1"/>
          <p:nvPr/>
        </p:nvSpPr>
        <p:spPr>
          <a:xfrm rot="0" flipH="0" flipV="0">
            <a:off x="8401050" y="4295775"/>
            <a:ext cx="3048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同一套判定</a:t>
            </a:r>
            <a:endParaRPr/>
          </a:p>
        </p:txBody>
      </p:sp>
      <p:sp>
        <p:nvSpPr>
          <p:cNvPr id="1190" name=""/>
          <p:cNvSpPr/>
          <p:nvPr/>
        </p:nvSpPr>
        <p:spPr>
          <a:xfrm rot="0" flipH="0" flipV="0">
            <a:off x="8401050" y="46005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191" name="" descr="{&quot;isTemplate&quot;:true,&quot;type&quot;:&quot;text&quot;}"/>
          <p:cNvSpPr txBox="1"/>
          <p:nvPr/>
        </p:nvSpPr>
        <p:spPr>
          <a:xfrm rot="0" flipH="0" flipV="0">
            <a:off x="8505825" y="4543425"/>
            <a:ext cx="971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7 </a:t>
            </a: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个场景</a:t>
            </a:r>
            <a:r>
              <a:rPr lang="en-US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 / 3 </a:t>
            </a: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档难度</a:t>
            </a:r>
            <a:endParaRPr/>
          </a:p>
        </p:txBody>
      </p:sp>
      <p:sp>
        <p:nvSpPr>
          <p:cNvPr id="1192" name=""/>
          <p:cNvSpPr/>
          <p:nvPr/>
        </p:nvSpPr>
        <p:spPr>
          <a:xfrm rot="0" flipH="0" flipV="0">
            <a:off x="8401050" y="481012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193" name="" descr="{&quot;isTemplate&quot;:true,&quot;type&quot;:&quot;text&quot;}"/>
          <p:cNvSpPr txBox="1"/>
          <p:nvPr/>
        </p:nvSpPr>
        <p:spPr>
          <a:xfrm rot="0" flipH="0" flipV="0">
            <a:off x="8505825" y="4752975"/>
            <a:ext cx="647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2 </a:t>
            </a: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种仿真模式</a:t>
            </a:r>
            <a:endParaRPr/>
          </a:p>
        </p:txBody>
      </p:sp>
      <p:sp>
        <p:nvSpPr>
          <p:cNvPr id="1194" name=""/>
          <p:cNvSpPr/>
          <p:nvPr/>
        </p:nvSpPr>
        <p:spPr>
          <a:xfrm rot="0" flipH="0" flipV="0">
            <a:off x="8401050" y="5019675"/>
            <a:ext cx="28575" cy="28575"/>
          </a:xfrm>
          <a:prstGeom prst="roundRect">
            <a:avLst>
              <a:gd name="adj" fmla="val 66667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195" name="" descr="{&quot;isTemplate&quot;:true,&quot;type&quot;:&quot;text&quot;}"/>
          <p:cNvSpPr txBox="1"/>
          <p:nvPr/>
        </p:nvSpPr>
        <p:spPr>
          <a:xfrm rot="0" flipH="0" flipV="0">
            <a:off x="8505825" y="4962525"/>
            <a:ext cx="990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项目说明与模型边界</a:t>
            </a:r>
            <a:endParaRPr/>
          </a:p>
        </p:txBody>
      </p:sp>
      <p:sp>
        <p:nvSpPr>
          <p:cNvPr id="1196" name="" descr="{&quot;isTemplate&quot;:true,&quot;type&quot;:&quot;text&quot;}"/>
          <p:cNvSpPr txBox="1"/>
          <p:nvPr/>
        </p:nvSpPr>
        <p:spPr>
          <a:xfrm rot="0" flipH="0" flipV="0">
            <a:off x="8401050" y="5429250"/>
            <a:ext cx="5619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场景</a:t>
            </a:r>
            <a:r>
              <a:rPr lang="en-US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88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策略</a:t>
            </a:r>
            <a:endParaRPr/>
          </a:p>
        </p:txBody>
      </p:sp>
      <p:sp>
        <p:nvSpPr>
          <p:cNvPr id="1197" name="" descr="{&quot;isTemplate&quot;:true,&quot;type&quot;:&quot;text&quot;}"/>
          <p:cNvSpPr txBox="1"/>
          <p:nvPr/>
        </p:nvSpPr>
        <p:spPr>
          <a:xfrm rot="0" flipH="0" flipV="0">
            <a:off x="11363325" y="5391150"/>
            <a:ext cx="85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6BC8D1"/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1198" name=""/>
          <p:cNvSpPr/>
          <p:nvPr/>
        </p:nvSpPr>
        <p:spPr>
          <a:xfrm rot="0" flipH="0" flipV="0">
            <a:off x="533400" y="5972175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199" name="" descr="{&quot;isTemplate&quot;:true,&quot;type&quot;:&quot;text&quot;}"/>
          <p:cNvSpPr txBox="1"/>
          <p:nvPr/>
        </p:nvSpPr>
        <p:spPr>
          <a:xfrm rot="0" flipH="0" flipV="0">
            <a:off x="819150" y="5905500"/>
            <a:ext cx="3400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六个工作面共享同一套数据模型与确定性引擎；界面只是结果的视图。</a:t>
            </a:r>
            <a:endParaRPr/>
          </a:p>
        </p:txBody>
      </p:sp>
      <p:sp>
        <p:nvSpPr>
          <p:cNvPr id="1200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201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1202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07 / 28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203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02 / 作品概览&lt;/Text&gt;&#13;&#10;    &lt;/Box&gt;&#13;&#10;    &lt;Text style={{ position: 'absolute', left: 56, top: 62, fontFamily: 'Microsoft YaHei', fontSize: 31, fontWeight: 'bold', color: '#F2F7F8', letterSpacing: 0.5 }}&gt;实验室：从“看拓扑”到“改策略、看判定”&lt;/Text&gt;&#13;&#10;    &lt;Text style={{ position: 'absolute', right: 56, top: 76, fontFamily: 'Consolas', fontSize: 10.5, color: 'rgba(242,247,248,0.42)' }}&gt;SIX LAB SURFACES&lt;/Text&gt;&#13;&#10;&#13;&#10;    &lt;Box style={{ position: 'absolute', left: 56, top: 146, width: 600, height: 352 }}&gt;&#13;&#10;        &lt;Image src=&quot;assets/lab_verified.png&quot; style={{ width: 600, height: 338, objectFit: 'cover', borderRadius: 8, border: '1px solid rgba(107,200,209,0.20)' }} /&gt;&#13;&#10;        &lt;Box style={{ position: 'absolute', left: 12, top: 12, paddingLeft: 10, paddingRight: 10, paddingTop: 5, paddingBottom: 5, background: 'rgba(7,17,27,0.82)', border: '1px solid rgba(107,200,209,0.30)', borderRadius: 4 }}&gt;&#13;&#10;            &lt;Text style={{ fontFamily: 'Consolas', fontSize: 9.5, color: '#6BC8D1', letterSpacing: 1 }}&gt;CHALLENGE PASSED · 3 / 3&lt;/Text&gt;&#13;&#10;        &lt;/Box&gt;&#13;&#10;        &lt;Text style={{ marginTop: 10, fontFamily: 'Microsoft YaHei', fontSize: 10.5, color: 'rgba(242,247,248,0.44)' }}&gt;真实界面：关键数据目标“已保护”，必要业务 2 / 2 可达。&lt;/Text&gt;&#13;&#10;    &lt;/Box&gt;&#13;&#10;&#13;&#10;    &lt;Box style={{ position: 'absolute', left: 692, top: 140, width: 532 }}&gt;&#13;&#10;        &lt;Box style={{ flexDirection: 'row', alignItems: 'flex-start', height: 70, borderTop: '1px solid rgba(242,247,248,0.10)' }}&gt;&#13;&#10;            &lt;Text style={{ width: 44, marginTop: 12, fontFamily: 'Consolas', fontSize: 10, color: '#6BC8D1' }}&gt;01&lt;/Text&gt;&#13;&#10;            &lt;Box style={{ width: 488 }}&gt;&#13;&#10;                &lt;Text style={{ marginTop: 10, fontFamily: 'Microsoft YaHei', fontSize: 14, fontWeight: 'bold', color: '#F2F7F8' }}&gt;三维拓扑&lt;/Text&gt;&#13;&#10;                &lt;Text style={{ marginTop: 3, fontFamily: 'Microsoft YaHei', fontSize: 11, color: 'rgba(242,247,248,0.54)', lineHeight: 1.55 }}&gt;拖动旋转、滚轮缩放、点选设备；节点位置可拖动调整。&lt;/Text&gt;&#13;&#10;            &lt;/Box&gt;&#13;&#10;        &lt;/Box&gt;&#13;&#10;        &lt;Box style={{ flexDirection: 'row', alignItems: 'flex-start', height: 70, borderTop: '1px solid rgba(242,247,248,0.10)' }}&gt;&#13;&#10;            &lt;Text style={{ width: 44, marginTop: 12, fontFamily: 'Consolas', fontSize: 10, color: '#6BC8D1' }}&gt;02&lt;/Text&gt;&#13;&#10;            &lt;Box style={{ width: 488 }}&gt;&#13;&#10;                &lt;Text style={{ marginTop: 10, fontFamily: 'Microsoft YaHei', fontSize: 14, fontWeight: 'bold', color: '#F2F7F8' }}&gt;节点与策略&lt;/Text&gt;&#13;&#10;                &lt;Text style={{ marginTop: 3, fontFamily: 'Microsoft YaHei', fontSize: 11, color: 'rgba(242,247,248,0.54)', lineHeight: 1.55 }}&gt;查看 IP / VLAN / 路由；启停终端防护、服务加固、数据访问控制与隔离。&lt;/Text&gt;&#13;&#10;            &lt;/Box&gt;&#13;&#10;        &lt;/Box&gt;&#13;&#10;        &lt;Box style={{ flexDirection: 'row', alignItems: 'flex-start', height: 70, borderTop: '1px solid rgba(242,247,248,0.10)' }}&gt;&#13;&#10;            &lt;Text style={{ width: 44, marginTop: 12, fontFamily: 'Consolas', fontSize: 10, color: '#6BC8D1' }}&gt;03&lt;/Text&gt;&#13;&#10;            &lt;Box style={{ width: 488 }}&gt;&#13;&#10;                &lt;Text style={{ marginTop: 10, fontFamily: 'Microsoft YaHei', fontSize: 14, fontWeight: 'bold', color: '#F2F7F8' }}&gt;事件判定&lt;/Text&gt;&#13;&#10;                &lt;Text style={{ marginTop: 3, fontFamily: 'Microsoft YaHei', fontSize: 11, color: 'rgba(242,247,248,0.54)', lineHeight: 1.55 }}&gt;结果、实际路径、命中规则、阻断位置，以及状态的前后值。&lt;/Text&gt;&#13;&#10;            &lt;/Box&gt;&#13;&#10;        &lt;/Box&gt;&#13;&#10;        &lt;Box style={{ flexDirection: 'row', alignItems: 'flex-start', height: 70, borderTop: '1px solid rgba(242,247,248,0.10)' }}&gt;&#13;&#10;            &lt;Text style={{ width: 44, marginTop: 12, fontFamily: 'Consolas', fontSize: 10, color: '#6BC8D1' }}&gt;04&lt;/Text&gt;&#13;&#10;            &lt;Box style={{ width: 488 }}&gt;&#13;&#10;                &lt;Text style={{ marginTop: 10, fontFamily: 'Microsoft YaHei', fontSize: 14, fontWeight: 'bold', color: '#F2F7F8' }}&gt;代表链回放&lt;/Text&gt;&#13;&#10;                &lt;Text style={{ marginTop: 3, fontFamily: 'Microsoft YaHei', fontSize: 11, color: 'rgba(242,247,248,0.54)', lineHeight: 1.55 }}&gt;播放 / 暂停 / 单步 / 倍速；点击 T0–Tn 直接定位到对应状态。&lt;/Text&gt;&#13;&#10;            &lt;/Box&gt;&#13;&#10;        &lt;/Box&gt;&#13;&#10;        &lt;Box style={{ flexDirection: 'row', alignItems: 'flex-start', height: 70, borderTop: '1px solid rgba(242,247,248,0.10)' }}&gt;&#13;&#10;            &lt;Text style={{ width: 44, marginTop: 12, fontFamily: 'Consolas', fontSize: 10, color: '#E78172' }}&gt;05&lt;/Text&gt;&#13;&#10;            &lt;Box style={{ width: 488 }}&gt;&#13;&#10;                &lt;Text style={{ marginTop: 10, fontFamily: 'Microsoft YaHei', fontSize: 14, fontWeight: 'bold', color: '#F2F7F8' }}&gt;安全挑战&lt;/Text&gt;&#13;&#10;                &lt;Text style={{ marginTop: 3, fontFamily: 'Microsoft YaHei', fontSize: 11, color: 'rgba(242,247,248,0.54)', lineHeight: 1.55 }}&gt;不是“全断开”：关键目标保护 + 必要业务可达，两个条件同时通过。&lt;/Text&gt;&#13;&#10;            &lt;/Box&gt;&#13;&#10;        &lt;/Box&gt;&#13;&#10;        &lt;Box style={{ flexDirection: 'row', alignItems: 'flex-start', height: 70, borderTop: '1px solid rgba(242,247,248,0.10)', borderBottom: '1px solid rgba(242,247,248,0.10)' }}&gt;&#13;&#10;            &lt;Text style={{ width: 44, marginTop: 12, fontFamily: 'Consolas', fontSize: 10, color: '#6BC8D1' }}&gt;06&lt;/Text&gt;&#13;&#10;            &lt;Box style={{ width: 488 }}&gt;&#13;&#10;                &lt;Text style={{ marginTop: 10, fontFamily: 'Microsoft YaHei', fontSize: 14, fontWeight: 'bold', color: '#F2F7F8' }}&gt;演示模式&lt;/Text&gt;&#13;&#10;                &lt;Text style={{ marginTop: 3, fontFamily: 'Microsoft YaHei', fontSize: 11, color: 'rgba(242,247,248,0.54)', lineHeight: 1.55 }}&gt;收起编辑控件、放大拓扑；课堂投屏时只保留讲解需要的信息。&lt;/Text&gt;&#13;&#10;            &lt;/Box&gt;&#13;&#10;        &lt;/Box&gt;&#13;&#10;    &lt;/Box&gt;&#13;&#10;&#13;&#10;    &lt;Box style={{ position: 'absolute', left: 56, top: 620, flexDirection: 'row', alignItems: 'center', gap: 10 }}&gt;&#13;&#10;        &lt;Box style={{ width: 20, height: 1, background: '#6BC8D1' }} /&gt;&#13;&#10;        &lt;Text style={{ fontFamily: 'Microsoft YaHei', fontSize: 11.5, color: 'rgba(242,247,248,0.48)' }}&gt;更多操作：恢复默认 · 复制复现链接 · 导出/导入场景 JSON；六个功能区共享同一份场景状态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08 / 2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12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206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02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作品概览</a:t>
            </a:r>
            <a:endParaRPr/>
          </a:p>
        </p:txBody>
      </p:sp>
      <p:sp>
        <p:nvSpPr>
          <p:cNvPr id="1207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600075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实验室：从“看拓扑”到“改策略、看判定”</a:t>
            </a:r>
            <a:endParaRPr/>
          </a:p>
        </p:txBody>
      </p:sp>
      <p:sp>
        <p:nvSpPr>
          <p:cNvPr id="1208" name="" descr="{&quot;isTemplate&quot;:true,&quot;type&quot;:&quot;text&quot;}"/>
          <p:cNvSpPr txBox="1"/>
          <p:nvPr/>
        </p:nvSpPr>
        <p:spPr>
          <a:xfrm rot="0" flipH="0" flipV="0">
            <a:off x="10772775" y="723900"/>
            <a:ext cx="885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SIX LAB SURFACES</a:t>
            </a:r>
            <a:endParaRPr/>
          </a:p>
        </p:txBody>
      </p:sp>
      <p:sp>
        <p:nvSpPr>
          <p:cNvPr id="1209" name=""/>
          <p:cNvSpPr/>
          <p:nvPr/>
        </p:nvSpPr>
        <p:spPr>
          <a:xfrm rot="0" flipH="0" flipV="0">
            <a:off x="533400" y="1390650"/>
            <a:ext cx="5715000" cy="3219450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210" name=""/>
          <p:cNvPicPr>
            <a:picLocks noChangeAspect="1"/>
          </p:cNvPicPr>
          <p:nvPr/>
        </p:nvPicPr>
        <p:blipFill>
          <a:blip r:embed="rId2"/>
          <a:srcRect l="73" t="0" r="73" b="0"/>
          <a:stretch>
            <a:fillRect/>
          </a:stretch>
        </p:blipFill>
        <p:spPr>
          <a:xfrm rot="0" flipH="0" flipV="0">
            <a:off x="533400" y="1390650"/>
            <a:ext cx="5715000" cy="3219450"/>
          </a:xfrm>
          <a:prstGeom prst="roundRect">
            <a:avLst>
              <a:gd name="adj" fmla="val 2367"/>
            </a:avLst>
          </a:prstGeom>
          <a:ln/>
        </p:spPr>
      </p:pic>
      <p:sp>
        <p:nvSpPr>
          <p:cNvPr id="1211" name="" descr="{&quot;isTemplate&quot;:true,&quot;type&quot;:&quot;text&quot;}"/>
          <p:cNvSpPr txBox="1"/>
          <p:nvPr/>
        </p:nvSpPr>
        <p:spPr>
          <a:xfrm rot="0" flipH="0" flipV="0">
            <a:off x="533400" y="4705350"/>
            <a:ext cx="5715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真实界面：关键数据目标“已保护”，必要业务</a:t>
            </a:r>
            <a:r>
              <a:rPr lang="en-US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 2 / 2 </a:t>
            </a: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可达。</a:t>
            </a:r>
            <a:endParaRPr/>
          </a:p>
        </p:txBody>
      </p:sp>
      <p:sp>
        <p:nvSpPr>
          <p:cNvPr id="1212" name=""/>
          <p:cNvSpPr/>
          <p:nvPr/>
        </p:nvSpPr>
        <p:spPr>
          <a:xfrm rot="0" flipH="0" flipV="0">
            <a:off x="647700" y="1504950"/>
            <a:ext cx="1619250" cy="209550"/>
          </a:xfrm>
          <a:prstGeom prst="roundRect">
            <a:avLst>
              <a:gd name="adj" fmla="val 18182"/>
            </a:avLst>
          </a:prstGeom>
          <a:solidFill>
            <a:srgbClr val="07111B">
              <a:alpha val="82000"/>
            </a:srgbClr>
          </a:solidFill>
          <a:ln w="12700">
            <a:solidFill>
              <a:srgbClr val="6BC8D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13" name="" descr="{&quot;isTemplate&quot;:true,&quot;type&quot;:&quot;text&quot;}"/>
          <p:cNvSpPr txBox="1"/>
          <p:nvPr/>
        </p:nvSpPr>
        <p:spPr>
          <a:xfrm rot="0" flipH="0" flipV="0">
            <a:off x="742950" y="1552575"/>
            <a:ext cx="1428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6BC8D1"/>
                </a:solidFill>
                <a:latin typeface="Consolas"/>
                <a:ea typeface="Consolas"/>
              </a:rPr>
              <a:t>CHALLENGE PASSED · 3 / 3</a:t>
            </a:r>
            <a:endParaRPr/>
          </a:p>
        </p:txBody>
      </p:sp>
      <p:sp>
        <p:nvSpPr>
          <p:cNvPr id="1214" name=""/>
          <p:cNvSpPr/>
          <p:nvPr/>
        </p:nvSpPr>
        <p:spPr>
          <a:xfrm rot="0" flipH="0" flipV="0">
            <a:off x="6591300" y="1333500"/>
            <a:ext cx="5067300" cy="666750"/>
          </a:xfrm>
          <a:custGeom>
            <a:pathLst>
              <a:path w="532" h="70">
                <a:moveTo>
                  <a:pt x="0" y="0"/>
                </a:moveTo>
                <a:lnTo>
                  <a:pt x="532" y="0"/>
                </a:lnTo>
                <a:lnTo>
                  <a:pt x="53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215" name="" descr="{&quot;isTemplate&quot;:true,&quot;type&quot;:&quot;text&quot;}"/>
          <p:cNvSpPr txBox="1"/>
          <p:nvPr/>
        </p:nvSpPr>
        <p:spPr>
          <a:xfrm rot="0" flipH="0" flipV="0">
            <a:off x="6591300" y="14573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1216" name="" descr="{&quot;isTemplate&quot;:true,&quot;type&quot;:&quot;text&quot;}"/>
          <p:cNvSpPr txBox="1"/>
          <p:nvPr/>
        </p:nvSpPr>
        <p:spPr>
          <a:xfrm rot="0" flipH="0" flipV="0">
            <a:off x="7010400" y="143827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三维拓扑</a:t>
            </a:r>
            <a:endParaRPr/>
          </a:p>
        </p:txBody>
      </p:sp>
      <p:sp>
        <p:nvSpPr>
          <p:cNvPr id="1217" name="" descr="{&quot;isTemplate&quot;:true,&quot;type&quot;:&quot;text&quot;}"/>
          <p:cNvSpPr txBox="1"/>
          <p:nvPr/>
        </p:nvSpPr>
        <p:spPr>
          <a:xfrm rot="0" flipH="0" flipV="0">
            <a:off x="7010400" y="1628775"/>
            <a:ext cx="46482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拖动旋转、滚轮缩放、点选设备；节点位置可拖动调整。</a:t>
            </a:r>
            <a:endParaRPr/>
          </a:p>
        </p:txBody>
      </p:sp>
      <p:sp>
        <p:nvSpPr>
          <p:cNvPr id="1218" name=""/>
          <p:cNvSpPr/>
          <p:nvPr/>
        </p:nvSpPr>
        <p:spPr>
          <a:xfrm rot="0" flipH="0" flipV="0">
            <a:off x="6591300" y="2000250"/>
            <a:ext cx="5067300" cy="666750"/>
          </a:xfrm>
          <a:custGeom>
            <a:pathLst>
              <a:path w="532" h="70">
                <a:moveTo>
                  <a:pt x="0" y="0"/>
                </a:moveTo>
                <a:lnTo>
                  <a:pt x="532" y="0"/>
                </a:lnTo>
                <a:lnTo>
                  <a:pt x="53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219" name="" descr="{&quot;isTemplate&quot;:true,&quot;type&quot;:&quot;text&quot;}"/>
          <p:cNvSpPr txBox="1"/>
          <p:nvPr/>
        </p:nvSpPr>
        <p:spPr>
          <a:xfrm rot="0" flipH="0" flipV="0">
            <a:off x="6591300" y="21240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220" name="" descr="{&quot;isTemplate&quot;:true,&quot;type&quot;:&quot;text&quot;}"/>
          <p:cNvSpPr txBox="1"/>
          <p:nvPr/>
        </p:nvSpPr>
        <p:spPr>
          <a:xfrm rot="0" flipH="0" flipV="0">
            <a:off x="7010400" y="210502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节点与策略</a:t>
            </a:r>
            <a:endParaRPr/>
          </a:p>
        </p:txBody>
      </p:sp>
      <p:sp>
        <p:nvSpPr>
          <p:cNvPr id="1221" name="" descr="{&quot;isTemplate&quot;:true,&quot;type&quot;:&quot;text&quot;}"/>
          <p:cNvSpPr txBox="1"/>
          <p:nvPr/>
        </p:nvSpPr>
        <p:spPr>
          <a:xfrm rot="0" flipH="0" flipV="0">
            <a:off x="7010400" y="2295525"/>
            <a:ext cx="46482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查看</a:t>
            </a:r>
            <a:r>
              <a:rPr lang="en-US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IP / VLAN / </a:t>
            </a: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路由；启停终端防护、服务加固、数据访问控制与隔离。</a:t>
            </a:r>
            <a:endParaRPr/>
          </a:p>
        </p:txBody>
      </p:sp>
      <p:sp>
        <p:nvSpPr>
          <p:cNvPr id="1222" name=""/>
          <p:cNvSpPr/>
          <p:nvPr/>
        </p:nvSpPr>
        <p:spPr>
          <a:xfrm rot="0" flipH="0" flipV="0">
            <a:off x="6591300" y="2667000"/>
            <a:ext cx="5067300" cy="666750"/>
          </a:xfrm>
          <a:custGeom>
            <a:pathLst>
              <a:path w="532" h="70">
                <a:moveTo>
                  <a:pt x="0" y="0"/>
                </a:moveTo>
                <a:lnTo>
                  <a:pt x="532" y="0"/>
                </a:lnTo>
                <a:lnTo>
                  <a:pt x="53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223" name="" descr="{&quot;isTemplate&quot;:true,&quot;type&quot;:&quot;text&quot;}"/>
          <p:cNvSpPr txBox="1"/>
          <p:nvPr/>
        </p:nvSpPr>
        <p:spPr>
          <a:xfrm rot="0" flipH="0" flipV="0">
            <a:off x="6591300" y="27908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224" name="" descr="{&quot;isTemplate&quot;:true,&quot;type&quot;:&quot;text&quot;}"/>
          <p:cNvSpPr txBox="1"/>
          <p:nvPr/>
        </p:nvSpPr>
        <p:spPr>
          <a:xfrm rot="0" flipH="0" flipV="0">
            <a:off x="7010400" y="277177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事件判定</a:t>
            </a:r>
            <a:endParaRPr/>
          </a:p>
        </p:txBody>
      </p:sp>
      <p:sp>
        <p:nvSpPr>
          <p:cNvPr id="1225" name="" descr="{&quot;isTemplate&quot;:true,&quot;type&quot;:&quot;text&quot;}"/>
          <p:cNvSpPr txBox="1"/>
          <p:nvPr/>
        </p:nvSpPr>
        <p:spPr>
          <a:xfrm rot="0" flipH="0" flipV="0">
            <a:off x="7010400" y="2962275"/>
            <a:ext cx="46482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结果、实际路径、命中规则、阻断位置，以及状态的前后值。</a:t>
            </a:r>
            <a:endParaRPr/>
          </a:p>
        </p:txBody>
      </p:sp>
      <p:sp>
        <p:nvSpPr>
          <p:cNvPr id="1226" name=""/>
          <p:cNvSpPr/>
          <p:nvPr/>
        </p:nvSpPr>
        <p:spPr>
          <a:xfrm rot="0" flipH="0" flipV="0">
            <a:off x="6591300" y="3333750"/>
            <a:ext cx="5067300" cy="666750"/>
          </a:xfrm>
          <a:custGeom>
            <a:pathLst>
              <a:path w="532" h="70">
                <a:moveTo>
                  <a:pt x="0" y="0"/>
                </a:moveTo>
                <a:lnTo>
                  <a:pt x="532" y="0"/>
                </a:lnTo>
                <a:lnTo>
                  <a:pt x="53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227" name="" descr="{&quot;isTemplate&quot;:true,&quot;type&quot;:&quot;text&quot;}"/>
          <p:cNvSpPr txBox="1"/>
          <p:nvPr/>
        </p:nvSpPr>
        <p:spPr>
          <a:xfrm rot="0" flipH="0" flipV="0">
            <a:off x="6591300" y="34575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1228" name="" descr="{&quot;isTemplate&quot;:true,&quot;type&quot;:&quot;text&quot;}"/>
          <p:cNvSpPr txBox="1"/>
          <p:nvPr/>
        </p:nvSpPr>
        <p:spPr>
          <a:xfrm rot="0" flipH="0" flipV="0">
            <a:off x="7010400" y="343852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代表链回放</a:t>
            </a:r>
            <a:endParaRPr/>
          </a:p>
        </p:txBody>
      </p:sp>
      <p:sp>
        <p:nvSpPr>
          <p:cNvPr id="1229" name="" descr="{&quot;isTemplate&quot;:true,&quot;type&quot;:&quot;text&quot;}"/>
          <p:cNvSpPr txBox="1"/>
          <p:nvPr/>
        </p:nvSpPr>
        <p:spPr>
          <a:xfrm rot="0" flipH="0" flipV="0">
            <a:off x="7010400" y="3629025"/>
            <a:ext cx="46482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播放</a:t>
            </a:r>
            <a:r>
              <a:rPr lang="en-US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暂停</a:t>
            </a:r>
            <a:r>
              <a:rPr lang="en-US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单步</a:t>
            </a:r>
            <a:r>
              <a:rPr lang="en-US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倍速；点击</a:t>
            </a:r>
            <a:r>
              <a:rPr lang="en-US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T0–Tn </a:t>
            </a: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直接定位到对应状态。</a:t>
            </a:r>
            <a:endParaRPr/>
          </a:p>
        </p:txBody>
      </p:sp>
      <p:sp>
        <p:nvSpPr>
          <p:cNvPr id="1230" name=""/>
          <p:cNvSpPr/>
          <p:nvPr/>
        </p:nvSpPr>
        <p:spPr>
          <a:xfrm rot="0" flipH="0" flipV="0">
            <a:off x="6591300" y="4000500"/>
            <a:ext cx="5067300" cy="666750"/>
          </a:xfrm>
          <a:custGeom>
            <a:pathLst>
              <a:path w="532" h="70">
                <a:moveTo>
                  <a:pt x="0" y="0"/>
                </a:moveTo>
                <a:lnTo>
                  <a:pt x="532" y="0"/>
                </a:lnTo>
                <a:lnTo>
                  <a:pt x="53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231" name="" descr="{&quot;isTemplate&quot;:true,&quot;type&quot;:&quot;text&quot;}"/>
          <p:cNvSpPr txBox="1"/>
          <p:nvPr/>
        </p:nvSpPr>
        <p:spPr>
          <a:xfrm rot="0" flipH="0" flipV="0">
            <a:off x="6591300" y="41243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78172"/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1232" name="" descr="{&quot;isTemplate&quot;:true,&quot;type&quot;:&quot;text&quot;}"/>
          <p:cNvSpPr txBox="1"/>
          <p:nvPr/>
        </p:nvSpPr>
        <p:spPr>
          <a:xfrm rot="0" flipH="0" flipV="0">
            <a:off x="7010400" y="410527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安全挑战</a:t>
            </a:r>
            <a:endParaRPr/>
          </a:p>
        </p:txBody>
      </p:sp>
      <p:sp>
        <p:nvSpPr>
          <p:cNvPr id="1233" name="" descr="{&quot;isTemplate&quot;:true,&quot;type&quot;:&quot;text&quot;}"/>
          <p:cNvSpPr txBox="1"/>
          <p:nvPr/>
        </p:nvSpPr>
        <p:spPr>
          <a:xfrm rot="0" flipH="0" flipV="0">
            <a:off x="7010400" y="4295775"/>
            <a:ext cx="46482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不是“全断开”：关键目标保护</a:t>
            </a:r>
            <a:r>
              <a:rPr lang="en-US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必要业务可达，两个条件同时通过。</a:t>
            </a:r>
            <a:endParaRPr/>
          </a:p>
        </p:txBody>
      </p:sp>
      <p:sp>
        <p:nvSpPr>
          <p:cNvPr id="1234" name=""/>
          <p:cNvSpPr/>
          <p:nvPr/>
        </p:nvSpPr>
        <p:spPr>
          <a:xfrm rot="0" flipH="0" flipV="0">
            <a:off x="6591300" y="4667250"/>
            <a:ext cx="5067300" cy="666750"/>
          </a:xfrm>
          <a:custGeom>
            <a:pathLst>
              <a:path w="532" h="70">
                <a:moveTo>
                  <a:pt x="0" y="0"/>
                </a:moveTo>
                <a:lnTo>
                  <a:pt x="532" y="0"/>
                </a:lnTo>
                <a:lnTo>
                  <a:pt x="53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235" name=""/>
          <p:cNvSpPr/>
          <p:nvPr/>
        </p:nvSpPr>
        <p:spPr>
          <a:xfrm rot="0" flipH="0" flipV="0">
            <a:off x="6591300" y="4667250"/>
            <a:ext cx="5067300" cy="666750"/>
          </a:xfrm>
          <a:custGeom>
            <a:pathLst>
              <a:path w="532" h="70">
                <a:moveTo>
                  <a:pt x="0" y="69"/>
                </a:moveTo>
                <a:lnTo>
                  <a:pt x="532" y="69"/>
                </a:lnTo>
                <a:lnTo>
                  <a:pt x="532" y="70"/>
                </a:lnTo>
                <a:lnTo>
                  <a:pt x="0" y="70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236" name="" descr="{&quot;isTemplate&quot;:true,&quot;type&quot;:&quot;text&quot;}"/>
          <p:cNvSpPr txBox="1"/>
          <p:nvPr/>
        </p:nvSpPr>
        <p:spPr>
          <a:xfrm rot="0" flipH="0" flipV="0">
            <a:off x="6591300" y="47910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06</a:t>
            </a:r>
            <a:endParaRPr/>
          </a:p>
        </p:txBody>
      </p:sp>
      <p:sp>
        <p:nvSpPr>
          <p:cNvPr id="1237" name="" descr="{&quot;isTemplate&quot;:true,&quot;type&quot;:&quot;text&quot;}"/>
          <p:cNvSpPr txBox="1"/>
          <p:nvPr/>
        </p:nvSpPr>
        <p:spPr>
          <a:xfrm rot="0" flipH="0" flipV="0">
            <a:off x="7010400" y="4772025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演示模式</a:t>
            </a:r>
            <a:endParaRPr/>
          </a:p>
        </p:txBody>
      </p:sp>
      <p:sp>
        <p:nvSpPr>
          <p:cNvPr id="1238" name="" descr="{&quot;isTemplate&quot;:true,&quot;type&quot;:&quot;text&quot;}"/>
          <p:cNvSpPr txBox="1"/>
          <p:nvPr/>
        </p:nvSpPr>
        <p:spPr>
          <a:xfrm rot="0" flipH="0" flipV="0">
            <a:off x="7010400" y="4962525"/>
            <a:ext cx="464820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收起编辑控件、放大拓扑；课堂投屏时只保留讲解需要的信息。</a:t>
            </a:r>
            <a:endParaRPr/>
          </a:p>
        </p:txBody>
      </p:sp>
      <p:sp>
        <p:nvSpPr>
          <p:cNvPr id="1239" name=""/>
          <p:cNvSpPr/>
          <p:nvPr/>
        </p:nvSpPr>
        <p:spPr>
          <a:xfrm rot="0" flipH="0" flipV="0">
            <a:off x="533400" y="5972175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240" name="" descr="{&quot;isTemplate&quot;:true,&quot;type&quot;:&quot;text&quot;}"/>
          <p:cNvSpPr txBox="1"/>
          <p:nvPr/>
        </p:nvSpPr>
        <p:spPr>
          <a:xfrm rot="0" flipH="0" flipV="0">
            <a:off x="819150" y="5905500"/>
            <a:ext cx="46005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更多操作：恢复默认</a:t>
            </a:r>
            <a:r>
              <a:rPr lang="en-US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复制复现链接</a:t>
            </a:r>
            <a:r>
              <a:rPr lang="en-US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导出</a:t>
            </a:r>
            <a:r>
              <a:rPr lang="en-US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/</a:t>
            </a: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导入场景</a:t>
            </a:r>
            <a:r>
              <a:rPr lang="en-US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JSON</a:t>
            </a: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；六个功能区共享同一份场景状态。</a:t>
            </a:r>
            <a:endParaRPr/>
          </a:p>
        </p:txBody>
      </p:sp>
      <p:sp>
        <p:nvSpPr>
          <p:cNvPr id="1241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242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1243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08 / 28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244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3)' strokeWidth='1'&gt;&#13;&#10;            &lt;path d='M0 80H1280M0 160H1280M0 240H1280M0 320H1280M0 400H1280M0 480H1280M0 560H1280M0 640H1280' /&gt;&#13;&#10;            &lt;path d='M80 0V720M160 0V720M240 0V720M320 0V720M400 0V720M480 0V720M560 0V720M640 0V720M720 0V720M800 0V720M880 0V720M960 0V720M1040 0V720M1120 0V720M1200 0V720' /&gt;&#13;&#10;        &lt;/g&gt;&#13;&#10;        &lt;g stroke='rgba(107,200,209,0.18)' strokeWidth='1' fill='none'&gt;&#13;&#10;            &lt;path d='M700 520L790 420L900 470L1010 350L1120 400' /&gt;&#13;&#10;            &lt;path d='M790 420L850 540L960 580L1010 350' /&gt;&#13;&#10;        &lt;/g&gt;&#13;&#10;        &lt;g fill='#6BC8D1'&gt;&#13;&#10;            &lt;circle cx='700' cy='520' r='4' opacity='0.45' /&gt;&#13;&#10;            &lt;circle cx='790' cy='420' r='5' opacity='0.7' /&gt;&#13;&#10;            &lt;circle cx='900' cy='470' r='4' opacity='0.45' /&gt;&#13;&#10;            &lt;circle cx='1010' cy='350' r='6' opacity='0.85' /&gt;&#13;&#10;            &lt;circle cx='1120' cy='400' r='3.5' opacity='0.4' /&gt;&#13;&#10;            &lt;circle cx='850' cy='540' r='4' opacity='0.45' /&gt;&#13;&#10;            &lt;circle cx='960' cy='580' r='4' opacity='0.5' /&gt;&#13;&#10;        &lt;/g&gt;&#13;&#10;    &lt;/svg&gt;&#13;&#10;    &lt;Text style={{ position: 'absolute', right: 56, top: 154, width: 520, textAlign: 'right', fontFamily: 'Consolas', fontSize: 290, fontWeight: 'bold', color: '#F2F7F8', opacity: 0.055, lineHeight: 1 }}&gt;03&lt;/Text&gt;&#13;&#10;    &lt;Box style={{ position: 'absolute', left: 0, top: 0, width: 5, height: 720, background: '#6BC8D1', opacity: 0.55 }} /&gt;&#13;&#10;&#13;&#10;    &lt;Box style={{ position: 'absolute', left: 72, top: 46 }}&gt;&#13;&#10;        &lt;Text style={{ fontFamily: 'Consolas', fontSize: 11, color: '#6BC8D1', letterSpacing: 2 }}&gt;CHAPTER 03 / 05&lt;/Text&gt;&#13;&#10;    &lt;/Box&gt;&#13;&#10;    &lt;Box style={{ position: 'absolute', left: 72, top: 176, width: 620 }}&gt;&#13;&#10;        &lt;Text style={{ fontFamily: 'Microsoft YaHei', fontSize: 58, fontWeight: 'bold', color: '#F2F7F8', letterSpacing: 2 }}&gt;核心机制&lt;/Text&gt;&#13;&#10;        &lt;Box style={{ marginTop: 22, width: 52, height: 3, background: '#6BC8D1' }} /&gt;&#13;&#10;        &lt;Text style={{ marginTop: 24, fontFamily: 'Microsoft YaHei', fontSize: 19, color: 'rgba(242,247,248,0.68)', lineHeight: 1.7, width: 560 }}&gt;&#13;&#10;            能不能通，和会不会变，是两道必须分开回答的问题。&#13;&#10;        &lt;/Text&gt;&#13;&#10;    &lt;/Box&gt;&#13;&#10;&#13;&#10;    &lt;Box style={{ position: 'absolute', left: 72, top: 420, width: 560 }}&gt;&#13;&#10;        &lt;Box style={{ flexDirection: 'row', alignItems: 'center', height: 48, borderTop: '1px solid rgba(242,247,248,0.12)' }}&gt;&#13;&#10;            &lt;Text style={{ width: 54, fontFamily: 'Consolas', fontSize: 10, color: '#6BC8D1' }}&gt;03.1&lt;/Text&gt;&#13;&#10;            &lt;Text style={{ fontFamily: 'Microsoft YaHei', fontSize: 14, color: 'rgba(242,247,248,0.72)' }}&gt;双引擎：通信判定与状态转移解耦&lt;/Text&gt;&#13;&#10;        &lt;/Box&gt;&#13;&#10;        &lt;Box style={{ flexDirection: 'row', alignItems: 'center', height: 48, borderTop: '1px solid rgba(242,247,248,0.12)' }}&gt;&#13;&#10;            &lt;Text style={{ width: 54, fontFamily: 'Consolas', fontSize: 10, color: '#6BC8D1' }}&gt;03.2&lt;/Text&gt;&#13;&#10;            &lt;Text style={{ fontFamily: 'Microsoft YaHei', fontSize: 14, color: 'rgba(242,247,248,0.72)' }}&gt;三维沙盘与策略工作台&lt;/Text&gt;&#13;&#10;        &lt;/Box&gt;&#13;&#10;        &lt;Box style={{ flexDirection: 'row', alignItems: 'center', height: 48, borderTop: '1px solid rgba(242,247,248,0.12)', borderBottom: '1px solid rgba(242,247,248,0.12)' }}&gt;&#13;&#10;            &lt;Text style={{ width: 54, fontFamily: 'Consolas', fontSize: 10, color: '#6BC8D1' }}&gt;03.3&lt;/Text&gt;&#13;&#10;            &lt;Text style={{ fontFamily: 'Microsoft YaHei', fontSize: 14, color: 'rgba(242,247,248,0.72)' }}&gt;状态链、A/B 对照与工程实现&lt;/Text&gt;&#13;&#10;        &lt;/Box&gt;&#13;&#10;    &lt;/Box&gt;&#13;&#10;&#13;&#10;    &lt;Box style={{ position: 'absolute', left: 72, top: 664, flexDirection: 'row', alignItems: 'center', gap: 8 }}&gt;&#13;&#10;        &lt;Text style={{ fontFamily: 'Consolas', fontSize: 10.5, color: 'rgba(242,247,248,0.40)' }}&gt;智御网络&lt;/Text&gt;&#13;&#10;        &lt;Box style={{ width: 16, height: 1, background: 'rgba(242,247,248,0.20)' }} /&gt;&#13;&#10;        &lt;Text style={{ fontFamily: 'Consolas', fontSize: 10.5, color: 'rgba(242,247,248,0.40)' }}&gt;MECHANISM&lt;/Text&gt;&#13;&#10;    &lt;/Box&gt;&#13;&#10;    &lt;Text style={{ position: 'absolute', right: 56, top: 664, fontFamily: 'Consolas', fontSize: 10.5, color: 'rgba(242,247,248,0.40)' }}&gt;09 / 2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12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247" name="" descr="{&quot;isTemplate&quot;:true,&quot;type&quot;:&quot;text&quot;}"/>
          <p:cNvSpPr txBox="1"/>
          <p:nvPr/>
        </p:nvSpPr>
        <p:spPr>
          <a:xfrm rot="0" flipH="0" flipV="0">
            <a:off x="6705600" y="1466850"/>
            <a:ext cx="4953000" cy="33147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750" b="1">
                <a:solidFill>
                  <a:srgbClr val="F2F7F8">
                    <a:alpha val="5500"/>
                  </a:srgbClr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248" name=""/>
          <p:cNvSpPr/>
          <p:nvPr/>
        </p:nvSpPr>
        <p:spPr>
          <a:xfrm rot="0" flipH="0" flipV="0">
            <a:off x="0" y="0"/>
            <a:ext cx="47625" cy="6858000"/>
          </a:xfrm>
          <a:prstGeom prst="rect">
            <a:avLst/>
          </a:prstGeom>
          <a:solidFill>
            <a:srgbClr val="6BC8D1">
              <a:alpha val="55000"/>
            </a:srgbClr>
          </a:solidFill>
          <a:ln/>
        </p:spPr>
        <p:txBody>
          <a:bodyPr/>
          <a:p/>
        </p:txBody>
      </p:sp>
      <p:sp>
        <p:nvSpPr>
          <p:cNvPr id="1249" name="" descr="{&quot;isTemplate&quot;:true,&quot;type&quot;:&quot;text&quot;}"/>
          <p:cNvSpPr txBox="1"/>
          <p:nvPr/>
        </p:nvSpPr>
        <p:spPr>
          <a:xfrm rot="0" flipH="0" flipV="0">
            <a:off x="685800" y="438150"/>
            <a:ext cx="1152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50">
                <a:solidFill>
                  <a:srgbClr val="6BC8D1"/>
                </a:solidFill>
                <a:latin typeface="Consolas"/>
                <a:ea typeface="Consolas"/>
              </a:rPr>
              <a:t>CHAPTER 03 / 05</a:t>
            </a:r>
            <a:endParaRPr/>
          </a:p>
        </p:txBody>
      </p:sp>
      <p:sp>
        <p:nvSpPr>
          <p:cNvPr id="1250" name="" descr="{&quot;isTemplate&quot;:true,&quot;type&quot;:&quot;text&quot;}"/>
          <p:cNvSpPr txBox="1"/>
          <p:nvPr/>
        </p:nvSpPr>
        <p:spPr>
          <a:xfrm rot="0" flipH="0" flipV="0">
            <a:off x="685800" y="1676400"/>
            <a:ext cx="590550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350" b="1" spc="150">
                <a:solidFill>
                  <a:srgbClr val="F2F7F8"/>
                </a:solidFill>
                <a:latin typeface="Microsoft YaHei"/>
                <a:ea typeface="Microsoft YaHei"/>
              </a:rPr>
              <a:t>核心机制</a:t>
            </a:r>
            <a:endParaRPr/>
          </a:p>
        </p:txBody>
      </p:sp>
      <p:sp>
        <p:nvSpPr>
          <p:cNvPr id="1251" name=""/>
          <p:cNvSpPr/>
          <p:nvPr/>
        </p:nvSpPr>
        <p:spPr>
          <a:xfrm rot="0" flipH="0" flipV="0">
            <a:off x="685800" y="2552700"/>
            <a:ext cx="495300" cy="2857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1252" name="" descr="{&quot;isTemplate&quot;:true,&quot;type&quot;:&quot;text&quot;}"/>
          <p:cNvSpPr txBox="1"/>
          <p:nvPr/>
        </p:nvSpPr>
        <p:spPr>
          <a:xfrm rot="0" flipH="0" flipV="0">
            <a:off x="685800" y="2809875"/>
            <a:ext cx="5334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能不能通，和会不会变，是两道必须分开回答的问题。</a:t>
            </a:r>
            <a:endParaRPr/>
          </a:p>
        </p:txBody>
      </p:sp>
      <p:sp>
        <p:nvSpPr>
          <p:cNvPr id="1253" name=""/>
          <p:cNvSpPr/>
          <p:nvPr/>
        </p:nvSpPr>
        <p:spPr>
          <a:xfrm rot="0" flipH="0" flipV="0">
            <a:off x="685800" y="40005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254" name="" descr="{&quot;isTemplate&quot;:true,&quot;type&quot;:&quot;text&quot;}"/>
          <p:cNvSpPr txBox="1"/>
          <p:nvPr/>
        </p:nvSpPr>
        <p:spPr>
          <a:xfrm rot="0" flipH="0" flipV="0">
            <a:off x="685800" y="41814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03.1</a:t>
            </a:r>
            <a:endParaRPr/>
          </a:p>
        </p:txBody>
      </p:sp>
      <p:sp>
        <p:nvSpPr>
          <p:cNvPr id="1255" name="" descr="{&quot;isTemplate&quot;:true,&quot;type&quot;:&quot;text&quot;}"/>
          <p:cNvSpPr txBox="1"/>
          <p:nvPr/>
        </p:nvSpPr>
        <p:spPr>
          <a:xfrm rot="0" flipH="0" flipV="0">
            <a:off x="1200150" y="415290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双引擎：通信判定与状态转移解耦</a:t>
            </a:r>
            <a:endParaRPr/>
          </a:p>
        </p:txBody>
      </p:sp>
      <p:sp>
        <p:nvSpPr>
          <p:cNvPr id="1256" name=""/>
          <p:cNvSpPr/>
          <p:nvPr/>
        </p:nvSpPr>
        <p:spPr>
          <a:xfrm rot="0" flipH="0" flipV="0">
            <a:off x="685800" y="44577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257" name="" descr="{&quot;isTemplate&quot;:true,&quot;type&quot;:&quot;text&quot;}"/>
          <p:cNvSpPr txBox="1"/>
          <p:nvPr/>
        </p:nvSpPr>
        <p:spPr>
          <a:xfrm rot="0" flipH="0" flipV="0">
            <a:off x="685800" y="46386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03.2</a:t>
            </a:r>
            <a:endParaRPr/>
          </a:p>
        </p:txBody>
      </p:sp>
      <p:sp>
        <p:nvSpPr>
          <p:cNvPr id="1258" name="" descr="{&quot;isTemplate&quot;:true,&quot;type&quot;:&quot;text&quot;}"/>
          <p:cNvSpPr txBox="1"/>
          <p:nvPr/>
        </p:nvSpPr>
        <p:spPr>
          <a:xfrm rot="0" flipH="0" flipV="0">
            <a:off x="1200150" y="4610100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三维沙盘与策略工作台</a:t>
            </a:r>
            <a:endParaRPr/>
          </a:p>
        </p:txBody>
      </p:sp>
      <p:sp>
        <p:nvSpPr>
          <p:cNvPr id="1259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260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47"/>
                </a:moveTo>
                <a:lnTo>
                  <a:pt x="560" y="47"/>
                </a:lnTo>
                <a:lnTo>
                  <a:pt x="560" y="48"/>
                </a:lnTo>
                <a:lnTo>
                  <a:pt x="0" y="48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1261" name="" descr="{&quot;isTemplate&quot;:true,&quot;type&quot;:&quot;text&quot;}"/>
          <p:cNvSpPr txBox="1"/>
          <p:nvPr/>
        </p:nvSpPr>
        <p:spPr>
          <a:xfrm rot="0" flipH="0" flipV="0">
            <a:off x="685800" y="5086350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03.3</a:t>
            </a:r>
            <a:endParaRPr/>
          </a:p>
        </p:txBody>
      </p:sp>
      <p:sp>
        <p:nvSpPr>
          <p:cNvPr id="1262" name="" descr="{&quot;isTemplate&quot;:true,&quot;type&quot;:&quot;text&quot;}"/>
          <p:cNvSpPr txBox="1"/>
          <p:nvPr/>
        </p:nvSpPr>
        <p:spPr>
          <a:xfrm rot="0" flipH="0" flipV="0">
            <a:off x="1200150" y="5067300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状态链、</a:t>
            </a:r>
            <a:r>
              <a:rPr lang="en-US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A/B </a:t>
            </a: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对照与工程实现</a:t>
            </a:r>
            <a:endParaRPr/>
          </a:p>
        </p:txBody>
      </p:sp>
      <p:sp>
        <p:nvSpPr>
          <p:cNvPr id="1263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647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endParaRPr/>
          </a:p>
        </p:txBody>
      </p:sp>
      <p:sp>
        <p:nvSpPr>
          <p:cNvPr id="1264" name=""/>
          <p:cNvSpPr/>
          <p:nvPr/>
        </p:nvSpPr>
        <p:spPr>
          <a:xfrm rot="0" flipH="0" flipV="0">
            <a:off x="1409700" y="6381750"/>
            <a:ext cx="152400" cy="9525"/>
          </a:xfrm>
          <a:prstGeom prst="rect">
            <a:avLst/>
          </a:prstGeom>
          <a:solidFill>
            <a:srgbClr val="F2F7F8">
              <a:alpha val="20000"/>
            </a:srgbClr>
          </a:solidFill>
          <a:ln/>
        </p:spPr>
        <p:txBody>
          <a:bodyPr/>
          <a:p/>
        </p:txBody>
      </p:sp>
      <p:sp>
        <p:nvSpPr>
          <p:cNvPr id="1265" name="" descr="{&quot;isTemplate&quot;:true,&quot;type&quot;:&quot;text&quot;}"/>
          <p:cNvSpPr txBox="1"/>
          <p:nvPr/>
        </p:nvSpPr>
        <p:spPr>
          <a:xfrm rot="0" flipH="0" flipV="0">
            <a:off x="1638300" y="6324600"/>
            <a:ext cx="495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MECHANISM</a:t>
            </a:r>
            <a:endParaRPr/>
          </a:p>
        </p:txBody>
      </p:sp>
      <p:sp>
        <p:nvSpPr>
          <p:cNvPr id="1266" name="" descr="{&quot;isTemplate&quot;:true,&quot;type&quot;:&quot;text&quot;}"/>
          <p:cNvSpPr txBox="1"/>
          <p:nvPr/>
        </p:nvSpPr>
        <p:spPr>
          <a:xfrm rot="0" flipH="0" flipV="0">
            <a:off x="11268075" y="632460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09 / 28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6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    &lt;circle cx='1140' cy='120' r='260' fill='rgba(107,200,209,0.035)' /&gt;&#13;&#10;    &lt;/svg&gt;&#13;&#10;&#13;&#10;    &lt;Box style={{ position: 'absolute', left: 56, top: 38 }}&gt;&#13;&#10;        &lt;Text style={{ fontFamily: 'Consolas', fontSize: 11, color: '#6BC8D1', letterSpacing: 1.8 }}&gt;03 / 核心机制&lt;/Text&gt;&#13;&#10;    &lt;/Box&gt;&#13;&#10;    &lt;Text style={{ position: 'absolute', left: 56, top: 62, fontFamily: 'Microsoft YaHei', fontSize: 31, fontWeight: 'bold', color: '#F2F7F8', letterSpacing: 0.5 }}&gt;双引擎：让“能不能通”和“会不会变”分开计算&lt;/Text&gt;&#13;&#10;    &lt;Text style={{ position: 'absolute', right: 56, top: 76, fontFamily: 'Consolas', fontSize: 10.5, color: 'rgba(242,247,248,0.42)' }}&gt;NETWORK LAYER × STATE LAYER&lt;/Text&gt;&#13;&#10;&#13;&#10;    &lt;Box style={{ position: 'absolute', left: 56, top: 138, width: 1168, height: 364 }}&gt;&#13;&#10;        &lt;svg width={1168} height={364} viewBox='0 0 1168 364' style={{ position: 'absolute', left: 0, top: 0 }}&gt;&#13;&#10;            &lt;g stroke='rgba(107,200,209,0.40)' strokeWidth='1.2' fill='none'&gt;&#13;&#10;                &lt;path d='M232 80H262' /&gt;&#13;&#10;                &lt;path d='M232 270H262' /&gt;&#13;&#10;                &lt;path d='M852 80H882' /&gt;&#13;&#10;                &lt;path d='M852 270H882' /&gt;&#13;&#10;                &lt;path d='M560 160V186' strokeDasharray='4 4' stroke='rgba(231,129,114,0.55)' /&gt;&#13;&#10;            &lt;/g&gt;&#13;&#10;            &lt;g fill='rgba(107,200,209,0.65)'&gt;&#13;&#10;                &lt;path d='M262 76L270 80L262 84Z' /&gt;&#13;&#10;                &lt;path d='M262 266L270 270L262 274Z' /&gt;&#13;&#10;                &lt;path d='M882 76L890 80L882 84Z' /&gt;&#13;&#10;                &lt;path d='M882 266L890 270L882 274Z' /&gt;&#13;&#10;            &lt;/g&gt;&#13;&#10;            &lt;path d='M556 186L560 194L564 186Z' fill='rgba(231,129,114,0.75)' /&gt;&#13;&#10;        &lt;/svg&gt;&#13;&#10;&#13;&#10;        &lt;Box style={{ position: 'absolute', left: 0, top: 0, width: 232, height: 364, padding: 18, background: 'linear-gradient(145deg, rgba(242,247,248,0.05) 0%, rgba(242,247,248,0.02) 100%)', border: '1px solid rgba(242,247,248,0.10)', borderRadius: 10 }}&gt;&#13;&#10;            &lt;Text style={{ fontFamily: 'Consolas', fontSize: 9.5, color: 'rgba(242,247,248,0.42)', letterSpacing: 1.2 }}&gt;INPUT / SCENARIO&lt;/Text&gt;&#13;&#10;            &lt;Text style={{ marginTop: 12, fontFamily: 'Microsoft YaHei', fontSize: 21, fontWeight: 'bold', color: '#F2F7F8' }}&gt;场景配置&lt;/Text&gt;&#13;&#10;            &lt;Box style={{ marginTop: 16 }}&gt;&#13;&#10;                &lt;Text style={{ fontFamily: 'Microsoft YaHei', fontSize: 11.5, color: 'rgba(242,247,248,0.60)', lineHeight: 2.1 }}&gt;拓扑 · 接口 · VLAN&lt;/Text&gt;&#13;&#10;                &lt;Text style={{ fontFamily: 'Microsoft YaHei', fontSize: 11.5, color: 'rgba(242,247,248,0.60)', lineHeight: 2.1 }}&gt;路由 · 静态 / 直连&lt;/Text&gt;&#13;&#10;                &lt;Text style={{ fontFamily: 'Microsoft YaHei', fontSize: 11.5, color: 'rgba(242,247,248,0.60)', lineHeight: 2.1 }}&gt;Firewall Policy&lt;/Text&gt;&#13;&#10;                &lt;Text style={{ fontFamily: 'Microsoft YaHei', fontSize: 11.5, color: 'rgba(242,247,248,0.60)', lineHeight: 2.1 }}&gt;初始状态 · 业务路径&lt;/Text&gt;&#13;&#10;            &lt;/Box&gt;&#13;&#10;            &lt;Box style={{ marginTop: 'auto', paddingTop: 10, borderTop: '1px solid rgba(242,247,248,0.10)' }}&gt;&#13;&#10;                &lt;Text style={{ fontFamily: 'Consolas', fontSize: 9.5, color: '#6BC8D1', letterSpacing: 0.8 }}&gt;同一份输入&lt;/Text&gt;&#13;&#10;            &lt;/Box&gt;&#13;&#10;        &lt;/Box&gt;&#13;&#10;&#13;&#10;        &lt;Box style={{ position: 'absolute', left: 272, top: 0, width: 580, height: 158, padding: 18, background: 'linear-gradient(145deg, rgba(107,200,209,0.09) 0%, rgba(242,247,248,0.02) 100%)', border: '1px solid rgba(107,200,209,0.24)', borderRadius: 10 }}&gt;&#13;&#10;            &lt;Box style={{ flexDirection: 'row', justifyContent: 'space-between', alignItems: 'center' }}&gt;&#13;&#10;                &lt;Text style={{ fontFamily: 'Consolas', fontSize: 9.5, color: '#6BC8D1', letterSpacing: 1.2 }}&gt;ENGINE 01 / NETWORK&lt;/Text&gt;&#13;&#10;                &lt;Text style={{ fontFamily: 'Consolas', fontSize: 9.5, color: 'rgba(242,247,248,0.38)' }}&gt;路径计算&lt;/Text&gt;&#13;&#10;            &lt;/Box&gt;&#13;&#10;            &lt;Text style={{ marginTop: 8, fontFamily: 'Microsoft YaHei', fontSize: 21, fontWeight: 'bold', color: '#F2F7F8' }}&gt;通信引擎&lt;/Text&gt;&#13;&#10;            &lt;Text style={{ marginTop: 6, fontFamily: 'Consolas', fontSize: 11.5, color: 'rgba(242,247,248,0.62)', letterSpacing: 0.3 }}&gt;L2 VLAN → 最长前缀路由 → First Match&lt;/Text&gt;&#13;&#10;            &lt;Box style={{ marginTop: 10, flexDirection: 'row', gap: 8 }}&gt;&#13;&#10;                &lt;Box style={{ paddingLeft: 9, paddingRight: 9, paddingTop: 4, paddingBottom: 4, border: '1px solid rgba(107,200,209,0.26)', borderRadius: 4 }}&gt;&#13;&#10;                    &lt;Text style={{ fontFamily: 'Consolas', fontSize: 9.5, color: '#6BC8D1' }}&gt;ALLOW / DENY&lt;/Text&gt;&#13;&#10;                &lt;/Box&gt;&#13;&#10;                &lt;Box style={{ paddingLeft: 9, paddingRight: 9, paddingTop: 4, paddingBottom: 4, border: '1px solid rgba(242,247,248,0.14)', borderRadius: 4 }}&gt;&#13;&#10;                    &lt;Text style={{ fontFamily: 'Consolas', fontSize: 9.5, color: 'rgba(242,247,248,0.58)' }}&gt;路径 + 命中规则&lt;/Text&gt;&#13;&#10;                &lt;/Box&gt;&#13;&#10;            &lt;/Box&gt;&#13;&#10;        &lt;/Box&gt;&#13;&#10;&#13;&#10;        &lt;Box style={{ position: 'absolute', left: 272, top: 190, width: 580, height: 158, padding: 18, background: 'linear-gradient(145deg, rgba(231,129,114,0.07) 0%, rgba(242,247,248,0.02) 100%)', border: '1px solid rgba(231,129,114,0.22)', borderRadius: 10 }}&gt;&#13;&#10;            &lt;Box style={{ flexDirection: 'row', justifyContent: 'space-between', alignItems: 'center' }}&gt;&#13;&#10;                &lt;Text style={{ fontFamily: 'Consolas', fontSize: 9.5, color: '#E78172', letterSpacing: 1.2 }}&gt;ENGINE 02 / STATE&lt;/Text&gt;&#13;&#10;                &lt;Text style={{ fontFamily: 'Consolas', fontSize: 9.5, color: 'rgba(242,247,248,0.38)' }}&gt;状态推演&lt;/Text&gt;&#13;&#10;            &lt;/Box&gt;&#13;&#10;            &lt;Text style={{ marginTop: 8, fontFamily: 'Microsoft YaHei', fontSize: 21, fontWeight: 'bold', color: '#F2F7F8' }}&gt;攻击状态引擎&lt;/Text&gt;&#13;&#10;            &lt;Text style={{ marginTop: 6, fontFamily: 'Consolas', fontSize: 11.5, color: 'rgba(242,247,248,0.62)', letterSpacing: 0.3 }}&gt;权限 → 教学行为 → 前置条件 + 安全控制&lt;/Text&gt;&#13;&#10;            &lt;Box style={{ marginTop: 10, flexDirection: 'row', gap: 8 }}&gt;&#13;&#10;                &lt;Box style={{ paddingLeft: 9, paddingRight: 9, paddingTop: 4, paddingBottom: 4, border: '1px solid rgba(231,129,114,0.30)', borderRadius: 4 }}&gt;&#13;&#10;                    &lt;Text style={{ fontFamily: 'Consolas', fontSize: 9.5, color: '#E78172' }}&gt;SUCCESS / BLOCKED / N.A.&lt;/Text&gt;&#13;&#10;                &lt;/Box&gt;&#13;&#10;                &lt;Box style={{ paddingLeft: 9, paddingRight: 9, paddingTop: 4, paddingBottom: 4, border: '1px solid rgba(242,247,248,0.14)', borderRadius: 4 }}&gt;&#13;&#10;                    &lt;Text style={{ fontFamily: 'Consolas', fontSize: 9.5, color: 'rgba(242,247,248,0.58)' }}&gt;见证链 + 最近阻断&lt;/Text&gt;&#13;&#10;                &lt;/Box&gt;&#13;&#10;            &lt;/Box&gt;&#13;&#10;        &lt;/Box&gt;&#13;&#10;&#13;&#10;        &lt;Text style={{ position: 'absolute', left: 578, top: 164, width: 240, fontFamily: 'Microsoft YaHei', fontSize: 9.5, color: 'rgba(231,129,114,0.80)' }}&gt;仅作为前置条件&lt;/Text&gt;&#13;&#10;&#13;&#10;        &lt;Box style={{ position: 'absolute', left: 892, top: 8, width: 276, height: 348, padding: 18, background: 'linear-gradient(145deg, rgba(242,247,248,0.05) 0%, rgba(242,247,248,0.02) 100%)', border: '1px solid rgba(242,247,248,0.10)', borderRadius: 10 }}&gt;&#13;&#10;            &lt;Text style={{ fontFamily: 'Consolas', fontSize: 9.5, color: 'rgba(242,247,248,0.42)', letterSpacing: 1.2 }}&gt;OUTPUT / EVIDENCE&lt;/Text&gt;&#13;&#10;            &lt;Text style={{ marginTop: 12, fontFamily: 'Microsoft YaHei', fontSize: 21, fontWeight: 'bold', color: '#F2F7F8' }}&gt;可验证结果&lt;/Text&gt;&#13;&#10;            &lt;Box style={{ marginTop: 16 }}&gt;&#13;&#10;                &lt;Text style={{ fontFamily: 'Microsoft YaHei', fontSize: 11.5, color: 'rgba(242,247,248,0.62)', lineHeight: 2.2 }}&gt;事件时间线&lt;/Text&gt;&#13;&#10;                &lt;Text style={{ fontFamily: 'Microsoft YaHei', fontSize: 11.5, color: 'rgba(242,247,248,0.62)', lineHeight: 2.2 }}&gt;代表链与见证&lt;/Text&gt;&#13;&#10;                &lt;Text style={{ fontFamily: 'Microsoft YaHei', fontSize: 11.5, color: 'rgba(242,247,248,0.62)', lineHeight: 2.2 }}&gt;A/B 指标&lt;/Text&gt;&#13;&#10;                &lt;Text style={{ fontFamily: 'Microsoft YaHei', fontSize: 11.5, color: 'rgba(242,247,248,0.62)', lineHeight: 2.2 }}&gt;挑战判定&lt;/Text&gt;&#13;&#10;            &lt;/Box&gt;&#13;&#10;            &lt;Box style={{ marginTop: 'auto', paddingTop: 10, borderTop: '1px solid rgba(242,247,248,0.10)' }}&gt;&#13;&#10;                &lt;Text style={{ fontFamily: 'Consolas', fontSize: 9.5, color: '#6BC8D1', letterSpacing: 0.8 }}&gt;可回放 · 可解释&lt;/Text&gt;&#13;&#10;            &lt;/Box&gt;&#13;&#10;        &lt;/Box&gt;&#13;&#10;    &lt;/Box&gt;&#13;&#10;&#13;&#10;    &lt;Text style={{ position: 'absolute', left: 56, top: 512, fontFamily: 'Consolas', fontSize: 86, fontWeight: 'bold', color: '#6BC8D1', lineHeight: 1 }}&gt;≠&lt;/Text&gt;&#13;&#10;    &lt;Text style={{ position: 'absolute', left: 158, top: 522, fontFamily: 'Microsoft YaHei', fontSize: 34, fontWeight: 'bold', color: '#F2F7F8', letterSpacing: 0.5 }}&gt;通信可达 ≠ 状态改变&lt;/Text&gt;&#13;&#10;    &lt;Text style={{ position: 'absolute', left: 158, top: 574, width: 760, fontFamily: 'Microsoft YaHei', fontSize: 13.5, color: 'rgba(242,247,248,0.60)', lineHeight: 1.75 }}&gt;&#13;&#10;        网络层只回答“能不能到达”；状态层还要检查来源范围、权限、教学条件与目标安全控制。通信放行不会自动改变目标状态。&#13;&#10;    &lt;/Text&gt;&#13;&#10;&#13;&#10;    &lt;Box style={{ position: 'absolute', right: 56, top: 512, width: 292, flexDirection: 'row', justifyContent: 'space-between' }}&gt;&#13;&#10;        &lt;Box&gt;&#13;&#10;            &lt;Text style={{ fontFamily: 'Consolas', fontSize: 30, fontWeight: 'bold', color: '#F2F7F8' }}&gt;8&lt;/Text&gt;&#13;&#10;            &lt;Text style={{ marginTop: 3, fontFamily: 'Consolas', fontSize: 8.5, color: 'rgba(242,247,248,0.40)' }}&gt;MAX DEPTH&lt;/Text&gt;&#13;&#10;        &lt;/Box&gt;&#13;&#10;        &lt;Box&gt;&#13;&#10;            &lt;Text style={{ fontFamily: 'Consolas', fontSize: 30, fontWeight: 'bold', color: '#F2F7F8' }}&gt;160&lt;/Text&gt;&#13;&#10;            &lt;Text style={{ marginTop: 3, fontFamily: 'Consolas', fontSize: 8.5, color: 'rgba(242,247,248,0.40)' }}&gt;MAX STATES&lt;/Text&gt;&#13;&#10;        &lt;/Box&gt;&#13;&#10;        &lt;Box&gt;&#13;&#10;            &lt;Text style={{ fontFamily: 'Consolas', fontSize: 30, fontWeight: 'bold', color: '#E78172' }}&gt;3&lt;/Text&gt;&#13;&#10;            &lt;Text style={{ marginTop: 3, fontFamily: 'Consolas', fontSize: 8.5, color: 'rgba(242,247,248,0.40)' }}&gt;RESULTS&lt;/Text&gt;&#13;&#10;        &lt;/Box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0 / 2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核心机制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6600825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双引擎：让“能不能通”和“会不会变”分开计算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0172700" y="723900"/>
            <a:ext cx="1485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NETWORK LAYER × STATE LAYER</a:t>
            </a:r>
            <a:endParaRPr/>
          </a:p>
        </p:txBody>
      </p:sp>
      <p:pic>
        <p:nvPicPr>
          <p:cNvPr id="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33400" y="1314450"/>
            <a:ext cx="11125200" cy="3467100"/>
          </a:xfrm>
          <a:prstGeom prst="rect">
            <a:avLst/>
          </a:prstGeom>
          <a:ln/>
        </p:spPr>
      </p:pic>
      <p:sp>
        <p:nvSpPr>
          <p:cNvPr id="33" name=""/>
          <p:cNvSpPr/>
          <p:nvPr/>
        </p:nvSpPr>
        <p:spPr>
          <a:xfrm rot="0" flipH="0" flipV="0">
            <a:off x="533400" y="1314450"/>
            <a:ext cx="2209800" cy="3467100"/>
          </a:xfrm>
          <a:prstGeom prst="roundRect">
            <a:avLst>
              <a:gd name="adj" fmla="val 4310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04850" y="1485900"/>
            <a:ext cx="1866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INPUT / SCENARIO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04850" y="1714500"/>
            <a:ext cx="1866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2F7F8"/>
                </a:solidFill>
                <a:latin typeface="Microsoft YaHei"/>
                <a:ea typeface="Microsoft YaHei"/>
              </a:rPr>
              <a:t>场景配置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04850" y="2114550"/>
            <a:ext cx="1866900" cy="27622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拓扑</a:t>
            </a:r>
            <a:r>
              <a:rPr lang="en-US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接口</a:t>
            </a:r>
            <a:r>
              <a:rPr lang="en-US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 · VLAN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04850" y="2390775"/>
            <a:ext cx="1866900" cy="27622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路由</a:t>
            </a:r>
            <a:r>
              <a:rPr lang="en-US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静态</a:t>
            </a:r>
            <a:r>
              <a:rPr lang="en-US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直连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704850" y="2667000"/>
            <a:ext cx="1866900" cy="27622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en-US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Firewall Policy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04850" y="2943225"/>
            <a:ext cx="1866900" cy="276225"/>
          </a:xfrm>
          <a:prstGeom prst="rect"/>
        </p:spPr>
        <p:txBody>
          <a:bodyPr wrap="none" lIns="0" tIns="0" rIns="0" bIns="0"/>
          <a:p>
            <a:pPr>
              <a:lnSpc>
                <a:spcPct val="210000"/>
              </a:lnSpc>
            </a:pP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初始状态</a:t>
            </a:r>
            <a:r>
              <a:rPr lang="en-US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6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业务路径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704850" y="4391025"/>
            <a:ext cx="1866900" cy="228600"/>
          </a:xfrm>
          <a:custGeom>
            <a:pathLst>
              <a:path w="196" h="24">
                <a:moveTo>
                  <a:pt x="0" y="0"/>
                </a:moveTo>
                <a:lnTo>
                  <a:pt x="196" y="0"/>
                </a:lnTo>
                <a:lnTo>
                  <a:pt x="196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04850" y="4495800"/>
            <a:ext cx="1866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 spc="60">
                <a:solidFill>
                  <a:srgbClr val="6BC8D1"/>
                </a:solidFill>
                <a:latin typeface="Consolas"/>
                <a:ea typeface="Consolas"/>
              </a:rPr>
              <a:t>同一份输入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3124200" y="1314450"/>
            <a:ext cx="5524500" cy="1504950"/>
          </a:xfrm>
          <a:prstGeom prst="roundRect">
            <a:avLst>
              <a:gd name="adj" fmla="val 6329"/>
            </a:avLst>
          </a:prstGeom>
          <a:gradFill>
            <a:gsLst>
              <a:gs pos="0">
                <a:srgbClr val="6BC8D1">
                  <a:alpha val="9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6BC8D1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3295650" y="1485900"/>
            <a:ext cx="11715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ENGINE 01 / NETWORK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829550" y="1485900"/>
            <a:ext cx="6477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路径计算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3295650" y="1676400"/>
            <a:ext cx="5181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2F7F8"/>
                </a:solidFill>
                <a:latin typeface="Microsoft YaHei"/>
                <a:ea typeface="Microsoft YaHei"/>
              </a:rPr>
              <a:t>通信引擎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3295650" y="1981200"/>
            <a:ext cx="5181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L2 VLAN → </a:t>
            </a:r>
            <a:r>
              <a:rPr lang="zh-CN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最长前缀路由</a:t>
            </a:r>
            <a:r>
              <a:rPr lang="en-US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 → First Match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3295650" y="2209800"/>
            <a:ext cx="771525" cy="190500"/>
          </a:xfrm>
          <a:prstGeom prst="roundRect">
            <a:avLst>
              <a:gd name="adj" fmla="val 20000"/>
            </a:avLst>
          </a:prstGeom>
          <a:ln w="12700">
            <a:solidFill>
              <a:srgbClr val="6BC8D1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3381375" y="2247900"/>
            <a:ext cx="6000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ALLOW / DENY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4143375" y="2209800"/>
            <a:ext cx="1295400" cy="190500"/>
          </a:xfrm>
          <a:prstGeom prst="roundRect">
            <a:avLst>
              <a:gd name="adj" fmla="val 20000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4229100" y="2247900"/>
            <a:ext cx="11239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路径</a:t>
            </a:r>
            <a:r>
              <a:rPr lang="en-US" sz="713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 + </a:t>
            </a:r>
            <a:r>
              <a:rPr lang="zh-CN" sz="713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命中规则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3124200" y="3124200"/>
            <a:ext cx="5524500" cy="1504950"/>
          </a:xfrm>
          <a:prstGeom prst="roundRect">
            <a:avLst>
              <a:gd name="adj" fmla="val 6329"/>
            </a:avLst>
          </a:prstGeom>
          <a:gradFill>
            <a:gsLst>
              <a:gs pos="0">
                <a:srgbClr val="E78172">
                  <a:alpha val="7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E78172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3295650" y="3295650"/>
            <a:ext cx="1047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E78172"/>
                </a:solidFill>
                <a:latin typeface="Consolas"/>
                <a:ea typeface="Consolas"/>
              </a:rPr>
              <a:t>ENGINE 02 / STATE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829550" y="3295650"/>
            <a:ext cx="6477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状态推演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3295650" y="3486150"/>
            <a:ext cx="5181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2F7F8"/>
                </a:solidFill>
                <a:latin typeface="Microsoft YaHei"/>
                <a:ea typeface="Microsoft YaHei"/>
              </a:rPr>
              <a:t>攻击状态引擎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3295650" y="3790950"/>
            <a:ext cx="5181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权限</a:t>
            </a:r>
            <a:r>
              <a:rPr lang="en-US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 → </a:t>
            </a:r>
            <a:r>
              <a:rPr lang="zh-CN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教学行为</a:t>
            </a:r>
            <a:r>
              <a:rPr lang="en-US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 → </a:t>
            </a:r>
            <a:r>
              <a:rPr lang="zh-CN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前置条件</a:t>
            </a:r>
            <a:r>
              <a:rPr lang="en-US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 + </a:t>
            </a:r>
            <a:r>
              <a:rPr lang="zh-CN" sz="863" spc="22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安全控制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3295650" y="4019550"/>
            <a:ext cx="1371600" cy="190500"/>
          </a:xfrm>
          <a:prstGeom prst="roundRect">
            <a:avLst>
              <a:gd name="adj" fmla="val 20000"/>
            </a:avLst>
          </a:prstGeom>
          <a:ln w="12700">
            <a:solidFill>
              <a:srgbClr val="E78172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3381375" y="4057650"/>
            <a:ext cx="1200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E78172"/>
                </a:solidFill>
                <a:latin typeface="Consolas"/>
                <a:ea typeface="Consolas"/>
              </a:rPr>
              <a:t>SUCCESS / BLOCKED / N.A.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4743450" y="4019550"/>
            <a:ext cx="1457325" cy="190500"/>
          </a:xfrm>
          <a:prstGeom prst="roundRect">
            <a:avLst>
              <a:gd name="adj" fmla="val 20000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829175" y="4057650"/>
            <a:ext cx="12858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见证链</a:t>
            </a:r>
            <a:r>
              <a:rPr lang="en-US" sz="713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 + </a:t>
            </a:r>
            <a:r>
              <a:rPr lang="zh-CN" sz="713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最近阻断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38850" y="2876550"/>
            <a:ext cx="2286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E78172">
                    <a:alpha val="80000"/>
                  </a:srgbClr>
                </a:solidFill>
                <a:latin typeface="Microsoft YaHei"/>
                <a:ea typeface="Microsoft YaHei"/>
              </a:rPr>
              <a:t>仅作为前置条件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9029700" y="1390650"/>
            <a:ext cx="2628900" cy="3314700"/>
          </a:xfrm>
          <a:prstGeom prst="roundRect">
            <a:avLst>
              <a:gd name="adj" fmla="val 3623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9201150" y="1562100"/>
            <a:ext cx="2286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OUTPUT / EVIDENCE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9201150" y="1790700"/>
            <a:ext cx="22860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2F7F8"/>
                </a:solidFill>
                <a:latin typeface="Microsoft YaHei"/>
                <a:ea typeface="Microsoft YaHei"/>
              </a:rPr>
              <a:t>可验证结果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9201150" y="2190750"/>
            <a:ext cx="2286000" cy="295275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zh-CN" sz="863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事件时间线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9201150" y="2486025"/>
            <a:ext cx="2286000" cy="295275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zh-CN" sz="863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代表链与见证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9201150" y="2781300"/>
            <a:ext cx="2286000" cy="295275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en-US" sz="863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A/B </a:t>
            </a:r>
            <a:r>
              <a:rPr lang="zh-CN" sz="863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指标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9201150" y="3076575"/>
            <a:ext cx="2286000" cy="295275"/>
          </a:xfrm>
          <a:prstGeom prst="rect"/>
        </p:spPr>
        <p:txBody>
          <a:bodyPr wrap="none" lIns="0" tIns="0" rIns="0" bIns="0"/>
          <a:p>
            <a:pPr>
              <a:lnSpc>
                <a:spcPct val="220000"/>
              </a:lnSpc>
            </a:pPr>
            <a:r>
              <a:rPr lang="zh-CN" sz="863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挑战判定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9201150" y="4314825"/>
            <a:ext cx="2286000" cy="228600"/>
          </a:xfrm>
          <a:custGeom>
            <a:pathLst>
              <a:path w="240" h="24">
                <a:moveTo>
                  <a:pt x="0" y="0"/>
                </a:moveTo>
                <a:lnTo>
                  <a:pt x="240" y="0"/>
                </a:lnTo>
                <a:lnTo>
                  <a:pt x="24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9201150" y="4419600"/>
            <a:ext cx="2286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 spc="60">
                <a:solidFill>
                  <a:srgbClr val="6BC8D1"/>
                </a:solidFill>
                <a:latin typeface="Consolas"/>
                <a:ea typeface="Consolas"/>
              </a:rPr>
              <a:t>可回放</a:t>
            </a:r>
            <a:r>
              <a:rPr lang="en-US" sz="713" spc="60">
                <a:solidFill>
                  <a:srgbClr val="6BC8D1"/>
                </a:solidFill>
                <a:latin typeface="Consolas"/>
                <a:ea typeface="Consolas"/>
              </a:rPr>
              <a:t> · </a:t>
            </a:r>
            <a:r>
              <a:rPr lang="zh-CN" sz="713" spc="60">
                <a:solidFill>
                  <a:srgbClr val="6BC8D1"/>
                </a:solidFill>
                <a:latin typeface="Consolas"/>
                <a:ea typeface="Consolas"/>
              </a:rPr>
              <a:t>可解释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533400" y="4876800"/>
            <a:ext cx="457200" cy="990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6450" b="1">
                <a:solidFill>
                  <a:srgbClr val="6BC8D1"/>
                </a:solidFill>
                <a:latin typeface="Consolas"/>
                <a:ea typeface="Consolas"/>
              </a:rPr>
              <a:t>≠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504950" y="4972050"/>
            <a:ext cx="3086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 spc="38">
                <a:solidFill>
                  <a:srgbClr val="F2F7F8"/>
                </a:solidFill>
                <a:latin typeface="Microsoft YaHei"/>
                <a:ea typeface="Microsoft YaHei"/>
              </a:rPr>
              <a:t>通信可达</a:t>
            </a:r>
            <a:r>
              <a:rPr lang="en-US" sz="2550" b="1" spc="38">
                <a:solidFill>
                  <a:srgbClr val="F2F7F8"/>
                </a:solidFill>
                <a:latin typeface="Microsoft YaHei"/>
                <a:ea typeface="Microsoft YaHei"/>
              </a:rPr>
              <a:t> ≠ </a:t>
            </a:r>
            <a:r>
              <a:rPr lang="zh-CN" sz="2550" b="1" spc="38">
                <a:solidFill>
                  <a:srgbClr val="F2F7F8"/>
                </a:solidFill>
                <a:latin typeface="Microsoft YaHei"/>
                <a:ea typeface="Microsoft YaHei"/>
              </a:rPr>
              <a:t>状态改变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504950" y="5467350"/>
            <a:ext cx="7239000" cy="2762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13">
                <a:solidFill>
                  <a:srgbClr val="F2F7F8">
                    <a:alpha val="60000"/>
                  </a:srgbClr>
                </a:solidFill>
                <a:latin typeface="Microsoft YaHei"/>
                <a:ea typeface="Microsoft YaHei"/>
              </a:rPr>
              <a:t>网络层只回答“能不能到达”；状态层还要检查来源范围、权限、教学条件与目标安全控制。通信放行不会自动改变目标状态。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877300" y="4876800"/>
            <a:ext cx="4095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2F7F8"/>
                </a:solidFill>
                <a:latin typeface="Consolas"/>
                <a:ea typeface="Consolas"/>
              </a:rPr>
              <a:t>8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877300" y="5248275"/>
            <a:ext cx="4095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MAX DEPTH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0077450" y="4876800"/>
            <a:ext cx="476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2F7F8"/>
                </a:solidFill>
                <a:latin typeface="Consolas"/>
                <a:ea typeface="Consolas"/>
              </a:rPr>
              <a:t>160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0077450" y="5248275"/>
            <a:ext cx="476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MAX STATES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1344275" y="4876800"/>
            <a:ext cx="3143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E78172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1344275" y="524827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RESULTS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10 / 28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82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03 / 核心机制&lt;/Text&gt;&#13;&#10;    &lt;/Box&gt;&#13;&#10;    &lt;Text style={{ position: 'absolute', left: 56, top: 62, fontFamily: 'Microsoft YaHei', fontSize: 31, fontWeight: 'bold', color: '#F2F7F8', letterSpacing: 0.5 }}&gt;三维沙盘：路径可以被追踪，而不是被想象&lt;/Text&gt;&#13;&#10;    &lt;Text style={{ position: 'absolute', right: 56, top: 76, fontFamily: 'Consolas', fontSize: 10.5, color: 'rgba(242,247,248,0.42)' }}&gt;THREE.JS · EVENT-DRIVEN&lt;/Text&gt;&#13;&#10;&#13;&#10;    &lt;Box style={{ position: 'absolute', left: 56, top: 150, width: 660, height: 310 }}&gt;&#13;&#10;        &lt;Image src=&quot;assets/lab_topology.png&quot; style={{ width: 660, height: 278, objectFit: 'cover', borderRadius: 8, border: '1px solid rgba(107,200,209,0.20)' }} /&gt;&#13;&#10;        &lt;Box style={{ position: 'absolute', left: 0, right: 0, bottom: 0, height: 32, paddingLeft: 12, paddingRight: 12, flexDirection: 'row', alignItems: 'center', justifyContent: 'space-between', background: 'rgba(7,17,27,0.84)', borderTop: '1px solid rgba(107,200,209,0.18)' }}&gt;&#13;&#10;            &lt;Text style={{ fontFamily: 'Consolas', fontSize: 9.5, color: 'rgba(242,247,248,0.58)', letterSpacing: 0.6 }}&gt;PC-01 → 应用服务 → 客户数据库&lt;/Text&gt;&#13;&#10;            &lt;Text style={{ fontFamily: 'Consolas', fontSize: 9.5, color: '#6BC8D1' }}&gt;STATE VIEW&lt;/Text&gt;&#13;&#10;        &lt;/Box&gt;&#13;&#10;    &lt;/Box&gt;&#13;&#10;&#13;&#10;    &lt;Box style={{ position: 'absolute', left: 748, top: 142, width: 476 }}&gt;&#13;&#10;        &lt;Box style={{ flexDirection: 'row', alignItems: 'flex-start', height: 86, borderTop: '1px solid rgba(242,247,248,0.10)' }}&gt;&#13;&#10;            &lt;Text style={{ width: 44, marginTop: 14, fontFamily: 'Consolas', fontSize: 10, color: '#6BC8D1' }}&gt;01&lt;/Text&gt;&#13;&#10;            &lt;Box style={{ width: 432 }}&gt;&#13;&#10;                &lt;Text style={{ marginTop: 12, fontFamily: 'Microsoft YaHei', fontSize: 14.5, fontWeight: 'bold', color: '#F2F7F8' }}&gt;空间语义&lt;/Text&gt;&#13;&#10;                &lt;Text style={{ marginTop: 4, fontFamily: 'Microsoft YaHei', fontSize: 11.5, color: 'rgba(242,247,248,0.54)', lineHeight: 1.65 }}&gt;区域体积、VLAN 色带与设备造型，先看懂“在哪、属于谁”。&lt;/Text&gt;&#13;&#10;            &lt;/Box&gt;&#13;&#10;        &lt;/Box&gt;&#13;&#10;        &lt;Box style={{ flexDirection: 'row', alignItems: 'flex-start', height: 86, borderTop: '1px solid rgba(242,247,248,0.10)' }}&gt;&#13;&#10;            &lt;Text style={{ width: 44, marginTop: 14, fontFamily: 'Consolas', fontSize: 10, color: '#6BC8D1' }}&gt;02&lt;/Text&gt;&#13;&#10;            &lt;Box style={{ width: 432 }}&gt;&#13;&#10;                &lt;Text style={{ marginTop: 12, fontFamily: 'Microsoft YaHei', fontSize: 14.5, fontWeight: 'bold', color: '#F2F7F8' }}&gt;直接操作&lt;/Text&gt;&#13;&#10;                &lt;Text style={{ marginTop: 4, fontFamily: 'Microsoft YaHei', fontSize: 11.5, color: 'rgba(242,247,248,0.54)', lineHeight: 1.65 }}&gt;拖动旋转、滚轮缩放、点选设备；节点位置可拖动重排。&lt;/Text&gt;&#13;&#10;            &lt;/Box&gt;&#13;&#10;        &lt;/Box&gt;&#13;&#10;        &lt;Box style={{ flexDirection: 'row', alignItems: 'flex-start', height: 86, borderTop: '1px solid rgba(242,247,248,0.10)' }}&gt;&#13;&#10;            &lt;Text style={{ width: 44, marginTop: 14, fontFamily: 'Consolas', fontSize: 10, color: '#6BC8D1' }}&gt;03&lt;/Text&gt;&#13;&#10;            &lt;Box style={{ width: 432 }}&gt;&#13;&#10;                &lt;Text style={{ marginTop: 12, fontFamily: 'Microsoft YaHei', fontSize: 14.5, fontWeight: 'bold', color: '#F2F7F8' }}&gt;路径可视化&lt;/Text&gt;&#13;&#10;                &lt;Text style={{ marginTop: 4, fontFamily: 'Microsoft YaHei', fontSize: 11.5, color: 'rgba(242,247,248,0.54)', lineHeight: 1.65 }}&gt;事件沿真实节点链流光；被阻断的位置单独标记，不画“猜出来”的线。&lt;/Text&gt;&#13;&#10;            &lt;/Box&gt;&#13;&#10;        &lt;/Box&gt;&#13;&#10;        &lt;Box style={{ flexDirection: 'row', alignItems: 'flex-start', height: 86, borderTop: '1px solid rgba(242,247,248,0.10)', borderBottom: '1px solid rgba(242,247,248,0.10)' }}&gt;&#13;&#10;            &lt;Text style={{ width: 44, marginTop: 14, fontFamily: 'Consolas', fontSize: 10, color: '#6BC8D1' }}&gt;04&lt;/Text&gt;&#13;&#10;            &lt;Box style={{ width: 432 }}&gt;&#13;&#10;                &lt;Text style={{ marginTop: 12, fontFamily: 'Microsoft YaHei', fontSize: 14.5, fontWeight: 'bold', color: '#F2F7F8' }}&gt;聚焦与复位&lt;/Text&gt;&#13;&#10;                &lt;Text style={{ marginTop: 4, fontFamily: 'Microsoft YaHei', fontSize: 11.5, color: 'rgba(242,247,248,0.54)', lineHeight: 1.65 }}&gt;一键适配视野、聚焦代表链、恢复拓扑布局；标签按视距分级并自动避让。&lt;/Text&gt;&#13;&#10;            &lt;/Box&gt;&#13;&#10;        &lt;/Box&gt;&#13;&#10;    &lt;/Box&gt;&#13;&#10;&#13;&#10;    &lt;Box style={{ position: 'absolute', left: 56, top: 500, width: 1168, paddingTop: 12, borderTop: '1px solid rgba(107,200,209,0.22)' }}&gt;&#13;&#10;        &lt;Text style={{ fontFamily: 'Consolas', fontSize: 10, color: '#6BC8D1', letterSpacing: 1.2 }}&gt;RENDERING RULE&lt;/Text&gt;&#13;&#10;        &lt;Text style={{ marginTop: 6, fontFamily: 'Microsoft YaHei', fontSize: 12.5, color: 'rgba(242,247,248,0.54)' }}&gt;动画只消费事件携带的路径与节点；三维层不参与判定，也不自行编造连接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1 / 2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核心机制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5705475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三维沙盘：路径可以被追踪，而不是被想象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0391775" y="723900"/>
            <a:ext cx="1266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THREE.JS · EVENT-DRIVEN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533400" y="1428750"/>
            <a:ext cx="6286500" cy="2647950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9" name=""/>
          <p:cNvPicPr>
            <a:picLocks noChangeAspect="1"/>
          </p:cNvPicPr>
          <p:nvPr/>
        </p:nvPicPr>
        <p:blipFill>
          <a:blip r:embed="rId2"/>
          <a:srcRect l="65" t="0" r="65" b="0"/>
          <a:stretch>
            <a:fillRect/>
          </a:stretch>
        </p:blipFill>
        <p:spPr>
          <a:xfrm rot="0" flipH="0" flipV="0">
            <a:off x="533400" y="1428750"/>
            <a:ext cx="6286500" cy="2647950"/>
          </a:xfrm>
          <a:prstGeom prst="roundRect">
            <a:avLst>
              <a:gd name="adj" fmla="val 2878"/>
            </a:avLst>
          </a:prstGeom>
          <a:ln/>
        </p:spPr>
      </p:pic>
      <p:sp>
        <p:nvSpPr>
          <p:cNvPr id="90" name=""/>
          <p:cNvSpPr/>
          <p:nvPr/>
        </p:nvSpPr>
        <p:spPr>
          <a:xfrm rot="0" flipH="0" flipV="0">
            <a:off x="533400" y="4086225"/>
            <a:ext cx="6286500" cy="295275"/>
          </a:xfrm>
          <a:prstGeom prst="rect">
            <a:avLst/>
          </a:prstGeom>
          <a:solidFill>
            <a:srgbClr val="07111B">
              <a:alpha val="84000"/>
            </a:srgbClr>
          </a:solidFill>
          <a:ln/>
        </p:spPr>
        <p:txBody>
          <a:bodyPr/>
          <a:p/>
        </p:txBody>
      </p:sp>
      <p:sp>
        <p:nvSpPr>
          <p:cNvPr id="91" name=""/>
          <p:cNvSpPr/>
          <p:nvPr/>
        </p:nvSpPr>
        <p:spPr>
          <a:xfrm rot="0" flipH="0" flipV="0">
            <a:off x="533400" y="4076700"/>
            <a:ext cx="6286500" cy="304800"/>
          </a:xfrm>
          <a:custGeom>
            <a:pathLst>
              <a:path w="660" h="32">
                <a:moveTo>
                  <a:pt x="0" y="0"/>
                </a:moveTo>
                <a:lnTo>
                  <a:pt x="660" y="0"/>
                </a:lnTo>
                <a:lnTo>
                  <a:pt x="660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18000"/>
            </a:srgbClr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47700" y="4181475"/>
            <a:ext cx="21240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45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PC-01 → </a:t>
            </a:r>
            <a:r>
              <a:rPr lang="zh-CN" sz="713" spc="45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应用服务</a:t>
            </a:r>
            <a:r>
              <a:rPr lang="en-US" sz="713" spc="45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 → </a:t>
            </a:r>
            <a:r>
              <a:rPr lang="zh-CN" sz="713" spc="45">
                <a:solidFill>
                  <a:srgbClr val="F2F7F8">
                    <a:alpha val="58000"/>
                  </a:srgbClr>
                </a:solidFill>
                <a:latin typeface="Consolas"/>
                <a:ea typeface="Consolas"/>
              </a:rPr>
              <a:t>客户数据库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200775" y="4181475"/>
            <a:ext cx="504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STATE VIEW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7124700" y="1352550"/>
            <a:ext cx="4533900" cy="819150"/>
          </a:xfrm>
          <a:custGeom>
            <a:pathLst>
              <a:path w="476" h="86">
                <a:moveTo>
                  <a:pt x="0" y="0"/>
                </a:moveTo>
                <a:lnTo>
                  <a:pt x="476" y="0"/>
                </a:lnTo>
                <a:lnTo>
                  <a:pt x="476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7124700" y="14954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543800" y="1476375"/>
            <a:ext cx="411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空间语义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7543800" y="1685925"/>
            <a:ext cx="41148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区域体积、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VLAN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色带与设备造型，先看懂“在哪、属于谁”。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7124700" y="2171700"/>
            <a:ext cx="4533900" cy="819150"/>
          </a:xfrm>
          <a:custGeom>
            <a:pathLst>
              <a:path w="476" h="86">
                <a:moveTo>
                  <a:pt x="0" y="0"/>
                </a:moveTo>
                <a:lnTo>
                  <a:pt x="476" y="0"/>
                </a:lnTo>
                <a:lnTo>
                  <a:pt x="476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124700" y="23145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543800" y="2295525"/>
            <a:ext cx="411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直接操作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543800" y="2505075"/>
            <a:ext cx="41148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拖动旋转、滚轮缩放、点选设备；节点位置可拖动重排。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7124700" y="2990850"/>
            <a:ext cx="4533900" cy="819150"/>
          </a:xfrm>
          <a:custGeom>
            <a:pathLst>
              <a:path w="476" h="86">
                <a:moveTo>
                  <a:pt x="0" y="0"/>
                </a:moveTo>
                <a:lnTo>
                  <a:pt x="476" y="0"/>
                </a:lnTo>
                <a:lnTo>
                  <a:pt x="476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7124700" y="31337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543800" y="3114675"/>
            <a:ext cx="411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路径可视化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543800" y="3324225"/>
            <a:ext cx="41148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事件沿真实节点链流光；被阻断的位置单独标记，不画“猜出来”的线。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7124700" y="3810000"/>
            <a:ext cx="4533900" cy="819150"/>
          </a:xfrm>
          <a:custGeom>
            <a:pathLst>
              <a:path w="476" h="86">
                <a:moveTo>
                  <a:pt x="0" y="0"/>
                </a:moveTo>
                <a:lnTo>
                  <a:pt x="476" y="0"/>
                </a:lnTo>
                <a:lnTo>
                  <a:pt x="476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7124700" y="3810000"/>
            <a:ext cx="4533900" cy="819150"/>
          </a:xfrm>
          <a:custGeom>
            <a:pathLst>
              <a:path w="476" h="86">
                <a:moveTo>
                  <a:pt x="0" y="85"/>
                </a:moveTo>
                <a:lnTo>
                  <a:pt x="476" y="85"/>
                </a:lnTo>
                <a:lnTo>
                  <a:pt x="476" y="86"/>
                </a:lnTo>
                <a:lnTo>
                  <a:pt x="0" y="86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124700" y="39528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543800" y="3933825"/>
            <a:ext cx="411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聚焦与复位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543800" y="4143375"/>
            <a:ext cx="41148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一键适配视野、聚焦代表链、恢复拓扑布局；标签按视距分级并自动避让。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533400" y="4762500"/>
            <a:ext cx="11125200" cy="447675"/>
          </a:xfrm>
          <a:custGeom>
            <a:pathLst>
              <a:path w="1168" h="47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22000"/>
            </a:srgbClr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33400" y="4886325"/>
            <a:ext cx="111252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90">
                <a:solidFill>
                  <a:srgbClr val="6BC8D1"/>
                </a:solidFill>
                <a:latin typeface="Consolas"/>
                <a:ea typeface="Consolas"/>
              </a:rPr>
              <a:t>RENDERING RULE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533400" y="5057775"/>
            <a:ext cx="11125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动画只消费事件携带的路径与节点；三维层不参与判定，也不自行编造连接。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11 / 28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17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03 / 核心机制&lt;/Text&gt;&#13;&#10;    &lt;/Box&gt;&#13;&#10;    &lt;Text style={{ position: 'absolute', left: 56, top: 62, fontFamily: 'Microsoft YaHei', fontSize: 32, fontWeight: 'bold', color: '#F2F7F8', letterSpacing: 0.5 }}&gt;策略工作台：顺序就是语义&lt;/Text&gt;&#13;&#10;    &lt;Text style={{ position: 'absolute', right: 56, top: 76, fontFamily: 'Consolas', fontSize: 10.5, color: 'rgba(242,247,248,0.42)' }}&gt;FIRST MATCH · DEFAULT DENY&lt;/Text&gt;&#13;&#10;&#13;&#10;    &lt;Box style={{ position: 'absolute', left: 56, top: 140, width: 440 }}&gt;&#13;&#10;        &lt;Box style={{ flexDirection: 'row', justifyContent: 'space-between', alignItems: 'center' }}&gt;&#13;&#10;            &lt;Text style={{ fontFamily: 'Consolas', fontSize: 9.5, color: '#6BC8D1', letterSpacing: 1.2 }}&gt;INTERNAL FIREWALL / RULES&lt;/Text&gt;&#13;&#10;            &lt;Text style={{ fontFamily: 'Consolas', fontSize: 9.5, color: 'rgba(242,247,248,0.38)' }}&gt;Default DENY&lt;/Text&gt;&#13;&#10;        &lt;/Box&gt;&#13;&#10;&#13;&#10;        &lt;Box style={{ marginTop: 14, height: 62, paddingLeft: 12, paddingRight: 12, flexDirection: 'row', alignItems: 'center', background: 'rgba(107,200,209,0.09)', border: '1px solid rgba(107,200,209,0.32)', borderRadius: 6 }}&gt;&#13;&#10;            &lt;Text style={{ width: 30, fontFamily: 'Consolas', fontSize: 12, color: '#6BC8D1' }}&gt;10&lt;/Text&gt;&#13;&#10;            &lt;Box style={{ width: 54, paddingTop: 3, paddingBottom: 3, alignItems: 'center', background: 'rgba(107,200,209,0.16)', borderRadius: 3 }}&gt;&#13;&#10;                &lt;Text style={{ fontFamily: 'Consolas', fontSize: 9, color: '#6BC8D1' }}&gt;ALLOW&lt;/Text&gt;&#13;&#10;            &lt;/Box&gt;&#13;&#10;            &lt;Box style={{ marginLeft: 10, width: 250 }}&gt;&#13;&#10;                &lt;Text style={{ fontFamily: 'Microsoft YaHei', fontSize: 12, fontWeight: 'bold', color: '#F2F7F8' }}&gt;应用服务 → 客户数据库&lt;/Text&gt;&#13;&#10;                &lt;Text style={{ marginTop: 3, fontFamily: 'Consolas', fontSize: 9.5, color: 'rgba(242,247,248,0.48)' }}&gt;DATABASE · 应用业务&lt;/Text&gt;&#13;&#10;            &lt;/Box&gt;&#13;&#10;            &lt;Text style={{ marginLeft: 'auto', fontFamily: 'Microsoft YaHei', fontSize: 9.5, color: '#6BC8D1' }}&gt;命中&lt;/Text&gt;&#13;&#10;        &lt;/Box&gt;&#13;&#10;&#13;&#10;        &lt;Box style={{ marginTop: 8, height: 62, paddingLeft: 12, paddingRight: 12, flexDirection: 'row', alignItems: 'center', background: 'rgba(242,247,248,0.03)', border: '1px solid rgba(242,247,248,0.10)', borderRadius: 6 }}&gt;&#13;&#10;            &lt;Text style={{ width: 30, fontFamily: 'Consolas', fontSize: 12, color: 'rgba(242,247,248,0.52)' }}&gt;20&lt;/Text&gt;&#13;&#10;            &lt;Box style={{ width: 54, paddingTop: 3, paddingBottom: 3, alignItems: 'center', background: 'rgba(242,247,248,0.06)', borderRadius: 3 }}&gt;&#13;&#10;                &lt;Text style={{ fontFamily: 'Consolas', fontSize: 9, color: 'rgba(242,247,248,0.70)' }}&gt;ALLOW&lt;/Text&gt;&#13;&#10;            &lt;/Box&gt;&#13;&#10;            &lt;Box style={{ marginLeft: 10, width: 250 }}&gt;&#13;&#10;                &lt;Text style={{ fontFamily: 'Microsoft YaHei', fontSize: 12, fontWeight: 'bold', color: 'rgba(242,247,248,0.86)' }}&gt;办公区 → 客户数据库&lt;/Text&gt;&#13;&#10;                &lt;Text style={{ marginTop: 3, fontFamily: 'Consolas', fontSize: 9.5, color: 'rgba(231,129,114,0.80)' }}&gt;DATABASE · 顺序错误&lt;/Text&gt;&#13;&#10;            &lt;/Box&gt;&#13;&#10;        &lt;/Box&gt;&#13;&#10;&#13;&#10;        &lt;Box style={{ marginTop: 8, height: 62, paddingLeft: 12, paddingRight: 12, flexDirection: 'row', alignItems: 'center', background: 'rgba(242,247,248,0.03)', border: '1px solid rgba(242,247,248,0.10)', borderRadius: 6 }}&gt;&#13;&#10;            &lt;Text style={{ width: 30, fontFamily: 'Consolas', fontSize: 12, color: 'rgba(242,247,248,0.52)' }}&gt;25&lt;/Text&gt;&#13;&#10;            &lt;Box style={{ width: 54, paddingTop: 3, paddingBottom: 3, alignItems: 'center', background: 'rgba(242,247,248,0.06)', borderRadius: 3 }}&gt;&#13;&#10;                &lt;Text style={{ fontFamily: 'Consolas', fontSize: 9, color: 'rgba(242,247,248,0.70)' }}&gt;ALLOW&lt;/Text&gt;&#13;&#10;            &lt;/Box&gt;&#13;&#10;            &lt;Box style={{ marginLeft: 10, width: 250 }}&gt;&#13;&#10;                &lt;Text style={{ fontFamily: 'Microsoft YaHei', fontSize: 12, fontWeight: 'bold', color: 'rgba(242,247,248,0.86)' }}&gt;办公区 → 应用服务&lt;/Text&gt;&#13;&#10;                &lt;Text style={{ marginTop: 3, fontFamily: 'Consolas', fontSize: 9.5, color: 'rgba(242,247,248,0.48)' }}&gt;WEB · 教学路径&lt;/Text&gt;&#13;&#10;            &lt;/Box&gt;&#13;&#10;        &lt;/Box&gt;&#13;&#10;&#13;&#10;        &lt;Box style={{ marginTop: 8, height: 62, paddingLeft: 12, paddingRight: 12, flexDirection: 'row', alignItems: 'center', background: 'rgba(231,129,114,0.035)', border: '1px solid rgba(231,129,114,0.22)', borderRadius: 6 }}&gt;&#13;&#10;            &lt;Text style={{ width: 30, fontFamily: 'Consolas', fontSize: 12, color: 'rgba(242,247,248,0.52)' }}&gt;30&lt;/Text&gt;&#13;&#10;            &lt;Box style={{ width: 54, paddingTop: 3, paddingBottom: 3, alignItems: 'center', background: 'rgba(231,129,114,0.10)', borderRadius: 3 }}&gt;&#13;&#10;                &lt;Text style={{ fontFamily: 'Consolas', fontSize: 9, color: '#E78172' }}&gt;DENY&lt;/Text&gt;&#13;&#10;            &lt;/Box&gt;&#13;&#10;            &lt;Box style={{ marginLeft: 10, width: 250 }}&gt;&#13;&#10;                &lt;Text style={{ fontFamily: 'Microsoft YaHei', fontSize: 12, fontWeight: 'bold', color: 'rgba(242,247,248,0.86)' }}&gt;办公区 → 数据库区&lt;/Text&gt;&#13;&#10;                &lt;Text style={{ marginTop: 3, fontFamily: 'Consolas', fontSize: 9.5, color: 'rgba(242,247,248,0.48)' }}&gt;ANY · 永远到不了&lt;/Text&gt;&#13;&#10;            &lt;/Box&gt;&#13;&#10;        &lt;/Box&gt;&#13;&#10;&#13;&#10;        &lt;Box style={{ marginTop: 14, paddingLeft: 12, borderLeft: '2px solid #6BC8D1' }}&gt;&#13;&#10;            &lt;Text style={{ fontFamily: 'Microsoft YaHei', fontSize: 11.5, color: 'rgba(242,247,248,0.58)', lineHeight: 1.7 }}&gt;&#13;&#10;                第 1 条命中即停止；第 30 条的拒绝不会被检查。&lt;br /&gt;规则的“位置”，本身就是策略的一部分。&#13;&#10;            &lt;/Text&gt;&#13;&#10;        &lt;/Box&gt;&#13;&#10;    &lt;/Box&gt;&#13;&#10;&#13;&#10;    &lt;Box style={{ position: 'absolute', left: 536, top: 140, width: 688 }}&gt;&#13;&#10;        &lt;Box style={{ flexDirection: 'row', alignItems: 'flex-start', height: 78, borderTop: '1px solid rgba(242,247,248,0.10)' }}&gt;&#13;&#10;            &lt;Text style={{ width: 42, marginTop: 12, fontFamily: 'Consolas', fontSize: 10, color: '#6BC8D1' }}&gt;01&lt;/Text&gt;&#13;&#10;            &lt;Box style={{ width: 630 }}&gt;&#13;&#10;                &lt;Text style={{ marginTop: 10, fontFamily: 'Microsoft YaHei', fontSize: 14.5, fontWeight: 'bold', color: '#F2F7F8' }}&gt;规则可编辑&lt;/Text&gt;&#13;&#10;                &lt;Text style={{ marginTop: 3, fontFamily: 'Microsoft YaHei', fontSize: 11.5, color: 'rgba(242,247,248,0.54)', lineHeight: 1.65 }}&gt;新增、删除、上移、下移、启停；来源与目标支持 ANY / ZONE / NODE 三种粒度。&lt;/Text&gt;&#13;&#10;            &lt;/Box&gt;&#13;&#10;        &lt;/Box&gt;&#13;&#10;        &lt;Box style={{ flexDirection: 'row', alignItems: 'flex-start', height: 78, borderTop: '1px solid rgba(242,247,248,0.10)' }}&gt;&#13;&#10;            &lt;Text style={{ width: 42, marginTop: 12, fontFamily: 'Consolas', fontSize: 10, color: '#6BC8D1' }}&gt;02&lt;/Text&gt;&#13;&#10;            &lt;Box style={{ width: 630 }}&gt;&#13;&#10;                &lt;Text style={{ marginTop: 10, fontFamily: 'Microsoft YaHei', fontSize: 14.5, fontWeight: 'bold', color: '#F2F7F8' }}&gt;判定可追溯&lt;/Text&gt;&#13;&#10;                &lt;Text style={{ marginTop: 3, fontFamily: 'Microsoft YaHei', fontSize: 11.5, color: 'rgba(242,247,248,0.54)', lineHeight: 1.65 }}&gt;通信 → Firewall → 规则 → 结果；命中规则、阻断位置与前后状态都写进事件。&lt;/Text&gt;&#13;&#10;            &lt;/Box&gt;&#13;&#10;        &lt;/Box&gt;&#13;&#10;        &lt;Box style={{ flexDirection: 'row', alignItems: 'flex-start', height: 78, borderTop: '1px solid rgba(242,247,248,0.10)' }}&gt;&#13;&#10;            &lt;Text style={{ width: 42, marginTop: 12, fontFamily: 'Consolas', fontSize: 10, color: '#6BC8D1' }}&gt;03&lt;/Text&gt;&#13;&#10;            &lt;Box style={{ width: 630 }}&gt;&#13;&#10;                &lt;Text style={{ marginTop: 10, fontFamily: 'Microsoft YaHei', fontSize: 14.5, fontWeight: 'bold', color: '#F2F7F8' }}&gt;失效可感知&lt;/Text&gt;&#13;&#10;                &lt;Text style={{ marginTop: 3, fontFamily: 'Microsoft YaHei', fontSize: 11.5, color: 'rgba(242,247,248,0.54)', lineHeight: 1.65 }}&gt;拓扑、策略或安全控制一变，上一轮结果立即标记过期；只改布局不会误触发。&lt;/Text&gt;&#13;&#10;            &lt;/Box&gt;&#13;&#10;        &lt;/Box&gt;&#13;&#10;        &lt;Box style={{ flexDirection: 'row', alignItems: 'flex-start', height: 78, borderTop: '1px solid rgba(242,247,248,0.10)', borderBottom: '1px solid rgba(242,247,248,0.10)' }}&gt;&#13;&#10;            &lt;Text style={{ width: 42, marginTop: 12, fontFamily: 'Consolas', fontSize: 10, color: '#6BC8D1' }}&gt;04&lt;/Text&gt;&#13;&#10;            &lt;Box style={{ width: 630 }}&gt;&#13;&#10;                &lt;Text style={{ marginTop: 10, fontFamily: 'Microsoft YaHei', fontSize: 14.5, fontWeight: 'bold', color: '#F2F7F8' }}&gt;默认拒绝&lt;/Text&gt;&#13;&#10;                &lt;Text style={{ marginTop: 3, fontFamily: 'Microsoft YaHei', fontSize: 11.5, color: 'rgba(242,247,248,0.54)', lineHeight: 1.65 }}&gt;没有规则命中时使用本机 Default Policy；系统不提供“默认放行”的捷径。&lt;/Text&gt;&#13;&#10;            &lt;/Box&gt;&#13;&#10;        &lt;/Box&gt;&#13;&#10;&#13;&#10;        &lt;Box style={{ marginTop: 26, padding: 16, background: 'rgba(107,200,209,0.055)', borderLeft: '2px solid #6BC8D1' }}&gt;&#13;&#10;            &lt;Text style={{ fontFamily: 'Microsoft YaHei', fontSize: 16, fontWeight: 'bold', color: 'rgba(242,247,248,0.88)', lineHeight: 1.6 }}&gt;&#13;&#10;                不是规则越多越安全，&lt;br /&gt;而是顺序与作用域共同决定结果。&#13;&#10;            &lt;/Text&gt;&#13;&#10;        &lt;/Box&gt;&#13;&#10;    &lt;/Box&gt;&#13;&#10;&#13;&#10;    &lt;Box style={{ position: 'absolute', left: 56, top: 552, width: 1168, paddingTop: 14, borderTop: '1px solid rgba(242,247,248,0.10)' }}&gt;&#13;&#10;        &lt;Box style={{ flexDirection: 'row', alignItems: 'center', gap: 12 }}&gt;&#13;&#10;            &lt;Text style={{ width: 90, fontFamily: 'Consolas', fontSize: 9, color: 'rgba(242,247,248,0.34)', letterSpacing: 1 }}&gt;STATE FLOW&lt;/Text&gt;&#13;&#10;            &lt;Box style={{ width: 168, paddingLeft: 12, paddingRight: 12, paddingTop: 8, paddingBottom: 8, border: '1px solid rgba(242,247,248,0.12)', borderRadius: 4 }}&gt;&#13;&#10;                &lt;Text style={{ fontFamily: 'Microsoft YaHei', fontSize: 11, color: 'rgba(242,247,248,0.62)' }}&gt;改一条规则&lt;/Text&gt;&#13;&#10;            &lt;/Box&gt;&#13;&#10;            &lt;Text style={{ fontFamily: 'Consolas', fontSize: 13, color: 'rgba(107,200,209,0.55)' }}&gt;→&lt;/Text&gt;&#13;&#10;            &lt;Box style={{ width: 168, paddingLeft: 12, paddingRight: 12, paddingTop: 8, paddingBottom: 8, border: '1px solid rgba(231,129,114,0.24)', borderRadius: 4 }}&gt;&#13;&#10;                &lt;Text style={{ fontFamily: 'Microsoft YaHei', fontSize: 11, color: '#E78172' }}&gt;上一轮结果过期&lt;/Text&gt;&#13;&#10;            &lt;/Box&gt;&#13;&#10;            &lt;Text style={{ fontFamily: 'Consolas', fontSize: 13, color: 'rgba(107,200,209,0.55)' }}&gt;→&lt;/Text&gt;&#13;&#10;            &lt;Box style={{ width: 168, paddingLeft: 12, paddingRight: 12, paddingTop: 8, paddingBottom: 8, border: '1px solid rgba(107,200,209,0.26)', borderRadius: 4, background: 'rgba(107,200,209,0.06)' }}&gt;&#13;&#10;                &lt;Text style={{ fontFamily: 'Microsoft YaHei', fontSize: 11, color: '#6BC8D1' }}&gt;重新验证&lt;/Text&gt;&#13;&#10;            &lt;/Box&gt;&#13;&#10;            &lt;Text style={{ fontFamily: 'Consolas', fontSize: 13, color: 'rgba(107,200,209,0.55)' }}&gt;→&lt;/Text&gt;&#13;&#10;            &lt;Box style={{ width: 208, paddingLeft: 12, paddingRight: 12, paddingTop: 8, paddingBottom: 8, border: '1px solid rgba(242,247,248,0.12)', borderRadius: 4 }}&gt;&#13;&#10;                &lt;Text style={{ fontFamily: 'Microsoft YaHei', fontSize: 11, color: 'rgba(242,247,248,0.62)' }}&gt;新事件 / 新指标&lt;/Text&gt;&#13;&#10;            &lt;/Box&gt;&#13;&#10;        &lt;/Box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2 / 2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1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核心机制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37147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策略工作台：顺序就是语义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0220325" y="723900"/>
            <a:ext cx="14382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FIRST MATCH · DEFAULT DENY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533400" y="1333500"/>
            <a:ext cx="15335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INTERNAL FIREWALL / RULES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124325" y="1333500"/>
            <a:ext cx="6000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Default DENY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533400" y="1581150"/>
            <a:ext cx="4191000" cy="590550"/>
          </a:xfrm>
          <a:prstGeom prst="roundRect">
            <a:avLst>
              <a:gd name="adj" fmla="val 9677"/>
            </a:avLst>
          </a:prstGeom>
          <a:solidFill>
            <a:srgbClr val="6BC8D1">
              <a:alpha val="9000"/>
            </a:srgbClr>
          </a:solidFill>
          <a:ln w="12700">
            <a:solidFill>
              <a:srgbClr val="6BC8D1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47700" y="180975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C8D1"/>
                </a:solidFill>
                <a:latin typeface="Consolas"/>
                <a:ea typeface="Consolas"/>
              </a:rPr>
              <a:t>10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933450" y="1800225"/>
            <a:ext cx="514350" cy="161925"/>
          </a:xfrm>
          <a:prstGeom prst="roundRect">
            <a:avLst>
              <a:gd name="adj" fmla="val 17647"/>
            </a:avLst>
          </a:prstGeom>
          <a:solidFill>
            <a:srgbClr val="6BC8D1">
              <a:alpha val="16000"/>
            </a:srgbClr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076325" y="1828800"/>
            <a:ext cx="2381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ALLOW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543050" y="1733550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2F7F8"/>
                </a:solidFill>
                <a:latin typeface="Microsoft YaHei"/>
                <a:ea typeface="Microsoft YaHei"/>
              </a:rPr>
              <a:t>应用服务</a:t>
            </a:r>
            <a:r>
              <a:rPr lang="en-US" sz="900" b="1">
                <a:solidFill>
                  <a:srgbClr val="F2F7F8"/>
                </a:solidFill>
                <a:latin typeface="Microsoft YaHei"/>
                <a:ea typeface="Microsoft YaHei"/>
              </a:rPr>
              <a:t> → </a:t>
            </a:r>
            <a:r>
              <a:rPr lang="zh-CN" sz="900" b="1">
                <a:solidFill>
                  <a:srgbClr val="F2F7F8"/>
                </a:solidFill>
                <a:latin typeface="Microsoft YaHei"/>
                <a:ea typeface="Microsoft YaHei"/>
              </a:rPr>
              <a:t>客户数据库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543050" y="1905000"/>
            <a:ext cx="2381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DATABASE · </a:t>
            </a:r>
            <a:r>
              <a:rPr lang="zh-CN" sz="713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应用业务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4429125" y="1819275"/>
            <a:ext cx="180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6BC8D1"/>
                </a:solidFill>
                <a:latin typeface="Microsoft YaHei"/>
                <a:ea typeface="Microsoft YaHei"/>
              </a:rPr>
              <a:t>命中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533400" y="2247900"/>
            <a:ext cx="4191000" cy="590550"/>
          </a:xfrm>
          <a:prstGeom prst="roundRect">
            <a:avLst>
              <a:gd name="adj" fmla="val 9677"/>
            </a:avLst>
          </a:prstGeom>
          <a:solidFill>
            <a:srgbClr val="F2F7F8">
              <a:alpha val="3000"/>
            </a:srgbClr>
          </a:soli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47700" y="24765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2F7F8">
                    <a:alpha val="52000"/>
                  </a:srgbClr>
                </a:solidFill>
                <a:latin typeface="Consolas"/>
                <a:ea typeface="Consolas"/>
              </a:rPr>
              <a:t>20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933450" y="2466975"/>
            <a:ext cx="514350" cy="161925"/>
          </a:xfrm>
          <a:prstGeom prst="roundRect">
            <a:avLst>
              <a:gd name="adj" fmla="val 17647"/>
            </a:avLst>
          </a:prstGeom>
          <a:solidFill>
            <a:srgbClr val="F2F7F8">
              <a:alpha val="6000"/>
            </a:srgbClr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076325" y="2495550"/>
            <a:ext cx="2381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70000"/>
                  </a:srgbClr>
                </a:solidFill>
                <a:latin typeface="Consolas"/>
                <a:ea typeface="Consolas"/>
              </a:rPr>
              <a:t>ALLOW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543050" y="2400300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办公区</a:t>
            </a:r>
            <a:r>
              <a:rPr lang="en-US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客户数据库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543050" y="2571750"/>
            <a:ext cx="2381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E78172">
                    <a:alpha val="80000"/>
                  </a:srgbClr>
                </a:solidFill>
                <a:latin typeface="Consolas"/>
                <a:ea typeface="Consolas"/>
              </a:rPr>
              <a:t>DATABASE · </a:t>
            </a:r>
            <a:r>
              <a:rPr lang="zh-CN" sz="713">
                <a:solidFill>
                  <a:srgbClr val="E78172">
                    <a:alpha val="80000"/>
                  </a:srgbClr>
                </a:solidFill>
                <a:latin typeface="Consolas"/>
                <a:ea typeface="Consolas"/>
              </a:rPr>
              <a:t>顺序错误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533400" y="2914650"/>
            <a:ext cx="4191000" cy="590550"/>
          </a:xfrm>
          <a:prstGeom prst="roundRect">
            <a:avLst>
              <a:gd name="adj" fmla="val 9677"/>
            </a:avLst>
          </a:prstGeom>
          <a:solidFill>
            <a:srgbClr val="F2F7F8">
              <a:alpha val="3000"/>
            </a:srgbClr>
          </a:soli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47700" y="314325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2F7F8">
                    <a:alpha val="52000"/>
                  </a:srgbClr>
                </a:solidFill>
                <a:latin typeface="Consolas"/>
                <a:ea typeface="Consolas"/>
              </a:rPr>
              <a:t>25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933450" y="3133725"/>
            <a:ext cx="514350" cy="161925"/>
          </a:xfrm>
          <a:prstGeom prst="roundRect">
            <a:avLst>
              <a:gd name="adj" fmla="val 17647"/>
            </a:avLst>
          </a:prstGeom>
          <a:solidFill>
            <a:srgbClr val="F2F7F8">
              <a:alpha val="6000"/>
            </a:srgbClr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076325" y="3162300"/>
            <a:ext cx="2381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70000"/>
                  </a:srgbClr>
                </a:solidFill>
                <a:latin typeface="Consolas"/>
                <a:ea typeface="Consolas"/>
              </a:rPr>
              <a:t>ALLOW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543050" y="3067050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办公区</a:t>
            </a:r>
            <a:r>
              <a:rPr lang="en-US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应用服务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543050" y="3238500"/>
            <a:ext cx="2381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WEB · </a:t>
            </a:r>
            <a:r>
              <a:rPr lang="zh-CN" sz="713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教学路径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533400" y="3581400"/>
            <a:ext cx="4191000" cy="590550"/>
          </a:xfrm>
          <a:prstGeom prst="roundRect">
            <a:avLst>
              <a:gd name="adj" fmla="val 9677"/>
            </a:avLst>
          </a:prstGeom>
          <a:solidFill>
            <a:srgbClr val="E78172">
              <a:alpha val="3500"/>
            </a:srgbClr>
          </a:solidFill>
          <a:ln w="12700">
            <a:solidFill>
              <a:srgbClr val="E78172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47700" y="3810000"/>
            <a:ext cx="285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2F7F8">
                    <a:alpha val="52000"/>
                  </a:srgbClr>
                </a:solidFill>
                <a:latin typeface="Consolas"/>
                <a:ea typeface="Consolas"/>
              </a:rPr>
              <a:t>30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933450" y="3800475"/>
            <a:ext cx="514350" cy="161925"/>
          </a:xfrm>
          <a:prstGeom prst="roundRect">
            <a:avLst>
              <a:gd name="adj" fmla="val 17647"/>
            </a:avLst>
          </a:prstGeom>
          <a:solidFill>
            <a:srgbClr val="E78172">
              <a:alpha val="10000"/>
            </a:srgbClr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095375" y="3829050"/>
            <a:ext cx="1905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E78172"/>
                </a:solidFill>
                <a:latin typeface="Consolas"/>
                <a:ea typeface="Consolas"/>
              </a:rPr>
              <a:t>DENY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543050" y="3733800"/>
            <a:ext cx="2381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办公区</a:t>
            </a:r>
            <a:r>
              <a:rPr lang="en-US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900" b="1">
                <a:solidFill>
                  <a:srgbClr val="F2F7F8">
                    <a:alpha val="86000"/>
                  </a:srgbClr>
                </a:solidFill>
                <a:latin typeface="Microsoft YaHei"/>
                <a:ea typeface="Microsoft YaHei"/>
              </a:rPr>
              <a:t>数据库区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543050" y="3905250"/>
            <a:ext cx="2381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ANY · </a:t>
            </a:r>
            <a:r>
              <a:rPr lang="zh-CN" sz="713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永远到不了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533400" y="4305300"/>
            <a:ext cx="4210050" cy="447675"/>
          </a:xfrm>
          <a:custGeom>
            <a:pathLst>
              <a:path w="442" h="47">
                <a:moveTo>
                  <a:pt x="0" y="0"/>
                </a:moveTo>
                <a:lnTo>
                  <a:pt x="2" y="0"/>
                </a:lnTo>
                <a:lnTo>
                  <a:pt x="2" y="47"/>
                </a:lnTo>
                <a:lnTo>
                  <a:pt x="0" y="47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66750" y="4305300"/>
            <a:ext cx="4057650" cy="4476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第</a:t>
            </a:r>
            <a:r>
              <a:rPr lang="en-US" sz="86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1 </a:t>
            </a:r>
            <a:r>
              <a:rPr lang="zh-CN" sz="86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条命中即停止；第</a:t>
            </a:r>
            <a:r>
              <a:rPr lang="en-US" sz="86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30 </a:t>
            </a:r>
            <a:r>
              <a:rPr lang="zh-CN" sz="86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条的拒绝不会被检查。</a:t>
            </a:r>
            <a:endParaRPr/>
          </a:p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规则的“位置”，本身就是策略的一部分。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5105400" y="1333500"/>
            <a:ext cx="6553200" cy="742950"/>
          </a:xfrm>
          <a:custGeom>
            <a:pathLst>
              <a:path w="688" h="78">
                <a:moveTo>
                  <a:pt x="0" y="0"/>
                </a:moveTo>
                <a:lnTo>
                  <a:pt x="688" y="0"/>
                </a:lnTo>
                <a:lnTo>
                  <a:pt x="68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105400" y="1457325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505450" y="1438275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规则可编辑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505450" y="1638300"/>
            <a:ext cx="600075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新增、删除、上移、下移、启停；来源与目标支持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ANY / ZONE / NODE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三种粒度。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5105400" y="2076450"/>
            <a:ext cx="6553200" cy="742950"/>
          </a:xfrm>
          <a:custGeom>
            <a:pathLst>
              <a:path w="688" h="78">
                <a:moveTo>
                  <a:pt x="0" y="0"/>
                </a:moveTo>
                <a:lnTo>
                  <a:pt x="688" y="0"/>
                </a:lnTo>
                <a:lnTo>
                  <a:pt x="68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5105400" y="2200275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5505450" y="2181225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判定可追溯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5505450" y="2381250"/>
            <a:ext cx="600075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通信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→ Firewall →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规则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结果；命中规则、阻断位置与前后状态都写进事件。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5105400" y="2819400"/>
            <a:ext cx="6553200" cy="742950"/>
          </a:xfrm>
          <a:custGeom>
            <a:pathLst>
              <a:path w="688" h="78">
                <a:moveTo>
                  <a:pt x="0" y="0"/>
                </a:moveTo>
                <a:lnTo>
                  <a:pt x="688" y="0"/>
                </a:lnTo>
                <a:lnTo>
                  <a:pt x="68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105400" y="2943225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505450" y="2924175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失效可感知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505450" y="3124200"/>
            <a:ext cx="600075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拓扑、策略或安全控制一变，上一轮结果立即标记过期；只改布局不会误触发。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5105400" y="3562350"/>
            <a:ext cx="6553200" cy="742950"/>
          </a:xfrm>
          <a:custGeom>
            <a:pathLst>
              <a:path w="688" h="78">
                <a:moveTo>
                  <a:pt x="0" y="0"/>
                </a:moveTo>
                <a:lnTo>
                  <a:pt x="688" y="0"/>
                </a:lnTo>
                <a:lnTo>
                  <a:pt x="68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5105400" y="3562350"/>
            <a:ext cx="6553200" cy="742950"/>
          </a:xfrm>
          <a:custGeom>
            <a:pathLst>
              <a:path w="688" h="78">
                <a:moveTo>
                  <a:pt x="0" y="77"/>
                </a:moveTo>
                <a:lnTo>
                  <a:pt x="688" y="77"/>
                </a:lnTo>
                <a:lnTo>
                  <a:pt x="688" y="78"/>
                </a:lnTo>
                <a:lnTo>
                  <a:pt x="0" y="78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105400" y="3686175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5505450" y="3667125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默认拒绝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505450" y="3867150"/>
            <a:ext cx="600075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没有规则命中时使用本机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Default Policy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；系统不提供“默认放行”的捷径。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5124450" y="4552950"/>
            <a:ext cx="6553200" cy="895350"/>
          </a:xfrm>
          <a:prstGeom prst="rect">
            <a:avLst/>
          </a:prstGeom>
          <a:solidFill>
            <a:srgbClr val="6BC8D1">
              <a:alpha val="5500"/>
            </a:srgbClr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5105400" y="4552950"/>
            <a:ext cx="6572250" cy="895350"/>
          </a:xfrm>
          <a:custGeom>
            <a:pathLst>
              <a:path w="690" h="94">
                <a:moveTo>
                  <a:pt x="0" y="0"/>
                </a:moveTo>
                <a:lnTo>
                  <a:pt x="2" y="0"/>
                </a:lnTo>
                <a:lnTo>
                  <a:pt x="2" y="94"/>
                </a:lnTo>
                <a:lnTo>
                  <a:pt x="0" y="94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276850" y="4705350"/>
            <a:ext cx="6229350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F2F7F8">
                    <a:alpha val="88000"/>
                  </a:srgbClr>
                </a:solidFill>
                <a:latin typeface="Microsoft YaHei"/>
                <a:ea typeface="Microsoft YaHei"/>
              </a:rPr>
              <a:t>不是规则越多越安全，</a:t>
            </a:r>
            <a:endParaRPr/>
          </a:p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F2F7F8">
                    <a:alpha val="88000"/>
                  </a:srgbClr>
                </a:solidFill>
                <a:latin typeface="Microsoft YaHei"/>
                <a:ea typeface="Microsoft YaHei"/>
              </a:rPr>
              <a:t>而是顺序与作用域共同决定结果。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533400" y="5257800"/>
            <a:ext cx="11125200" cy="438150"/>
          </a:xfrm>
          <a:custGeom>
            <a:pathLst>
              <a:path w="1168" h="46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533400" y="5495925"/>
            <a:ext cx="857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7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STATE FLOW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1504950" y="5400675"/>
            <a:ext cx="1600200" cy="285750"/>
          </a:xfrm>
          <a:prstGeom prst="roundRect">
            <a:avLst>
              <a:gd name="adj" fmla="val 13333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619250" y="5476875"/>
            <a:ext cx="1371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改一条规则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3219450" y="54673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6BC8D1">
                    <a:alpha val="55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3409950" y="5400675"/>
            <a:ext cx="1600200" cy="285750"/>
          </a:xfrm>
          <a:prstGeom prst="roundRect">
            <a:avLst>
              <a:gd name="adj" fmla="val 13333"/>
            </a:avLst>
          </a:prstGeom>
          <a:ln w="12700">
            <a:solidFill>
              <a:srgbClr val="E78172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3524250" y="5476875"/>
            <a:ext cx="1371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E78172"/>
                </a:solidFill>
                <a:latin typeface="Microsoft YaHei"/>
                <a:ea typeface="Microsoft YaHei"/>
              </a:rPr>
              <a:t>上一轮结果过期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5124450" y="54673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6BC8D1">
                    <a:alpha val="55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5314950" y="5400675"/>
            <a:ext cx="1600200" cy="285750"/>
          </a:xfrm>
          <a:prstGeom prst="roundRect">
            <a:avLst>
              <a:gd name="adj" fmla="val 13333"/>
            </a:avLst>
          </a:prstGeom>
          <a:solidFill>
            <a:srgbClr val="6BC8D1">
              <a:alpha val="6000"/>
            </a:srgbClr>
          </a:solidFill>
          <a:ln w="12700">
            <a:solidFill>
              <a:srgbClr val="6BC8D1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5429250" y="5476875"/>
            <a:ext cx="1371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6BC8D1"/>
                </a:solidFill>
                <a:latin typeface="Microsoft YaHei"/>
                <a:ea typeface="Microsoft YaHei"/>
              </a:rPr>
              <a:t>重新验证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7029450" y="54673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6BC8D1">
                    <a:alpha val="55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7219950" y="5400675"/>
            <a:ext cx="1981200" cy="285750"/>
          </a:xfrm>
          <a:prstGeom prst="roundRect">
            <a:avLst>
              <a:gd name="adj" fmla="val 13333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334250" y="5476875"/>
            <a:ext cx="1752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新事件</a:t>
            </a:r>
            <a:r>
              <a:rPr lang="en-US" sz="825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825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新指标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12 / 28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88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    &lt;circle cx='1180' cy='100' r='240' fill='rgba(231,129,114,0.035)' /&gt;&#13;&#10;    &lt;/svg&gt;&#13;&#10;&#13;&#10;    &lt;Box style={{ position: 'absolute', left: 56, top: 38 }}&gt;&#13;&#10;        &lt;Text style={{ fontFamily: 'Consolas', fontSize: 11, color: '#6BC8D1', letterSpacing: 1.8 }}&gt;03 / 核心机制&lt;/Text&gt;&#13;&#10;    &lt;/Box&gt;&#13;&#10;    &lt;Text style={{ position: 'absolute', left: 56, top: 62, fontFamily: 'Microsoft YaHei', fontSize: 32, fontWeight: 'bold', color: '#F2F7F8', letterSpacing: 0.5 }}&gt;一条代表链，四个状态节点&lt;/Text&gt;&#13;&#10;    &lt;Text style={{ position: 'absolute', right: 56, top: 76, fontFamily: 'Consolas', fontSize: 10.5, color: 'rgba(242,247,248,0.42)' }}&gt;ATTACK_STATE · REPRESENTATIVE CHAIN&lt;/Text&gt;&#13;&#10;&#13;&#10;    &lt;Box style={{ position: 'absolute', left: 56, top: 138, flexDirection: 'row', alignItems: 'center', gap: 10 }}&gt;&#13;&#10;        &lt;Text style={{ fontFamily: 'Consolas', fontSize: 9.5, color: '#6BC8D1', letterSpacing: 1.2 }}&gt;T0 → T3&lt;/Text&gt;&#13;&#10;        &lt;Box style={{ width: 24, height: 1, background: 'rgba(107,200,209,0.36)' }} /&gt;&#13;&#10;        &lt;Text style={{ fontFamily: 'Microsoft YaHei', fontSize: 11, color: 'rgba(242,247,248,0.46)' }}&gt;T1–T3 各改变一种状态：控制端点、提升权限、授予数据访问 · T0 为初始条件&lt;/Text&gt;&#13;&#10;    &lt;/Box&gt;&#13;&#10;&#13;&#10;    &lt;Box style={{ position: 'absolute', left: 56, top: 170, width: 1168, height: 206 }}&gt;&#13;&#10;        &lt;svg width={1168} height={206} viewBox='0 0 1168 206' style={{ position: 'absolute', left: 0, top: 0 }}&gt;&#13;&#10;            &lt;g stroke='rgba(107,200,209,0.42)' strokeWidth='1.2'&gt;&#13;&#10;                &lt;path d='M252 104H272' /&gt;&#13;&#10;                &lt;path d='M526 104H546' /&gt;&#13;&#10;                &lt;path d='M800 104H820' /&gt;&#13;&#10;            &lt;/g&gt;&#13;&#10;            &lt;g fill='rgba(107,200,209,0.60)'&gt;&#13;&#10;                &lt;path d='M272 100L280 104L272 108Z' /&gt;&#13;&#10;                &lt;path d='M546 100L554 104L546 108Z' /&gt;&#13;&#10;                &lt;path d='M820 100L828 104L820 108Z' /&gt;&#13;&#10;            &lt;/g&gt;&#13;&#10;        &lt;/svg&gt;&#13;&#10;&#13;&#10;        &lt;Box style={{ position: 'absolute', left: 0, top: 0, width: 252, height: 200, padding: 16, background: 'linear-gradient(145deg, rgba(242,247,248,0.05) 0%, rgba(242,247,248,0.02) 100%)', border: '1px solid rgba(242,247,248,0.12)', borderRadius: 8 }}&gt;&#13;&#10;            &lt;Box style={{ flexDirection: 'row', justifyContent: 'space-between', alignItems: 'center' }}&gt;&#13;&#10;                &lt;Text style={{ fontFamily: 'Consolas', fontSize: 9.5, color: 'rgba(242,247,248,0.42)', letterSpacing: 1 }}&gt;T0 / SEED&lt;/Text&gt;&#13;&#10;                &lt;Text style={{ fontFamily: 'Consolas', fontSize: 9, color: 'rgba(242,247,248,0.34)' }}&gt;初始&lt;/Text&gt;&#13;&#10;            &lt;/Box&gt;&#13;&#10;            &lt;Text style={{ marginTop: 14, fontFamily: 'Microsoft YaHei', fontSize: 13.5, fontWeight: 'bold', color: '#F2F7F8' }}&gt;Office-PC-01&lt;/Text&gt;&#13;&#10;            &lt;Text style={{ marginTop: 8, fontFamily: 'Consolas', fontSize: 24, fontWeight: 'bold', color: 'rgba(242,247,248,0.74)', lineHeight: 1 }}&gt;USER&lt;/Text&gt;&#13;&#10;            &lt;Text style={{ marginTop: 10, fontFamily: 'Microsoft YaHei', fontSize: 10.5, color: 'rgba(242,247,248,0.48)', lineHeight: 1.65 }}&gt;实验开始前已被教学状态标记为受控；不是本轮行为。&lt;/Text&gt;&#13;&#10;            &lt;Box style={{ marginTop: 'auto', paddingTop: 8, borderTop: '1px solid rgba(242,247,248,0.10)' }}&gt;&#13;&#10;                &lt;Text style={{ fontFamily: 'Consolas', fontSize: 9, color: 'rgba(242,247,248,0.38)' }}&gt;SEED · 不计入传播步骤&lt;/Text&gt;&#13;&#10;            &lt;/Box&gt;&#13;&#10;        &lt;/Box&gt;&#13;&#10;&#13;&#10;        &lt;Box style={{ position: 'absolute', left: 274, top: 0, width: 252, height: 200, padding: 16, background: 'linear-gradient(145deg, rgba(107,200,209,0.08) 0%, rgba(242,247,248,0.02) 100%)', border: '1px solid rgba(107,200,209,0.26)', borderRadius: 8 }}&gt;&#13;&#10;            &lt;Box style={{ flexDirection: 'row', justifyContent: 'space-between', alignItems: 'center' }}&gt;&#13;&#10;                &lt;Text style={{ fontFamily: 'Consolas', fontSize: 9.5, color: '#6BC8D1', letterSpacing: 1 }}&gt;T1 / MOVE&lt;/Text&gt;&#13;&#10;                &lt;Text style={{ fontFamily: 'Consolas', fontSize: 9, color: 'rgba(242,247,248,0.34)' }}&gt;端点&lt;/Text&gt;&#13;&#10;            &lt;/Box&gt;&#13;&#10;            &lt;Text style={{ marginTop: 14, fontFamily: 'Microsoft YaHei', fontSize: 13.5, fontWeight: 'bold', color: '#F2F7F8' }}&gt;Application Server&lt;/Text&gt;&#13;&#10;            &lt;Text style={{ marginTop: 8, fontFamily: 'Consolas', fontSize: 24, fontWeight: 'bold', color: '#6BC8D1', lineHeight: 1 }}&gt;USER&lt;/Text&gt;&#13;&#10;            &lt;Text style={{ marginTop: 10, fontFamily: 'Microsoft YaHei', fontSize: 10.5, color: 'rgba(242,247,248,0.48)', lineHeight: 1.65 }}&gt;应用服务访问：WEB 通信允许 + 远程入口条件满足。&lt;/Text&gt;&#13;&#10;            &lt;Box style={{ marginTop: 'auto', paddingTop: 8, borderTop: '1px solid rgba(107,200,209,0.18)' }}&gt;&#13;&#10;                &lt;Text style={{ fontFamily: 'Consolas', fontSize: 9, color: '#6BC8D1' }}&gt;CONTROL_GRANTED&lt;/Text&gt;&#13;&#10;            &lt;/Box&gt;&#13;&#10;        &lt;/Box&gt;&#13;&#10;&#13;&#10;        &lt;Box style={{ position: 'absolute', left: 548, top: 0, width: 252, height: 200, padding: 16, background: 'linear-gradient(145deg, rgba(231,129,114,0.065) 0%, rgba(242,247,248,0.02) 100%)', border: '1px solid rgba(231,129,114,0.22)', borderRadius: 8 }}&gt;&#13;&#10;            &lt;Box style={{ flexDirection: 'row', justifyContent: 'space-between', alignItems: 'center' }}&gt;&#13;&#10;                &lt;Text style={{ fontFamily: 'Consolas', fontSize: 9.5, color: '#E78172', letterSpacing: 1 }}&gt;T2 / ESCALATE&lt;/Text&gt;&#13;&#10;                &lt;Text style={{ fontFamily: 'Consolas', fontSize: 9, color: 'rgba(242,247,248,0.34)' }}&gt;权限&lt;/Text&gt;&#13;&#10;            &lt;/Box&gt;&#13;&#10;            &lt;Text style={{ marginTop: 14, fontFamily: 'Microsoft YaHei', fontSize: 13.5, fontWeight: 'bold', color: '#F2F7F8' }}&gt;Application Server&lt;/Text&gt;&#13;&#10;            &lt;Text style={{ marginTop: 8, fontFamily: 'Consolas', fontSize: 24, fontWeight: 'bold', color: '#E78172', lineHeight: 1 }}&gt;ADMIN&lt;/Text&gt;&#13;&#10;            &lt;Text style={{ marginTop: 10, fontFamily: 'Microsoft YaHei', fontSize: 10.5, color: 'rgba(242,247,248,0.48)', lineHeight: 1.65 }}&gt;本地权限提升：具备权限变化条件，且未启用服务加固。&lt;/Text&gt;&#13;&#10;            &lt;Box style={{ marginTop: 'auto', paddingTop: 8, borderTop: '1px solid rgba(231,129,114,0.18)' }}&gt;&#13;&#10;                &lt;Text style={{ fontFamily: 'Consolas', fontSize: 9, color: '#E78172' }}&gt;PRIVILEGE_ESCALATED&lt;/Text&gt;&#13;&#10;            &lt;/Box&gt;&#13;&#10;        &lt;/Box&gt;&#13;&#10;&#13;&#10;        &lt;Box style={{ position: 'absolute', left: 822, top: 0, width: 252, height: 200, padding: 16, background: 'linear-gradient(145deg, rgba(231,129,114,0.09) 0%, rgba(242,247,248,0.02) 100%)', border: '1px solid rgba(231,129,114,0.30)', borderRadius: 8 }}&gt;&#13;&#10;            &lt;Box style={{ flexDirection: 'row', justifyContent: 'space-between', alignItems: 'center' }}&gt;&#13;&#10;                &lt;Text style={{ fontFamily: 'Consolas', fontSize: 9.5, color: '#E78172', letterSpacing: 1 }}&gt;T3 / ACCESS&lt;/Text&gt;&#13;&#10;                &lt;Text style={{ fontFamily: 'Consolas', fontSize: 9, color: 'rgba(242,247,248,0.34)' }}&gt;数据&lt;/Text&gt;&#13;&#10;            &lt;/Box&gt;&#13;&#10;            &lt;Text style={{ marginTop: 14, fontFamily: 'Microsoft YaHei', fontSize: 13.5, fontWeight: 'bold', color: '#F2F7F8' }}&gt;Customer Database&lt;/Text&gt;&#13;&#10;            &lt;Text style={{ marginTop: 8, fontFamily: 'Consolas', fontSize: 20, fontWeight: 'bold', color: '#E78172', lineHeight: 1 }}&gt;DATA_ACCESS&lt;/Text&gt;&#13;&#10;            &lt;Text style={{ marginTop: 10, fontFamily: 'Microsoft YaHei', fontSize: 10.5, color: 'rgba(242,247,248,0.48)', lineHeight: 1.65 }}&gt;数据库数据访问：需 ADMIN + 应用角色 + 数据条件 + DATABASE 通信。&lt;/Text&gt;&#13;&#10;            &lt;Box style={{ marginTop: 'auto', paddingTop: 8, borderTop: '1px solid rgba(231,129,114,0.18)' }}&gt;&#13;&#10;                &lt;Text style={{ fontFamily: 'Consolas', fontSize: 9, color: '#E78172' }}&gt;可被数据访问控制阻断&lt;/Text&gt;&#13;&#10;            &lt;/Box&gt;&#13;&#10;        &lt;/Box&gt;&#13;&#10;    &lt;/Box&gt;&#13;&#10;&#13;&#10;    &lt;Box style={{ position: 'absolute', left: 56, top: 404, width: 286 }}&gt;&#13;&#10;        &lt;Text style={{ fontFamily: 'Consolas', fontSize: 9.5, color: 'rgba(242,247,248,0.42)', letterSpacing: 1.2 }}&gt;SEARCH BOUNDARY&lt;/Text&gt;&#13;&#10;        &lt;Box style={{ marginTop: 4, flexDirection: 'row', alignItems: 'flex-end' }}&gt;&#13;&#10;            &lt;Text style={{ fontFamily: 'Consolas', fontSize: 62, fontWeight: 'bold', color: '#F2F7F8', lineHeight: 1 }}&gt;8&lt;/Text&gt;&#13;&#10;            &lt;Text style={{ fontFamily: 'Consolas', fontSize: 24, color: 'rgba(242,247,248,0.30)', marginBottom: 6, marginLeft: 4 }}&gt;/ 160&lt;/Text&gt;&#13;&#10;        &lt;/Box&gt;&#13;&#10;        &lt;Text style={{ marginTop: 4, fontFamily: 'Microsoft YaHei', fontSize: 10.5, color: 'rgba(242,247,248,0.44)' }}&gt;最大深度 / 状态上限&lt;/Text&gt;&#13;&#10;        &lt;Box style={{ marginTop: 14, flexDirection: 'row', gap: 6 }}&gt;&#13;&#10;            &lt;Box style={{ paddingLeft: 7, paddingRight: 7, paddingTop: 3, paddingBottom: 3, border: '1px solid rgba(107,200,209,0.28)', borderRadius: 3 }}&gt;&#13;&#10;                &lt;Text style={{ fontFamily: 'Consolas', fontSize: 8.5, color: '#6BC8D1' }}&gt;SUCCESS&lt;/Text&gt;&#13;&#10;            &lt;/Box&gt;&#13;&#10;            &lt;Box style={{ paddingLeft: 7, paddingRight: 7, paddingTop: 3, paddingBottom: 3, border: '1px solid rgba(231,129,114,0.30)', borderRadius: 3 }}&gt;&#13;&#10;                &lt;Text style={{ fontFamily: 'Consolas', fontSize: 8.5, color: '#E78172' }}&gt;BLOCKED&lt;/Text&gt;&#13;&#10;            &lt;/Box&gt;&#13;&#10;            &lt;Box style={{ paddingLeft: 7, paddingRight: 7, paddingTop: 3, paddingBottom: 3, border: '1px solid rgba(242,247,248,0.16)', borderRadius: 3 }}&gt;&#13;&#10;                &lt;Text style={{ fontFamily: 'Consolas', fontSize: 8.5, color: 'rgba(242,247,248,0.50)' }}&gt;N.A.&lt;/Text&gt;&#13;&#10;            &lt;/Box&gt;&#13;&#10;        &lt;/Box&gt;&#13;&#10;    &lt;/Box&gt;&#13;&#10;&#13;&#10;    &lt;Box style={{ position: 'absolute', left: 390, top: 404, width: 834, height: 206, padding: 20, background: 'linear-gradient(145deg, rgba(231,129,114,0.05) 0%, rgba(242,247,248,0.02) 100%)', border: '1px solid rgba(231,129,114,0.18)', borderRadius: 10 }}&gt;&#13;&#10;        &lt;Text style={{ fontFamily: 'Microsoft YaHei', fontSize: 17, fontWeight: 'bold', color: '#F2F7F8' }}&gt;为什么 PC-01 直连数据库也不行？&lt;/Text&gt;&#13;&#10;        &lt;Text style={{ marginTop: 9, fontFamily: 'Microsoft YaHei', fontSize: 12, color: 'rgba(242,247,248,0.58)', lineHeight: 1.8 }}&gt;&#13;&#10;            行为来源范围只允许应用服务器；源权限、源条件、目标条件与目标安全控制要逐项检查。通信放行只是前置条件，不是状态结果。&#13;&#10;        &lt;/Text&gt;&#13;&#10;        &lt;Text style={{ marginTop: 8, fontFamily: 'Microsoft YaHei', fontSize: 12, color: 'rgba(231,129,114,0.82)', lineHeight: 1.8 }}&gt;&#13;&#10;            启用数据访问控制后，T3 记为 BLOCKED；应用到数据库的网络通信仍然正常——这正是“保护数据”和“切断业务”的区别。&#13;&#10;        &lt;/Text&gt;&#13;&#10;        &lt;Box style={{ marginTop: 10, flexDirection: 'row', alignItems: 'center', gap: 8 }}&gt;&#13;&#10;            &lt;Box style={{ width: 16, height: 1, background: 'rgba(231,129,114,0.50)' }} /&gt;&#13;&#10;            &lt;Text style={{ fontFamily: 'Consolas', fontSize: 9, color: 'rgba(242,247,248,0.38)' }}&gt;SEARCH IS BOUNDED · INCOMPLETE IS NOT “SAFE”&lt;/Text&gt;&#13;&#10;        &lt;/Box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3 / 2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1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核心机制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37147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一条代表链，四个状态节点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9725025" y="723900"/>
            <a:ext cx="19335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ATTACK_STATE · REPRESENTATIVE CHAIN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533400" y="1323975"/>
            <a:ext cx="4286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T0 → T3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1057275" y="1381125"/>
            <a:ext cx="228600" cy="9525"/>
          </a:xfrm>
          <a:prstGeom prst="rect">
            <a:avLst/>
          </a:prstGeom>
          <a:solidFill>
            <a:srgbClr val="6BC8D1">
              <a:alpha val="36000"/>
            </a:srgbClr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381125" y="1314450"/>
            <a:ext cx="36099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T1–T3 </a:t>
            </a: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各改变一种状态：控制端点、提升权限、授予数据访问</a:t>
            </a:r>
            <a:r>
              <a:rPr lang="en-US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 · T0 </a:t>
            </a: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为初始条件</a:t>
            </a:r>
            <a:endParaRPr/>
          </a:p>
        </p:txBody>
      </p:sp>
      <p:pic>
        <p:nvPicPr>
          <p:cNvPr id="1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33400" y="1619250"/>
            <a:ext cx="11125200" cy="1962150"/>
          </a:xfrm>
          <a:prstGeom prst="rect">
            <a:avLst/>
          </a:prstGeom>
          <a:ln/>
        </p:spPr>
      </p:pic>
      <p:sp>
        <p:nvSpPr>
          <p:cNvPr id="198" name=""/>
          <p:cNvSpPr/>
          <p:nvPr/>
        </p:nvSpPr>
        <p:spPr>
          <a:xfrm rot="0" flipH="0" flipV="0">
            <a:off x="533400" y="1619250"/>
            <a:ext cx="2400300" cy="1905000"/>
          </a:xfrm>
          <a:prstGeom prst="roundRect">
            <a:avLst>
              <a:gd name="adj" fmla="val 4000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85800" y="1771650"/>
            <a:ext cx="5429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T0 / SEED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2457450" y="1781175"/>
            <a:ext cx="3238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初始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85800" y="201930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2F7F8"/>
                </a:solidFill>
                <a:latin typeface="Microsoft YaHei"/>
                <a:ea typeface="Microsoft YaHei"/>
              </a:rPr>
              <a:t>Office-PC-01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85800" y="2257425"/>
            <a:ext cx="2095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2F7F8">
                    <a:alpha val="74000"/>
                  </a:srgbClr>
                </a:solidFill>
                <a:latin typeface="Consolas"/>
                <a:ea typeface="Consolas"/>
              </a:rPr>
              <a:t>USER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85800" y="2628900"/>
            <a:ext cx="20955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实验开始前已被教学状态标记为受控；不是本轮行为。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85800" y="3181350"/>
            <a:ext cx="2095500" cy="200025"/>
          </a:xfrm>
          <a:custGeom>
            <a:pathLst>
              <a:path w="220" h="21">
                <a:moveTo>
                  <a:pt x="0" y="0"/>
                </a:moveTo>
                <a:lnTo>
                  <a:pt x="220" y="0"/>
                </a:lnTo>
                <a:lnTo>
                  <a:pt x="22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85800" y="3267075"/>
            <a:ext cx="20955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SEED · </a:t>
            </a:r>
            <a:r>
              <a:rPr lang="zh-CN" sz="675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不计入传播步骤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3143250" y="1619250"/>
            <a:ext cx="2400300" cy="1905000"/>
          </a:xfrm>
          <a:prstGeom prst="roundRect">
            <a:avLst>
              <a:gd name="adj" fmla="val 4000"/>
            </a:avLst>
          </a:prstGeom>
          <a:gradFill>
            <a:gsLst>
              <a:gs pos="0">
                <a:srgbClr val="6BC8D1">
                  <a:alpha val="8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6BC8D1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3295650" y="1771650"/>
            <a:ext cx="5429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6BC8D1"/>
                </a:solidFill>
                <a:latin typeface="Consolas"/>
                <a:ea typeface="Consolas"/>
              </a:rPr>
              <a:t>T1 / MOVE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5067300" y="1781175"/>
            <a:ext cx="3238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端点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3295650" y="201930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2F7F8"/>
                </a:solidFill>
                <a:latin typeface="Microsoft YaHei"/>
                <a:ea typeface="Microsoft YaHei"/>
              </a:rPr>
              <a:t>Application Server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3295650" y="2257425"/>
            <a:ext cx="2095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6BC8D1"/>
                </a:solidFill>
                <a:latin typeface="Consolas"/>
                <a:ea typeface="Consolas"/>
              </a:rPr>
              <a:t>USER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3295650" y="2628900"/>
            <a:ext cx="20955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应用服务访问：</a:t>
            </a:r>
            <a:r>
              <a:rPr lang="en-US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WEB </a:t>
            </a: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通信允许</a:t>
            </a:r>
            <a:r>
              <a:rPr lang="en-US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远程入口条件满足。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3295650" y="3181350"/>
            <a:ext cx="2095500" cy="200025"/>
          </a:xfrm>
          <a:custGeom>
            <a:pathLst>
              <a:path w="220" h="21">
                <a:moveTo>
                  <a:pt x="0" y="0"/>
                </a:moveTo>
                <a:lnTo>
                  <a:pt x="220" y="0"/>
                </a:lnTo>
                <a:lnTo>
                  <a:pt x="220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18000"/>
            </a:srgbClr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3295650" y="3267075"/>
            <a:ext cx="20955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CONTROL_GRANTED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5753100" y="1619250"/>
            <a:ext cx="2400300" cy="1905000"/>
          </a:xfrm>
          <a:prstGeom prst="roundRect">
            <a:avLst>
              <a:gd name="adj" fmla="val 4000"/>
            </a:avLst>
          </a:prstGeom>
          <a:gradFill>
            <a:gsLst>
              <a:gs pos="0">
                <a:srgbClr val="E78172">
                  <a:alpha val="65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E78172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5905500" y="1771650"/>
            <a:ext cx="7715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E78172"/>
                </a:solidFill>
                <a:latin typeface="Consolas"/>
                <a:ea typeface="Consolas"/>
              </a:rPr>
              <a:t>T2 / ESCALATE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677150" y="1781175"/>
            <a:ext cx="3238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权限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5905500" y="201930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2F7F8"/>
                </a:solidFill>
                <a:latin typeface="Microsoft YaHei"/>
                <a:ea typeface="Microsoft YaHei"/>
              </a:rPr>
              <a:t>Application Server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905500" y="2257425"/>
            <a:ext cx="2095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78172"/>
                </a:solidFill>
                <a:latin typeface="Consolas"/>
                <a:ea typeface="Consolas"/>
              </a:rPr>
              <a:t>ADMIN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905500" y="2628900"/>
            <a:ext cx="20955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本地权限提升：具备权限变化条件，且未启用服务加固。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5905500" y="3181350"/>
            <a:ext cx="2095500" cy="200025"/>
          </a:xfrm>
          <a:custGeom>
            <a:pathLst>
              <a:path w="220" h="21">
                <a:moveTo>
                  <a:pt x="0" y="0"/>
                </a:moveTo>
                <a:lnTo>
                  <a:pt x="220" y="0"/>
                </a:lnTo>
                <a:lnTo>
                  <a:pt x="2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78172">
              <a:alpha val="18000"/>
            </a:srgbClr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905500" y="3267075"/>
            <a:ext cx="20955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E78172"/>
                </a:solidFill>
                <a:latin typeface="Consolas"/>
                <a:ea typeface="Consolas"/>
              </a:rPr>
              <a:t>PRIVILEGE_ESCALATED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8362950" y="1619250"/>
            <a:ext cx="2400300" cy="1905000"/>
          </a:xfrm>
          <a:prstGeom prst="roundRect">
            <a:avLst>
              <a:gd name="adj" fmla="val 4000"/>
            </a:avLst>
          </a:prstGeom>
          <a:gradFill>
            <a:gsLst>
              <a:gs pos="0">
                <a:srgbClr val="E78172">
                  <a:alpha val="9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E78172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515350" y="1771650"/>
            <a:ext cx="6572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E78172"/>
                </a:solidFill>
                <a:latin typeface="Consolas"/>
                <a:ea typeface="Consolas"/>
              </a:rPr>
              <a:t>T3 / ACCESS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0287000" y="1781175"/>
            <a:ext cx="3238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数据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515350" y="2019300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 b="1">
                <a:solidFill>
                  <a:srgbClr val="F2F7F8"/>
                </a:solidFill>
                <a:latin typeface="Microsoft YaHei"/>
                <a:ea typeface="Microsoft YaHei"/>
              </a:rPr>
              <a:t>Customer Database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515350" y="2257425"/>
            <a:ext cx="2095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78172"/>
                </a:solidFill>
                <a:latin typeface="Consolas"/>
                <a:ea typeface="Consolas"/>
              </a:rPr>
              <a:t>DATA_ACCESS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515350" y="2581275"/>
            <a:ext cx="209550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数据库数据访问：需</a:t>
            </a:r>
            <a:r>
              <a:rPr lang="en-US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ADMIN + </a:t>
            </a: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应用角色</a:t>
            </a:r>
            <a:r>
              <a:rPr lang="en-US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数据条件</a:t>
            </a:r>
            <a:r>
              <a:rPr lang="en-US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+ DATABASE </a:t>
            </a:r>
            <a:r>
              <a:rPr lang="zh-CN" sz="788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通信。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8515350" y="3181350"/>
            <a:ext cx="2095500" cy="200025"/>
          </a:xfrm>
          <a:custGeom>
            <a:pathLst>
              <a:path w="220" h="21">
                <a:moveTo>
                  <a:pt x="0" y="0"/>
                </a:moveTo>
                <a:lnTo>
                  <a:pt x="220" y="0"/>
                </a:lnTo>
                <a:lnTo>
                  <a:pt x="220" y="1"/>
                </a:lnTo>
                <a:lnTo>
                  <a:pt x="0" y="1"/>
                </a:lnTo>
                <a:close/>
              </a:path>
            </a:pathLst>
          </a:custGeom>
          <a:solidFill>
            <a:srgbClr val="E78172">
              <a:alpha val="18000"/>
            </a:srgbClr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515350" y="3267075"/>
            <a:ext cx="20955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E78172"/>
                </a:solidFill>
                <a:latin typeface="Consolas"/>
                <a:ea typeface="Consolas"/>
              </a:rPr>
              <a:t>可被数据访问控制阻断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533400" y="3848100"/>
            <a:ext cx="2724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SEARCH BOUNDARY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33400" y="4000500"/>
            <a:ext cx="333375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F2F7F8"/>
                </a:solidFill>
                <a:latin typeface="Consolas"/>
                <a:ea typeface="Consolas"/>
              </a:rPr>
              <a:t>8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904875" y="4381500"/>
            <a:ext cx="628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/ 160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533400" y="4752975"/>
            <a:ext cx="27241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最大深度</a:t>
            </a:r>
            <a:r>
              <a:rPr lang="en-US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状态上限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533400" y="5010150"/>
            <a:ext cx="447675" cy="161925"/>
          </a:xfrm>
          <a:prstGeom prst="roundRect">
            <a:avLst>
              <a:gd name="adj" fmla="val 17647"/>
            </a:avLst>
          </a:prstGeom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00075" y="503872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6BC8D1"/>
                </a:solidFill>
                <a:latin typeface="Consolas"/>
                <a:ea typeface="Consolas"/>
              </a:rPr>
              <a:t>SUCCESS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1038225" y="5010150"/>
            <a:ext cx="447675" cy="161925"/>
          </a:xfrm>
          <a:prstGeom prst="roundRect">
            <a:avLst>
              <a:gd name="adj" fmla="val 17647"/>
            </a:avLst>
          </a:prstGeom>
          <a:ln w="12700">
            <a:solidFill>
              <a:srgbClr val="E78172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1104900" y="503872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E78172"/>
                </a:solidFill>
                <a:latin typeface="Consolas"/>
                <a:ea typeface="Consolas"/>
              </a:rPr>
              <a:t>BLOCKED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1543050" y="5010150"/>
            <a:ext cx="314325" cy="161925"/>
          </a:xfrm>
          <a:prstGeom prst="roundRect">
            <a:avLst>
              <a:gd name="adj" fmla="val 17647"/>
            </a:avLst>
          </a:prstGeom>
          <a:ln w="12700">
            <a:solidFill>
              <a:srgbClr val="F2F7F8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609725" y="5038725"/>
            <a:ext cx="1809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50000"/>
                  </a:srgbClr>
                </a:solidFill>
                <a:latin typeface="Consolas"/>
                <a:ea typeface="Consolas"/>
              </a:rPr>
              <a:t>N.A.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3714750" y="3848100"/>
            <a:ext cx="7943850" cy="1962150"/>
          </a:xfrm>
          <a:prstGeom prst="roundRect">
            <a:avLst>
              <a:gd name="adj" fmla="val 4854"/>
            </a:avLst>
          </a:prstGeom>
          <a:gradFill>
            <a:gsLst>
              <a:gs pos="0">
                <a:srgbClr val="E78172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E78172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3905250" y="4038600"/>
            <a:ext cx="7562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为什么</a:t>
            </a:r>
            <a:r>
              <a:rPr lang="en-US" sz="1275" b="1">
                <a:solidFill>
                  <a:srgbClr val="F2F7F8"/>
                </a:solidFill>
                <a:latin typeface="Microsoft YaHei"/>
                <a:ea typeface="Microsoft YaHei"/>
              </a:rPr>
              <a:t> PC-01 </a:t>
            </a: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直连数据库也不行？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3905250" y="4324350"/>
            <a:ext cx="7562850" cy="2476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900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行为来源范围只允许应用服务器；源权限、源条件、目标条件与目标安全控制要逐项检查。通信放行只是前置条件，不是状态结果。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3905250" y="4648200"/>
            <a:ext cx="7562850" cy="2476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900">
                <a:solidFill>
                  <a:srgbClr val="E78172">
                    <a:alpha val="82000"/>
                  </a:srgbClr>
                </a:solidFill>
                <a:latin typeface="Microsoft YaHei"/>
                <a:ea typeface="Microsoft YaHei"/>
              </a:rPr>
              <a:t>启用数据访问控制后，</a:t>
            </a:r>
            <a:r>
              <a:rPr lang="en-US" sz="900">
                <a:solidFill>
                  <a:srgbClr val="E78172">
                    <a:alpha val="82000"/>
                  </a:srgbClr>
                </a:solidFill>
                <a:latin typeface="Microsoft YaHei"/>
                <a:ea typeface="Microsoft YaHei"/>
              </a:rPr>
              <a:t>T3 </a:t>
            </a:r>
            <a:r>
              <a:rPr lang="zh-CN" sz="900">
                <a:solidFill>
                  <a:srgbClr val="E78172">
                    <a:alpha val="82000"/>
                  </a:srgbClr>
                </a:solidFill>
                <a:latin typeface="Microsoft YaHei"/>
                <a:ea typeface="Microsoft YaHei"/>
              </a:rPr>
              <a:t>记为</a:t>
            </a:r>
            <a:r>
              <a:rPr lang="en-US" sz="900">
                <a:solidFill>
                  <a:srgbClr val="E78172">
                    <a:alpha val="82000"/>
                  </a:srgbClr>
                </a:solidFill>
                <a:latin typeface="Microsoft YaHei"/>
                <a:ea typeface="Microsoft YaHei"/>
              </a:rPr>
              <a:t> BLOCKED</a:t>
            </a:r>
            <a:r>
              <a:rPr lang="zh-CN" sz="900">
                <a:solidFill>
                  <a:srgbClr val="E78172">
                    <a:alpha val="82000"/>
                  </a:srgbClr>
                </a:solidFill>
                <a:latin typeface="Microsoft YaHei"/>
                <a:ea typeface="Microsoft YaHei"/>
              </a:rPr>
              <a:t>；应用到数据库的网络通信仍然正常——这正是“保护数据”和“切断业务”的区别。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3905250" y="5038725"/>
            <a:ext cx="152400" cy="9525"/>
          </a:xfrm>
          <a:prstGeom prst="rect">
            <a:avLst/>
          </a:prstGeom>
          <a:solidFill>
            <a:srgbClr val="E78172">
              <a:alpha val="50000"/>
            </a:srgbClr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133850" y="4991100"/>
            <a:ext cx="20764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SEARCH IS BOUNDED · INCOMPLETE IS NOT “SAFE”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13 / 28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49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03 / 核心机制&lt;/Text&gt;&#13;&#10;    &lt;/Box&gt;&#13;&#10;    &lt;Text style={{ position: 'absolute', left: 56, top: 62, fontFamily: 'Microsoft YaHei', fontSize: 31, fontWeight: 'bold', color: '#F2F7F8', letterSpacing: 0.5 }}&gt;从 A/B 到实验分析：结果要能读懂&lt;/Text&gt;&#13;&#10;    &lt;Text style={{ position: 'absolute', right: 56, top: 76, fontFamily: 'Consolas', fontSize: 10.5, color: 'rgba(242,247,248,0.42)' }}&gt;SAME INPUT · TWO RUNS&lt;/Text&gt;&#13;&#10;&#13;&#10;    &lt;Box style={{ position: 'absolute', left: 56, top: 140, width: 620, height: 268, padding: 18, background: 'linear-gradient(145deg, rgba(242,247,248,0.05) 0%, rgba(242,247,248,0.02) 100%)', border: '1px solid rgba(242,247,248,0.10)', borderRadius: 10 }}&gt;&#13;&#10;        &lt;Box style={{ flexDirection: 'row', justifyContent: 'space-between', alignItems: 'center' }}&gt;&#13;&#10;            &lt;Text style={{ fontFamily: 'Microsoft YaHei', fontSize: 15, fontWeight: 'bold', color: '#F2F7F8' }}&gt;A/B 对照&lt;/Text&gt;&#13;&#10;            &lt;Text style={{ fontFamily: 'Consolas', fontSize: 9, color: 'rgba(242,247,248,0.36)' }}&gt;同源重算&lt;/Text&gt;&#13;&#10;        &lt;/Box&gt;&#13;&#10;&#13;&#10;        &lt;Box style={{ marginTop: 10, flexDirection: 'row', alignItems: 'flex-end', height: 26 }}&gt;&#13;&#10;            &lt;Text style={{ width: 190, fontFamily: 'Consolas', fontSize: 9, color: 'rgba(242,247,248,0.30)' }}&gt;METRIC&lt;/Text&gt;&#13;&#10;            &lt;Box style={{ width: 150 }}&gt;&#13;&#10;                &lt;Text style={{ fontFamily: 'Consolas', fontSize: 9, color: 'rgba(242,247,248,0.40)', letterSpacing: 1 }}&gt;A / ORIGINAL&lt;/Text&gt;&#13;&#10;                &lt;Text style={{ marginTop: 1, fontFamily: 'Microsoft YaHei', fontSize: 10, color: 'rgba(242,247,248,0.44)' }}&gt;原始配置&lt;/Text&gt;&#13;&#10;            &lt;/Box&gt;&#13;&#10;            &lt;Text style={{ width: 40, textAlign: 'center', fontFamily: 'Consolas', fontSize: 12, color: 'rgba(107,200,209,0.50)' }}&gt;→&lt;/Text&gt;&#13;&#10;            &lt;Box style={{ width: 190 }}&gt;&#13;&#10;                &lt;Text style={{ fontFamily: 'Consolas', fontSize: 9, color: '#6BC8D1', letterSpacing: 1 }}&gt;B / CURRENT&lt;/Text&gt;&#13;&#10;                &lt;Text style={{ marginTop: 1, fontFamily: 'Microsoft YaHei', fontSize: 10, color: 'rgba(242,247,248,0.44)' }}&gt;当前安全策略&lt;/Text&gt;&#13;&#10;            &lt;/Box&gt;&#13;&#10;        &lt;/Box&gt;&#13;&#10;&#13;&#10;        &lt;Box style={{ marginTop: 6, flexDirection: 'row', alignItems: 'center', height: 34, borderTop: '1px solid rgba(242,247,248,0.10)' }}&gt;&#13;&#10;            &lt;Text style={{ width: 190, fontFamily: 'Microsoft YaHei', fontSize: 11, color: 'rgba(242,247,248,0.52)' }}&gt;关键数据目标&lt;/Text&gt;&#13;&#10;            &lt;Text style={{ width: 150, fontFamily: 'Microsoft YaHei', fontSize: 13, fontWeight: 'bold', color: '#E78172' }}&gt;可达&lt;/Text&gt;&#13;&#10;            &lt;Text style={{ width: 40, textAlign: 'center', fontFamily: 'Consolas', fontSize: 11, color: 'rgba(242,247,248,0.34)' }}&gt;→&lt;/Text&gt;&#13;&#10;            &lt;Text style={{ width: 190, fontFamily: 'Microsoft YaHei', fontSize: 13, fontWeight: 'bold', color: '#6BC8D1' }}&gt;受保护&lt;/Text&gt;&#13;&#10;        &lt;/Box&gt;&#13;&#10;        &lt;Box style={{ flexDirection: 'row', alignItems: 'center', height: 34, borderTop: '1px solid rgba(242,247,248,0.10)' }}&gt;&#13;&#10;            &lt;Text style={{ width: 190, fontFamily: 'Microsoft YaHei', fontSize: 11, color: 'rgba(242,247,248,0.52)' }}&gt;必要业务可达&lt;/Text&gt;&#13;&#10;            &lt;Text style={{ width: 150, fontFamily: 'Consolas', fontSize: 13, fontWeight: 'bold', color: '#F2F7F8' }}&gt;100%&lt;/Text&gt;&#13;&#10;            &lt;Text style={{ width: 40, textAlign: 'center', fontFamily: 'Consolas', fontSize: 11, color: 'rgba(242,247,248,0.34)' }}&gt;→&lt;/Text&gt;&#13;&#10;            &lt;Text style={{ width: 190, fontFamily: 'Consolas', fontSize: 13, fontWeight: 'bold', color: '#6BC8D1' }}&gt;100%&lt;/Text&gt;&#13;&#10;        &lt;/Box&gt;&#13;&#10;        &lt;Box style={{ flexDirection: 'row', alignItems: 'center', height: 34, borderTop: '1px solid rgba(242,247,248,0.10)' }}&gt;&#13;&#10;            &lt;Text style={{ width: 190, fontFamily: 'Microsoft YaHei', fontSize: 11, color: 'rgba(242,247,248,0.52)' }}&gt;代表链长度&lt;/Text&gt;&#13;&#10;            &lt;Text style={{ width: 150, fontFamily: 'Consolas', fontSize: 13, fontWeight: 'bold', color: '#F2F7F8' }}&gt;3&lt;/Text&gt;&#13;&#10;            &lt;Text style={{ width: 40, textAlign: 'center', fontFamily: 'Consolas', fontSize: 11, color: 'rgba(242,247,248,0.34)' }}&gt;→&lt;/Text&gt;&#13;&#10;            &lt;Text style={{ width: 190, fontFamily: 'Consolas', fontSize: 13, fontWeight: 'bold', color: '#F2F7F8' }}&gt;3&lt;/Text&gt;&#13;&#10;        &lt;/Box&gt;&#13;&#10;        &lt;Box style={{ flexDirection: 'row', alignItems: 'center', height: 34, borderTop: '1px solid rgba(242,247,248,0.10)' }}&gt;&#13;&#10;            &lt;Text style={{ width: 190, fontFamily: 'Microsoft YaHei', fontSize: 11, color: 'rgba(242,247,248,0.52)' }}&gt;搜索完整性&lt;/Text&gt;&#13;&#10;            &lt;Text style={{ width: 150, fontFamily: 'Microsoft YaHei', fontSize: 13, fontWeight: 'bold', color: '#F2F7F8' }}&gt;完整&lt;/Text&gt;&#13;&#10;            &lt;Text style={{ width: 40, textAlign: 'center', fontFamily: 'Consolas', fontSize: 11, color: 'rgba(242,247,248,0.34)' }}&gt;→&lt;/Text&gt;&#13;&#10;            &lt;Text style={{ width: 190, fontFamily: 'Microsoft YaHei', fontSize: 13, fontWeight: 'bold', color: '#6BC8D1' }}&gt;完整&lt;/Text&gt;&#13;&#10;        &lt;/Box&gt;&#13;&#10;        &lt;Text style={{ marginTop: 8, fontFamily: 'Microsoft YaHei', fontSize: 10.5, color: 'rgba(242,247,248,0.44)', lineHeight: 1.6 }}&gt;唯一变化：启用客户数据库的数据访问控制；应用 → 数据库的网络通信不变。&lt;/Text&gt;&#13;&#10;    &lt;/Box&gt;&#13;&#10;&#13;&#10;    &lt;Box style={{ position: 'absolute', left: 710, top: 140, width: 514 }}&gt;&#13;&#10;        &lt;Image src=&quot;assets/analysis.png&quot; style={{ width: 514, height: 206, objectFit: 'cover', borderRadius: 8, border: '1px solid rgba(107,200,209,0.20)' }} /&gt;&#13;&#10;        &lt;Box style={{ marginTop: 8, flexDirection: 'row', justifyContent: 'space-between', alignItems: 'center' }}&gt;&#13;&#10;            &lt;Text style={{ fontFamily: 'Microsoft YaHei', fontSize: 10.5, color: 'rgba(242,247,248,0.44)' }}&gt;实验分析：结论、代表链、状态分布&lt;/Text&gt;&#13;&#10;            &lt;Text style={{ fontFamily: 'Consolas', fontSize: 9, color: '#6BC8D1' }}&gt;REAL RESULT&lt;/Text&gt;&#13;&#10;        &lt;/Box&gt;&#13;&#10;    &lt;/Box&gt;&#13;&#10;&#13;&#10;    &lt;Box style={{ position: 'absolute', left: 56, top: 428, width: 1168, height: 1, background: 'rgba(242,247,248,0.10)' }} /&gt;&#13;&#10;&#13;&#10;    &lt;Box style={{ position: 'absolute', left: 56, top: 452, width: 370 }}&gt;&#13;&#10;        &lt;Text style={{ fontFamily: 'Consolas', fontSize: 26, fontWeight: 'bold', color: '#6BC8D1', lineHeight: 1 }}&gt;01&lt;/Text&gt;&#13;&#10;        &lt;Text style={{ marginTop: 10, fontFamily: 'Microsoft YaHei', fontSize: 14.5, fontWeight: 'bold', color: '#F2F7F8' }}&gt;可信基线&lt;/Text&gt;&#13;&#10;        &lt;Text style={{ marginTop: 6, fontFamily: 'Microsoft YaHei', fontSize: 11.5, color: 'rgba(242,247,248,0.54)', lineHeight: 1.7 }}&gt;只有内置场景才有原始基线；自定义场景禁用 A/B，避免“自己和自己比”的伪对照。&lt;/Text&gt;&#13;&#10;    &lt;/Box&gt;&#13;&#10;    &lt;Box style={{ position: 'absolute', left: 456, top: 452, width: 370 }}&gt;&#13;&#10;        &lt;Text style={{ fontFamily: 'Consolas', fontSize: 26, fontWeight: 'bold', color: '#6BC8D1', lineHeight: 1 }}&gt;02&lt;/Text&gt;&#13;&#10;        &lt;Text style={{ marginTop: 10, fontFamily: 'Microsoft YaHei', fontSize: 14.5, fontWeight: 'bold', color: '#F2F7F8' }}&gt;指纹失效&lt;/Text&gt;&#13;&#10;        &lt;Text style={{ marginTop: 6, fontFamily: 'Microsoft YaHei', fontSize: 11.5, color: 'rgba(242,247,248,0.54)', lineHeight: 1.7 }}&gt;拓扑、策略或安全控制一变，结果立即过期；只调整三维布局不会让计算结果失效。&lt;/Text&gt;&#13;&#10;    &lt;/Box&gt;&#13;&#10;    &lt;Box style={{ position: 'absolute', left: 856, top: 452, width: 370 }}&gt;&#13;&#10;        &lt;Text style={{ fontFamily: 'Consolas', fontSize: 26, fontWeight: 'bold', color: '#6BC8D1', lineHeight: 1 }}&gt;03&lt;/Text&gt;&#13;&#10;        &lt;Text style={{ marginTop: 10, fontFamily: 'Microsoft YaHei', fontSize: 14.5, fontWeight: 'bold', color: '#F2F7F8' }}&gt;链接与报告&lt;/Text&gt;&#13;&#10;        &lt;Text style={{ marginTop: 6, fontFamily: 'Microsoft YaHei', fontSize: 11.5, color: 'rgba(242,247,248,0.54)', lineHeight: 1.7 }}&gt;场景压缩进 URL，接收方本地重算；实验报告可一键打开打印，不依赖后端。&lt;/Text&gt;&#13;&#10;    &lt;/Box&gt;&#13;&#10;&#13;&#10;    &lt;Box style={{ position: 'absolute', left: 56, top: 572, width: 1168, paddingTop: 12, borderTop: '1px solid rgba(242,247,248,0.10)', flexDirection: 'row', alignItems: 'center', gap: 10 }}&gt;&#13;&#10;        &lt;Box style={{ width: 20, height: 1, background: '#6BC8D1' }} /&gt;&#13;&#10;        &lt;Text style={{ fontFamily: 'Microsoft YaHei', fontSize: 11.5, color: 'rgba(242,247,248,0.48)' }}&gt;A/B 解释“变了多少”，分析页解释“为什么变”；两者都引用同一轮计算结果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4 / 2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2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核心机制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66725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从</a:t>
            </a:r>
            <a:r>
              <a:rPr lang="en-US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 A/B </a:t>
            </a: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到实验分析：结果要能读懂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10496550" y="723900"/>
            <a:ext cx="1162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SAME INPUT · TWO RUNS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533400" y="1333500"/>
            <a:ext cx="5905500" cy="2552700"/>
          </a:xfrm>
          <a:prstGeom prst="roundRect">
            <a:avLst>
              <a:gd name="adj" fmla="val 3731"/>
            </a:avLst>
          </a:prstGeom>
          <a:gradFill>
            <a:gsLst>
              <a:gs pos="0">
                <a:srgbClr val="F2F7F8">
                  <a:alpha val="5000"/>
                </a:srgbClr>
              </a:gs>
              <a:gs pos="100000">
                <a:srgbClr val="F2F7F8">
                  <a:alpha val="2000"/>
                </a:srgbClr>
              </a:gs>
            </a:gsLst>
            <a:lin ang="3300000" scaled="1"/>
          </a:gradFill>
          <a:ln w="12700">
            <a:solidFill>
              <a:srgbClr val="F2F7F8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04850" y="1504950"/>
            <a:ext cx="609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2F7F8"/>
                </a:solidFill>
                <a:latin typeface="Microsoft YaHei"/>
                <a:ea typeface="Microsoft YaHei"/>
              </a:rPr>
              <a:t>A/B </a:t>
            </a:r>
            <a:r>
              <a:rPr lang="zh-CN" sz="1125" b="1">
                <a:solidFill>
                  <a:srgbClr val="F2F7F8"/>
                </a:solidFill>
                <a:latin typeface="Microsoft YaHei"/>
                <a:ea typeface="Microsoft YaHei"/>
              </a:rPr>
              <a:t>对照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5619750" y="1543050"/>
            <a:ext cx="6477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2F7F8">
                    <a:alpha val="36000"/>
                  </a:srgbClr>
                </a:solidFill>
                <a:latin typeface="Consolas"/>
                <a:ea typeface="Consolas"/>
              </a:rPr>
              <a:t>同源重算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04850" y="1914525"/>
            <a:ext cx="1809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METRIC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2514600" y="1790700"/>
            <a:ext cx="1428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75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A / ORIGINAL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2514600" y="1905000"/>
            <a:ext cx="1428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原始配置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3943350" y="1876425"/>
            <a:ext cx="3810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900">
                <a:solidFill>
                  <a:srgbClr val="6BC8D1">
                    <a:alpha val="50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4324350" y="1790700"/>
            <a:ext cx="1809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75">
                <a:solidFill>
                  <a:srgbClr val="6BC8D1"/>
                </a:solidFill>
                <a:latin typeface="Consolas"/>
                <a:ea typeface="Consolas"/>
              </a:rPr>
              <a:t>B / CURRENT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4324350" y="1905000"/>
            <a:ext cx="1809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当前安全策略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704850" y="2076450"/>
            <a:ext cx="5562600" cy="323850"/>
          </a:xfrm>
          <a:custGeom>
            <a:pathLst>
              <a:path w="584" h="34">
                <a:moveTo>
                  <a:pt x="0" y="0"/>
                </a:moveTo>
                <a:lnTo>
                  <a:pt x="584" y="0"/>
                </a:lnTo>
                <a:lnTo>
                  <a:pt x="58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704850" y="2181225"/>
            <a:ext cx="1809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关键数据目标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2514600" y="217170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78172"/>
                </a:solidFill>
                <a:latin typeface="Microsoft YaHei"/>
                <a:ea typeface="Microsoft YaHei"/>
              </a:rPr>
              <a:t>可达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3943350" y="2181225"/>
            <a:ext cx="3810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82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4324350" y="217170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BC8D1"/>
                </a:solidFill>
                <a:latin typeface="Microsoft YaHei"/>
                <a:ea typeface="Microsoft YaHei"/>
              </a:rPr>
              <a:t>受保护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704850" y="2400300"/>
            <a:ext cx="5562600" cy="323850"/>
          </a:xfrm>
          <a:custGeom>
            <a:pathLst>
              <a:path w="584" h="34">
                <a:moveTo>
                  <a:pt x="0" y="0"/>
                </a:moveTo>
                <a:lnTo>
                  <a:pt x="584" y="0"/>
                </a:lnTo>
                <a:lnTo>
                  <a:pt x="58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04850" y="2505075"/>
            <a:ext cx="1809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必要业务可达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2514600" y="24955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2F7F8"/>
                </a:solidFill>
                <a:latin typeface="Consolas"/>
                <a:ea typeface="Consolas"/>
              </a:rPr>
              <a:t>100%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3943350" y="2505075"/>
            <a:ext cx="3810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82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4324350" y="249555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6BC8D1"/>
                </a:solidFill>
                <a:latin typeface="Consolas"/>
                <a:ea typeface="Consolas"/>
              </a:rPr>
              <a:t>100%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704850" y="2724150"/>
            <a:ext cx="5562600" cy="323850"/>
          </a:xfrm>
          <a:custGeom>
            <a:pathLst>
              <a:path w="584" h="34">
                <a:moveTo>
                  <a:pt x="0" y="0"/>
                </a:moveTo>
                <a:lnTo>
                  <a:pt x="584" y="0"/>
                </a:lnTo>
                <a:lnTo>
                  <a:pt x="58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704850" y="2828925"/>
            <a:ext cx="1809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代表链长度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2514600" y="281940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2F7F8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3943350" y="2828925"/>
            <a:ext cx="3810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82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4324350" y="281940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2F7F8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704850" y="3048000"/>
            <a:ext cx="5562600" cy="323850"/>
          </a:xfrm>
          <a:custGeom>
            <a:pathLst>
              <a:path w="584" h="34">
                <a:moveTo>
                  <a:pt x="0" y="0"/>
                </a:moveTo>
                <a:lnTo>
                  <a:pt x="584" y="0"/>
                </a:lnTo>
                <a:lnTo>
                  <a:pt x="58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704850" y="3152775"/>
            <a:ext cx="1809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搜索完整性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2514600" y="31432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完整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3943350" y="3152775"/>
            <a:ext cx="3810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825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4324350" y="314325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BC8D1"/>
                </a:solidFill>
                <a:latin typeface="Microsoft YaHei"/>
                <a:ea typeface="Microsoft YaHei"/>
              </a:rPr>
              <a:t>完整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04850" y="3448050"/>
            <a:ext cx="5562600" cy="2000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唯一变化：启用客户数据库的数据访问控制；应用</a:t>
            </a:r>
            <a:r>
              <a:rPr lang="en-US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数据库的网络通信不变。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6762750" y="1333500"/>
            <a:ext cx="4895850" cy="1962150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86" name=""/>
          <p:cNvPicPr>
            <a:picLocks noChangeAspect="1"/>
          </p:cNvPicPr>
          <p:nvPr/>
        </p:nvPicPr>
        <p:blipFill>
          <a:blip r:embed="rId2"/>
          <a:srcRect l="0" t="15" r="0" b="15"/>
          <a:stretch>
            <a:fillRect/>
          </a:stretch>
        </p:blipFill>
        <p:spPr>
          <a:xfrm rot="0" flipH="0" flipV="0">
            <a:off x="6762750" y="1333500"/>
            <a:ext cx="4895850" cy="1962150"/>
          </a:xfrm>
          <a:prstGeom prst="roundRect">
            <a:avLst>
              <a:gd name="adj" fmla="val 3883"/>
            </a:avLst>
          </a:prstGeom>
          <a:ln/>
        </p:spPr>
      </p:pic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762750" y="3371850"/>
            <a:ext cx="1600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实验分析：结论、代表链、状态分布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1134725" y="3381375"/>
            <a:ext cx="5238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REAL RESULT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533400" y="40767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533400" y="4305300"/>
            <a:ext cx="3524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533400" y="4705350"/>
            <a:ext cx="3524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可信基线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533400" y="4933950"/>
            <a:ext cx="35242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只有内置场景才有原始基线；自定义场景禁用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A/B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，避免“自己和自己比”的伪对照。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4343400" y="4305300"/>
            <a:ext cx="3524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4343400" y="4705350"/>
            <a:ext cx="3524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指纹失效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4343400" y="4933950"/>
            <a:ext cx="35242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拓扑、策略或安全控制一变，结果立即过期；只调整三维布局不会让计算结果失效。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153400" y="4305300"/>
            <a:ext cx="3524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153400" y="4705350"/>
            <a:ext cx="3524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2F7F8"/>
                </a:solidFill>
                <a:latin typeface="Microsoft YaHei"/>
                <a:ea typeface="Microsoft YaHei"/>
              </a:rPr>
              <a:t>链接与报告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153400" y="4933950"/>
            <a:ext cx="35242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场景压缩进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URL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，接收方本地重算；实验报告可一键打开打印，不依赖后端。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533400" y="5448300"/>
            <a:ext cx="11125200" cy="266700"/>
          </a:xfrm>
          <a:custGeom>
            <a:pathLst>
              <a:path w="1168" h="28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00" name=""/>
          <p:cNvSpPr/>
          <p:nvPr/>
        </p:nvSpPr>
        <p:spPr>
          <a:xfrm rot="0" flipH="0" flipV="0">
            <a:off x="533400" y="5638800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819150" y="5572125"/>
            <a:ext cx="3952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A/B </a:t>
            </a:r>
            <a:r>
              <a:rPr lang="zh-CN" sz="863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解释“变了多少”，分析页解释“为什么变”；两者都引用同一轮计算结果。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14 / 28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05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    &lt;circle cx='1180' cy='120' r='250' fill='rgba(107,200,209,0.035)' /&gt;&#13;&#10;    &lt;/svg&gt;&#13;&#10;&#13;&#10;    &lt;Box style={{ position: 'absolute', left: 56, top: 38 }}&gt;&#13;&#10;        &lt;Text style={{ fontFamily: 'Consolas', fontSize: 11, color: '#6BC8D1', letterSpacing: 1.8 }}&gt;03 / 核心机制&lt;/Text&gt;&#13;&#10;    &lt;/Box&gt;&#13;&#10;    &lt;Text style={{ position: 'absolute', left: 56, top: 62, fontFamily: 'Microsoft YaHei', fontSize: 32, fontWeight: 'bold', color: '#F2F7F8', letterSpacing: 0.5 }}&gt;工程实现：纯前端、确定性、可测试&lt;/Text&gt;&#13;&#10;    &lt;Text style={{ position: 'absolute', right: 56, top: 76, fontFamily: 'Consolas', fontSize: 10.5, color: 'rgba(242,247,248,0.42)' }}&gt;VUE 3 · TYPESCRIPT · THREE.JS&lt;/Text&gt;&#13;&#10;&#13;&#10;    &lt;Box style={{ position: 'absolute', left: 56, top: 140, width: 600 }}&gt;&#13;&#10;        &lt;Text style={{ fontFamily: 'Consolas', fontSize: 9.5, color: 'rgba(242,247,248,0.42)', letterSpacing: 1.2 }}&gt;STACK / PURE FRONTEND&lt;/Text&gt;&#13;&#10;        &lt;Box style={{ marginTop: 12 }}&gt;&#13;&#10;            &lt;Box style={{ flexDirection: 'row', alignItems: 'center', height: 52, borderTop: '1px solid rgba(242,247,248,0.10)' }}&gt;&#13;&#10;                &lt;Text style={{ width: 74, fontFamily: 'Consolas', fontSize: 9.5, color: '#6BC8D1' }}&gt;APP&lt;/Text&gt;&#13;&#10;                &lt;Text style={{ width: 190, fontFamily: 'Microsoft YaHei', fontSize: 13, fontWeight: 'bold', color: '#F2F7F8' }}&gt;应用层&lt;/Text&gt;&#13;&#10;                &lt;Text style={{ width: 330, fontFamily: 'Consolas', fontSize: 10.5, color: 'rgba(242,247,248,0.54)' }}&gt;Vue 3 · TypeScript · Vite&lt;/Text&gt;&#13;&#10;            &lt;/Box&gt;&#13;&#10;            &lt;Box style={{ flexDirection: 'row', alignItems: 'center', height: 52, borderTop: '1px solid rgba(242,247,248,0.10)' }}&gt;&#13;&#10;                &lt;Text style={{ width: 74, fontFamily: 'Consolas', fontSize: 9.5, color: '#6BC8D1' }}&gt;3D&lt;/Text&gt;&#13;&#10;                &lt;Text style={{ width: 190, fontFamily: 'Microsoft YaHei', fontSize: 13, fontWeight: 'bold', color: '#F2F7F8' }}&gt;三维层&lt;/Text&gt;&#13;&#10;                &lt;Text style={{ width: 330, fontFamily: 'Consolas', fontSize: 10.5, color: 'rgba(242,247,248,0.54)' }}&gt;Three.js · WebGL · CSS2DRenderer&lt;/Text&gt;&#13;&#10;            &lt;/Box&gt;&#13;&#10;            &lt;Box style={{ flexDirection: 'row', alignItems: 'center', height: 52, borderTop: '1px solid rgba(242,247,248,0.10)' }}&gt;&#13;&#10;                &lt;Text style={{ width: 74, fontFamily: 'Consolas', fontSize: 9.5, color: '#6BC8D1' }}&gt;CHART&lt;/Text&gt;&#13;&#10;                &lt;Text style={{ width: 190, fontFamily: 'Microsoft YaHei', fontSize: 13, fontWeight: 'bold', color: '#F2F7F8' }}&gt;图表层&lt;/Text&gt;&#13;&#10;                &lt;Text style={{ width: 330, fontFamily: 'Consolas', fontSize: 10.5, color: 'rgba(242,247,248,0.54)' }}&gt;ECharts · 折线 / 环图 / 热力&lt;/Text&gt;&#13;&#10;            &lt;/Box&gt;&#13;&#10;            &lt;Box style={{ flexDirection: 'row', alignItems: 'center', height: 52, borderTop: '1px solid rgba(242,247,248,0.10)' }}&gt;&#13;&#10;                &lt;Text style={{ width: 74, fontFamily: 'Consolas', fontSize: 9.5, color: '#6BC8D1' }}&gt;STATE&lt;/Text&gt;&#13;&#10;                &lt;Text style={{ width: 190, fontFamily: 'Microsoft YaHei', fontSize: 13, fontWeight: 'bold', color: '#F2F7F8' }}&gt;状态层&lt;/Text&gt;&#13;&#10;                &lt;Text style={{ width: 330, fontFamily: 'Consolas', fontSize: 10.5, color: 'rgba(242,247,248,0.54)' }}&gt;Pinia · Vue Router · localStorage&lt;/Text&gt;&#13;&#10;            &lt;/Box&gt;&#13;&#10;            &lt;Box style={{ flexDirection: 'row', alignItems: 'center', height: 52, borderTop: '1px solid rgba(242,247,248,0.10)', borderBottom: '1px solid rgba(242,247,248,0.10)' }}&gt;&#13;&#10;                &lt;Text style={{ width: 74, fontFamily: 'Consolas', fontSize: 9.5, color: '#6BC8D1' }}&gt;TEST&lt;/Text&gt;&#13;&#10;                &lt;Text style={{ width: 190, fontFamily: 'Microsoft YaHei', fontSize: 13, fontWeight: 'bold', color: '#F2F7F8' }}&gt;质量层&lt;/Text&gt;&#13;&#10;                &lt;Text style={{ width: 330, fontFamily: 'Consolas', fontSize: 10.5, color: 'rgba(242,247,248,0.54)' }}&gt;Vitest · vue-tsc · 场景一致性校验&lt;/Text&gt;&#13;&#10;            &lt;/Box&gt;&#13;&#10;        &lt;/Box&gt;&#13;&#10;&#13;&#10;        &lt;Box style={{ marginTop: 26, flexDirection: 'row', alignItems: 'center', gap: 8 }}&gt;&#13;&#10;            &lt;Box style={{ paddingLeft: 10, paddingRight: 10, paddingTop: 6, paddingBottom: 6, border: '1px solid rgba(242,247,248,0.14)', borderRadius: 4 }}&gt;&#13;&#10;                &lt;Text style={{ fontFamily: 'Consolas', fontSize: 9.5, color: 'rgba(242,247,248,0.62)' }}&gt;UI&lt;/Text&gt;&#13;&#10;            &lt;/Box&gt;&#13;&#10;            &lt;Text style={{ fontFamily: 'Consolas', fontSize: 12, color: 'rgba(107,200,209,0.60)' }}&gt;→&lt;/Text&gt;&#13;&#10;            &lt;Box style={{ paddingLeft: 10, paddingRight: 10, paddingTop: 6, paddingBottom: 6, border: '1px solid rgba(242,247,248,0.14)', borderRadius: 4 }}&gt;&#13;&#10;                &lt;Text style={{ fontFamily: 'Consolas', fontSize: 9.5, color: 'rgba(242,247,248,0.62)' }}&gt;STORES&lt;/Text&gt;&#13;&#10;            &lt;/Box&gt;&#13;&#10;            &lt;Text style={{ fontFamily: 'Consolas', fontSize: 12, color: 'rgba(107,200,209,0.60)' }}&gt;→&lt;/Text&gt;&#13;&#10;            &lt;Box style={{ paddingLeft: 10, paddingRight: 10, paddingTop: 6, paddingBottom: 6, border: '1px solid rgba(107,200,209,0.32)', borderRadius: 4, background: 'rgba(107,200,209,0.07)' }}&gt;&#13;&#10;                &lt;Text style={{ fontFamily: 'Consolas', fontSize: 9.5, color: '#6BC8D1' }}&gt;ENGINES&lt;/Text&gt;&#13;&#10;            &lt;/Box&gt;&#13;&#10;            &lt;Text style={{ fontFamily: 'Consolas', fontSize: 12, color: 'rgba(107,200,209,0.60)' }}&gt;→&lt;/Text&gt;&#13;&#10;            &lt;Box style={{ paddingLeft: 10, paddingRight: 10, paddingTop: 6, paddingBottom: 6, border: '1px solid rgba(242,247,248,0.14)', borderRadius: 4 }}&gt;&#13;&#10;                &lt;Text style={{ fontFamily: 'Consolas', fontSize: 9.5, color: 'rgba(242,247,248,0.62)' }}&gt;TYPES&lt;/Text&gt;&#13;&#10;            &lt;/Box&gt;&#13;&#10;        &lt;/Box&gt;&#13;&#10;        &lt;Text style={{ marginTop: 10, fontFamily: 'Microsoft YaHei', fontSize: 10.5, color: 'rgba(242,247,248,0.42)', lineHeight: 1.7 }}&gt;判定逻辑全部在引擎层；界面只负责输入与呈现，可被单独测试。&lt;/Text&gt;&#13;&#10;    &lt;/Box&gt;&#13;&#10;&#13;&#10;    &lt;Box style={{ position: 'absolute', left: 704, top: 144, width: 520 }}&gt;&#13;&#10;        &lt;Box style={{ flexDirection: 'row', gap: 16 }}&gt;&#13;&#10;            &lt;Box style={{ width: 252, height: 128, padding: 14, borderTop: '2px solid #6BC8D1' }}&gt;&#13;&#10;                &lt;Text style={{ fontFamily: 'Consolas', fontSize: 50, fontWeight: 'bold', color: '#F2F7F8', lineHeight: 1 }}&gt;10,121&lt;/Text&gt;&#13;&#10;                &lt;Text style={{ marginTop: 8, fontFamily: 'Microsoft YaHei', fontSize: 11, color: 'rgba(242,247,248,0.46)' }}&gt;行源码&lt;/Text&gt;&#13;&#10;            &lt;/Box&gt;&#13;&#10;            &lt;Box style={{ width: 252, height: 128, padding: 14, borderTop: '2px solid rgba(242,247,248,0.18)' }}&gt;&#13;&#10;                &lt;Text style={{ fontFamily: 'Consolas', fontSize: 50, fontWeight: 'bold', color: '#F2F7F8', lineHeight: 1 }}&gt;07&lt;/Text&gt;&#13;&#10;                &lt;Text style={{ marginTop: 8, fontFamily: 'Microsoft YaHei', fontSize: 11, color: 'rgba(242,247,248,0.46)' }}&gt;个实验场景&lt;/Text&gt;&#13;&#10;            &lt;/Box&gt;&#13;&#10;        &lt;/Box&gt;&#13;&#10;        &lt;Box style={{ marginTop: 18, flexDirection: 'row', gap: 16 }}&gt;&#13;&#10;            &lt;Box style={{ width: 252, height: 128, padding: 14, borderTop: '2px solid #6BC8D1' }}&gt;&#13;&#10;                &lt;Text style={{ fontFamily: 'Consolas', fontSize: 50, fontWeight: 'bold', color: '#6BC8D1', lineHeight: 1 }}&gt;111&lt;/Text&gt;&#13;&#10;                &lt;Text style={{ marginTop: 8, fontFamily: 'Microsoft YaHei', fontSize: 11, color: 'rgba(242,247,248,0.46)' }}&gt;项自动化测试&lt;/Text&gt;&#13;&#10;            &lt;/Box&gt;&#13;&#10;            &lt;Box style={{ width: 252, height: 128, padding: 14, borderTop: '2px solid rgba(242,247,248,0.18)' }}&gt;&#13;&#10;                &lt;Text style={{ fontFamily: 'Consolas', fontSize: 50, fontWeight: 'bold', color: '#F2F7F8', lineHeight: 1 }}&gt;0&lt;/Text&gt;&#13;&#10;                &lt;Text style={{ marginTop: 8, fontFamily: 'Microsoft YaHei', fontSize: 11, color: 'rgba(242,247,248,0.46)' }}&gt;后端依赖&lt;/Text&gt;&#13;&#10;            &lt;/Box&gt;&#13;&#10;        &lt;/Box&gt;&#13;&#10;        &lt;Box style={{ marginTop: 20, paddingTop: 12, borderTop: '1px solid rgba(242,247,248,0.10)' }}&gt;&#13;&#10;            &lt;Text style={{ fontFamily: 'Consolas', fontSize: 9.5, color: '#6BC8D1', letterSpacing: 1 }}&gt;9 TEST FILES · ALL PASSING&lt;/Text&gt;&#13;&#10;            &lt;Text style={{ marginTop: 6, fontFamily: 'Microsoft YaHei', fontSize: 11, color: 'rgba(242,247,248,0.46)', lineHeight: 1.7 }}&gt;覆盖通信路径、状态搜索、挑战判定、场景一致性与分享编解码。&lt;/Text&gt;&#13;&#10;        &lt;/Box&gt;&#13;&#10;    &lt;/Box&gt;&#13;&#10;&#13;&#10;    &lt;Box style={{ position: 'absolute', left: 56, top: 530, width: 1168, paddingTop: 14, borderTop: '1px solid rgba(242,247,248,0.10)', flexDirection: 'row', alignItems: 'center', gap: 10 }}&gt;&#13;&#10;        &lt;Box style={{ width: 20, height: 1, background: '#6BC8D1' }} /&gt;&#13;&#10;        &lt;Text style={{ fontFamily: 'Microsoft YaHei', fontSize: 12, color: 'rgba(242,247,248,0.50)' }}&gt;纯前端不是省掉工程，而是把复杂度放进可测试、可复现的引擎；同输入，同结果。&lt;/Text&gt;&#13;&#10;    &lt;/Box&gt;&#13;&#10;    &lt;Box style={{ position: 'absolute', left: 56, top: 590, flexDirection: 'row', alignItems: 'center', gap: 18 }}&gt;&#13;&#10;        &lt;Text style={{ fontFamily: 'Consolas', fontSize: 9.5, color: 'rgba(242,247,248,0.34)' }}&gt;BUILD · npm run build&lt;/Text&gt;&#13;&#10;        &lt;Box style={{ width: 1, height: 10, background: 'rgba(242,247,248,0.14)' }} /&gt;&#13;&#10;        &lt;Text style={{ fontFamily: 'Consolas', fontSize: 9.5, color: 'rgba(242,247,248,0.34)' }}&gt;TEST · npm run test&lt;/Text&gt;&#13;&#10;        &lt;Box style={{ width: 1, height: 10, background: 'rgba(242,247,248,0.14)' }} /&gt;&#13;&#10;        &lt;Text style={{ fontFamily: 'Consolas', fontSize: 9.5, color: 'rgba(242,247,248,0.34)' }}&gt;111 / 111 PASSING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5 / 2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3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095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核心机制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953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工程实现：纯前端、确定性、可测试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10058400" y="723900"/>
            <a:ext cx="1600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VUE 3 · TYPESCRIPT · THREE.JS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533400" y="1333500"/>
            <a:ext cx="5715000" cy="219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STACK / PURE FRONTEND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533400" y="1666875"/>
            <a:ext cx="5715000" cy="495300"/>
          </a:xfrm>
          <a:custGeom>
            <a:pathLst>
              <a:path w="600" h="52">
                <a:moveTo>
                  <a:pt x="0" y="0"/>
                </a:moveTo>
                <a:lnTo>
                  <a:pt x="600" y="0"/>
                </a:lnTo>
                <a:lnTo>
                  <a:pt x="60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533400" y="1866900"/>
            <a:ext cx="704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APP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238250" y="184785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应用层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3048000" y="1857375"/>
            <a:ext cx="31432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Vue 3 · TypeScript · Vite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533400" y="2162175"/>
            <a:ext cx="5715000" cy="495300"/>
          </a:xfrm>
          <a:custGeom>
            <a:pathLst>
              <a:path w="600" h="52">
                <a:moveTo>
                  <a:pt x="0" y="0"/>
                </a:moveTo>
                <a:lnTo>
                  <a:pt x="600" y="0"/>
                </a:lnTo>
                <a:lnTo>
                  <a:pt x="60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533400" y="2362200"/>
            <a:ext cx="704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3D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238250" y="234315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三维层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3048000" y="2352675"/>
            <a:ext cx="31432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Three.js · WebGL · CSS2DRenderer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533400" y="2657475"/>
            <a:ext cx="5715000" cy="495300"/>
          </a:xfrm>
          <a:custGeom>
            <a:pathLst>
              <a:path w="600" h="52">
                <a:moveTo>
                  <a:pt x="0" y="0"/>
                </a:moveTo>
                <a:lnTo>
                  <a:pt x="600" y="0"/>
                </a:lnTo>
                <a:lnTo>
                  <a:pt x="60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533400" y="2857500"/>
            <a:ext cx="704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CHART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238250" y="283845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图表层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3048000" y="2847975"/>
            <a:ext cx="31432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ECharts · </a:t>
            </a:r>
            <a:r>
              <a:rPr lang="zh-CN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折线</a:t>
            </a: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 / </a:t>
            </a:r>
            <a:r>
              <a:rPr lang="zh-CN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环图</a:t>
            </a: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 / </a:t>
            </a:r>
            <a:r>
              <a:rPr lang="zh-CN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热力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533400" y="3152775"/>
            <a:ext cx="5715000" cy="495300"/>
          </a:xfrm>
          <a:custGeom>
            <a:pathLst>
              <a:path w="600" h="52">
                <a:moveTo>
                  <a:pt x="0" y="0"/>
                </a:moveTo>
                <a:lnTo>
                  <a:pt x="600" y="0"/>
                </a:lnTo>
                <a:lnTo>
                  <a:pt x="60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33400" y="3352800"/>
            <a:ext cx="704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STATE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238250" y="333375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状态层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3048000" y="3343275"/>
            <a:ext cx="31432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Pinia · Vue Router · localStorage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533400" y="3648075"/>
            <a:ext cx="5715000" cy="495300"/>
          </a:xfrm>
          <a:custGeom>
            <a:pathLst>
              <a:path w="600" h="52">
                <a:moveTo>
                  <a:pt x="0" y="0"/>
                </a:moveTo>
                <a:lnTo>
                  <a:pt x="600" y="0"/>
                </a:lnTo>
                <a:lnTo>
                  <a:pt x="60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29" name=""/>
          <p:cNvSpPr/>
          <p:nvPr/>
        </p:nvSpPr>
        <p:spPr>
          <a:xfrm rot="0" flipH="0" flipV="0">
            <a:off x="533400" y="3648075"/>
            <a:ext cx="5715000" cy="495300"/>
          </a:xfrm>
          <a:custGeom>
            <a:pathLst>
              <a:path w="600" h="52">
                <a:moveTo>
                  <a:pt x="0" y="51"/>
                </a:moveTo>
                <a:lnTo>
                  <a:pt x="600" y="51"/>
                </a:lnTo>
                <a:lnTo>
                  <a:pt x="600" y="52"/>
                </a:lnTo>
                <a:lnTo>
                  <a:pt x="0" y="52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533400" y="3838575"/>
            <a:ext cx="7048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TEST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238250" y="3819525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质量层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3048000" y="3838575"/>
            <a:ext cx="31432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Vitest · vue-tsc · </a:t>
            </a:r>
            <a:r>
              <a:rPr lang="zh-CN" sz="788">
                <a:solidFill>
                  <a:srgbClr val="F2F7F8">
                    <a:alpha val="54000"/>
                  </a:srgbClr>
                </a:solidFill>
                <a:latin typeface="Consolas"/>
                <a:ea typeface="Consolas"/>
              </a:rPr>
              <a:t>场景一致性校验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533400" y="4391025"/>
            <a:ext cx="295275" cy="228600"/>
          </a:xfrm>
          <a:prstGeom prst="roundRect">
            <a:avLst>
              <a:gd name="adj" fmla="val 16667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628650" y="4448175"/>
            <a:ext cx="1047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UI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904875" y="443865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6BC8D1">
                    <a:alpha val="60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1047750" y="4391025"/>
            <a:ext cx="495300" cy="228600"/>
          </a:xfrm>
          <a:prstGeom prst="roundRect">
            <a:avLst>
              <a:gd name="adj" fmla="val 16667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1143000" y="4448175"/>
            <a:ext cx="3048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STORES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1619250" y="443865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6BC8D1">
                    <a:alpha val="60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1762125" y="4391025"/>
            <a:ext cx="542925" cy="228600"/>
          </a:xfrm>
          <a:prstGeom prst="roundRect">
            <a:avLst>
              <a:gd name="adj" fmla="val 16667"/>
            </a:avLst>
          </a:prstGeom>
          <a:solidFill>
            <a:srgbClr val="6BC8D1">
              <a:alpha val="7000"/>
            </a:srgbClr>
          </a:solidFill>
          <a:ln w="12700">
            <a:solidFill>
              <a:srgbClr val="6BC8D1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1857375" y="4448175"/>
            <a:ext cx="3524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ENGINES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2381250" y="4438650"/>
            <a:ext cx="66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6BC8D1">
                    <a:alpha val="60000"/>
                  </a:srgbClr>
                </a:solidFill>
                <a:latin typeface="Consolas"/>
                <a:ea typeface="Consolas"/>
              </a:rPr>
              <a:t>→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2524125" y="4391025"/>
            <a:ext cx="447675" cy="228600"/>
          </a:xfrm>
          <a:prstGeom prst="roundRect">
            <a:avLst>
              <a:gd name="adj" fmla="val 16667"/>
            </a:avLst>
          </a:prstGeom>
          <a:ln w="12700">
            <a:solidFill>
              <a:srgbClr val="F2F7F8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2619375" y="4448175"/>
            <a:ext cx="2571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62000"/>
                  </a:srgbClr>
                </a:solidFill>
                <a:latin typeface="Consolas"/>
                <a:ea typeface="Consolas"/>
              </a:rPr>
              <a:t>TYPES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533400" y="4714875"/>
            <a:ext cx="5715000" cy="209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88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判定逻辑全部在引擎层；界面只负责输入与呈现，可被单独测试。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6705600" y="1371600"/>
            <a:ext cx="2400300" cy="1219200"/>
          </a:xfrm>
          <a:custGeom>
            <a:pathLst>
              <a:path w="252" h="128">
                <a:moveTo>
                  <a:pt x="0" y="0"/>
                </a:moveTo>
                <a:lnTo>
                  <a:pt x="252" y="0"/>
                </a:lnTo>
                <a:lnTo>
                  <a:pt x="252" y="2"/>
                </a:lnTo>
                <a:lnTo>
                  <a:pt x="0" y="2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6838950" y="1524000"/>
            <a:ext cx="213360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F2F7F8"/>
                </a:solidFill>
                <a:latin typeface="Consolas"/>
                <a:ea typeface="Consolas"/>
              </a:rPr>
              <a:t>10,121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6838950" y="2171700"/>
            <a:ext cx="2133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行源码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9258300" y="1371600"/>
            <a:ext cx="2400300" cy="1219200"/>
          </a:xfrm>
          <a:custGeom>
            <a:pathLst>
              <a:path w="252" h="128">
                <a:moveTo>
                  <a:pt x="0" y="0"/>
                </a:moveTo>
                <a:lnTo>
                  <a:pt x="252" y="0"/>
                </a:lnTo>
                <a:lnTo>
                  <a:pt x="252" y="2"/>
                </a:lnTo>
                <a:lnTo>
                  <a:pt x="0" y="2"/>
                </a:lnTo>
                <a:close/>
              </a:path>
            </a:pathLst>
          </a:custGeom>
          <a:solidFill>
            <a:srgbClr val="F2F7F8">
              <a:alpha val="18000"/>
            </a:srgbClr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9391650" y="1524000"/>
            <a:ext cx="213360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F2F7F8"/>
                </a:solidFill>
                <a:latin typeface="Consolas"/>
                <a:ea typeface="Consolas"/>
              </a:rPr>
              <a:t>07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9391650" y="2171700"/>
            <a:ext cx="2133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个实验场景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6705600" y="2762250"/>
            <a:ext cx="2400300" cy="1219200"/>
          </a:xfrm>
          <a:custGeom>
            <a:pathLst>
              <a:path w="252" h="128">
                <a:moveTo>
                  <a:pt x="0" y="0"/>
                </a:moveTo>
                <a:lnTo>
                  <a:pt x="252" y="0"/>
                </a:lnTo>
                <a:lnTo>
                  <a:pt x="252" y="2"/>
                </a:lnTo>
                <a:lnTo>
                  <a:pt x="0" y="2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6838950" y="2914650"/>
            <a:ext cx="213360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6BC8D1"/>
                </a:solidFill>
                <a:latin typeface="Consolas"/>
                <a:ea typeface="Consolas"/>
              </a:rPr>
              <a:t>111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838950" y="3562350"/>
            <a:ext cx="2133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项自动化测试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9258300" y="2762250"/>
            <a:ext cx="2400300" cy="1219200"/>
          </a:xfrm>
          <a:custGeom>
            <a:pathLst>
              <a:path w="252" h="128">
                <a:moveTo>
                  <a:pt x="0" y="0"/>
                </a:moveTo>
                <a:lnTo>
                  <a:pt x="252" y="0"/>
                </a:lnTo>
                <a:lnTo>
                  <a:pt x="252" y="2"/>
                </a:lnTo>
                <a:lnTo>
                  <a:pt x="0" y="2"/>
                </a:lnTo>
                <a:close/>
              </a:path>
            </a:pathLst>
          </a:custGeom>
          <a:solidFill>
            <a:srgbClr val="F2F7F8">
              <a:alpha val="18000"/>
            </a:srgbClr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9391650" y="2914650"/>
            <a:ext cx="213360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750" b="1">
                <a:solidFill>
                  <a:srgbClr val="F2F7F8"/>
                </a:solidFill>
                <a:latin typeface="Consolas"/>
                <a:ea typeface="Consolas"/>
              </a:rPr>
              <a:t>0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9391650" y="3562350"/>
            <a:ext cx="2133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后端依赖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6705600" y="4171950"/>
            <a:ext cx="4953000" cy="523875"/>
          </a:xfrm>
          <a:custGeom>
            <a:pathLst>
              <a:path w="520" h="55">
                <a:moveTo>
                  <a:pt x="0" y="0"/>
                </a:moveTo>
                <a:lnTo>
                  <a:pt x="520" y="0"/>
                </a:lnTo>
                <a:lnTo>
                  <a:pt x="52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6705600" y="4295775"/>
            <a:ext cx="4953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6BC8D1"/>
                </a:solidFill>
                <a:latin typeface="Consolas"/>
                <a:ea typeface="Consolas"/>
              </a:rPr>
              <a:t>9 TEST FILES · ALL PASSING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6705600" y="4467225"/>
            <a:ext cx="4953000" cy="2190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覆盖通信路径、状态搜索、挑战判定、场景一致性与分享编解码。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533400" y="5048250"/>
            <a:ext cx="11125200" cy="295275"/>
          </a:xfrm>
          <a:custGeom>
            <a:pathLst>
              <a:path w="1168" h="31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533400" y="5257800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819150" y="5191125"/>
            <a:ext cx="422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纯前端不是省掉工程，而是把复杂度放进可测试、可复现的引擎；同输入，同结果。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533400" y="5619750"/>
            <a:ext cx="1047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BUILD · npm run build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1752600" y="5629275"/>
            <a:ext cx="9525" cy="95250"/>
          </a:xfrm>
          <a:prstGeom prst="rect">
            <a:avLst/>
          </a:prstGeom>
          <a:solidFill>
            <a:srgbClr val="F2F7F8">
              <a:alpha val="14000"/>
            </a:srgbClr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933575" y="5619750"/>
            <a:ext cx="952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TEST · npm run test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3057525" y="5629275"/>
            <a:ext cx="9525" cy="95250"/>
          </a:xfrm>
          <a:prstGeom prst="rect">
            <a:avLst/>
          </a:prstGeom>
          <a:solidFill>
            <a:srgbClr val="F2F7F8">
              <a:alpha val="14000"/>
            </a:srgbClr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3238500" y="5619750"/>
            <a:ext cx="8477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111 / 111 PASSING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15 / 28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71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3)' strokeWidth='1'&gt;&#13;&#10;            &lt;path d='M0 80H1280M0 160H1280M0 240H1280M0 320H1280M0 400H1280M0 480H1280M0 560H1280M0 640H1280' /&gt;&#13;&#10;            &lt;path d='M80 0V720M160 0V720M240 0V720M320 0V720M400 0V720M480 0V720M560 0V720M640 0V720M720 0V720M800 0V720M880 0V720M960 0V720M1040 0V720M1120 0V720M1200 0V720' /&gt;&#13;&#10;        &lt;/g&gt;&#13;&#10;        &lt;g stroke='rgba(107,200,209,0.18)' strokeWidth='1' fill='none'&gt;&#13;&#10;            &lt;path d='M740 300L830 390L950 330L1060 430L1160 360' /&gt;&#13;&#10;            &lt;path d='M830 390L900 520L1020 480L1060 430' /&gt;&#13;&#10;        &lt;/g&gt;&#13;&#10;        &lt;g fill='#6BC8D1'&gt;&#13;&#10;            &lt;circle cx='740' cy='300' r='4' opacity='0.45' /&gt;&#13;&#10;            &lt;circle cx='830' cy='390' r='6' opacity='0.85' /&gt;&#13;&#10;            &lt;circle cx='950' cy='330' r='4.5' opacity='0.6' /&gt;&#13;&#10;            &lt;circle cx='1060' cy='430' r='5' opacity='0.7' /&gt;&#13;&#10;            &lt;circle cx='1160' cy='360' r='3.5' opacity='0.4' /&gt;&#13;&#10;            &lt;circle cx='900' cy='520' r='4' opacity='0.5' /&gt;&#13;&#10;            &lt;circle cx='1020' cy='480' r='4' opacity='0.5' /&gt;&#13;&#10;        &lt;/g&gt;&#13;&#10;    &lt;/svg&gt;&#13;&#10;    &lt;Text style={{ position: 'absolute', right: 56, top: 154, width: 520, textAlign: 'right', fontFamily: 'Consolas', fontSize: 290, fontWeight: 'bold', color: '#F2F7F8', opacity: 0.055, lineHeight: 1 }}&gt;04&lt;/Text&gt;&#13;&#10;    &lt;Box style={{ position: 'absolute', left: 0, top: 0, width: 5, height: 720, background: '#6BC8D1', opacity: 0.55 }} /&gt;&#13;&#10;&#13;&#10;    &lt;Box style={{ position: 'absolute', left: 72, top: 46 }}&gt;&#13;&#10;        &lt;Text style={{ fontFamily: 'Consolas', fontSize: 11, color: '#6BC8D1', letterSpacing: 2 }}&gt;CHAPTER 04 / 05&lt;/Text&gt;&#13;&#10;    &lt;/Box&gt;&#13;&#10;    &lt;Box style={{ position: 'absolute', left: 72, top: 176, width: 620 }}&gt;&#13;&#10;        &lt;Text style={{ fontFamily: 'Microsoft YaHei', fontSize: 58, fontWeight: 'bold', color: '#F2F7F8', letterSpacing: 2 }}&gt;实验与验证&lt;/Text&gt;&#13;&#10;        &lt;Box style={{ marginTop: 22, width: 52, height: 3, background: '#6BC8D1' }} /&gt;&#13;&#10;        &lt;Text style={{ marginTop: 24, fontFamily: 'Microsoft YaHei', fontSize: 19, color: 'rgba(242,247,248,0.68)', lineHeight: 1.7, width: 560 }}&gt;&#13;&#10;            七个场景、一条教学闭环，以及一套说清楚的模型边界。&#13;&#10;        &lt;/Text&gt;&#13;&#10;    &lt;/Box&gt;&#13;&#10;&#13;&#10;    &lt;Box style={{ position: 'absolute', left: 72, top: 420, width: 560 }}&gt;&#13;&#10;        &lt;Box style={{ flexDirection: 'row', alignItems: 'center', height: 48, borderTop: '1px solid rgba(242,247,248,0.12)' }}&gt;&#13;&#10;            &lt;Text style={{ width: 54, fontFamily: 'Consolas', fontSize: 10, color: '#6BC8D1' }}&gt;04.1&lt;/Text&gt;&#13;&#10;            &lt;Text style={{ fontFamily: 'Microsoft YaHei', fontSize: 14, color: 'rgba(242,247,248,0.72)' }}&gt;七个场景：从入门到挑战&lt;/Text&gt;&#13;&#10;        &lt;/Box&gt;&#13;&#10;        &lt;Box style={{ flexDirection: 'row', alignItems: 'center', height: 48, borderTop: '1px solid rgba(242,247,248,0.12)' }}&gt;&#13;&#10;            &lt;Text style={{ width: 54, fontFamily: 'Consolas', fontSize: 10, color: '#6BC8D1' }}&gt;04.2&lt;/Text&gt;&#13;&#10;            &lt;Text style={{ fontFamily: 'Microsoft YaHei', fontSize: 14, color: 'rgba(242,247,248,0.72)' }}&gt;从学到考，再到实验验证&lt;/Text&gt;&#13;&#10;        &lt;/Box&gt;&#13;&#10;        &lt;Box style={{ flexDirection: 'row', alignItems: 'center', height: 48, borderTop: '1px solid rgba(242,247,248,0.12)', borderBottom: '1px solid rgba(242,247,248,0.12)' }}&gt;&#13;&#10;            &lt;Text style={{ width: 54, fontFamily: 'Consolas', fontSize: 10, color: '#6BC8D1' }}&gt;04.3&lt;/Text&gt;&#13;&#10;            &lt;Text style={{ fontFamily: 'Microsoft YaHei', fontSize: 14, color: 'rgba(242,247,248,0.72)' }}&gt;模型边界与公开文献来源&lt;/Text&gt;&#13;&#10;        &lt;/Box&gt;&#13;&#10;    &lt;/Box&gt;&#13;&#10;&#13;&#10;    &lt;Box style={{ position: 'absolute', left: 72, top: 664, flexDirection: 'row', alignItems: 'center', gap: 8 }}&gt;&#13;&#10;        &lt;Text style={{ fontFamily: 'Consolas', fontSize: 10.5, color: 'rgba(242,247,248,0.40)' }}&gt;智御网络&lt;/Text&gt;&#13;&#10;        &lt;Box style={{ width: 16, height: 1, background: 'rgba(242,247,248,0.20)' }} /&gt;&#13;&#10;        &lt;Text style={{ fontFamily: 'Consolas', fontSize: 10.5, color: 'rgba(242,247,248,0.40)' }}&gt;EXPERIMENTS&lt;/Text&gt;&#13;&#10;    &lt;/Box&gt;&#13;&#10;    &lt;Text style={{ position: 'absolute', right: 56, top: 664, fontFamily: 'Consolas', fontSize: 10.5, color: 'rgba(242,247,248,0.40)' }}&gt;16 / 2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3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6705600" y="1466850"/>
            <a:ext cx="4953000" cy="33147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750" b="1">
                <a:solidFill>
                  <a:srgbClr val="F2F7F8">
                    <a:alpha val="5500"/>
                  </a:srgbClr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0" y="0"/>
            <a:ext cx="47625" cy="6858000"/>
          </a:xfrm>
          <a:prstGeom prst="rect">
            <a:avLst/>
          </a:prstGeom>
          <a:solidFill>
            <a:srgbClr val="6BC8D1">
              <a:alpha val="55000"/>
            </a:srgbClr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685800" y="438150"/>
            <a:ext cx="1152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50">
                <a:solidFill>
                  <a:srgbClr val="6BC8D1"/>
                </a:solidFill>
                <a:latin typeface="Consolas"/>
                <a:ea typeface="Consolas"/>
              </a:rPr>
              <a:t>CHAPTER 04 / 05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685800" y="1676400"/>
            <a:ext cx="590550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350" b="1" spc="150">
                <a:solidFill>
                  <a:srgbClr val="F2F7F8"/>
                </a:solidFill>
                <a:latin typeface="Microsoft YaHei"/>
                <a:ea typeface="Microsoft YaHei"/>
              </a:rPr>
              <a:t>实验与验证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685800" y="2552700"/>
            <a:ext cx="495300" cy="2857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685800" y="2809875"/>
            <a:ext cx="5334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七个场景、一条教学闭环，以及一套说清楚的模型边界。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685800" y="40005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85800" y="41814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04.1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1200150" y="415290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七个场景：从入门到挑战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685800" y="44577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685800" y="46386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04.2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1200150" y="461010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从学到考，再到实验验证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387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47"/>
                </a:moveTo>
                <a:lnTo>
                  <a:pt x="560" y="47"/>
                </a:lnTo>
                <a:lnTo>
                  <a:pt x="560" y="48"/>
                </a:lnTo>
                <a:lnTo>
                  <a:pt x="0" y="48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685800" y="5086350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04.3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1200150" y="506730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模型边界与公开文献来源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647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1409700" y="6381750"/>
            <a:ext cx="152400" cy="9525"/>
          </a:xfrm>
          <a:prstGeom prst="rect">
            <a:avLst/>
          </a:prstGeom>
          <a:solidFill>
            <a:srgbClr val="F2F7F8">
              <a:alpha val="20000"/>
            </a:srgbClr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1638300" y="6324600"/>
            <a:ext cx="609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EXPERIMENTS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11268075" y="632460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16 / 28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94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    &lt;circle cx='1090' cy='120' r='240' fill='rgba(107,200,209,0.03)' /&gt;&#13;&#10;    &lt;/svg&gt;&#13;&#10;&#13;&#10;    &lt;Box style={{ position: 'absolute', left: 56, top: 38 }}&gt;&#13;&#10;        &lt;Text style={{ fontFamily: 'Consolas', fontSize: 11, color: '#6BC8D1', letterSpacing: 1.8 }}&gt;04 / 实验与验证&lt;/Text&gt;&#13;&#10;    &lt;/Box&gt;&#13;&#10;    &lt;Text style={{ position: 'absolute', left: 56, top: 62, fontFamily: 'Microsoft YaHei', fontSize: 31, fontWeight: 'bold', color: '#F2F7F8', letterSpacing: 0.5 }}&gt;七个场景，一条从入门到挑战的路径&lt;/Text&gt;&#13;&#10;    &lt;Text style={{ position: 'absolute', right: 56, top: 76, fontFamily: 'Consolas', fontSize: 10.5, color: 'rgba(242,247,248,0.42)' }}&gt;1 CORE + 6 EXTENSIONS&lt;/Text&gt;&#13;&#10;&#13;&#10;    &lt;Box style={{ position: 'absolute', left: 56, top: 140, width: 238 }}&gt;&#13;&#10;        &lt;Text style={{ fontFamily: 'Consolas', fontSize: 122, fontWeight: 'bold', color: '#F2F7F8', lineHeight: 0.95, letterSpacing: -4 }}&gt;07&lt;/Text&gt;&#13;&#10;        &lt;Text style={{ marginTop: 6, fontFamily: 'Consolas', fontSize: 10, color: '#6BC8D1', letterSpacing: 2.5 }}&gt;SCENARIOS&lt;/Text&gt;&#13;&#10;        &lt;Box style={{ marginTop: 20, width: 34, height: 2, background: 'rgba(107,200,209,0.55)' }} /&gt;&#13;&#10;        &lt;Text style={{ marginTop: 18, fontFamily: 'Microsoft YaHei', fontSize: 12.5, color: 'rgba(242,247,248,0.56)', lineHeight: 1.8 }}&gt;&#13;&#10;            1 个核心实验&lt;br /&gt;6 个扩展实验&#13;&#10;        &lt;/Text&gt;&#13;&#10;        &lt;Box style={{ marginTop: 22 }}&gt;&#13;&#10;            &lt;Box style={{ flexDirection: 'row', alignItems: 'center', gap: 8, marginBottom: 8 }}&gt;&#13;&#10;                &lt;Box style={{ width: 6, height: 6, borderRadius: 3, background: '#E78172' }} /&gt;&#13;&#10;                &lt;Text style={{ fontFamily: 'Consolas', fontSize: 8.5, color: 'rgba(242,247,248,0.48)' }}&gt;ATTACK_STATE&lt;/Text&gt;&#13;&#10;            &lt;/Box&gt;&#13;&#10;            &lt;Box style={{ flexDirection: 'row', alignItems: 'center', gap: 8 }}&gt;&#13;&#10;                &lt;Box style={{ width: 6, height: 6, borderRadius: 3, background: '#6BC8D1' }} /&gt;&#13;&#10;                &lt;Text style={{ fontFamily: 'Consolas', fontSize: 8.5, color: 'rgba(242,247,248,0.48)' }}&gt;TEACHING&lt;/Text&gt;&#13;&#10;            &lt;/Box&gt;&#13;&#10;        &lt;/Box&gt;&#13;&#10;    &lt;/Box&gt;&#13;&#10;&#13;&#10;    &lt;Box style={{ position: 'absolute', left: 330, top: 136, width: 894 }}&gt;&#13;&#10;        &lt;Box style={{ flexDirection: 'row', alignItems: 'center', height: 22, borderBottom: '1px solid rgba(242,247,248,0.10)' }}&gt;&#13;&#10;            &lt;Text style={{ width: 36, fontFamily: 'Consolas', fontSize: 8, color: 'rgba(242,247,248,0.30)' }}&gt;NO.&lt;/Text&gt;&#13;&#10;            &lt;Text style={{ width: 470, fontFamily: 'Consolas', fontSize: 8, color: 'rgba(242,247,248,0.30)' }}&gt;SCENARIO / OBJECTIVE&lt;/Text&gt;&#13;&#10;            &lt;Text style={{ width: 168, fontFamily: 'Consolas', fontSize: 8, color: 'rgba(242,247,248,0.30)' }}&gt;MODE&lt;/Text&gt;&#13;&#10;            &lt;Text style={{ width: 90, fontFamily: 'Consolas', fontSize: 8, color: 'rgba(242,247,248,0.30)' }}&gt;LEVEL&lt;/Text&gt;&#13;&#10;            &lt;Text style={{ width: 70, textAlign: 'right', fontFamily: 'Consolas', fontSize: 8, color: 'rgba(242,247,248,0.30)' }}&gt;TIME&lt;/Text&gt;&#13;&#10;        &lt;/Box&gt;&#13;&#10;&#13;&#10;        &lt;Box style={{ flexDirection: 'row', alignItems: 'center', height: 64, background: 'rgba(231,129,114,0.055)', borderBottom: '1px solid rgba(242,247,248,0.08)', paddingLeft: 0 }}&gt;&#13;&#10;            &lt;Text style={{ width: 36, fontFamily: 'Consolas', fontSize: 10, color: '#E78172' }}&gt;01&lt;/Text&gt;&#13;&#10;            &lt;Box style={{ width: 470 }}&gt;&#13;&#10;                &lt;Text style={{ fontFamily: 'Microsoft YaHei', fontSize: 13.5, fontWeight: 'bold', color: '#F2F7F8' }}&gt;终端失陷与横向传播&lt;/Text&gt;&#13;&#10;                &lt;Text style={{ marginTop: 3, fontFamily: 'Microsoft YaHei', fontSize: 9.5, color: 'rgba(242,247,248,0.46)' }}&gt;权限、通信与数据访问组成的状态链&lt;/Text&gt;&#13;&#10;            &lt;/Box&gt;&#13;&#10;            &lt;Box style={{ width: 168 }}&gt;&#13;&#10;                &lt;Box style={{ width: 96, paddingTop: 3, paddingBottom: 3, alignItems: 'center', border: '1px solid rgba(231,129,114,0.35)', borderRadius: 3 }}&gt;&#13;&#10;                    &lt;Text style={{ fontFamily: 'Consolas', fontSize: 8, color: '#E78172' }}&gt;ATTACK_STATE&lt;/Text&gt;&#13;&#10;                &lt;/Box&gt;&#13;&#10;            &lt;/Box&gt;&#13;&#10;            &lt;Text style={{ width: 90, fontFamily: 'Microsoft YaHei', fontSize: 10, color: 'rgba(242,247,248,0.58)' }}&gt;进阶&lt;/Text&gt;&#13;&#10;            &lt;Text style={{ width: 70, textAlign: 'right', fontFamily: 'Consolas', fontSize: 9.5, color: 'rgba(242,247,248,0.44)' }}&gt;8 min&lt;/Text&gt;&#13;&#10;        &lt;/Box&gt;&#13;&#10;&#13;&#10;        &lt;Box style={{ flexDirection: 'row', alignItems: 'center', height: 64, borderBottom: '1px solid rgba(242,247,248,0.08)' }}&gt;&#13;&#10;            &lt;Text style={{ width: 36, fontFamily: 'Consolas', fontSize: 10, color: 'rgba(242,247,248,0.42)' }}&gt;02&lt;/Text&gt;&#13;&#10;            &lt;Box style={{ width: 470 }}&gt;&#13;&#10;                &lt;Text style={{ fontFamily: 'Microsoft YaHei', fontSize: 13.5, fontWeight: 'bold', color: '#F2F7F8' }}&gt;外部访问与防火墙拦截&lt;/Text&gt;&#13;&#10;                &lt;Text style={{ marginTop: 3, fontFamily: 'Microsoft YaHei', fontSize: 9.5, color: 'rgba(242,247,248,0.46)' }}&gt;边界规则、显式放行与默认拒绝&lt;/Text&gt;&#13;&#10;            &lt;/Box&gt;&#13;&#10;            &lt;Box style={{ width: 168 }}&gt;&#13;&#10;                &lt;Box style={{ width: 96, paddingTop: 3, paddingBottom: 3, alignItems: 'center', border: '1px solid rgba(107,200,209,0.22)', borderRadius: 3 }}&gt;&#13;&#10;                    &lt;Text style={{ fontFamily: 'Consolas', fontSize: 8, color: '#6BC8D1' }}&gt;TEACHING&lt;/Text&gt;&#13;&#10;                &lt;/Box&gt;&#13;&#10;            &lt;/Box&gt;&#13;&#10;            &lt;Text style={{ width: 90, fontFamily: 'Microsoft YaHei', fontSize: 10, color: 'rgba(242,247,248,0.58)' }}&gt;入门&lt;/Text&gt;&#13;&#10;            &lt;Text style={{ width: 70, textAlign: 'right', fontFamily: 'Consolas', fontSize: 9.5, color: 'rgba(242,247,248,0.44)' }}&gt;5 min&lt;/Text&gt;&#13;&#10;        &lt;/Box&gt;&#13;&#10;&#13;&#10;        &lt;Box style={{ flexDirection: 'row', alignItems: 'center', height: 64, borderBottom: '1px solid rgba(242,247,248,0.08)' }}&gt;&#13;&#10;            &lt;Text style={{ width: 36, fontFamily: 'Consolas', fontSize: 10, color: 'rgba(242,247,248,0.42)' }}&gt;03&lt;/Text&gt;&#13;&#10;            &lt;Box style={{ width: 470 }}&gt;&#13;&#10;                &lt;Text style={{ fontFamily: 'Microsoft YaHei', fontSize: 13.5, fontWeight: 'bold', color: '#F2F7F8' }}&gt;网络分区防御实验&lt;/Text&gt;&#13;&#10;                &lt;Text style={{ marginTop: 3, fontFamily: 'Microsoft YaHei', fontSize: 9.5, color: 'rgba(242,247,248,0.46)' }}&gt;VLAN 与区域边界之间的取舍&lt;/Text&gt;&#13;&#10;            &lt;/Box&gt;&#13;&#10;            &lt;Box style={{ width: 168 }}&gt;&#13;&#10;                &lt;Box style={{ width: 96, paddingTop: 3, paddingBottom: 3, alignItems: 'center', border: '1px solid rgba(107,200,209,0.22)', borderRadius: 3 }}&gt;&#13;&#10;                    &lt;Text style={{ fontFamily: 'Consolas', fontSize: 8, color: '#6BC8D1' }}&gt;TEACHING&lt;/Text&gt;&#13;&#10;                &lt;/Box&gt;&#13;&#10;            &lt;/Box&gt;&#13;&#10;            &lt;Text style={{ width: 90, fontFamily: 'Microsoft YaHei', fontSize: 10, color: 'rgba(242,247,248,0.58)' }}&gt;进阶&lt;/Text&gt;&#13;&#10;            &lt;Text style={{ width: 70, textAlign: 'right', fontFamily: 'Consolas', fontSize: 9.5, color: 'rgba(242,247,248,0.44)' }}&gt;6 min&lt;/Text&gt;&#13;&#10;        &lt;/Box&gt;&#13;&#10;&#13;&#10;        &lt;Box style={{ flexDirection: 'row', alignItems: 'center', height: 64, borderBottom: '1px solid rgba(242,247,248,0.08)' }}&gt;&#13;&#10;            &lt;Text style={{ width: 36, fontFamily: 'Consolas', fontSize: 10, color: 'rgba(242,247,248,0.42)' }}&gt;04&lt;/Text&gt;&#13;&#10;            &lt;Box style={{ width: 470 }}&gt;&#13;&#10;                &lt;Text style={{ fontFamily: 'Microsoft YaHei', fontSize: 13.5, fontWeight: 'bold', color: '#F2F7F8' }}&gt;供应链入口传播路径&lt;/Text&gt;&#13;&#10;                &lt;Text style={{ marginTop: 3, fontFamily: 'Microsoft YaHei', fontSize: 9.5, color: 'rgba(242,247,248,0.46)' }}&gt;跨区必须逐跳命中显式放行&lt;/Text&gt;&#13;&#10;            &lt;/Box&gt;&#13;&#10;            &lt;Box style={{ width: 168 }}&gt;&#13;&#10;                &lt;Box style={{ width: 96, paddingTop: 3, paddingBottom: 3, alignItems: 'center', border: '1px solid rgba(107,200,209,0.22)', borderRadius: 3 }}&gt;&#13;&#10;                    &lt;Text style={{ fontFamily: 'Consolas', fontSize: 8, color: '#6BC8D1' }}&gt;TEACHING&lt;/Text&gt;&#13;&#10;                &lt;/Box&gt;&#13;&#10;            &lt;/Box&gt;&#13;&#10;            &lt;Text style={{ width: 90, fontFamily: 'Microsoft YaHei', fontSize: 10, color: '#E78172' }}&gt;挑战&lt;/Text&gt;&#13;&#10;            &lt;Text style={{ width: 70, textAlign: 'right', fontFamily: 'Consolas', fontSize: 9.5, color: 'rgba(242,247,248,0.44)' }}&gt;10 min&lt;/Text&gt;&#13;&#10;        &lt;/Box&gt;&#13;&#10;&#13;&#10;        &lt;Box style={{ flexDirection: 'row', alignItems: 'center', height: 64, borderBottom: '1px solid rgba(242,247,248,0.08)' }}&gt;&#13;&#10;            &lt;Text style={{ width: 36, fontFamily: 'Consolas', fontSize: 10, color: 'rgba(242,247,248,0.42)' }}&gt;05&lt;/Text&gt;&#13;&#10;            &lt;Box style={{ width: 470 }}&gt;&#13;&#10;                &lt;Text style={{ fontFamily: 'Microsoft YaHei', fontSize: 13.5, fontWeight: 'bold', color: '#F2F7F8' }}&gt;勒索风险与文件服务保护&lt;/Text&gt;&#13;&#10;                &lt;Text style={{ marginTop: 3, fontFamily: 'Microsoft YaHei', fontSize: 9.5, color: 'rgba(242,247,248,0.46)' }}&gt;终端防护与业务连续性的权衡&lt;/Text&gt;&#13;&#10;            &lt;/Box&gt;&#13;&#10;            &lt;Box style={{ width: 168 }}&gt;&#13;&#10;                &lt;Box style={{ width: 96, paddingTop: 3, paddingBottom: 3, alignItems: 'center', border: '1px solid rgba(107,200,209,0.22)', borderRadius: 3 }}&gt;&#13;&#10;                    &lt;Text style={{ fontFamily: 'Consolas', fontSize: 8, color: '#6BC8D1' }}&gt;TEACHING&lt;/Text&gt;&#13;&#10;                &lt;/Box&gt;&#13;&#10;            &lt;/Box&gt;&#13;&#10;            &lt;Text style={{ width: 90, fontFamily: 'Microsoft YaHei', fontSize: 10, color: 'rgba(242,247,248,0.58)' }}&gt;进阶&lt;/Text&gt;&#13;&#10;            &lt;Text style={{ width: 70, textAlign: 'right', fontFamily: 'Consolas', fontSize: 9.5, color: 'rgba(242,247,248,0.44)' }}&gt;9 min&lt;/Text&gt;&#13;&#10;        &lt;/Box&gt;&#13;&#10;&#13;&#10;        &lt;Box style={{ flexDirection: 'row', alignItems: 'center', height: 64, borderBottom: '1px solid rgba(242,247,248,0.08)' }}&gt;&#13;&#10;            &lt;Text style={{ width: 36, fontFamily: 'Consolas', fontSize: 10, color: 'rgba(242,247,248,0.42)' }}&gt;06&lt;/Text&gt;&#13;&#10;            &lt;Box style={{ width: 470 }}&gt;&#13;&#10;                &lt;Text style={{ fontFamily: 'Microsoft YaHei', fontSize: 13.5, fontWeight: 'bold', color: '#F2F7F8' }}&gt;零信任微隔离：主机对主机&lt;/Text&gt;&#13;&#10;                &lt;Text style={{ marginTop: 3, fontFamily: 'Microsoft YaHei', fontSize: 9.5, color: 'rgba(242,247,248,0.46)' }}&gt;取消“同区域即可信”后的最小权限&lt;/Text&gt;&#13;&#10;            &lt;/Box&gt;&#13;&#10;            &lt;Box style={{ width: 168 }}&gt;&#13;&#10;                &lt;Box style={{ width: 96, paddingTop: 3, paddingBottom: 3, alignItems: 'center', border: '1px solid rgba(107,200,209,0.22)', borderRadius: 3 }}&gt;&#13;&#10;                    &lt;Text style={{ fontFamily: 'Consolas', fontSize: 8, color: '#6BC8D1' }}&gt;TEACHING&lt;/Text&gt;&#13;&#10;                &lt;/Box&gt;&#13;&#10;            &lt;/Box&gt;&#13;&#10;            &lt;Text style={{ width: 90, fontFamily: 'Microsoft YaHei', fontSize: 10, color: '#E78172' }}&gt;挑战&lt;/Text&gt;&#13;&#10;            &lt;Text style={{ width: 70, textAlign: 'right', fontFamily: 'Consolas', fontSize: 9.5, color: 'rgba(242,247,248,0.44)' }}&gt;8 min&lt;/Text&gt;&#13;&#10;        &lt;/Box&gt;&#13;&#10;&#13;&#10;        &lt;Box style={{ flexDirection: 'row', alignItems: 'center', height: 64, borderBottom: '1px solid rgba(242,247,248,0.08)' }}&gt;&#13;&#10;            &lt;Text style={{ width: 36, fontFamily: 'Consolas', fontSize: 10, color: 'rgba(242,247,248,0.42)' }}&gt;07&lt;/Text&gt;&#13;&#10;            &lt;Box style={{ width: 470 }}&gt;&#13;&#10;                &lt;Text style={{ fontFamily: 'Microsoft YaHei', fontSize: 13.5, fontWeight: 'bold', color: '#F2F7F8' }}&gt;工业控制网：SCADA / PLC&lt;/Text&gt;&#13;&#10;                &lt;Text style={{ marginTop: 3, fontFamily: 'Microsoft YaHei', fontSize: 9.5, color: 'rgba(242,247,248,0.46)' }}&gt;控制区、现场区与历史数据区&lt;/Text&gt;&#13;&#10;            &lt;/Box&gt;&#13;&#10;            &lt;Box style={{ width: 168 }}&gt;&#13;&#10;                &lt;Box style={{ width: 96, paddingTop: 3, paddingBottom: 3, alignItems: 'center', border: '1px solid rgba(107,200,209,0.22)', borderRadius: 3 }}&gt;&#13;&#10;                    &lt;Text style={{ fontFamily: 'Consolas', fontSize: 8, color: '#6BC8D1' }}&gt;TEACHING&lt;/Text&gt;&#13;&#10;                &lt;/Box&gt;&#13;&#10;            &lt;/Box&gt;&#13;&#10;            &lt;Text style={{ width: 90, fontFamily: 'Microsoft YaHei', fontSize: 10, color: '#E78172' }}&gt;挑战&lt;/Text&gt;&#13;&#10;            &lt;Text style={{ width: 70, textAlign: 'right', fontFamily: 'Consolas', fontSize: 9.5, color: 'rgba(242,247,248,0.44)' }}&gt;10 min&lt;/Text&gt;&#13;&#10;        &lt;/Box&gt;&#13;&#10;    &lt;/Box&gt;&#13;&#10;&#13;&#10;    &lt;Box style={{ position: 'absolute', left: 56, top: 626, width: 1168, flexDirection: 'row', alignItems: 'center', gap: 10 }}&gt;&#13;&#10;        &lt;Box style={{ width: 20, height: 1, background: '#6BC8D1' }} /&gt;&#13;&#10;        &lt;Text style={{ fontFamily: 'Microsoft YaHei', fontSize: 11, color: 'rgba(242,247,248,0.46)' }}&gt;场景不是七套脚本：拓扑、接口、VLAN、路由、策略与初始条件共同驱动同一套引擎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7 / 2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3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276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04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实验与验证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8006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七个场景，一条从入门到挑战的路径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10496550" y="723900"/>
            <a:ext cx="1162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1 CORE + 6 EXTENSIONS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533400" y="1333500"/>
            <a:ext cx="2266950" cy="1333500"/>
          </a:xfrm>
          <a:prstGeom prst="rect"/>
        </p:spPr>
        <p:txBody>
          <a:bodyPr wrap="none" lIns="0" tIns="0" rIns="0" bIns="0"/>
          <a:p>
            <a:pPr>
              <a:lnSpc>
                <a:spcPct val="95000"/>
              </a:lnSpc>
            </a:pPr>
            <a:r>
              <a:rPr lang="en-US" sz="9150" b="1" spc="-300">
                <a:solidFill>
                  <a:srgbClr val="F2F7F8"/>
                </a:solidFill>
                <a:latin typeface="Consolas"/>
                <a:ea typeface="Consolas"/>
              </a:rPr>
              <a:t>07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533400" y="2724150"/>
            <a:ext cx="22669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188">
                <a:solidFill>
                  <a:srgbClr val="6BC8D1"/>
                </a:solidFill>
                <a:latin typeface="Consolas"/>
                <a:ea typeface="Consolas"/>
              </a:rPr>
              <a:t>SCENARIOS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533400" y="3028950"/>
            <a:ext cx="323850" cy="19050"/>
          </a:xfrm>
          <a:prstGeom prst="rect">
            <a:avLst/>
          </a:prstGeom>
          <a:solidFill>
            <a:srgbClr val="6BC8D1">
              <a:alpha val="55000"/>
            </a:srgbClr>
          </a:solidFill>
          <a:ln/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533400" y="3219450"/>
            <a:ext cx="2266950" cy="5143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38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1 </a:t>
            </a:r>
            <a:r>
              <a:rPr lang="zh-CN" sz="938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个核心实验</a:t>
            </a:r>
            <a:endParaRPr/>
          </a:p>
          <a:p>
            <a:pPr>
              <a:lnSpc>
                <a:spcPct val="180000"/>
              </a:lnSpc>
            </a:pPr>
            <a:r>
              <a:rPr lang="en-US" sz="938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6 </a:t>
            </a:r>
            <a:r>
              <a:rPr lang="zh-CN" sz="938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个扩展实验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533400" y="39719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E78172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666750" y="3943350"/>
            <a:ext cx="5429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ATTACK_STATE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533400" y="41529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666750" y="4124325"/>
            <a:ext cx="3619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8000"/>
                  </a:srgbClr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3143250" y="1295400"/>
            <a:ext cx="8515350" cy="209550"/>
          </a:xfrm>
          <a:custGeom>
            <a:pathLst>
              <a:path w="894" h="22">
                <a:moveTo>
                  <a:pt x="0" y="21"/>
                </a:moveTo>
                <a:lnTo>
                  <a:pt x="894" y="21"/>
                </a:lnTo>
                <a:lnTo>
                  <a:pt x="894" y="22"/>
                </a:lnTo>
                <a:lnTo>
                  <a:pt x="0" y="22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3143250" y="1352550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NO.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3486150" y="1352550"/>
            <a:ext cx="447675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SCENARIO / OBJECTIVE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7962900" y="1352550"/>
            <a:ext cx="16002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MODE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9563100" y="1352550"/>
            <a:ext cx="85725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LEVEL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0420350" y="1352550"/>
            <a:ext cx="666750" cy="952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600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TIME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3143250" y="1504950"/>
            <a:ext cx="8515350" cy="600075"/>
          </a:xfrm>
          <a:prstGeom prst="rect">
            <a:avLst/>
          </a:prstGeom>
          <a:solidFill>
            <a:srgbClr val="E78172">
              <a:alpha val="5500"/>
            </a:srgbClr>
          </a:solidFill>
          <a:ln/>
        </p:spPr>
        <p:txBody>
          <a:bodyPr/>
          <a:p/>
        </p:txBody>
      </p:sp>
      <p:sp>
        <p:nvSpPr>
          <p:cNvPr id="415" name=""/>
          <p:cNvSpPr/>
          <p:nvPr/>
        </p:nvSpPr>
        <p:spPr>
          <a:xfrm rot="0" flipH="0" flipV="0">
            <a:off x="3143250" y="15049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3143250" y="17526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78172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3486150" y="16573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终端失陷与横向传播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3486150" y="18478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权限、通信与数据访问组成的状态链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7962900" y="17335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E78172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8172450" y="1762125"/>
            <a:ext cx="504825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E78172"/>
                </a:solidFill>
                <a:latin typeface="Consolas"/>
                <a:ea typeface="Consolas"/>
              </a:rPr>
              <a:t>ATTACK_STATE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9563100" y="17526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进阶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10420350" y="17526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8 min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3143250" y="21145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3143250" y="23622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3486150" y="22669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外部访问与防火墙拦截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3486150" y="24574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边界规则、显式放行与默认拒绝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7962900" y="23431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8248650" y="2371725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9563100" y="23622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入门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10420350" y="23622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5 min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3143250" y="27241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3143250" y="29718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3486150" y="28765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网络分区防御实验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3486150" y="30670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VLAN </a:t>
            </a: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与区域边界之间的取舍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7962900" y="29527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8248650" y="2981325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9563100" y="29718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进阶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10420350" y="29718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6 min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3143250" y="33337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3143250" y="35814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3486150" y="34861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供应链入口传播路径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3486150" y="36766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跨区必须逐跳命中显式放行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7962900" y="35623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8248650" y="3590925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9563100" y="35814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E78172"/>
                </a:solidFill>
                <a:latin typeface="Microsoft YaHei"/>
                <a:ea typeface="Microsoft YaHei"/>
              </a:rPr>
              <a:t>挑战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10420350" y="35814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10 min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3143250" y="39433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3143250" y="41910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3486150" y="40957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勒索风险与文件服务保护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3486150" y="42862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终端防护与业务连续性的权衡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7962900" y="41719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8248650" y="4200525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9563100" y="41910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进阶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10420350" y="41910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9 min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3143250" y="45529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3143250" y="48006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06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3486150" y="47053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零信任微隔离：主机对主机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3486150" y="48958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取消“同区域即可信”后的最小权限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7962900" y="47815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8248650" y="4810125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9563100" y="48006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E78172"/>
                </a:solidFill>
                <a:latin typeface="Microsoft YaHei"/>
                <a:ea typeface="Microsoft YaHei"/>
              </a:rPr>
              <a:t>挑战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10420350" y="48006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8 min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3143250" y="5162550"/>
            <a:ext cx="8515350" cy="609600"/>
          </a:xfrm>
          <a:custGeom>
            <a:pathLst>
              <a:path w="894" h="64">
                <a:moveTo>
                  <a:pt x="0" y="63"/>
                </a:moveTo>
                <a:lnTo>
                  <a:pt x="894" y="63"/>
                </a:lnTo>
                <a:lnTo>
                  <a:pt x="894" y="64"/>
                </a:lnTo>
                <a:lnTo>
                  <a:pt x="0" y="64"/>
                </a:lnTo>
                <a:close/>
              </a:path>
            </a:pathLst>
          </a:custGeom>
          <a:solidFill>
            <a:srgbClr val="F2F7F8">
              <a:alpha val="8000"/>
            </a:srgbClr>
          </a:solidFill>
          <a:ln/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3143250" y="5410200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07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3486150" y="5314950"/>
            <a:ext cx="447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工业控制网：</a:t>
            </a:r>
            <a:r>
              <a:rPr lang="en-US" sz="1013" b="1">
                <a:solidFill>
                  <a:srgbClr val="F2F7F8"/>
                </a:solidFill>
                <a:latin typeface="Microsoft YaHei"/>
                <a:ea typeface="Microsoft YaHei"/>
              </a:rPr>
              <a:t>SCADA / PLC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3486150" y="5505450"/>
            <a:ext cx="4476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控制区、现场区与历史数据区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7962900" y="5391150"/>
            <a:ext cx="914400" cy="152400"/>
          </a:xfrm>
          <a:prstGeom prst="roundRect">
            <a:avLst>
              <a:gd name="adj" fmla="val 18750"/>
            </a:avLst>
          </a:prstGeom>
          <a:ln w="12700">
            <a:solidFill>
              <a:srgbClr val="6BC8D1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8248650" y="5419725"/>
            <a:ext cx="3429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6BC8D1"/>
                </a:solidFill>
                <a:latin typeface="Consolas"/>
                <a:ea typeface="Consolas"/>
              </a:rPr>
              <a:t>TEACHING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9563100" y="5410200"/>
            <a:ext cx="8572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E78172"/>
                </a:solidFill>
                <a:latin typeface="Microsoft YaHei"/>
                <a:ea typeface="Microsoft YaHei"/>
              </a:rPr>
              <a:t>挑战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10420350" y="5410200"/>
            <a:ext cx="666750" cy="1143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713">
                <a:solidFill>
                  <a:srgbClr val="F2F7F8">
                    <a:alpha val="44000"/>
                  </a:srgbClr>
                </a:solidFill>
                <a:latin typeface="Consolas"/>
                <a:ea typeface="Consolas"/>
              </a:rPr>
              <a:t>10 min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533400" y="6029325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819150" y="5962650"/>
            <a:ext cx="4067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场景不是七套脚本：拓扑、接口、</a:t>
            </a:r>
            <a:r>
              <a:rPr lang="en-US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VLAN</a:t>
            </a:r>
            <a:r>
              <a:rPr lang="zh-CN" sz="82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、路由、策略与初始条件共同驱动同一套引擎。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17 / 28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76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04 / 实验与验证&lt;/Text&gt;&#13;&#10;    &lt;/Box&gt;&#13;&#10;    &lt;Text style={{ position: 'absolute', left: 56, top: 62, fontFamily: 'Microsoft YaHei', fontSize: 32, fontWeight: 'bold', color: '#F2F7F8', letterSpacing: 0.5 }}&gt;从学到考，再到验证：一条闭环&lt;/Text&gt;&#13;&#10;    &lt;Text style={{ position: 'absolute', right: 56, top: 76, fontFamily: 'Consolas', fontSize: 10.5, color: 'rgba(242,247,248,0.42)' }}&gt;LEARN · PRACTICE · EXAM · VERIFY&lt;/Text&gt;&#13;&#10;&#13;&#10;    &lt;Box style={{ position: 'absolute', left: 56, top: 140, width: 440, height: 460 }}&gt;&#13;&#10;        &lt;svg width={440} height={460} viewBox='0 0 440 460' style={{ position: 'absolute', left: 0, top: 0 }}&gt;&#13;&#10;            &lt;circle cx='220' cy='220' r='156' fill='none' stroke='rgba(107,200,209,0.22)' strokeWidth='1' strokeDasharray='5 6' /&gt;&#13;&#10;            &lt;circle cx='220' cy='220' r='112' fill='none' stroke='rgba(242,247,248,0.06)' strokeWidth='1' /&gt;&#13;&#10;            &lt;circle cx='220' cy='220' r='156' fill='rgba(107,200,209,0.025)' /&gt;&#13;&#10;        &lt;/svg&gt;&#13;&#10;&#13;&#10;        &lt;Box style={{ position: 'absolute', left: 156, top: 32, width: 128, height: 128, borderRadius: 64, background: 'rgba(107,200,209,0.10)', border: '1px solid rgba(107,200,209,0.34)', alignItems: 'center', justifyContent: 'center' }}&gt;&#13;&#10;            &lt;Text style={{ fontFamily: 'Microsoft YaHei', fontSize: 25, fontWeight: 'bold', color: '#6BC8D1' }}&gt;学&lt;/Text&gt;&#13;&#10;            &lt;Text style={{ marginTop: 4, fontFamily: 'Consolas', fontSize: 8.5, color: 'rgba(242,247,248,0.46)' }}&gt;5 MODULES&lt;/Text&gt;&#13;&#10;        &lt;/Box&gt;&#13;&#10;        &lt;Box style={{ position: 'absolute', left: 316, top: 188, width: 128, height: 128, borderRadius: 64, background: 'rgba(107,200,209,0.08)', border: '1px solid rgba(107,200,209,0.28)', alignItems: 'center', justifyContent: 'center' }}&gt;&#13;&#10;            &lt;Text style={{ fontFamily: 'Microsoft YaHei', fontSize: 25, fontWeight: 'bold', color: '#6BC8D1' }}&gt;练&lt;/Text&gt;&#13;&#10;            &lt;Text style={{ marginTop: 4, fontFamily: 'Consolas', fontSize: 8.5, color: 'rgba(242,247,248,0.46)' }}&gt;20 QUESTIONS&lt;/Text&gt;&#13;&#10;        &lt;/Box&gt;&#13;&#10;        &lt;Box style={{ position: 'absolute', left: 156, top: 344, width: 128, height: 128, borderRadius: 64, background: 'rgba(107,200,209,0.08)', border: '1px solid rgba(107,200,209,0.28)', alignItems: 'center', justifyContent: 'center' }}&gt;&#13;&#10;            &lt;Text style={{ fontFamily: 'Microsoft YaHei', fontSize: 25, fontWeight: 'bold', color: '#6BC8D1' }}&gt;考&lt;/Text&gt;&#13;&#10;            &lt;Text style={{ marginTop: 4, fontFamily: 'Consolas', fontSize: 8.5, color: 'rgba(242,247,248,0.46)' }}&gt;EXAM&lt;/Text&gt;&#13;&#10;        &lt;/Box&gt;&#13;&#10;        &lt;Box style={{ position: 'absolute', left: -4, top: 188, width: 128, height: 128, borderRadius: 64, background: 'rgba(231,129,114,0.08)', border: '1px solid rgba(231,129,114,0.28)', alignItems: 'center', justifyContent: 'center' }}&gt;&#13;&#10;            &lt;Text style={{ fontFamily: 'Microsoft YaHei', fontSize: 25, fontWeight: 'bold', color: '#E78172' }}&gt;验&lt;/Text&gt;&#13;&#10;            &lt;Text style={{ marginTop: 4, fontFamily: 'Consolas', fontSize: 8.5, color: 'rgba(242,247,248,0.46)' }}&gt;CHALLENGE&lt;/Text&gt;&#13;&#10;        &lt;/Box&gt;&#13;&#10;&#13;&#10;        &lt;Box style={{ position: 'absolute', left: 150, top: 190, width: 140, alignItems: 'center' }}&gt;&#13;&#10;            &lt;Text style={{ fontFamily: 'Consolas', fontSize: 40, fontWeight: 'bold', color: '#F2F7F8', lineHeight: 1 }}&gt;04&lt;/Text&gt;&#13;&#10;            &lt;Text style={{ marginTop: 4, fontFamily: 'Consolas', fontSize: 9, color: '#6BC8D1', letterSpacing: 1.5 }}&gt;STEPS&lt;/Text&gt;&#13;&#10;            &lt;Text style={{ marginTop: 10, fontFamily: 'Microsoft YaHei', fontSize: 10, color: 'rgba(242,247,248,0.42)' }}&gt;知识 → 操作 → 反馈&lt;/Text&gt;&#13;&#10;        &lt;/Box&gt;&#13;&#10;    &lt;/Box&gt;&#13;&#10;&#13;&#10;    &lt;Box style={{ position: 'absolute', left: 560, top: 140, width: 664 }}&gt;&#13;&#10;        &lt;Box style={{ flexDirection: 'row', alignItems: 'flex-start', height: 94, borderTop: '1px solid rgba(242,247,248,0.10)' }}&gt;&#13;&#10;            &lt;Text style={{ width: 46, marginTop: 14, fontFamily: 'Consolas', fontSize: 10, color: '#6BC8D1' }}&gt;01&lt;/Text&gt;&#13;&#10;            &lt;Box style={{ width: 608 }}&gt;&#13;&#10;                &lt;Text style={{ marginTop: 12, fontFamily: 'Microsoft YaHei', fontSize: 17, fontWeight: 'bold', color: '#F2F7F8' }}&gt;学 · 建立概念&lt;/Text&gt;&#13;&#10;                &lt;Text style={{ marginTop: 4, fontFamily: 'Microsoft YaHei', fontSize: 11.5, color: 'rgba(242,247,248,0.54)', lineHeight: 1.7 }}&gt;六个知识模块：网络分区、防火墙、终端防护、关键资产、横向传播、最小权限。&lt;/Text&gt;&#13;&#10;            &lt;/Box&gt;&#13;&#10;        &lt;/Box&gt;&#13;&#10;        &lt;Box style={{ flexDirection: 'row', alignItems: 'flex-start', height: 94, borderTop: '1px solid rgba(242,247,248,0.10)' }}&gt;&#13;&#10;            &lt;Text style={{ width: 46, marginTop: 14, fontFamily: 'Consolas', fontSize: 10, color: '#6BC8D1' }}&gt;02&lt;/Text&gt;&#13;&#10;            &lt;Box style={{ width: 608 }}&gt;&#13;&#10;                &lt;Text style={{ marginTop: 12, fontFamily: 'Microsoft YaHei', fontSize: 17, fontWeight: 'bold', color: '#F2F7F8' }}&gt;练 · 即时反馈&lt;/Text&gt;&#13;&#10;                &lt;Text style={{ marginTop: 4, fontFamily: 'Microsoft YaHei', fontSize: 11.5, color: 'rgba(242,247,248,0.54)', lineHeight: 1.7 }}&gt;20 题随堂练习；作答后立即给出解析与静态示意图，并可跳转到关联实验。&lt;/Text&gt;&#13;&#10;            &lt;/Box&gt;&#13;&#10;        &lt;/Box&gt;&#13;&#10;        &lt;Box style={{ flexDirection: 'row', alignItems: 'flex-start', height: 94, borderTop: '1px solid rgba(242,247,248,0.10)' }}&gt;&#13;&#10;            &lt;Text style={{ width: 46, marginTop: 14, fontFamily: 'Consolas', fontSize: 10, color: '#6BC8D1' }}&gt;03&lt;/Text&gt;&#13;&#10;            &lt;Box style={{ width: 608 }}&gt;&#13;&#10;                &lt;Text style={{ marginTop: 12, fontFamily: 'Microsoft YaHei', fontSize: 17, fontWeight: 'bold', color: '#F2F7F8' }}&gt;考 · 可回看&lt;/Text&gt;&#13;&#10;                &lt;Text style={{ marginTop: 4, fontFamily: 'Microsoft YaHei', fontSize: 11.5, color: 'rgba(242,247,248,0.54)', lineHeight: 1.7 }}&gt;模拟考试含答题卡、交卷评分与错题回看；记录每次得分与最佳成绩。&lt;/Text&gt;&#13;&#10;            &lt;/Box&gt;&#13;&#10;        &lt;/Box&gt;&#13;&#10;        &lt;Box style={{ flexDirection: 'row', alignItems: 'flex-start', height: 94, borderTop: '1px solid rgba(242,247,248,0.10)', borderBottom: '1px solid rgba(242,247,248,0.10)' }}&gt;&#13;&#10;            &lt;Text style={{ width: 46, marginTop: 14, fontFamily: 'Consolas', fontSize: 10, color: '#E78172' }}&gt;04&lt;/Text&gt;&#13;&#10;            &lt;Box style={{ width: 608 }}&gt;&#13;&#10;                &lt;Text style={{ marginTop: 12, fontFamily: 'Microsoft YaHei', fontSize: 17, fontWeight: 'bold', color: '#F2F7F8' }}&gt;验 · 双条件通过&lt;/Text&gt;&#13;&#10;                &lt;Text style={{ marginTop: 4, fontFamily: 'Microsoft YaHei', fontSize: 11.5, color: 'rgba(242,247,248,0.54)', lineHeight: 1.7 }}&gt;在实验室验证：关键目标保护 + 必要业务可达，同时满足才算通过，而不是“全断开”。&lt;/Text&gt;&#13;&#10;            &lt;/Box&gt;&#13;&#10;        &lt;/Box&gt;&#13;&#10;    &lt;/Box&gt;&#13;&#10;&#13;&#10;    &lt;Box style={{ position: 'absolute', left: 560, top: 532, width: 664, paddingTop: 14, borderTop: '1px solid rgba(107,200,209,0.20)' }}&gt;&#13;&#10;        &lt;Text style={{ fontFamily: 'Consolas', fontSize: 9.5, color: '#6BC8D1', letterSpacing: 1 }}&gt;LOCAL PROGRESS&lt;/Text&gt;&#13;&#10;        &lt;Text style={{ marginTop: 6, fontFamily: 'Microsoft YaHei', fontSize: 11.5, color: 'rgba(242,247,248,0.50)', lineHeight: 1.7 }}&gt;学习与考试进度保存在浏览器本地，不需要账号、后端或数据库；换一台设备就从零开始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8 / 2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4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276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04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实验与验证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3338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从学到考，再到验证：一条闭环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9896475" y="723900"/>
            <a:ext cx="1762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LEARN · PRACTICE · EXAM · VERIFY</a:t>
            </a:r>
            <a:endParaRPr/>
          </a:p>
        </p:txBody>
      </p:sp>
      <p:pic>
        <p:nvPicPr>
          <p:cNvPr id="4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33400" y="1333500"/>
            <a:ext cx="4191000" cy="4381500"/>
          </a:xfrm>
          <a:prstGeom prst="rect">
            <a:avLst/>
          </a:prstGeom>
          <a:ln/>
        </p:spPr>
      </p:pic>
      <p:sp>
        <p:nvSpPr>
          <p:cNvPr id="483" name=""/>
          <p:cNvSpPr/>
          <p:nvPr/>
        </p:nvSpPr>
        <p:spPr>
          <a:xfrm rot="0" flipH="0" flipV="0">
            <a:off x="2019300" y="1638300"/>
            <a:ext cx="1219200" cy="1219200"/>
          </a:xfrm>
          <a:prstGeom prst="roundRect">
            <a:avLst>
              <a:gd name="adj" fmla="val 50000"/>
            </a:avLst>
          </a:prstGeom>
          <a:solidFill>
            <a:srgbClr val="6BC8D1">
              <a:alpha val="10000"/>
            </a:srgbClr>
          </a:solidFill>
          <a:ln w="12700">
            <a:solidFill>
              <a:srgbClr val="6BC8D1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2514600" y="2038350"/>
            <a:ext cx="238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6BC8D1"/>
                </a:solidFill>
                <a:latin typeface="Microsoft YaHei"/>
                <a:ea typeface="Microsoft YaHei"/>
              </a:rPr>
              <a:t>学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2428875" y="2362200"/>
            <a:ext cx="4095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5 MODULES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3543300" y="3124200"/>
            <a:ext cx="1219200" cy="1219200"/>
          </a:xfrm>
          <a:prstGeom prst="roundRect">
            <a:avLst>
              <a:gd name="adj" fmla="val 50000"/>
            </a:avLst>
          </a:prstGeom>
          <a:solidFill>
            <a:srgbClr val="6BC8D1">
              <a:alpha val="8000"/>
            </a:srgbClr>
          </a:solidFill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4038600" y="3524250"/>
            <a:ext cx="238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6BC8D1"/>
                </a:solidFill>
                <a:latin typeface="Microsoft YaHei"/>
                <a:ea typeface="Microsoft YaHei"/>
              </a:rPr>
              <a:t>练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3886200" y="3848100"/>
            <a:ext cx="5429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20 QUESTIONS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2019300" y="4610100"/>
            <a:ext cx="1219200" cy="1219200"/>
          </a:xfrm>
          <a:prstGeom prst="roundRect">
            <a:avLst>
              <a:gd name="adj" fmla="val 50000"/>
            </a:avLst>
          </a:prstGeom>
          <a:solidFill>
            <a:srgbClr val="6BC8D1">
              <a:alpha val="8000"/>
            </a:srgbClr>
          </a:solidFill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2514600" y="5010150"/>
            <a:ext cx="238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6BC8D1"/>
                </a:solidFill>
                <a:latin typeface="Microsoft YaHei"/>
                <a:ea typeface="Microsoft YaHei"/>
              </a:rPr>
              <a:t>考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2543175" y="5334000"/>
            <a:ext cx="1809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EXAM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495300" y="3124200"/>
            <a:ext cx="1219200" cy="1219200"/>
          </a:xfrm>
          <a:prstGeom prst="roundRect">
            <a:avLst>
              <a:gd name="adj" fmla="val 50000"/>
            </a:avLst>
          </a:prstGeom>
          <a:solidFill>
            <a:srgbClr val="E78172">
              <a:alpha val="8000"/>
            </a:srgbClr>
          </a:solidFill>
          <a:ln w="12700">
            <a:solidFill>
              <a:srgbClr val="E78172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990600" y="3524250"/>
            <a:ext cx="238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E78172"/>
                </a:solidFill>
                <a:latin typeface="Microsoft YaHei"/>
                <a:ea typeface="Microsoft YaHei"/>
              </a:rPr>
              <a:t>验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904875" y="3848100"/>
            <a:ext cx="4095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CHALLENGE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2419350" y="3143250"/>
            <a:ext cx="4191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2F7F8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2476500" y="3638550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113">
                <a:solidFill>
                  <a:srgbClr val="6BC8D1"/>
                </a:solidFill>
                <a:latin typeface="Consolas"/>
                <a:ea typeface="Consolas"/>
              </a:rPr>
              <a:t>STEPS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2190750" y="3838575"/>
            <a:ext cx="876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知识</a:t>
            </a:r>
            <a:r>
              <a:rPr lang="en-US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操作</a:t>
            </a:r>
            <a:r>
              <a:rPr lang="en-US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50">
                <a:solidFill>
                  <a:srgbClr val="F2F7F8">
                    <a:alpha val="42000"/>
                  </a:srgbClr>
                </a:solidFill>
                <a:latin typeface="Microsoft YaHei"/>
                <a:ea typeface="Microsoft YaHei"/>
              </a:rPr>
              <a:t>反馈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5334000" y="1333500"/>
            <a:ext cx="6324600" cy="895350"/>
          </a:xfrm>
          <a:custGeom>
            <a:pathLst>
              <a:path w="664" h="94">
                <a:moveTo>
                  <a:pt x="0" y="0"/>
                </a:moveTo>
                <a:lnTo>
                  <a:pt x="664" y="0"/>
                </a:lnTo>
                <a:lnTo>
                  <a:pt x="66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5334000" y="1476375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5772150" y="1457325"/>
            <a:ext cx="5791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学</a:t>
            </a:r>
            <a:r>
              <a:rPr lang="en-US" sz="1275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建立概念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5772150" y="1695450"/>
            <a:ext cx="57912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六个知识模块：网络分区、防火墙、终端防护、关键资产、横向传播、最小权限。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5334000" y="2228850"/>
            <a:ext cx="6324600" cy="895350"/>
          </a:xfrm>
          <a:custGeom>
            <a:pathLst>
              <a:path w="664" h="94">
                <a:moveTo>
                  <a:pt x="0" y="0"/>
                </a:moveTo>
                <a:lnTo>
                  <a:pt x="664" y="0"/>
                </a:lnTo>
                <a:lnTo>
                  <a:pt x="66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5334000" y="2371725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5772150" y="2352675"/>
            <a:ext cx="5791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练</a:t>
            </a:r>
            <a:r>
              <a:rPr lang="en-US" sz="1275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即时反馈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5772150" y="2590800"/>
            <a:ext cx="57912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20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题随堂练习；作答后立即给出解析与静态示意图，并可跳转到关联实验。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5334000" y="3124200"/>
            <a:ext cx="6324600" cy="895350"/>
          </a:xfrm>
          <a:custGeom>
            <a:pathLst>
              <a:path w="664" h="94">
                <a:moveTo>
                  <a:pt x="0" y="0"/>
                </a:moveTo>
                <a:lnTo>
                  <a:pt x="664" y="0"/>
                </a:lnTo>
                <a:lnTo>
                  <a:pt x="66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5334000" y="3267075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5772150" y="3248025"/>
            <a:ext cx="5791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考</a:t>
            </a:r>
            <a:r>
              <a:rPr lang="en-US" sz="1275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可回看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5772150" y="3486150"/>
            <a:ext cx="57912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模拟考试含答题卡、交卷评分与错题回看；记录每次得分与最佳成绩。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5334000" y="4019550"/>
            <a:ext cx="6324600" cy="895350"/>
          </a:xfrm>
          <a:custGeom>
            <a:pathLst>
              <a:path w="664" h="94">
                <a:moveTo>
                  <a:pt x="0" y="0"/>
                </a:moveTo>
                <a:lnTo>
                  <a:pt x="664" y="0"/>
                </a:lnTo>
                <a:lnTo>
                  <a:pt x="66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11" name=""/>
          <p:cNvSpPr/>
          <p:nvPr/>
        </p:nvSpPr>
        <p:spPr>
          <a:xfrm rot="0" flipH="0" flipV="0">
            <a:off x="5334000" y="4019550"/>
            <a:ext cx="6324600" cy="895350"/>
          </a:xfrm>
          <a:custGeom>
            <a:pathLst>
              <a:path w="664" h="94">
                <a:moveTo>
                  <a:pt x="0" y="93"/>
                </a:moveTo>
                <a:lnTo>
                  <a:pt x="664" y="93"/>
                </a:lnTo>
                <a:lnTo>
                  <a:pt x="664" y="94"/>
                </a:lnTo>
                <a:lnTo>
                  <a:pt x="0" y="94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5334000" y="4162425"/>
            <a:ext cx="4381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78172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5772150" y="4143375"/>
            <a:ext cx="5791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验</a:t>
            </a:r>
            <a:r>
              <a:rPr lang="en-US" sz="1275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双条件通过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5772150" y="4381500"/>
            <a:ext cx="57912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在实验室验证：关键目标保护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必要业务可达，同时满足才算通过，而不是“全断开”。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5334000" y="5067300"/>
            <a:ext cx="6324600" cy="552450"/>
          </a:xfrm>
          <a:custGeom>
            <a:pathLst>
              <a:path w="664" h="58">
                <a:moveTo>
                  <a:pt x="0" y="0"/>
                </a:moveTo>
                <a:lnTo>
                  <a:pt x="664" y="0"/>
                </a:lnTo>
                <a:lnTo>
                  <a:pt x="664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20000"/>
            </a:srgbClr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5334000" y="5210175"/>
            <a:ext cx="63246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75">
                <a:solidFill>
                  <a:srgbClr val="6BC8D1"/>
                </a:solidFill>
                <a:latin typeface="Consolas"/>
                <a:ea typeface="Consolas"/>
              </a:rPr>
              <a:t>LOCAL PROGRESS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5334000" y="5381625"/>
            <a:ext cx="63246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学习与考试进度保存在浏览器本地，不需要账号、后端或数据库；换一台设备就从零开始。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18 / 28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21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    &lt;circle cx='80' cy='120' r='220' fill='rgba(107,200,209,0.03)' /&gt;&#13;&#10;    &lt;/svg&gt;&#13;&#10;&#13;&#10;    &lt;Box style={{ position: 'absolute', left: 56, top: 38 }}&gt;&#13;&#10;        &lt;Text style={{ fontFamily: 'Consolas', fontSize: 11, color: '#6BC8D1', letterSpacing: 1.8 }}&gt;04 / 实验与验证&lt;/Text&gt;&#13;&#10;    &lt;/Box&gt;&#13;&#10;    &lt;Text style={{ position: 'absolute', left: 56, top: 62, fontFamily: 'Microsoft YaHei', fontSize: 32, fontWeight: 'bold', color: '#F2F7F8', letterSpacing: 0.5 }}&gt;边界越清楚，教学才越可信&lt;/Text&gt;&#13;&#10;    &lt;Text style={{ position: 'absolute', right: 56, top: 76, fontFamily: 'Consolas', fontSize: 10.5, color: 'rgba(242,247,248,0.42)' }}&gt;BOUNDARY · SOURCES&lt;/Text&gt;&#13;&#10;&#13;&#10;    &lt;Box style={{ position: 'absolute', left: 56, top: 150, width: 486 }}&gt;&#13;&#10;        &lt;Text style={{ fontFamily: 'Consolas', fontSize: 9.5, color: '#6BC8D1', letterSpacing: 1.2 }}&gt;WHAT THIS IS / IS NOT&lt;/Text&gt;&#13;&#10;        &lt;Text style={{ marginTop: 18, fontFamily: 'Microsoft YaHei', fontSize: 42, fontWeight: 'bold', color: '#F2F7F8', lineHeight: 1.35, letterSpacing: 0.5 }}&gt;&#13;&#10;            这是教学抽象，&lt;br /&gt;&lt;span style={{ color: '#E78172' }}&gt;不是攻击预测。&lt;/span&gt;&#13;&#10;        &lt;/Text&gt;&#13;&#10;        &lt;Box style={{ marginTop: 24, width: 42, height: 2, background: 'rgba(107,200,209,0.55)' }} /&gt;&#13;&#10;        &lt;Text style={{ marginTop: 20, fontFamily: 'Microsoft YaHei', fontSize: 12, color: 'rgba(242,247,248,0.54)', lineHeight: 1.9 }}&gt;&#13;&#10;            不模拟漏洞利用、凭据或恶意代码；&lt;br /&gt;&#13;&#10;            不连接真实网络，也不执行任何攻击行为；&lt;br /&gt;&#13;&#10;            不输出真实网络的风险概率或预测结论。&#13;&#10;        &lt;/Text&gt;&#13;&#10;    &lt;/Box&gt;&#13;&#10;&#13;&#10;    &lt;Box style={{ position: 'absolute', left: 596, top: 142, width: 628 }}&gt;&#13;&#10;        &lt;Box style={{ flexDirection: 'row', alignItems: 'flex-start', height: 78, borderTop: '1px solid rgba(242,247,248,0.10)' }}&gt;&#13;&#10;            &lt;Text style={{ width: 44, marginTop: 12, fontFamily: 'Consolas', fontSize: 10, color: '#6BC8D1' }}&gt;01&lt;/Text&gt;&#13;&#10;            &lt;Box style={{ width: 572 }}&gt;&#13;&#10;                &lt;Text style={{ marginTop: 10, fontFamily: 'Microsoft YaHei', fontSize: 14, fontWeight: 'bold', color: '#F2F7F8' }}&gt;模式边界&lt;/Text&gt;&#13;&#10;                &lt;Text style={{ marginTop: 3, fontFamily: 'Microsoft YaHei', fontSize: 11.5, color: 'rgba(242,247,248,0.54)', lineHeight: 1.65 }}&gt;通信判定与状态转移分开；seed 是实验前已存在的状态，不计入本轮传播步骤。&lt;/Text&gt;&#13;&#10;            &lt;/Box&gt;&#13;&#10;        &lt;/Box&gt;&#13;&#10;        &lt;Box style={{ flexDirection: 'row', alignItems: 'flex-start', height: 78, borderTop: '1px solid rgba(242,247,248,0.10)' }}&gt;&#13;&#10;            &lt;Text style={{ width: 44, marginTop: 12, fontFamily: 'Consolas', fontSize: 10, color: '#6BC8D1' }}&gt;02&lt;/Text&gt;&#13;&#10;            &lt;Box style={{ width: 572 }}&gt;&#13;&#10;                &lt;Text style={{ marginTop: 10, fontFamily: 'Microsoft YaHei', fontSize: 14, fontWeight: 'bold', color: '#F2F7F8' }}&gt;能力边界&lt;/Text&gt;&#13;&#10;                &lt;Text style={{ marginTop: 3, fontFamily: 'Microsoft YaHei', fontSize: 11.5, color: 'rgba(242,247,248,0.54)', lineHeight: 1.65 }}&gt;只表示权限级别与数据访问能力；DATA_ACCESS 不等于数据库主机被控制。&lt;/Text&gt;&#13;&#10;            &lt;/Box&gt;&#13;&#10;        &lt;/Box&gt;&#13;&#10;        &lt;Box style={{ flexDirection: 'row', alignItems: 'flex-start', height: 78, borderTop: '1px solid rgba(242,247,248,0.10)' }}&gt;&#13;&#10;            &lt;Text style={{ width: 44, marginTop: 12, fontFamily: 'Consolas', fontSize: 10, color: '#6BC8D1' }}&gt;03&lt;/Text&gt;&#13;&#10;            &lt;Box style={{ width: 572 }}&gt;&#13;&#10;                &lt;Text style={{ marginTop: 10, fontFamily: 'Microsoft YaHei', fontSize: 14, fontWeight: 'bold', color: '#F2F7F8' }}&gt;数据边界&lt;/Text&gt;&#13;&#10;                &lt;Text style={{ marginTop: 3, fontFamily: 'Microsoft YaHei', fontSize: 11.5, color: 'rgba(242,247,248,0.54)', lineHeight: 1.65 }}&gt;纯前端应用；场景、结果与学习进度都留在本地，不上传任何实验数据。&lt;/Text&gt;&#13;&#10;            &lt;/Box&gt;&#13;&#10;        &lt;/Box&gt;&#13;&#10;        &lt;Box style={{ flexDirection: 'row', alignItems: 'flex-start', height: 78, borderTop: '1px solid rgba(242,247,248,0.10)', borderBottom: '1px solid rgba(242,247,248,0.10)' }}&gt;&#13;&#10;            &lt;Text style={{ width: 44, marginTop: 12, fontFamily: 'Consolas', fontSize: 10, color: '#E78172' }}&gt;04&lt;/Text&gt;&#13;&#10;            &lt;Box style={{ width: 572 }}&gt;&#13;&#10;                &lt;Text style={{ marginTop: 10, fontFamily: 'Microsoft YaHei', fontSize: 14, fontWeight: 'bold', color: '#F2F7F8' }}&gt;结论边界&lt;/Text&gt;&#13;&#10;                &lt;Text style={{ marginTop: 3, fontFamily: 'Microsoft YaHei', fontSize: 11.5, color: 'rgba(242,247,248,0.54)', lineHeight: 1.65 }}&gt;搜索达到深度或状态上限时标注“未完整”；不把“没搜到”当作“安全”。&lt;/Text&gt;&#13;&#10;            &lt;/Box&gt;&#13;&#10;        &lt;/Box&gt;&#13;&#10;    &lt;/Box&gt;&#13;&#10;&#13;&#10;    &lt;Box style={{ position: 'absolute', left: 56, top: 546, width: 1168, paddingTop: 12, borderTop: '1px solid rgba(242,247,248,0.10)' }}&gt;&#13;&#10;        &lt;Box style={{ flexDirection: 'row', alignItems: 'center', justifyContent: 'space-between' }}&gt;&#13;&#10;            &lt;Text style={{ fontFamily: 'Consolas', fontSize: 9.5, color: '#6BC8D1', letterSpacing: 1.2 }}&gt;PUBLIC SOURCES / 每个场景内置&lt;/Text&gt;&#13;&#10;            &lt;Text style={{ fontFamily: 'Microsoft YaHei', fontSize: 9.5, color: 'rgba(242,247,248,0.34)' }}&gt;随实验可查，不参与结果指纹&lt;/Text&gt;&#13;&#10;        &lt;/Box&gt;&#13;&#10;        &lt;Box style={{ marginTop: 10, flexDirection: 'row', flexWrap: 'wrap', gap: 8 }}&gt;&#13;&#10;            &lt;Box style={{ paddingLeft: 9, paddingRight: 9, paddingTop: 5, paddingBottom: 5, border: '1px solid rgba(242,247,248,0.12)', borderRadius: 4 }}&gt;&#13;&#10;                &lt;Text style={{ fontFamily: 'Consolas', fontSize: 9, color: 'rgba(242,247,248,0.56)' }}&gt;NIST SP 800-41&lt;/Text&gt;&#13;&#10;            &lt;/Box&gt;&#13;&#10;            &lt;Box style={{ paddingLeft: 9, paddingRight: 9, paddingTop: 5, paddingBottom: 5, border: '1px solid rgba(242,247,248,0.12)', borderRadius: 4 }}&gt;&#13;&#10;                &lt;Text style={{ fontFamily: 'Consolas', fontSize: 9, color: 'rgba(242,247,248,0.56)' }}&gt;NIST SP 800-53&lt;/Text&gt;&#13;&#10;            &lt;/Box&gt;&#13;&#10;            &lt;Box style={{ paddingLeft: 9, paddingRight: 9, paddingTop: 5, paddingBottom: 5, border: '1px solid rgba(242,247,248,0.12)', borderRadius: 4 }}&gt;&#13;&#10;                &lt;Text style={{ fontFamily: 'Consolas', fontSize: 9, color: 'rgba(242,247,248,0.56)' }}&gt;NIST SP 800-207&lt;/Text&gt;&#13;&#10;            &lt;/Box&gt;&#13;&#10;            &lt;Box style={{ paddingLeft: 9, paddingRight: 9, paddingTop: 5, paddingBottom: 5, border: '1px solid rgba(242,247,248,0.12)', borderRadius: 4 }}&gt;&#13;&#10;                &lt;Text style={{ fontFamily: 'Consolas', fontSize: 9, color: 'rgba(242,247,248,0.56)' }}&gt;MITRE ATT&amp;CK&lt;/Text&gt;&#13;&#10;            &lt;/Box&gt;&#13;&#10;            &lt;Box style={{ paddingLeft: 9, paddingRight: 9, paddingTop: 5, paddingBottom: 5, border: '1px solid rgba(242,247,248,0.12)', borderRadius: 4 }}&gt;&#13;&#10;                &lt;Text style={{ fontFamily: 'Consolas', fontSize: 9, color: 'rgba(242,247,248,0.56)' }}&gt;GB/T 22239-2019&lt;/Text&gt;&#13;&#10;            &lt;/Box&gt;&#13;&#10;            &lt;Box style={{ paddingLeft: 9, paddingRight: 9, paddingTop: 5, paddingBottom: 5, border: '1px solid rgba(242,247,248,0.12)', borderRadius: 4 }}&gt;&#13;&#10;                &lt;Text style={{ fontFamily: 'Consolas', fontSize: 9, color: 'rgba(242,247,248,0.56)' }}&gt;IEC 62443-3-3&lt;/Text&gt;&#13;&#10;            &lt;/Box&gt;&#13;&#10;        &lt;/Box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19 / 2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5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276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04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实验与验证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37147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边界越清楚，教学才越可信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10668000" y="723900"/>
            <a:ext cx="990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BOUNDARY · SOURCES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533400" y="1428750"/>
            <a:ext cx="4629150" cy="219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WHAT THIS IS / IS NOT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533400" y="1819275"/>
            <a:ext cx="4629150" cy="13049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3150" b="1" spc="38">
                <a:solidFill>
                  <a:srgbClr val="F2F7F8"/>
                </a:solidFill>
                <a:latin typeface="Microsoft YaHei"/>
                <a:ea typeface="Microsoft YaHei"/>
              </a:rPr>
              <a:t>这是教学抽象，</a:t>
            </a:r>
            <a:endParaRPr/>
          </a:p>
          <a:p>
            <a:pPr>
              <a:lnSpc>
                <a:spcPct val="135000"/>
              </a:lnSpc>
            </a:pPr>
            <a:r>
              <a:rPr lang="zh-CN" sz="3150" b="1" spc="38">
                <a:solidFill>
                  <a:srgbClr val="E78172"/>
                </a:solidFill>
                <a:latin typeface="Microsoft YaHei"/>
                <a:ea typeface="Microsoft YaHei"/>
              </a:rPr>
              <a:t>不是攻击预测。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533400" y="3352800"/>
            <a:ext cx="400050" cy="19050"/>
          </a:xfrm>
          <a:prstGeom prst="rect">
            <a:avLst/>
          </a:prstGeom>
          <a:solidFill>
            <a:srgbClr val="6BC8D1">
              <a:alpha val="55000"/>
            </a:srgbClr>
          </a:solidFill>
          <a:ln/>
        </p:spPr>
        <p:txBody>
          <a:bodyPr/>
          <a:p/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533400" y="3562350"/>
            <a:ext cx="4629150" cy="7905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900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不模拟漏洞利用、凭据或恶意代码；</a:t>
            </a:r>
            <a:endParaRPr/>
          </a:p>
          <a:p>
            <a:pPr>
              <a:lnSpc>
                <a:spcPct val="190000"/>
              </a:lnSpc>
            </a:pPr>
            <a:r>
              <a:rPr lang="zh-CN" sz="900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不连接真实网络，也不执行任何攻击行为；</a:t>
            </a:r>
            <a:endParaRPr/>
          </a:p>
          <a:p>
            <a:pPr>
              <a:lnSpc>
                <a:spcPct val="190000"/>
              </a:lnSpc>
            </a:pPr>
            <a:r>
              <a:rPr lang="zh-CN" sz="900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不输出真实网络的风险概率或预测结论。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5676900" y="1352550"/>
            <a:ext cx="5981700" cy="742950"/>
          </a:xfrm>
          <a:custGeom>
            <a:pathLst>
              <a:path w="628" h="78">
                <a:moveTo>
                  <a:pt x="0" y="0"/>
                </a:moveTo>
                <a:lnTo>
                  <a:pt x="628" y="0"/>
                </a:lnTo>
                <a:lnTo>
                  <a:pt x="62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5676900" y="14763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6096000" y="1457325"/>
            <a:ext cx="544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模式边界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6096000" y="1647825"/>
            <a:ext cx="54483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通信判定与状态转移分开；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seed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是实验前已存在的状态，不计入本轮传播步骤。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5676900" y="2095500"/>
            <a:ext cx="5981700" cy="742950"/>
          </a:xfrm>
          <a:custGeom>
            <a:pathLst>
              <a:path w="628" h="78">
                <a:moveTo>
                  <a:pt x="0" y="0"/>
                </a:moveTo>
                <a:lnTo>
                  <a:pt x="628" y="0"/>
                </a:lnTo>
                <a:lnTo>
                  <a:pt x="62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5676900" y="22193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6096000" y="2200275"/>
            <a:ext cx="544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能力边界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6096000" y="2390775"/>
            <a:ext cx="54483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只表示权限级别与数据访问能力；</a:t>
            </a:r>
            <a:r>
              <a:rPr lang="en-US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DATA_ACCESS </a:t>
            </a: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不等于数据库主机被控制。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5676900" y="2838450"/>
            <a:ext cx="5981700" cy="742950"/>
          </a:xfrm>
          <a:custGeom>
            <a:pathLst>
              <a:path w="628" h="78">
                <a:moveTo>
                  <a:pt x="0" y="0"/>
                </a:moveTo>
                <a:lnTo>
                  <a:pt x="628" y="0"/>
                </a:lnTo>
                <a:lnTo>
                  <a:pt x="62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5676900" y="296227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6096000" y="2943225"/>
            <a:ext cx="544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数据边界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6096000" y="3133725"/>
            <a:ext cx="54483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纯前端应用；场景、结果与学习进度都留在本地，不上传任何实验数据。</a:t>
            </a:r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5676900" y="3581400"/>
            <a:ext cx="5981700" cy="742950"/>
          </a:xfrm>
          <a:custGeom>
            <a:pathLst>
              <a:path w="628" h="78">
                <a:moveTo>
                  <a:pt x="0" y="0"/>
                </a:moveTo>
                <a:lnTo>
                  <a:pt x="628" y="0"/>
                </a:lnTo>
                <a:lnTo>
                  <a:pt x="62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44" name=""/>
          <p:cNvSpPr/>
          <p:nvPr/>
        </p:nvSpPr>
        <p:spPr>
          <a:xfrm rot="0" flipH="0" flipV="0">
            <a:off x="5676900" y="3581400"/>
            <a:ext cx="5981700" cy="742950"/>
          </a:xfrm>
          <a:custGeom>
            <a:pathLst>
              <a:path w="628" h="78">
                <a:moveTo>
                  <a:pt x="0" y="77"/>
                </a:moveTo>
                <a:lnTo>
                  <a:pt x="628" y="77"/>
                </a:lnTo>
                <a:lnTo>
                  <a:pt x="628" y="78"/>
                </a:lnTo>
                <a:lnTo>
                  <a:pt x="0" y="78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5676900" y="3705225"/>
            <a:ext cx="419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78172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6096000" y="3686175"/>
            <a:ext cx="5448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结论边界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6096000" y="3876675"/>
            <a:ext cx="54483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搜索达到深度或状态上限时标注“未完整”；不把“没搜到”当作“安全”。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533400" y="5200650"/>
            <a:ext cx="11125200" cy="542925"/>
          </a:xfrm>
          <a:custGeom>
            <a:pathLst>
              <a:path w="1168" h="57">
                <a:moveTo>
                  <a:pt x="0" y="0"/>
                </a:moveTo>
                <a:lnTo>
                  <a:pt x="1168" y="0"/>
                </a:lnTo>
                <a:lnTo>
                  <a:pt x="1168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533400" y="5324475"/>
            <a:ext cx="2085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PUBLIC SOURCES / </a:t>
            </a:r>
            <a:r>
              <a:rPr lang="zh-CN" sz="713" spc="90">
                <a:solidFill>
                  <a:srgbClr val="6BC8D1"/>
                </a:solidFill>
                <a:latin typeface="Consolas"/>
                <a:ea typeface="Consolas"/>
              </a:rPr>
              <a:t>每个场景内置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10477500" y="5324475"/>
            <a:ext cx="1181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F2F7F8">
                    <a:alpha val="34000"/>
                  </a:srgbClr>
                </a:solidFill>
                <a:latin typeface="Microsoft YaHei"/>
                <a:ea typeface="Microsoft YaHei"/>
              </a:rPr>
              <a:t>随实验可查，不参与结果指纹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533400" y="5534025"/>
            <a:ext cx="838200" cy="200025"/>
          </a:xfrm>
          <a:prstGeom prst="roundRect">
            <a:avLst>
              <a:gd name="adj" fmla="val 19048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619125" y="5581650"/>
            <a:ext cx="666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56000"/>
                  </a:srgbClr>
                </a:solidFill>
                <a:latin typeface="Consolas"/>
                <a:ea typeface="Consolas"/>
              </a:rPr>
              <a:t>NIST SP 800-41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1447800" y="5534025"/>
            <a:ext cx="838200" cy="200025"/>
          </a:xfrm>
          <a:prstGeom prst="roundRect">
            <a:avLst>
              <a:gd name="adj" fmla="val 19048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1533525" y="5581650"/>
            <a:ext cx="666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56000"/>
                  </a:srgbClr>
                </a:solidFill>
                <a:latin typeface="Consolas"/>
                <a:ea typeface="Consolas"/>
              </a:rPr>
              <a:t>NIST SP 800-53</a:t>
            </a:r>
            <a:endParaRPr/>
          </a:p>
        </p:txBody>
      </p:sp>
      <p:sp>
        <p:nvSpPr>
          <p:cNvPr id="555" name=""/>
          <p:cNvSpPr/>
          <p:nvPr/>
        </p:nvSpPr>
        <p:spPr>
          <a:xfrm rot="0" flipH="0" flipV="0">
            <a:off x="2362200" y="5534025"/>
            <a:ext cx="885825" cy="200025"/>
          </a:xfrm>
          <a:prstGeom prst="roundRect">
            <a:avLst>
              <a:gd name="adj" fmla="val 19048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2447925" y="5581650"/>
            <a:ext cx="7143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56000"/>
                  </a:srgbClr>
                </a:solidFill>
                <a:latin typeface="Consolas"/>
                <a:ea typeface="Consolas"/>
              </a:rPr>
              <a:t>NIST SP 800-207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3324225" y="5534025"/>
            <a:ext cx="742950" cy="200025"/>
          </a:xfrm>
          <a:prstGeom prst="roundRect">
            <a:avLst>
              <a:gd name="adj" fmla="val 19048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3409950" y="5581650"/>
            <a:ext cx="5715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56000"/>
                  </a:srgbClr>
                </a:solidFill>
                <a:latin typeface="Consolas"/>
                <a:ea typeface="Consolas"/>
              </a:rPr>
              <a:t>MITRE ATT&amp;CK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4143375" y="5534025"/>
            <a:ext cx="885825" cy="200025"/>
          </a:xfrm>
          <a:prstGeom prst="roundRect">
            <a:avLst>
              <a:gd name="adj" fmla="val 19048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4229100" y="5581650"/>
            <a:ext cx="71437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56000"/>
                  </a:srgbClr>
                </a:solidFill>
                <a:latin typeface="Consolas"/>
                <a:ea typeface="Consolas"/>
              </a:rPr>
              <a:t>GB/T 22239-2019</a:t>
            </a:r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5105400" y="5534025"/>
            <a:ext cx="790575" cy="200025"/>
          </a:xfrm>
          <a:prstGeom prst="roundRect">
            <a:avLst>
              <a:gd name="adj" fmla="val 19048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5191125" y="5581650"/>
            <a:ext cx="6191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F2F7F8">
                    <a:alpha val="56000"/>
                  </a:srgbClr>
                </a:solidFill>
                <a:latin typeface="Consolas"/>
                <a:ea typeface="Consolas"/>
              </a:rPr>
              <a:t>IEC 62443-3-3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19 / 28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10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3)' strokeWidth='1'&gt;&#13;&#10;            &lt;path d='M0 80H1280M0 160H1280M0 240H1280M0 320H1280M0 400H1280M0 480H1280M0 560H1280M0 640H1280' /&gt;&#13;&#10;            &lt;path d='M80 0V720M160 0V720M240 0V720M320 0V720M400 0V720M480 0V720M560 0V720M640 0V720M720 0V720M800 0V720M880 0V720M960 0V720M1040 0V720M1120 0V720M1200 0V720' /&gt;&#13;&#10;        &lt;/g&gt;&#13;&#10;        &lt;g stroke='rgba(107,200,209,0.18)' strokeWidth='1' fill='none'&gt;&#13;&#10;            &lt;path d='M760 420L850 320L970 370L1080 260L1170 320' /&gt;&#13;&#10;            &lt;path d='M850 320L910 460L1020 500L1080 260' /&gt;&#13;&#10;        &lt;/g&gt;&#13;&#10;        &lt;g fill='#6BC8D1'&gt;&#13;&#10;            &lt;circle cx='760' cy='420' r='4' opacity='0.45' /&gt;&#13;&#10;            &lt;circle cx='850' cy='320' r='6' opacity='0.85' /&gt;&#13;&#10;            &lt;circle cx='970' cy='370' r='4.5' opacity='0.6' /&gt;&#13;&#10;            &lt;circle cx='1080' cy='260' r='5' opacity='0.7' /&gt;&#13;&#10;            &lt;circle cx='1170' cy='320' r='3.5' opacity='0.4' /&gt;&#13;&#10;            &lt;circle cx='910' cy='460' r='4' opacity='0.5' /&gt;&#13;&#10;            &lt;circle cx='1020' cy='500' r='4' opacity='0.5' /&gt;&#13;&#10;        &lt;/g&gt;&#13;&#10;    &lt;/svg&gt;&#13;&#10;    &lt;Text style={{ position: 'absolute', right: 56, top: 154, width: 520, textAlign: 'right', fontFamily: 'Consolas', fontSize: 290, fontWeight: 'bold', color: '#F2F7F8', opacity: 0.055, lineHeight: 1 }}&gt;05&lt;/Text&gt;&#13;&#10;    &lt;Box style={{ position: 'absolute', left: 0, top: 0, width: 5, height: 720, background: '#6BC8D1', opacity: 0.55 }} /&gt;&#13;&#10;&#13;&#10;    &lt;Box style={{ position: 'absolute', left: 72, top: 46 }}&gt;&#13;&#10;        &lt;Text style={{ fontFamily: 'Consolas', fontSize: 11, color: '#6BC8D1', letterSpacing: 2 }}&gt;CHAPTER 05 / 05&lt;/Text&gt;&#13;&#10;    &lt;/Box&gt;&#13;&#10;    &lt;Box style={{ position: 'absolute', left: 72, top: 176, width: 620 }}&gt;&#13;&#10;        &lt;Text style={{ fontFamily: 'Microsoft YaHei', fontSize: 58, fontWeight: 'bold', color: '#F2F7F8', letterSpacing: 2 }}&gt;价值与展望&lt;/Text&gt;&#13;&#10;        &lt;Box style={{ marginTop: 22, width: 52, height: 3, background: '#6BC8D1' }} /&gt;&#13;&#10;        &lt;Text style={{ marginTop: 24, fontFamily: 'Microsoft YaHei', fontSize: 19, color: 'rgba(242,247,248,0.68)', lineHeight: 1.7, width: 560 }}&gt;&#13;&#10;            三个创新点，最终都指向同一个词：可验证。&#13;&#10;        &lt;/Text&gt;&#13;&#10;    &lt;/Box&gt;&#13;&#10;&#13;&#10;    &lt;Box style={{ position: 'absolute', left: 72, top: 420, width: 560 }}&gt;&#13;&#10;        &lt;Box style={{ flexDirection: 'row', alignItems: 'center', height: 48, borderTop: '1px solid rgba(242,247,248,0.12)' }}&gt;&#13;&#10;            &lt;Text style={{ width: 54, fontFamily: 'Consolas', fontSize: 10, color: '#6BC8D1' }}&gt;05.1&lt;/Text&gt;&#13;&#10;            &lt;Text style={{ fontFamily: 'Microsoft YaHei', fontSize: 14, color: 'rgba(242,247,248,0.72)' }}&gt;语义解耦：通与变，分开回答&lt;/Text&gt;&#13;&#10;        &lt;/Box&gt;&#13;&#10;        &lt;Box style={{ flexDirection: 'row', alignItems: 'center', height: 48, borderTop: '1px solid rgba(242,247,248,0.12)' }}&gt;&#13;&#10;            &lt;Text style={{ width: 54, fontFamily: 'Consolas', fontSize: 10, color: '#6BC8D1' }}&gt;05.2&lt;/Text&gt;&#13;&#10;            &lt;Text style={{ fontFamily: 'Microsoft YaHei', fontSize: 14, color: 'rgba(242,247,248,0.72)' }}&gt;可解释搜索：见证链与失败原因&lt;/Text&gt;&#13;&#10;        &lt;/Box&gt;&#13;&#10;        &lt;Box style={{ flexDirection: 'row', alignItems: 'center', height: 48, borderTop: '1px solid rgba(242,247,248,0.12)', borderBottom: '1px solid rgba(242,247,248,0.12)' }}&gt;&#13;&#10;            &lt;Text style={{ width: 54, fontFamily: 'Consolas', fontSize: 10, color: '#6BC8D1' }}&gt;05.3&lt;/Text&gt;&#13;&#10;            &lt;Text style={{ fontFamily: 'Microsoft YaHei', fontSize: 14, color: 'rgba(242,247,248,0.72)' }}&gt;可复现交付：同输入，同结果&lt;/Text&gt;&#13;&#10;        &lt;/Box&gt;&#13;&#10;    &lt;/Box&gt;&#13;&#10;&#13;&#10;    &lt;Box style={{ position: 'absolute', left: 72, top: 664, flexDirection: 'row', alignItems: 'center', gap: 8 }}&gt;&#13;&#10;        &lt;Text style={{ fontFamily: 'Consolas', fontSize: 10.5, color: 'rgba(242,247,248,0.40)' }}&gt;智御网络&lt;/Text&gt;&#13;&#10;        &lt;Box style={{ width: 16, height: 1, background: 'rgba(242,247,248,0.20)' }} /&gt;&#13;&#10;        &lt;Text style={{ fontFamily: 'Consolas', fontSize: 10.5, color: 'rgba(242,247,248,0.40)' }}&gt;VALUE&lt;/Text&gt;&#13;&#10;    &lt;/Box&gt;&#13;&#10;    &lt;Text style={{ position: 'absolute', right: 56, top: 664, fontFamily: 'Consolas', fontSize: 10.5, color: 'rgba(242,247,248,0.40)' }}&gt;20 / 2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6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6705600" y="1466850"/>
            <a:ext cx="4953000" cy="331470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21750" b="1">
                <a:solidFill>
                  <a:srgbClr val="F2F7F8">
                    <a:alpha val="5500"/>
                  </a:srgbClr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0" y="0"/>
            <a:ext cx="47625" cy="6858000"/>
          </a:xfrm>
          <a:prstGeom prst="rect">
            <a:avLst/>
          </a:prstGeom>
          <a:solidFill>
            <a:srgbClr val="6BC8D1">
              <a:alpha val="55000"/>
            </a:srgbClr>
          </a:solidFill>
          <a:ln/>
        </p:spPr>
        <p:txBody>
          <a:bodyPr/>
          <a:p/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685800" y="438150"/>
            <a:ext cx="11525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50">
                <a:solidFill>
                  <a:srgbClr val="6BC8D1"/>
                </a:solidFill>
                <a:latin typeface="Consolas"/>
                <a:ea typeface="Consolas"/>
              </a:rPr>
              <a:t>CHAPTER 05 / 05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685800" y="1676400"/>
            <a:ext cx="5905500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350" b="1" spc="150">
                <a:solidFill>
                  <a:srgbClr val="F2F7F8"/>
                </a:solidFill>
                <a:latin typeface="Microsoft YaHei"/>
                <a:ea typeface="Microsoft YaHei"/>
              </a:rPr>
              <a:t>价值与展望</a:t>
            </a:r>
            <a:endParaRPr/>
          </a:p>
        </p:txBody>
      </p:sp>
      <p:sp>
        <p:nvSpPr>
          <p:cNvPr id="617" name=""/>
          <p:cNvSpPr/>
          <p:nvPr/>
        </p:nvSpPr>
        <p:spPr>
          <a:xfrm rot="0" flipH="0" flipV="0">
            <a:off x="685800" y="2552700"/>
            <a:ext cx="495300" cy="2857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685800" y="2809875"/>
            <a:ext cx="5334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F2F7F8">
                    <a:alpha val="68000"/>
                  </a:srgbClr>
                </a:solidFill>
                <a:latin typeface="Microsoft YaHei"/>
                <a:ea typeface="Microsoft YaHei"/>
              </a:rPr>
              <a:t>三个创新点，最终都指向同一个词：可验证。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685800" y="40005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685800" y="41814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05.1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1200150" y="4152900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语义解耦：通与变，分开回答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685800" y="44577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685800" y="4638675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05.2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1200150" y="4610100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可解释搜索：见证链与失败原因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0"/>
                </a:moveTo>
                <a:lnTo>
                  <a:pt x="560" y="0"/>
                </a:lnTo>
                <a:lnTo>
                  <a:pt x="56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626" name=""/>
          <p:cNvSpPr/>
          <p:nvPr/>
        </p:nvSpPr>
        <p:spPr>
          <a:xfrm rot="0" flipH="0" flipV="0">
            <a:off x="685800" y="4914900"/>
            <a:ext cx="5334000" cy="457200"/>
          </a:xfrm>
          <a:custGeom>
            <a:pathLst>
              <a:path w="560" h="48">
                <a:moveTo>
                  <a:pt x="0" y="47"/>
                </a:moveTo>
                <a:lnTo>
                  <a:pt x="560" y="47"/>
                </a:lnTo>
                <a:lnTo>
                  <a:pt x="560" y="48"/>
                </a:lnTo>
                <a:lnTo>
                  <a:pt x="0" y="48"/>
                </a:lnTo>
                <a:close/>
              </a:path>
            </a:pathLst>
          </a:custGeom>
          <a:solidFill>
            <a:srgbClr val="F2F7F8">
              <a:alpha val="12000"/>
            </a:srgbClr>
          </a:solidFill>
          <a:ln/>
        </p:spPr>
        <p:txBody>
          <a:bodyPr/>
          <a:p/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685800" y="5086350"/>
            <a:ext cx="514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6BC8D1"/>
                </a:solidFill>
                <a:latin typeface="Consolas"/>
                <a:ea typeface="Consolas"/>
              </a:rPr>
              <a:t>05.3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1200150" y="5067300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2F7F8">
                    <a:alpha val="72000"/>
                  </a:srgbClr>
                </a:solidFill>
                <a:latin typeface="Microsoft YaHei"/>
                <a:ea typeface="Microsoft YaHei"/>
              </a:rPr>
              <a:t>可复现交付：同输入，同结果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685800" y="6324600"/>
            <a:ext cx="647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1409700" y="6381750"/>
            <a:ext cx="152400" cy="9525"/>
          </a:xfrm>
          <a:prstGeom prst="rect">
            <a:avLst/>
          </a:prstGeom>
          <a:solidFill>
            <a:srgbClr val="F2F7F8">
              <a:alpha val="20000"/>
            </a:srgbClr>
          </a:solidFill>
          <a:ln/>
        </p:spPr>
        <p:txBody>
          <a:bodyPr/>
          <a:p/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1638300" y="6324600"/>
            <a:ext cx="2762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VALUE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11268075" y="632460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20 / 28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33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    &lt;circle cx='1180' cy='120' r='230' fill='rgba(107,200,209,0.035)' /&gt;&#13;&#10;    &lt;/svg&gt;&#13;&#10;&#13;&#10;    &lt;Box style={{ position: 'absolute', left: 56, top: 38 }}&gt;&#13;&#10;        &lt;Text style={{ fontFamily: 'Consolas', fontSize: 11, color: '#6BC8D1', letterSpacing: 1.8 }}&gt;05 / 价值与展望&lt;/Text&gt;&#13;&#10;    &lt;/Box&gt;&#13;&#10;    &lt;Text style={{ position: 'absolute', left: 56, top: 62, fontFamily: 'Microsoft YaHei', fontSize: 32, fontWeight: 'bold', color: '#F2F7F8', letterSpacing: 0.5 }}&gt;三个创新点，最终都指向“可验证”&lt;/Text&gt;&#13;&#10;    &lt;Text style={{ position: 'absolute', right: 56, top: 76, fontFamily: 'Consolas', fontSize: 10.5, color: 'rgba(242,247,248,0.42)' }}&gt;FROM MECHANISM TO DELIVERY&lt;/Text&gt;&#13;&#10;&#13;&#10;    &lt;Box style={{ position: 'absolute', left: 56, top: 150, width: 880, height: 118, paddingLeft: 20, paddingRight: 20, flexDirection: 'row', alignItems: 'center', background: 'linear-gradient(90deg, rgba(107,200,209,0.10) 0%, rgba(242,247,248,0.02) 100%)', borderLeft: '2px solid #6BC8D1' }}&gt;&#13;&#10;        &lt;Text style={{ width: 88, fontFamily: 'Consolas', fontSize: 40, fontWeight: 'bold', color: 'rgba(107,200,209,0.80)', lineHeight: 1 }}&gt;01&lt;/Text&gt;&#13;&#10;        &lt;Box style={{ width: 752 }}&gt;&#13;&#10;            &lt;Text style={{ fontFamily: 'Microsoft YaHei', fontSize: 17, fontWeight: 'bold', color: '#F2F7F8' }}&gt;语义解耦&lt;/Text&gt;&#13;&#10;            &lt;Text style={{ marginTop: 6, fontFamily: 'Microsoft YaHei', fontSize: 11.5, color: 'rgba(242,247,248,0.56)', lineHeight: 1.7 }}&gt;通信引擎只回答可达性；状态引擎再检查权限、来源、条件与控制。通信可达不等于状态改变。&lt;/Text&gt;&#13;&#10;        &lt;/Box&gt;&#13;&#10;    &lt;/Box&gt;&#13;&#10;&#13;&#10;    &lt;Box style={{ position: 'absolute', left: 56, top: 286, width: 880, height: 118, paddingLeft: 20, paddingRight: 20, flexDirection: 'row', alignItems: 'center', background: 'linear-gradient(90deg, rgba(242,247,248,0.045) 0%, rgba(242,247,248,0.015) 100%)', borderLeft: '2px solid rgba(107,200,209,0.40)' }}&gt;&#13;&#10;        &lt;Text style={{ width: 88, fontFamily: 'Consolas', fontSize: 40, fontWeight: 'bold', color: 'rgba(242,247,248,0.30)', lineHeight: 1 }}&gt;02&lt;/Text&gt;&#13;&#10;        &lt;Box style={{ width: 752 }}&gt;&#13;&#10;            &lt;Text style={{ fontFamily: 'Microsoft YaHei', fontSize: 17, fontWeight: 'bold', color: '#F2F7F8' }}&gt;可解释搜索&lt;/Text&gt;&#13;&#10;            &lt;Text style={{ marginTop: 6, fontFamily: 'Microsoft YaHei', fontSize: 11.5, color: 'rgba(242,247,248,0.56)', lineHeight: 1.7 }}&gt;每条链有见证，每个失败有原因；SUCCESS / BLOCKED / N.A. 三态，深度 8 / 160 状态都有边界。&lt;/Text&gt;&#13;&#10;        &lt;/Box&gt;&#13;&#10;    &lt;/Box&gt;&#13;&#10;&#13;&#10;    &lt;Box style={{ position: 'absolute', left: 56, top: 422, width: 880, height: 118, paddingLeft: 20, paddingRight: 20, flexDirection: 'row', alignItems: 'center', background: 'linear-gradient(90deg, rgba(242,247,248,0.045) 0%, rgba(242,247,248,0.015) 100%)', borderLeft: '2px solid rgba(107,200,209,0.40)' }}&gt;&#13;&#10;        &lt;Text style={{ width: 88, fontFamily: 'Consolas', fontSize: 40, fontWeight: 'bold', color: 'rgba(242,247,248,0.30)', lineHeight: 1 }}&gt;03&lt;/Text&gt;&#13;&#10;        &lt;Box style={{ width: 752 }}&gt;&#13;&#10;            &lt;Text style={{ fontFamily: 'Microsoft YaHei', fontSize: 17, fontWeight: 'bold', color: '#F2F7F8' }}&gt;可复现交付&lt;/Text&gt;&#13;&#10;            &lt;Text style={{ marginTop: 6, fontFamily: 'Microsoft YaHei', fontSize: 11.5, color: 'rgba(242,247,248,0.56)', lineHeight: 1.7 }}&gt;纯前端、无后端；配置指纹让过期结果失效；场景压缩进链接，接收方本地重算，同输入同结果。&lt;/Text&gt;&#13;&#10;        &lt;/Box&gt;&#13;&#10;    &lt;/Box&gt;&#13;&#10;&#13;&#10;    &lt;Box style={{ position: 'absolute', left: 986, top: 150, width: 238 }}&gt;&#13;&#10;        &lt;Text style={{ fontFamily: 'Consolas', fontSize: 9.5, color: '#6BC8D1', letterSpacing: 1.2 }}&gt;APPLICATION&lt;/Text&gt;&#13;&#10;        &lt;Box style={{ marginTop: 16, paddingBottom: 12, borderBottom: '1px solid rgba(242,247,248,0.10)' }}&gt;&#13;&#10;            &lt;Text style={{ fontFamily: 'Microsoft YaHei', fontSize: 13, fontWeight: 'bold', color: '#F2F7F8' }}&gt;高校课堂&lt;/Text&gt;&#13;&#10;            &lt;Text style={{ marginTop: 3, fontFamily: 'Microsoft YaHei', fontSize: 10.5, color: 'rgba(242,247,248,0.46)' }}&gt;网络与安全课程实验&lt;/Text&gt;&#13;&#10;        &lt;/Box&gt;&#13;&#10;        &lt;Box style={{ marginTop: 12, paddingBottom: 12, borderBottom: '1px solid rgba(242,247,248,0.10)' }}&gt;&#13;&#10;            &lt;Text style={{ fontFamily: 'Microsoft YaHei', fontSize: 13, fontWeight: 'bold', color: '#F2F7F8' }}&gt;企业培训&lt;/Text&gt;&#13;&#10;            &lt;Text style={{ marginTop: 3, fontFamily: 'Microsoft YaHei', fontSize: 10.5, color: 'rgba(242,247,248,0.46)' }}&gt;策略变更前的沙盘演练&lt;/Text&gt;&#13;&#10;        &lt;/Box&gt;&#13;&#10;        &lt;Box style={{ marginTop: 12 }}&gt;&#13;&#10;            &lt;Text style={{ fontFamily: 'Microsoft YaHei', fontSize: 13, fontWeight: 'bold', color: '#F2F7F8' }}&gt;竞赛实训&lt;/Text&gt;&#13;&#10;            &lt;Text style={{ marginTop: 3, fontFamily: 'Microsoft YaHei', fontSize: 10.5, color: 'rgba(242,247,248,0.46)' }}&gt;可解释的攻防推演&lt;/Text&gt;&#13;&#10;        &lt;/Box&gt;&#13;&#10;        &lt;Box style={{ marginTop: 28, paddingTop: 14, borderTop: '1px solid rgba(107,200,209,0.22)' }}&gt;&#13;&#10;            &lt;Text style={{ fontFamily: 'Microsoft YaHei', fontSize: 18, fontWeight: 'bold', color: '#6BC8D1', lineHeight: 1.6 }}&gt;把“讲策略”&lt;br /&gt;变成“做验证”。&lt;/Text&gt;&#13;&#10;        &lt;/Box&gt;&#13;&#10;    &lt;/Box&gt;&#13;&#10;&#13;&#10;    &lt;Box style={{ position: 'absolute', left: 56, top: 580, width: 880, flexDirection: 'row', alignItems: 'center', gap: 10 }}&gt;&#13;&#10;        &lt;Box style={{ width: 20, height: 1, background: '#6BC8D1' }} /&gt;&#13;&#10;        &lt;Text style={{ fontFamily: 'Microsoft YaHei', fontSize: 11.5, color: 'rgba(242,247,248,0.46)' }}&gt;从课堂到实训，同一套可验证的沙盘；下一步将扩展更多行业场景与协作式实验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21 / 2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6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276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05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价值与展望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953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 spc="38">
                <a:solidFill>
                  <a:srgbClr val="F2F7F8"/>
                </a:solidFill>
                <a:latin typeface="Microsoft YaHei"/>
                <a:ea typeface="Microsoft YaHei"/>
              </a:rPr>
              <a:t>三个创新点，最终都指向“可验证”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10220325" y="723900"/>
            <a:ext cx="14382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FROM MECHANISM TO DELIVERY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552450" y="1428750"/>
            <a:ext cx="8362950" cy="1123950"/>
          </a:xfrm>
          <a:prstGeom prst="rect">
            <a:avLst/>
          </a:prstGeom>
          <a:gradFill>
            <a:gsLst>
              <a:gs pos="0">
                <a:srgbClr val="6BC8D1">
                  <a:alpha val="10000"/>
                </a:srgbClr>
              </a:gs>
              <a:gs pos="100000">
                <a:srgbClr val="F2F7F8">
                  <a:alpha val="2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40" name=""/>
          <p:cNvSpPr/>
          <p:nvPr/>
        </p:nvSpPr>
        <p:spPr>
          <a:xfrm rot="0" flipH="0" flipV="0">
            <a:off x="533400" y="1428750"/>
            <a:ext cx="8382000" cy="1123950"/>
          </a:xfrm>
          <a:custGeom>
            <a:pathLst>
              <a:path w="880" h="118">
                <a:moveTo>
                  <a:pt x="0" y="0"/>
                </a:moveTo>
                <a:lnTo>
                  <a:pt x="2" y="0"/>
                </a:lnTo>
                <a:lnTo>
                  <a:pt x="2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742950" y="1762125"/>
            <a:ext cx="8382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6BC8D1">
                    <a:alpha val="80000"/>
                  </a:srgbClr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1581150" y="1752600"/>
            <a:ext cx="716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语义解耦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1581150" y="2009775"/>
            <a:ext cx="71628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通信引擎只回答可达性；状态引擎再检查权限、来源、条件与控制。通信可达不等于状态改变。</a:t>
            </a:r>
            <a:endParaRPr/>
          </a:p>
        </p:txBody>
      </p:sp>
      <p:sp>
        <p:nvSpPr>
          <p:cNvPr id="644" name=""/>
          <p:cNvSpPr/>
          <p:nvPr/>
        </p:nvSpPr>
        <p:spPr>
          <a:xfrm rot="0" flipH="0" flipV="0">
            <a:off x="552450" y="2724150"/>
            <a:ext cx="8362950" cy="1123950"/>
          </a:xfrm>
          <a:prstGeom prst="rect">
            <a:avLst/>
          </a:prstGeom>
          <a:gradFill>
            <a:gsLst>
              <a:gs pos="0">
                <a:srgbClr val="F2F7F8">
                  <a:alpha val="4500"/>
                </a:srgbClr>
              </a:gs>
              <a:gs pos="100000">
                <a:srgbClr val="F2F7F8">
                  <a:alpha val="15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45" name=""/>
          <p:cNvSpPr/>
          <p:nvPr/>
        </p:nvSpPr>
        <p:spPr>
          <a:xfrm rot="0" flipH="0" flipV="0">
            <a:off x="533400" y="2724150"/>
            <a:ext cx="8382000" cy="1123950"/>
          </a:xfrm>
          <a:custGeom>
            <a:pathLst>
              <a:path w="880" h="118">
                <a:moveTo>
                  <a:pt x="0" y="0"/>
                </a:moveTo>
                <a:lnTo>
                  <a:pt x="2" y="0"/>
                </a:lnTo>
                <a:lnTo>
                  <a:pt x="2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6BC8D1">
              <a:alpha val="40000"/>
            </a:srgbClr>
          </a:solidFill>
          <a:ln/>
        </p:spPr>
        <p:txBody>
          <a:bodyPr/>
          <a:p/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742950" y="3057525"/>
            <a:ext cx="8382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1581150" y="3048000"/>
            <a:ext cx="716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可解释搜索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1581150" y="3305175"/>
            <a:ext cx="71628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每条链有见证，每个失败有原因；</a:t>
            </a:r>
            <a:r>
              <a:rPr lang="en-US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SUCCESS / BLOCKED / N.A. </a:t>
            </a:r>
            <a:r>
              <a:rPr lang="zh-CN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三态，深度</a:t>
            </a:r>
            <a:r>
              <a:rPr lang="en-US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 8 / 160 </a:t>
            </a:r>
            <a:r>
              <a:rPr lang="zh-CN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状态都有边界。</a:t>
            </a:r>
            <a:endParaRPr/>
          </a:p>
        </p:txBody>
      </p:sp>
      <p:sp>
        <p:nvSpPr>
          <p:cNvPr id="649" name=""/>
          <p:cNvSpPr/>
          <p:nvPr/>
        </p:nvSpPr>
        <p:spPr>
          <a:xfrm rot="0" flipH="0" flipV="0">
            <a:off x="552450" y="4019550"/>
            <a:ext cx="8362950" cy="1123950"/>
          </a:xfrm>
          <a:prstGeom prst="rect">
            <a:avLst/>
          </a:prstGeom>
          <a:gradFill>
            <a:gsLst>
              <a:gs pos="0">
                <a:srgbClr val="F2F7F8">
                  <a:alpha val="4500"/>
                </a:srgbClr>
              </a:gs>
              <a:gs pos="100000">
                <a:srgbClr val="F2F7F8">
                  <a:alpha val="15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50" name=""/>
          <p:cNvSpPr/>
          <p:nvPr/>
        </p:nvSpPr>
        <p:spPr>
          <a:xfrm rot="0" flipH="0" flipV="0">
            <a:off x="533400" y="4019550"/>
            <a:ext cx="8382000" cy="1123950"/>
          </a:xfrm>
          <a:custGeom>
            <a:pathLst>
              <a:path w="880" h="118">
                <a:moveTo>
                  <a:pt x="0" y="0"/>
                </a:moveTo>
                <a:lnTo>
                  <a:pt x="2" y="0"/>
                </a:lnTo>
                <a:lnTo>
                  <a:pt x="2" y="118"/>
                </a:lnTo>
                <a:lnTo>
                  <a:pt x="0" y="118"/>
                </a:lnTo>
                <a:close/>
              </a:path>
            </a:pathLst>
          </a:custGeom>
          <a:solidFill>
            <a:srgbClr val="6BC8D1">
              <a:alpha val="40000"/>
            </a:srgbClr>
          </a:solidFill>
          <a:ln/>
        </p:spPr>
        <p:txBody>
          <a:bodyPr/>
          <a:p/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742950" y="4352925"/>
            <a:ext cx="8382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2F7F8">
                    <a:alpha val="30000"/>
                  </a:srgbClr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1581150" y="4343400"/>
            <a:ext cx="716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2F7F8"/>
                </a:solidFill>
                <a:latin typeface="Microsoft YaHei"/>
                <a:ea typeface="Microsoft YaHei"/>
              </a:rPr>
              <a:t>可复现交付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1581150" y="4600575"/>
            <a:ext cx="71628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纯前端、无后端；配置指纹让过期结果失效；场景压缩进链接，接收方本地重算，同输入同结果。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9391650" y="1428750"/>
            <a:ext cx="22669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APPLICATION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9391650" y="1695450"/>
            <a:ext cx="2266950" cy="438150"/>
          </a:xfrm>
          <a:custGeom>
            <a:pathLst>
              <a:path w="238" h="46">
                <a:moveTo>
                  <a:pt x="0" y="45"/>
                </a:moveTo>
                <a:lnTo>
                  <a:pt x="238" y="45"/>
                </a:lnTo>
                <a:lnTo>
                  <a:pt x="238" y="46"/>
                </a:lnTo>
                <a:lnTo>
                  <a:pt x="0" y="46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9391650" y="1695450"/>
            <a:ext cx="2266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高校课堂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9391650" y="1876425"/>
            <a:ext cx="2266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网络与安全课程实验</a:t>
            </a:r>
            <a:endParaRPr/>
          </a:p>
        </p:txBody>
      </p:sp>
      <p:sp>
        <p:nvSpPr>
          <p:cNvPr id="658" name=""/>
          <p:cNvSpPr/>
          <p:nvPr/>
        </p:nvSpPr>
        <p:spPr>
          <a:xfrm rot="0" flipH="0" flipV="0">
            <a:off x="9391650" y="2238375"/>
            <a:ext cx="2266950" cy="438150"/>
          </a:xfrm>
          <a:custGeom>
            <a:pathLst>
              <a:path w="238" h="46">
                <a:moveTo>
                  <a:pt x="0" y="45"/>
                </a:moveTo>
                <a:lnTo>
                  <a:pt x="238" y="45"/>
                </a:lnTo>
                <a:lnTo>
                  <a:pt x="238" y="46"/>
                </a:lnTo>
                <a:lnTo>
                  <a:pt x="0" y="46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9391650" y="2238375"/>
            <a:ext cx="2266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企业培训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9391650" y="2419350"/>
            <a:ext cx="2266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策略变更前的沙盘演练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9391650" y="2781300"/>
            <a:ext cx="2266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竞赛实训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9391650" y="2962275"/>
            <a:ext cx="2266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可解释的攻防推演</a:t>
            </a:r>
            <a:endParaRPr/>
          </a:p>
        </p:txBody>
      </p:sp>
      <p:sp>
        <p:nvSpPr>
          <p:cNvPr id="663" name=""/>
          <p:cNvSpPr/>
          <p:nvPr/>
        </p:nvSpPr>
        <p:spPr>
          <a:xfrm rot="0" flipH="0" flipV="0">
            <a:off x="9391650" y="3352800"/>
            <a:ext cx="2266950" cy="819150"/>
          </a:xfrm>
          <a:custGeom>
            <a:pathLst>
              <a:path w="238" h="86">
                <a:moveTo>
                  <a:pt x="0" y="0"/>
                </a:moveTo>
                <a:lnTo>
                  <a:pt x="238" y="0"/>
                </a:lnTo>
                <a:lnTo>
                  <a:pt x="238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22000"/>
            </a:srgbClr>
          </a:solidFill>
          <a:ln/>
        </p:spPr>
        <p:txBody>
          <a:bodyPr/>
          <a:p/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9391650" y="3495675"/>
            <a:ext cx="2266950" cy="666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6BC8D1"/>
                </a:solidFill>
                <a:latin typeface="Microsoft YaHei"/>
                <a:ea typeface="Microsoft YaHei"/>
              </a:rPr>
              <a:t>把“讲策略”</a:t>
            </a:r>
            <a:endParaRPr/>
          </a:p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6BC8D1"/>
                </a:solidFill>
                <a:latin typeface="Microsoft YaHei"/>
                <a:ea typeface="Microsoft YaHei"/>
              </a:rPr>
              <a:t>变成“做验证”。</a:t>
            </a:r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533400" y="5591175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819150" y="5524500"/>
            <a:ext cx="394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从课堂到实训，同一套可验证的沙盘；下一步将扩展更多行业场景与协作式实验。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21 / 28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670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    &lt;path d='M414 138V620M788 138V620' stroke='rgba(242,247,248,0.07)' /&gt;&#13;&#10;        &lt;/g&gt;&#13;&#10;    &lt;/svg&gt;&#13;&#10;&#13;&#10;    &lt;Box style={{ position: 'absolute', left: 56, top: 38 }}&gt;&#13;&#10;        &lt;Text style={{ fontFamily: 'Consolas', fontSize: 11, color: '#6BC8D1', letterSpacing: 1.8 }}&gt;APPENDIX 01 / 功能图集&lt;/Text&gt;&#13;&#10;    &lt;/Box&gt;&#13;&#10;    &lt;Text style={{ position: 'absolute', left: 56, top: 62, fontFamily: 'Microsoft YaHei', fontSize: 31, fontWeight: 'bold', color: '#F2F7F8', letterSpacing: 0.5 }}&gt;六个工作面，60+ 项能力&lt;/Text&gt;&#13;&#10;    &lt;Text style={{ position: 'absolute', right: 56, top: 76, fontFamily: 'Consolas', fontSize: 10.5, color: 'rgba(242,247,248,0.42)' }}&gt;FULL FUNCTION MATRIX&lt;/Text&gt;&#13;&#10;&#13;&#10;    &lt;Box style={{ position: 'absolute', left: 56, top: 138, width: 358 }}&gt;&#13;&#10;        &lt;Box style={{ height: 124 }}&gt;&#13;&#10;            &lt;Box style={{ flexDirection: 'row', alignItems: 'center', justifyContent: 'space-between', height: 22 }}&gt;&#13;&#10;                &lt;Text style={{ fontFamily: 'Microsoft YaHei', fontSize: 13, fontWeight: 'bold', color: '#6BC8D1' }}&gt;总览&lt;/Text&gt;&#13;&#10;                &lt;Text style={{ fontFamily: 'Consolas', fontSize: 8.5, color: 'rgba(242,247,248,0.34)' }}&gt;06&lt;/Text&gt;&#13;&#10;            &lt;/Box&gt;&#13;&#10;            &lt;Text style={{ height: 17, fontFamily: 'Microsoft YaHei', fontSize: 9.2, color: 'rgba(242,247,248,0.62)', lineHeight: 1.55 }}&gt;✓ 核心实验入口&lt;/Text&gt;&#13;&#10;            &lt;Text style={{ height: 17, fontFamily: 'Microsoft YaHei', fontSize: 9.2, color: 'rgba(242,247,248,0.62)', lineHeight: 1.55 }}&gt;✓ 扩展场景矩阵&lt;/Text&gt;&#13;&#10;            &lt;Text style={{ height: 17, fontFamily: 'Microsoft YaHei', fontSize: 9.2, color: 'rgba(242,247,248,0.62)', lineHeight: 1.55 }}&gt;✓ 三维实时预览&lt;/Text&gt;&#13;&#10;            &lt;Text style={{ height: 17, fontFamily: 'Microsoft YaHei', fontSize: 9.2, color: 'rgba(242,247,248,0.62)', lineHeight: 1.55 }}&gt;✓ 难度与时长&lt;/Text&gt;&#13;&#10;            &lt;Text style={{ height: 17, fontFamily: 'Microsoft YaHei', fontSize: 9.2, color: 'rgba(242,247,248,0.62)', lineHeight: 1.55 }}&gt;✓ 实验初始条件&lt;/Text&gt;&#13;&#10;            &lt;Text style={{ height: 17, fontFamily: 'Microsoft YaHei', fontSize: 9.2, color: 'rgba(242,247,248,0.62)', lineHeight: 1.55 }}&gt;✓ 知识来源入口&lt;/Text&gt;&#13;&#10;        &lt;/Box&gt;&#13;&#10;&#13;&#10;        &lt;Box style={{ height: 158, marginTop: 14 }}&gt;&#13;&#10;            &lt;Box style={{ flexDirection: 'row', alignItems: 'center', justifyContent: 'space-between', height: 22 }}&gt;&#13;&#10;                &lt;Text style={{ fontFamily: 'Microsoft YaHei', fontSize: 13, fontWeight: 'bold', color: '#F2F7F8' }}&gt;实验室 · 输入&lt;/Text&gt;&#13;&#10;                &lt;Text style={{ fontFamily: 'Consolas', fontSize: 8.5, color: 'rgba(242,247,248,0.34)' }}&gt;08&lt;/Text&gt;&#13;&#10;            &lt;/Box&gt;&#13;&#10;            &lt;Text style={{ height: 17, fontFamily: 'Microsoft YaHei', fontSize: 9.2, color: 'rgba(242,247,248,0.62)', lineHeight: 1.55 }}&gt;✓ 场景切换&lt;/Text&gt;&#13;&#10;            &lt;Text style={{ height: 17, fontFamily: 'Microsoft YaHei', fontSize: 9.2, color: 'rgba(242,247,248,0.62)', lineHeight: 1.55 }}&gt;✓ 旋转 / 缩放 / 点选&lt;/Text&gt;&#13;&#10;            &lt;Text style={{ height: 17, fontFamily: 'Microsoft YaHei', fontSize: 9.2, color: 'rgba(242,247,248,0.62)', lineHeight: 1.55 }}&gt;✓ 节点拖拽布局&lt;/Text&gt;&#13;&#10;            &lt;Text style={{ height: 17, fontFamily: 'Microsoft YaHei', fontSize: 9.2, color: 'rgba(242,247,248,0.62)', lineHeight: 1.55 }}&gt;✓ 视野适配与聚焦&lt;/Text&gt;&#13;&#10;            &lt;Text style={{ height: 17, fontFamily: 'Microsoft YaHei', fontSize: 9.2, color: 'rgba(242,247,248,0.62)', lineHeight: 1.55 }}&gt;✓ 节点属性面板&lt;/Text&gt;&#13;&#10;            &lt;Text style={{ height: 17, fontFamily: 'Microsoft YaHei', fontSize: 9.2, color: 'rgba(242,247,248,0.62)', lineHeight: 1.55 }}&gt;✓ 接口与路由详情&lt;/Text&gt;&#13;&#10;            &lt;Text style={{ height: 17, fontFamily: 'Microsoft YaHei', fontSize: 9.2, color: 'rgba(242,247,248,0.62)', lineHeight: 1.55 }}&gt;✓ 改名与区域修改&lt;/Text&gt;&#13;&#10;            &lt;Text style={{ height: 17, fontFamily: 'Microsoft YaHei', fontSize: 9.2, color: 'rgba(242,247,248,0.62)', lineHeight: 1.55 }}&gt;✓ 节点隔离&lt;/Text&gt;&#13;&#10;        &lt;/Box&gt;&#13;&#10;&#13;&#10;        &lt;Box style={{ height: 158, marginTop: 14 }}&gt;&#13;&#10;            &lt;Box style={{ flexDirection: 'row', alignItems: 'center', justifyContent: 'space-between', height: 22 }}&gt;&#13;&#10;                &lt;Text style={{ fontFamily: 'Microsoft YaHei', fontSize: 13, fontWeight: 'bold', color: '#F2F7F8' }}&gt;实验室 · 控制&lt;/Text&gt;&#13;&#10;                &lt;Text style={{ fontFamily: 'Consolas', fontSize: 8.5, color: 'rgba(242,247,248,0.34)' }}&gt;08&lt;/Text&gt;&#13;&#10;            &lt;/Box&gt;&#13;&#10;            &lt;Text style={{ height: 17, fontFamily: 'Microsoft YaHei', fontSize: 9.2, color: 'rgba(242,247,248,0.62)', lineHeight: 1.55 }}&gt;✓ 终端防护开关&lt;/Text&gt;&#13;&#10;            &lt;Text style={{ height: 17, fontFamily: 'Microsoft YaHei', fontSize: 9.2, color: 'rgba(242,247,248,0.62)', lineHeight: 1.55 }}&gt;✓ 服务加固开关&lt;/Text&gt;&#13;&#10;            &lt;Text style={{ height: 17, fontFamily: 'Microsoft YaHei', fontSize: 9.2, color: 'rgba(242,247,248,0.62)', lineHeight: 1.55 }}&gt;✓ 数据访问控制&lt;/Text&gt;&#13;&#10;            &lt;Text style={{ height: 17, fontFamily: 'Microsoft YaHei', fontSize: 9.2, color: 'rgba(242,247,248,0.62)', lineHeight: 1.55 }}&gt;✓ 关键资产标记&lt;/Text&gt;&#13;&#10;            &lt;Text style={{ height: 17, fontFamily: 'Microsoft YaHei', fontSize: 9.2, color: 'rgba(242,247,248,0.62)', lineHeight: 1.55 }}&gt;✓ 规则新增 / 删除&lt;/Text&gt;&#13;&#10;            &lt;Text style={{ height: 17, fontFamily: 'Microsoft YaHei', fontSize: 9.2, color: 'rgba(242,247,248,0.62)', lineHeight: 1.55 }}&gt;✓ 规则排序 / 启停&lt;/Text&gt;&#13;&#10;            &lt;Text style={{ height: 17, fontFamily: 'Microsoft YaHei', fontSize: 9.2, color: 'rgba(242,247,248,0.62)', lineHeight: 1.55 }}&gt;✓ ANY / ZONE / NODE&lt;/Text&gt;&#13;&#10;            &lt;Text style={{ height: 17, fontFamily: 'Microsoft YaHei', fontSize: 9.2, color: 'rgba(242,247,248,0.62)', lineHeight: 1.55 }}&gt;✓ Default DENY&lt;/Text&gt;&#13;&#10;        &lt;/Box&gt;&#13;&#10;    &lt;/Box&gt;&#13;&#10;&#13;&#10;    &lt;Box style={{ position: 'absolute', left: 430, top: 138, width: 358 }}&gt;&#13;&#10;        &lt;Box style={{ height: 141 }}&gt;&#13;&#10;            &lt;Box style={{ flexDirection: 'row', alignItems: 'center', justifyContent: 'space-between', height: 22 }}&gt;&#13;&#10;                &lt;Text style={{ fontFamily: 'Microsoft YaHei', fontSize: 13, fontWeight: 'bold', color: '#6BC8D1' }}&gt;事件与判定&lt;/Text&gt;&#13;&#10;                &lt;Text style={{ fontFamily: 'Consolas', fontSize: 8.5, color: 'rgba(242,247,248,0.34)' }}&gt;07&lt;/Text&gt;&#13;&#10;            &lt;/Box&gt;&#13;&#10;            &lt;Text style={{ height: 17, fontFamily: 'Microsoft YaHei', fontSize: 9.2, color: 'rgba(242,247,248,0.62)', lineHeight: 1.55 }}&gt;✓ 事件结果与原因&lt;/Text&gt;&#13;&#10;            &lt;Text style={{ height: 17, fontFamily: 'Microsoft YaHei', fontSize: 9.2, color: 'rgba(242,247,248,0.62)', lineHeight: 1.55 }}&gt;✓ 实际路径&lt;/Text&gt;&#13;&#10;            &lt;Text style={{ height: 17, fontFamily: 'Microsoft YaHei', fontSize: 9.2, color: 'rgba(242,247,248,0.62)', lineHeight: 1.55 }}&gt;✓ 命中规则&lt;/Text&gt;&#13;&#10;            &lt;Text style={{ height: 17, fontFamily: 'Microsoft YaHei', fontSize: 9.2, color: 'rgba(242,247,248,0.62)', lineHeight: 1.55 }}&gt;✓ 阻断位置&lt;/Text&gt;&#13;&#10;            &lt;Text style={{ height: 17, fontFamily: 'Microsoft YaHei', fontSize: 9.2, color: 'rgba(242,247,248,0.62)', lineHeight: 1.55 }}&gt;✓ 状态前后值&lt;/Text&gt;&#13;&#10;            &lt;Text style={{ height: 17, fontFamily: 'Microsoft YaHei', fontSize: 9.2, color: 'rgba(242,247,248,0.62)', lineHeight: 1.55 }}&gt;✓ 五项前置条件&lt;/Text&gt;&#13;&#10;            &lt;Text style={{ height: 17, fontFamily: 'Microsoft YaHei', fontSize: 9.2, color: 'rgba(242,247,248,0.62)', lineHeight: 1.55 }}&gt;✓ 完整判定过程&lt;/Text&gt;&#13;&#10;        &lt;/Box&gt;&#13;&#10;&#13;&#10;        &lt;Box style={{ height: 141, marginTop: 14 }}&gt;&#13;&#10;            &lt;Box style={{ flexDirection: 'row', alignItems: 'center', justifyContent: 'space-between', height: 22 }}&gt;&#13;&#10;                &lt;Text style={{ fontFamily: 'Microsoft YaHei', fontSize: 13, fontWeight: 'bold', color: '#F2F7F8' }}&gt;回放与挑战&lt;/Text&gt;&#13;&#10;                &lt;Text style={{ fontFamily: 'Consolas', fontSize: 8.5, color: 'rgba(242,247,248,0.34)' }}&gt;07&lt;/Text&gt;&#13;&#10;            &lt;/Box&gt;&#13;&#10;            &lt;Text style={{ height: 17, fontFamily: 'Microsoft YaHei', fontSize: 9.2, color: 'rgba(242,247,248,0.62)', lineHeight: 1.55 }}&gt;✓ 代表链 T0–Tn&lt;/Text&gt;&#13;&#10;            &lt;Text style={{ height: 17, fontFamily: 'Microsoft YaHei', fontSize: 9.2, color: 'rgba(242,247,248,0.62)', lineHeight: 1.55 }}&gt;✓ 播放 / 暂停 / 单步&lt;/Text&gt;&#13;&#10;            &lt;Text style={{ height: 17, fontFamily: 'Microsoft YaHei', fontSize: 9.2, color: 'rgba(242,247,248,0.62)', lineHeight: 1.55 }}&gt;✓ 倍速与重新播放&lt;/Text&gt;&#13;&#10;            &lt;Text style={{ height: 17, fontFamily: 'Microsoft YaHei', fontSize: 9.2, color: 'rgba(242,247,248,0.62)', lineHeight: 1.55 }}&gt;✓ 时间线定位&lt;/Text&gt;&#13;&#10;            &lt;Text style={{ height: 17, fontFamily: 'Microsoft YaHei', fontSize: 9.2, color: 'rgba(242,247,248,0.62)', lineHeight: 1.55 }}&gt;✓ 关键目标保护&lt;/Text&gt;&#13;&#10;            &lt;Text style={{ height: 17, fontFamily: 'Microsoft YaHei', fontSize: 9.2, color: 'rgba(242,247,248,0.62)', lineHeight: 1.55 }}&gt;✓ 必要业务可达&lt;/Text&gt;&#13;&#10;            &lt;Text style={{ height: 17, fontFamily: 'Microsoft YaHei', fontSize: 9.2, color: 'rgba(242,247,248,0.62)', lineHeight: 1.55 }}&gt;✓ 失败原因与建议&lt;/Text&gt;&#13;&#10;        &lt;/Box&gt;&#13;&#10;&#13;&#10;        &lt;Box style={{ height: 158, marginTop: 14 }}&gt;&#13;&#10;            &lt;Box style={{ flexDirection: 'row', alignItems: 'center', justifyContent: 'space-between', height: 22 }}&gt;&#13;&#10;                &lt;Text style={{ fontFamily: 'Microsoft YaHei', fontSize: 13, fontWeight: 'bold', color: '#F2F7F8' }}&gt;对比与分析&lt;/Text&gt;&#13;&#10;                &lt;Text style={{ fontFamily: 'Consolas', fontSize: 8.5, color: 'rgba(242,247,248,0.34)' }}&gt;08&lt;/Text&gt;&#13;&#10;            &lt;/Box&gt;&#13;&#10;            &lt;Text style={{ height: 17, fontFamily: 'Microsoft YaHei', fontSize: 9.2, color: 'rgba(242,247,248,0.62)', lineHeight: 1.55 }}&gt;✓ 原始基线 A/B&lt;/Text&gt;&#13;&#10;            &lt;Text style={{ height: 17, fontFamily: 'Microsoft YaHei', fontSize: 9.2, color: 'rgba(242,247,248,0.62)', lineHeight: 1.55 }}&gt;✓ 指标差异&lt;/Text&gt;&#13;&#10;            &lt;Text style={{ height: 17, fontFamily: 'Microsoft YaHei', fontSize: 9.2, color: 'rgba(242,247,248,0.62)', lineHeight: 1.55 }}&gt;✓ 代表链并排&lt;/Text&gt;&#13;&#10;            &lt;Text style={{ height: 17, fontFamily: 'Microsoft YaHei', fontSize: 9.2, color: 'rgba(242,247,248,0.62)', lineHeight: 1.55 }}&gt;✓ 实验结论&lt;/Text&gt;&#13;&#10;            &lt;Text style={{ height: 17, fontFamily: 'Microsoft YaHei', fontSize: 9.2, color: 'rgba(242,247,248,0.62)', lineHeight: 1.55 }}&gt;✓ 状态分布&lt;/Text&gt;&#13;&#10;            &lt;Text style={{ height: 17, fontFamily: 'Microsoft YaHei', fontSize: 9.2, color: 'rgba(242,247,248,0.62)', lineHeight: 1.55 }}&gt;✓ 影响趋势&lt;/Text&gt;&#13;&#10;            &lt;Text style={{ height: 17, fontFamily: 'Microsoft YaHei', fontSize: 9.2, color: 'rgba(242,247,248,0.62)', lineHeight: 1.55 }}&gt;✓ 业务路径结果&lt;/Text&gt;&#13;&#10;            &lt;Text style={{ height: 17, fontFamily: 'Microsoft YaHei', fontSize: 9.2, color: 'rgba(242,247,248,0.62)', lineHeight: 1.55 }}&gt;✓ 报告导出&lt;/Text&gt;&#13;&#10;        &lt;/Box&gt;&#13;&#10;    &lt;/Box&gt;&#13;&#10;&#13;&#10;    &lt;Box style={{ position: 'absolute', left: 804, top: 138, width: 358 }}&gt;&#13;&#10;        &lt;Box style={{ height: 175 }}&gt;&#13;&#10;            &lt;Box style={{ flexDirection: 'row', alignItems: 'center', justifyContent: 'space-between', height: 22 }}&gt;&#13;&#10;                &lt;Text style={{ fontFamily: 'Microsoft YaHei', fontSize: 13, fontWeight: 'bold', color: '#6BC8D1' }}&gt;学习中心&lt;/Text&gt;&#13;&#10;                &lt;Text style={{ fontFamily: 'Consolas', fontSize: 8.5, color: 'rgba(242,247,248,0.34)' }}&gt;09&lt;/Text&gt;&#13;&#10;            &lt;/Box&gt;&#13;&#10;            &lt;Text style={{ height: 17, fontFamily: 'Microsoft YaHei', fontSize: 9.2, color: 'rgba(242,247,248,0.62)', lineHeight: 1.55 }}&gt;✓ 6 个知识模块&lt;/Text&gt;&#13;&#10;            &lt;Text style={{ height: 17, fontFamily: 'Microsoft YaHei', fontSize: 9.2, color: 'rgba(242,247,248,0.62)', lineHeight: 1.55 }}&gt;✓ 学习进度概览&lt;/Text&gt;&#13;&#10;            &lt;Text style={{ height: 17, fontFamily: 'Microsoft YaHei', fontSize: 9.2, color: 'rgba(242,247,248,0.62)', lineHeight: 1.55 }}&gt;✓ 20 题随堂练习&lt;/Text&gt;&#13;&#10;            &lt;Text style={{ height: 17, fontFamily: 'Microsoft YaHei', fontSize: 9.2, color: 'rgba(242,247,248,0.62)', lineHeight: 1.55 }}&gt;✓ 作答即时解析&lt;/Text&gt;&#13;&#10;            &lt;Text style={{ height: 17, fontFamily: 'Microsoft YaHei', fontSize: 9.2, color: 'rgba(242,247,248,0.62)', lineHeight: 1.55 }}&gt;✓ 静态示意图&lt;/Text&gt;&#13;&#10;            &lt;Text style={{ height: 17, fontFamily: 'Microsoft YaHei', fontSize: 9.2, color: 'rgba(242,247,248,0.62)', lineHeight: 1.55 }}&gt;✓ 关联实验跳转&lt;/Text&gt;&#13;&#10;            &lt;Text style={{ height: 17, fontFamily: 'Microsoft YaHei', fontSize: 9.2, color: 'rgba(242,247,248,0.62)', lineHeight: 1.55 }}&gt;✓ 模拟考试&lt;/Text&gt;&#13;&#10;            &lt;Text style={{ height: 17, fontFamily: 'Microsoft YaHei', fontSize: 9.2, color: 'rgba(242,247,248,0.62)', lineHeight: 1.55 }}&gt;✓ 答题卡与评分&lt;/Text&gt;&#13;&#10;            &lt;Text style={{ height: 17, fontFamily: 'Microsoft YaHei', fontSize: 9.2, color: 'rgba(242,247,248,0.62)', lineHeight: 1.55 }}&gt;✓ 错题回看 / 最佳分&lt;/Text&gt;&#13;&#10;        &lt;/Box&gt;&#13;&#10;&#13;&#10;        &lt;Box style={{ height: 124, marginTop: 14 }}&gt;&#13;&#10;            &lt;Box style={{ flexDirection: 'row', alignItems: 'center', justifyContent: 'space-between', height: 22 }}&gt;&#13;&#10;                &lt;Text style={{ fontFamily: 'Microsoft YaHei', fontSize: 13, fontWeight: 'bold', color: '#F2F7F8' }}&gt;场景与模式&lt;/Text&gt;&#13;&#10;                &lt;Text style={{ fontFamily: 'Consolas', fontSize: 8.5, color: 'rgba(242,247,248,0.34)' }}&gt;06&lt;/Text&gt;&#13;&#10;            &lt;/Box&gt;&#13;&#10;            &lt;Text style={{ height: 17, fontFamily: 'Microsoft YaHei', fontSize: 9.2, color: 'rgba(242,247,248,0.62)', lineHeight: 1.55 }}&gt;✓ 7 个实验场景&lt;/Text&gt;&#13;&#10;            &lt;Text style={{ height: 17, fontFamily: 'Microsoft YaHei', fontSize: 9.2, color: 'rgba(242,247,248,0.62)', lineHeight: 1.55 }}&gt;✓ 3 档难度&lt;/Text&gt;&#13;&#10;            &lt;Text style={{ height: 17, fontFamily: 'Microsoft YaHei', fontSize: 9.2, color: 'rgba(242,247,248,0.62)', lineHeight: 1.55 }}&gt;✓ 2 种仿真模式&lt;/Text&gt;&#13;&#10;            &lt;Text style={{ height: 17, fontFamily: 'Microsoft YaHei', fontSize: 9.2, color: 'rgba(242,247,248,0.62)', lineHeight: 1.55 }}&gt;✓ ATTACK_STATE&lt;/Text&gt;&#13;&#10;            &lt;Text style={{ height: 17, fontFamily: 'Microsoft YaHei', fontSize: 9.2, color: 'rgba(242,247,248,0.62)', lineHeight: 1.55 }}&gt;✓ TEACHING_PROPAGATION&lt;/Text&gt;&#13;&#10;            &lt;Text style={{ height: 17, fontFamily: 'Microsoft YaHei', fontSize: 9.2, color: 'rgba(242,247,248,0.62)', lineHeight: 1.55 }}&gt;✓ 场景文献来源&lt;/Text&gt;&#13;&#10;        &lt;/Box&gt;&#13;&#10;&#13;&#10;        &lt;Box style={{ height: 158, marginTop: 14 }}&gt;&#13;&#10;            &lt;Box style={{ flexDirection: 'row', alignItems: 'center', justifyContent: 'space-between', height: 22 }}&gt;&#13;&#10;                &lt;Text style={{ fontFamily: 'Microsoft YaHei', fontSize: 13, fontWeight: 'bold', color: '#F2F7F8' }}&gt;通用与交付&lt;/Text&gt;&#13;&#10;                &lt;Text style={{ fontFamily: 'Consolas', fontSize: 8.5, color: 'rgba(242,247,248,0.34)' }}&gt;08&lt;/Text&gt;&#13;&#10;            &lt;/Box&gt;&#13;&#10;            &lt;Text style={{ height: 17, fontFamily: 'Microsoft YaHei', fontSize: 9.2, color: 'rgba(242,247,248,0.62)', lineHeight: 1.55 }}&gt;✓ 纯前端 / 零后端&lt;/Text&gt;&#13;&#10;            &lt;Text style={{ height: 17, fontFamily: 'Microsoft YaHei', fontSize: 9.2, color: 'rgba(242,247,248,0.62)', lineHeight: 1.55 }}&gt;✓ 本地进度存储&lt;/Text&gt;&#13;&#10;            &lt;Text style={{ height: 17, fontFamily: 'Microsoft YaHei', fontSize: 9.2, color: 'rgba(242,247,248,0.62)', lineHeight: 1.55 }}&gt;✓ 复现链接&lt;/Text&gt;&#13;&#10;            &lt;Text style={{ height: 17, fontFamily: 'Microsoft YaHei', fontSize: 9.2, color: 'rgba(242,247,248,0.62)', lineHeight: 1.55 }}&gt;✓ 场景 JSON 导出&lt;/Text&gt;&#13;&#10;            &lt;Text style={{ height: 17, fontFamily: 'Microsoft YaHei', fontSize: 9.2, color: 'rgba(242,247,248,0.62)', lineHeight: 1.55 }}&gt;✓ 场景 JSON 导入&lt;/Text&gt;&#13;&#10;            &lt;Text style={{ height: 17, fontFamily: 'Microsoft YaHei', fontSize: 9.2, color: 'rgba(242,247,248,0.62)', lineHeight: 1.55 }}&gt;✓ 恢复默认&lt;/Text&gt;&#13;&#10;            &lt;Text style={{ height: 17, fontFamily: 'Microsoft YaHei', fontSize: 9.2, color: 'rgba(242,247,248,0.62)', lineHeight: 1.55 }}&gt;✓ 结果指纹失效&lt;/Text&gt;&#13;&#10;            &lt;Text style={{ height: 17, fontFamily: 'Microsoft YaHei', fontSize: 9.2, color: 'rgba(242,247,248,0.62)', lineHeight: 1.55 }}&gt;✓ 演示模式&lt;/Text&gt;&#13;&#10;        &lt;/Box&gt;&#13;&#10;    &lt;/Box&gt;&#13;&#10;&#13;&#10;    &lt;Box style={{ position: 'absolute', left: 56, top: 640, flexDirection: 'row', alignItems: 'center', gap: 10 }}&gt;&#13;&#10;        &lt;Box style={{ width: 18, height: 1, background: 'rgba(107,200,209,0.45)' }} /&gt;&#13;&#10;        &lt;Text style={{ fontFamily: 'Microsoft YaHei', fontSize: 9, color: 'rgba(242,247,248,0.38)' }}&gt;按真实可操作项统计；不包含真实漏洞利用、恶意代码执行等能力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22 / 2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6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771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APPENDIX 01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功能图集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3400425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六个工作面，</a:t>
            </a:r>
            <a:r>
              <a:rPr lang="en-US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60+ </a:t>
            </a: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项能力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10553700" y="723900"/>
            <a:ext cx="1104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FULL FUNCTION MATRIX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533400" y="13430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BC8D1"/>
                </a:solidFill>
                <a:latin typeface="Microsoft YaHei"/>
                <a:ea typeface="Microsoft YaHei"/>
              </a:rPr>
              <a:t>总览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3848100" y="1371600"/>
            <a:ext cx="95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06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533400" y="15240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核心实验入口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533400" y="16954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扩展场景矩阵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533400" y="18669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三维实时预览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533400" y="20383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难度与时长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533400" y="22098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实验初始条件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533400" y="23812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知识来源入口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533400" y="2657475"/>
            <a:ext cx="752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实验室</a:t>
            </a:r>
            <a:r>
              <a:rPr lang="en-US" sz="975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输入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3848100" y="2686050"/>
            <a:ext cx="95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08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533400" y="28384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场景切换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533400" y="30099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旋转</a:t>
            </a: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缩放</a:t>
            </a: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点选</a:t>
            </a:r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533400" y="31813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节点拖拽布局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533400" y="33528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视野适配与聚焦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533400" y="35242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节点属性面板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533400" y="36957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接口与路由详情</a:t>
            </a:r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533400" y="38671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改名与区域修改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533400" y="40386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节点隔离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533400" y="4295775"/>
            <a:ext cx="752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实验室</a:t>
            </a:r>
            <a:r>
              <a:rPr lang="en-US" sz="975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控制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3848100" y="4324350"/>
            <a:ext cx="95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08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533400" y="44767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终端防护开关</a:t>
            </a:r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533400" y="46482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服务加固开关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533400" y="48196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数据访问控制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533400" y="49911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关键资产标记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533400" y="51625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规则新增</a:t>
            </a: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删除</a:t>
            </a:r>
            <a:endParaRPr/>
          </a:p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533400" y="53340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规则排序</a:t>
            </a: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启停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533400" y="55054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ANY / ZONE / NODE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533400" y="56769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Default DENY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4095750" y="134302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BC8D1"/>
                </a:solidFill>
                <a:latin typeface="Microsoft YaHei"/>
                <a:ea typeface="Microsoft YaHei"/>
              </a:rPr>
              <a:t>事件与判定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7410450" y="1371600"/>
            <a:ext cx="95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07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4095750" y="15240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事件结果与原因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4095750" y="16954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实际路径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4095750" y="18669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命中规则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4095750" y="20383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阻断位置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4095750" y="22098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状态前后值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4095750" y="23812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五项前置条件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4095750" y="25527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完整判定过程</a:t>
            </a:r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4095750" y="281940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回放与挑战</a:t>
            </a:r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7410450" y="2847975"/>
            <a:ext cx="95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07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4095750" y="300037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代表链</a:t>
            </a: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T0–Tn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4095750" y="31718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播放</a:t>
            </a: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暂停</a:t>
            </a: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单步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4095750" y="334327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倍速与重新播放</a:t>
            </a:r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4095750" y="35147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时间线定位</a:t>
            </a:r>
            <a:endParaRPr/>
          </a:p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4095750" y="368617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关键目标保护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4095750" y="38576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必要业务可达</a:t>
            </a:r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4095750" y="402907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失败原因与建议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4095750" y="429577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对比与分析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7410450" y="4324350"/>
            <a:ext cx="95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08</a:t>
            </a:r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4095750" y="44767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原始基线</a:t>
            </a: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A/B</a:t>
            </a:r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4095750" y="46482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指标差异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4095750" y="48196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代表链并排</a:t>
            </a:r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4095750" y="49911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实验结论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4095750" y="51625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状态分布</a:t>
            </a:r>
            <a:endParaRPr/>
          </a:p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4095750" y="53340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影响趋势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4095750" y="55054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业务路径结果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4095750" y="56769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报告导出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7658100" y="134302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6BC8D1"/>
                </a:solidFill>
                <a:latin typeface="Microsoft YaHei"/>
                <a:ea typeface="Microsoft YaHei"/>
              </a:rPr>
              <a:t>学习中心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10972800" y="1371600"/>
            <a:ext cx="95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09</a:t>
            </a:r>
            <a:endParaRPr/>
          </a:p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7658100" y="15240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6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个知识模块</a:t>
            </a:r>
            <a:endParaRPr/>
          </a:p>
        </p:txBody>
      </p:sp>
      <p:sp>
        <p:nvSpPr>
          <p:cNvPr id="735" name="" descr="{&quot;isTemplate&quot;:true,&quot;type&quot;:&quot;text&quot;}"/>
          <p:cNvSpPr txBox="1"/>
          <p:nvPr/>
        </p:nvSpPr>
        <p:spPr>
          <a:xfrm rot="0" flipH="0" flipV="0">
            <a:off x="7658100" y="16954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学习进度概览</a:t>
            </a:r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7658100" y="18669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20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题随堂练习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7658100" y="20383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作答即时解析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7658100" y="22098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静态示意图</a:t>
            </a:r>
            <a:endParaRPr/>
          </a:p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7658100" y="23812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关联实验跳转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7658100" y="25527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模拟考试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7658100" y="272415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答题卡与评分</a:t>
            </a:r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7658100" y="2895600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错题回看</a:t>
            </a: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最佳分</a:t>
            </a:r>
            <a:endParaRPr/>
          </a:p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7658100" y="31432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场景与模式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10972800" y="3171825"/>
            <a:ext cx="95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06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7658100" y="33242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7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个实验场景</a:t>
            </a:r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7658100" y="349567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3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档难度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7658100" y="36671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2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种仿真模式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7658100" y="383857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ATTACK_STATE</a:t>
            </a:r>
            <a:endParaRPr/>
          </a:p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7658100" y="40100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TEACHING_PROPAGATION</a:t>
            </a:r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7658100" y="418147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场景文献来源</a:t>
            </a:r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7658100" y="445770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2F7F8"/>
                </a:solidFill>
                <a:latin typeface="Microsoft YaHei"/>
                <a:ea typeface="Microsoft YaHei"/>
              </a:rPr>
              <a:t>通用与交付</a:t>
            </a:r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10972800" y="4486275"/>
            <a:ext cx="95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08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7658100" y="463867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纯前端</a:t>
            </a: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零后端</a:t>
            </a:r>
            <a:endParaRPr/>
          </a:p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7658100" y="48101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本地进度存储</a:t>
            </a:r>
            <a:endParaRPr/>
          </a:p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7658100" y="498157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复现链接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7658100" y="51530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场景</a:t>
            </a: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JSON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导出</a:t>
            </a:r>
            <a:endParaRPr/>
          </a:p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7658100" y="532447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场景</a:t>
            </a: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 JSON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导入</a:t>
            </a:r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7658100" y="54959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恢复默认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7658100" y="566737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结果指纹失效</a:t>
            </a:r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7658100" y="58388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✓ </a:t>
            </a:r>
            <a:r>
              <a:rPr lang="zh-CN" sz="690">
                <a:solidFill>
                  <a:srgbClr val="F2F7F8">
                    <a:alpha val="62000"/>
                  </a:srgbClr>
                </a:solidFill>
                <a:latin typeface="Microsoft YaHei"/>
                <a:ea typeface="Microsoft YaHei"/>
              </a:rPr>
              <a:t>演示模式</a:t>
            </a:r>
            <a:endParaRPr/>
          </a:p>
        </p:txBody>
      </p:sp>
      <p:sp>
        <p:nvSpPr>
          <p:cNvPr id="761" name=""/>
          <p:cNvSpPr/>
          <p:nvPr/>
        </p:nvSpPr>
        <p:spPr>
          <a:xfrm rot="0" flipH="0" flipV="0">
            <a:off x="533400" y="6143625"/>
            <a:ext cx="171450" cy="9525"/>
          </a:xfrm>
          <a:prstGeom prst="rect">
            <a:avLst/>
          </a:prstGeom>
          <a:solidFill>
            <a:srgbClr val="6BC8D1">
              <a:alpha val="45000"/>
            </a:srgbClr>
          </a:solidFill>
          <a:ln/>
        </p:spPr>
        <p:txBody>
          <a:bodyPr/>
          <a:p/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800100" y="6096000"/>
            <a:ext cx="2571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675">
                <a:solidFill>
                  <a:srgbClr val="F2F7F8">
                    <a:alpha val="38000"/>
                  </a:srgbClr>
                </a:solidFill>
                <a:latin typeface="Microsoft YaHei"/>
                <a:ea typeface="Microsoft YaHei"/>
              </a:rPr>
              <a:t>按真实可操作项统计；不包含真实漏洞利用、恶意代码执行等能力。</a:t>
            </a:r>
            <a:endParaRPr/>
          </a:p>
        </p:txBody>
      </p:sp>
      <p:sp>
        <p:nvSpPr>
          <p:cNvPr id="763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22 / 28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766" name="" descr="&lt;Slide style={{ width: 1280, height: 720, background: '#07111B', padding: 0, position: 'relative', overflow: 'hidden' }}&gt;&#10;    &lt;svg width={1280} height={720} viewBox='0 0 1280 720' style={{ position: 'absolute', left: 0, top: 0 }}&gt;&#10;        &lt;g stroke='rgba(242,247,248,0.022)' strokeWidth='1'&gt;&#10;            &lt;path d='M0 96H1280M0 192H1280M0 288H1280M0 384H1280M0 480H1280M0 576H1280M0 672H1280' /&gt;&#10;        &lt;/g&gt;&#10;    &lt;/svg&gt;&#10;&#10;    &lt;Box style={{ position: 'absolute', left: 56, top: 38 }}&gt;&#10;        &lt;Text style={{ fontFamily: 'Consolas', fontSize: 11, color: '#6BC8D1', letterSpacing: 1.8 }}&gt;APPENDIX 02 / 功能图集&lt;/Text&gt;&#10;    &lt;/Box&gt;&#10;    &lt;Text style={{ position: 'absolute', left: 56, top: 62, fontFamily: 'Microsoft YaHei', fontSize: 31, fontWeight: 'bold', color: '#F2F7F8', letterSpacing: 0.5 }}&gt;策略与判定：每个结果都能追到规则&lt;/Text&gt;&#10;    &lt;Text style={{ position: 'absolute', right: 56, top: 76, fontFamily: 'Consolas', fontSize: 10.5, color: 'rgba(242,247,248,0.42)' }}&gt;POLICY → DECISION → EVIDENCE&lt;/Text&gt;&#10;&#10;    &lt;Box style={{ position: 'absolute', left: 56, top: 142, width: 300 }}&gt;&#10;        &lt;Image src=&quot;assets/appendix_policy.png&quot; style={{ width: 300, height: 407, objectFit: 'cover', borderRadius: 8, border: '1px solid rgba(107,200,209,0.20)' }} /&gt;&#10;        &lt;Text style={{ marginTop: 9, fontFamily: 'Microsoft YaHei', fontSize: 10.5, color: 'rgba(242,247,248,0.46)' }}&gt;策略管理：12 启用 · 4 拒绝 · 8 允许&lt;/Text&gt;&#10;    &lt;/Box&gt;&#10;&#10;    &lt;Box style={{ position: 'absolute', left: 392, top: 142, width: 380 }}&gt;&#10;        &lt;Image src=&quot;assets/appendix_decision.png&quot; style={{ width: 380, height: 445, objectFit: 'cover', borderRadius: 8, border: '1px solid rgba(107,200,209,0.20)' }} /&gt;&#10;        &lt;Text style={{ marginTop: 9, fontFamily: 'Microsoft YaHei', fontSize: 10.5, color: 'rgba(242,247,248,0.46)' }}&gt;判定过程：5 项前置条件逐条打勾&lt;/Text&gt;&#10;    &lt;/Box&gt;&#10;&#10;    &lt;Box style={{ position: 'absolute', left: 812, top: 146, width: 412 }}&gt;&#10;        &lt;Box style={{ height: 90, borderTop: '1px solid rgba(242,247,248,0.10)' }}&gt;&#10;            &lt;Text style={{ marginTop: 12, fontFamily: 'Consolas', fontSize: 9.5, color: '#6BC8D1' }}&gt;01 / EDIT&lt;/Text&gt;&#10;            &lt;Text style={{ marginTop: 5, fontFamily: 'Microsoft YaHei', fontSize: 13.5, fontWeight: 'bold', color: '#F2F7F8' }}&gt;规则可编辑&lt;/Text&gt;&#10;            &lt;Text style={{ marginTop: 4, fontFamily: 'Microsoft YaHei', fontSize: 10.2, color: 'rgba(242,247,248,0.54)', lineHeight: 1.65 }}&gt;新增、删除、上移、下移、启停；来源与目标支持 ANY / ZONE / NODE。&lt;/Text&gt;&#10;        &lt;/Box&gt;&#10;        &lt;Box style={{ height: 90, borderTop: '1px solid rgba(242,247,248,0.10)' }}&gt;&#10;            &lt;Text style={{ marginTop: 12, fontFamily: 'Consolas', fontSize: 9.5, color: '#6BC8D1' }}&gt;02 / ORDER&lt;/Text&gt;&#10;            &lt;Text style={{ marginTop: 5, fontFamily: 'Microsoft YaHei', fontSize: 13.5, fontWeight: 'bold', color: '#F2F7F8' }}&gt;顺序可解释&lt;/Text&gt;&#10;            &lt;Text style={{ marginTop: 4, fontFamily: 'Microsoft YaHei', fontSize: 10.2, color: 'rgba(242,247,248,0.54)', lineHeight: 1.65 }}&gt;First Match：按 order 升序，第一条命中即生效；无命中时走 Default DENY。&lt;/Text&gt;&#10;        &lt;/Box&gt;&#10;        &lt;Box style={{ height: 90, borderTop: '1px solid rgba(242,247,248,0.10)' }}&gt;&#10;            &lt;Text style={{ marginTop: 12, fontFamily: 'Consolas', fontSize: 9.5, color: '#6BC8D1' }}&gt;03 / TRACE&lt;/Text&gt;&#10;            &lt;Text style={{ marginTop: 5, fontFamily: 'Microsoft YaHei', fontSize: 13.5, fontWeight: 'bold', color: '#F2F7F8' }}&gt;判定可追溯&lt;/Text&gt;&#10;            &lt;Text style={{ marginTop: 4, fontFamily: 'Microsoft YaHei', fontSize: 10.2, color: 'rgba(242,247,248,0.54)', lineHeight: 1.65 }}&gt;通信 → Firewall → 规则 → 结果；命中规则和阻断位置写进事件。&lt;/Text&gt;&#10;        &lt;/Box&gt;&#10;        &lt;Box style={{ height: 90, borderTop: '1px solid rgba(242,247,248,0.10)', borderBottom: '1px solid rgba(242,247,248,0.10)' }}&gt;&#10;            &lt;Text style={{ marginTop: 12, fontFamily: 'Consolas', fontSize: 9.5, color: '#E78172' }}&gt;04 / CHECK&lt;/Text&gt;&#10;            &lt;Text style={{ marginTop: 5, fontFamily: 'Microsoft YaHei', fontSize: 13.5, fontWeight: 'bold', color: '#F2F7F8' }}&gt;条件可核对&lt;/Text&gt;&#10;            &lt;Text style={{ marginTop: 4, fontFamily: 'Microsoft YaHei', fontSize: 10.2, color: 'rgba(242,247,248,0.54)', lineHeight: 1.65 }}&gt;行为、判定、源权限、8/8 前置条件、目标结果，五项逐条通过。&lt;/Text&gt;&#10;        &lt;/Box&gt;&#10;&#10;        &lt;Box style={{ marginTop: 24, paddingLeft: 12, borderLeft: '2px solid #6BC8D1' }}&gt;&#10;            &lt;Text style={{ fontFamily: 'Microsoft YaHei', fontSize: 14.5, fontWeight: 'bold', color: 'rgba(242,247,248,0.88)', lineHeight: 1.7 }}&gt;&#10;                不是“黑盒拦截”，&lt;br /&gt;而是一条可以逐项复核的证据链。&#10;            &lt;/Text&gt;&#10;        &lt;/Box&gt;&#10;    &lt;/Box&gt;&#10;&#10;    &lt;Box style={{ position: 'absolute', left: 56, top: 664, width: 1168, height: 1, background: 'rgba(242,247,248,0.10)' }} /&gt;&#10;    &lt;Text style={{ position: 'absolute', left: 56, top: 678, fontFamily: 'Consolas', fontSize: 10.5, color: 'rgba(242,247,248,0.40)', letterSpacing: 0.8 }}&gt;智御网络 · 三维网络安全策略交互验证平台&lt;/Text&gt;&#10;    &lt;Text style={{ position: 'absolute', right: 56, top: 678, fontFamily: 'Consolas', fontSize: 10.5, color: 'rgba(242,247,248,0.40)' }}&gt;23 / 28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7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771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APPENDIX 02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功能图集</a:t>
            </a:r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8006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策略与判定：每个结果都能追到规则</a:t>
            </a:r>
            <a:endParaRPr/>
          </a:p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10115550" y="723900"/>
            <a:ext cx="1543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POLICY → DECISION → EVIDENCE</a:t>
            </a:r>
            <a:endParaRPr/>
          </a:p>
        </p:txBody>
      </p:sp>
      <p:sp>
        <p:nvSpPr>
          <p:cNvPr id="772" name=""/>
          <p:cNvSpPr/>
          <p:nvPr/>
        </p:nvSpPr>
        <p:spPr>
          <a:xfrm rot="0" flipH="0" flipV="0">
            <a:off x="533400" y="1352550"/>
            <a:ext cx="2857500" cy="3876675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73" name=""/>
          <p:cNvPicPr>
            <a:picLocks noChangeAspect="1"/>
          </p:cNvPicPr>
          <p:nvPr/>
        </p:nvPicPr>
        <p:blipFill>
          <a:blip r:embed="rId2"/>
          <a:srcRect l="0" t="17" r="0" b="17"/>
          <a:stretch>
            <a:fillRect/>
          </a:stretch>
        </p:blipFill>
        <p:spPr>
          <a:xfrm rot="0" flipH="0" flipV="0">
            <a:off x="533400" y="1352550"/>
            <a:ext cx="2857500" cy="3876675"/>
          </a:xfrm>
          <a:prstGeom prst="roundRect">
            <a:avLst>
              <a:gd name="adj" fmla="val 2667"/>
            </a:avLst>
          </a:prstGeom>
          <a:ln/>
        </p:spPr>
      </p:pic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533400" y="5314950"/>
            <a:ext cx="28575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策略管理：</a:t>
            </a:r>
            <a:r>
              <a:rPr lang="en-US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12 </a:t>
            </a: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启用</a:t>
            </a:r>
            <a:r>
              <a:rPr lang="en-US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 · 4 </a:t>
            </a: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拒绝</a:t>
            </a:r>
            <a:r>
              <a:rPr lang="en-US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 · 8 </a:t>
            </a: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允许</a:t>
            </a:r>
            <a:endParaRPr/>
          </a:p>
        </p:txBody>
      </p:sp>
      <p:sp>
        <p:nvSpPr>
          <p:cNvPr id="775" name=""/>
          <p:cNvSpPr/>
          <p:nvPr/>
        </p:nvSpPr>
        <p:spPr>
          <a:xfrm rot="0" flipH="0" flipV="0">
            <a:off x="3733800" y="1352550"/>
            <a:ext cx="3619500" cy="4238625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76" name=""/>
          <p:cNvPicPr>
            <a:picLocks noChangeAspect="1"/>
          </p:cNvPicPr>
          <p:nvPr/>
        </p:nvPicPr>
        <p:blipFill>
          <a:blip r:embed="rId3"/>
          <a:srcRect l="13" t="0" r="13" b="0"/>
          <a:stretch>
            <a:fillRect/>
          </a:stretch>
        </p:blipFill>
        <p:spPr>
          <a:xfrm rot="0" flipH="0" flipV="0">
            <a:off x="3733800" y="1352550"/>
            <a:ext cx="3619500" cy="4238625"/>
          </a:xfrm>
          <a:prstGeom prst="roundRect">
            <a:avLst>
              <a:gd name="adj" fmla="val 2105"/>
            </a:avLst>
          </a:prstGeom>
          <a:ln/>
        </p:spPr>
      </p:pic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3733800" y="5676900"/>
            <a:ext cx="36195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判定过程：</a:t>
            </a:r>
            <a:r>
              <a:rPr lang="en-US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5 </a:t>
            </a: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项前置条件逐条打勾</a:t>
            </a:r>
            <a:endParaRPr/>
          </a:p>
        </p:txBody>
      </p:sp>
      <p:sp>
        <p:nvSpPr>
          <p:cNvPr id="778" name=""/>
          <p:cNvSpPr/>
          <p:nvPr/>
        </p:nvSpPr>
        <p:spPr>
          <a:xfrm rot="0" flipH="0" flipV="0">
            <a:off x="7734300" y="1390650"/>
            <a:ext cx="3924300" cy="857250"/>
          </a:xfrm>
          <a:custGeom>
            <a:pathLst>
              <a:path w="412" h="90">
                <a:moveTo>
                  <a:pt x="0" y="0"/>
                </a:moveTo>
                <a:lnTo>
                  <a:pt x="412" y="0"/>
                </a:lnTo>
                <a:lnTo>
                  <a:pt x="41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7734300" y="1514475"/>
            <a:ext cx="3924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01 / EDIT</a:t>
            </a:r>
            <a:endParaRPr/>
          </a:p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7734300" y="1676400"/>
            <a:ext cx="3924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规则可编辑</a:t>
            </a:r>
            <a:endParaRPr/>
          </a:p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7734300" y="1876425"/>
            <a:ext cx="3924300" cy="2000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新增、删除、上移、下移、启停；来源与目标支持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ANY / ZONE / NODE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82" name=""/>
          <p:cNvSpPr/>
          <p:nvPr/>
        </p:nvSpPr>
        <p:spPr>
          <a:xfrm rot="0" flipH="0" flipV="0">
            <a:off x="7734300" y="2247900"/>
            <a:ext cx="3924300" cy="857250"/>
          </a:xfrm>
          <a:custGeom>
            <a:pathLst>
              <a:path w="412" h="90">
                <a:moveTo>
                  <a:pt x="0" y="0"/>
                </a:moveTo>
                <a:lnTo>
                  <a:pt x="412" y="0"/>
                </a:lnTo>
                <a:lnTo>
                  <a:pt x="41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7734300" y="2371725"/>
            <a:ext cx="3924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02 / ORDER</a:t>
            </a:r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7734300" y="2533650"/>
            <a:ext cx="3924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顺序可解释</a:t>
            </a:r>
            <a:endParaRPr/>
          </a:p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7734300" y="2733675"/>
            <a:ext cx="3924300" cy="2000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First Match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：按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order 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升序，第一条命中即生效；无命中时走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Default DENY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86" name=""/>
          <p:cNvSpPr/>
          <p:nvPr/>
        </p:nvSpPr>
        <p:spPr>
          <a:xfrm rot="0" flipH="0" flipV="0">
            <a:off x="7734300" y="3105150"/>
            <a:ext cx="3924300" cy="857250"/>
          </a:xfrm>
          <a:custGeom>
            <a:pathLst>
              <a:path w="412" h="90">
                <a:moveTo>
                  <a:pt x="0" y="0"/>
                </a:moveTo>
                <a:lnTo>
                  <a:pt x="412" y="0"/>
                </a:lnTo>
                <a:lnTo>
                  <a:pt x="41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7734300" y="3228975"/>
            <a:ext cx="3924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03 / TRACE</a:t>
            </a:r>
            <a:endParaRPr/>
          </a:p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7734300" y="3390900"/>
            <a:ext cx="3924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判定可追溯</a:t>
            </a:r>
            <a:endParaRPr/>
          </a:p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7734300" y="3590925"/>
            <a:ext cx="3924300" cy="2000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通信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→ Firewall → 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规则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结果；命中规则和阻断位置写进事件。</a:t>
            </a:r>
            <a:endParaRPr/>
          </a:p>
        </p:txBody>
      </p:sp>
      <p:sp>
        <p:nvSpPr>
          <p:cNvPr id="790" name=""/>
          <p:cNvSpPr/>
          <p:nvPr/>
        </p:nvSpPr>
        <p:spPr>
          <a:xfrm rot="0" flipH="0" flipV="0">
            <a:off x="7734300" y="3962400"/>
            <a:ext cx="3924300" cy="857250"/>
          </a:xfrm>
          <a:custGeom>
            <a:pathLst>
              <a:path w="412" h="90">
                <a:moveTo>
                  <a:pt x="0" y="0"/>
                </a:moveTo>
                <a:lnTo>
                  <a:pt x="412" y="0"/>
                </a:lnTo>
                <a:lnTo>
                  <a:pt x="412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91" name=""/>
          <p:cNvSpPr/>
          <p:nvPr/>
        </p:nvSpPr>
        <p:spPr>
          <a:xfrm rot="0" flipH="0" flipV="0">
            <a:off x="7734300" y="3962400"/>
            <a:ext cx="3924300" cy="857250"/>
          </a:xfrm>
          <a:custGeom>
            <a:pathLst>
              <a:path w="412" h="90">
                <a:moveTo>
                  <a:pt x="0" y="89"/>
                </a:moveTo>
                <a:lnTo>
                  <a:pt x="412" y="89"/>
                </a:lnTo>
                <a:lnTo>
                  <a:pt x="412" y="90"/>
                </a:lnTo>
                <a:lnTo>
                  <a:pt x="0" y="90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7734300" y="4086225"/>
            <a:ext cx="39243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>
                <a:solidFill>
                  <a:srgbClr val="E78172"/>
                </a:solidFill>
                <a:latin typeface="Consolas"/>
                <a:ea typeface="Consolas"/>
              </a:rPr>
              <a:t>04 / CHECK</a:t>
            </a:r>
            <a:endParaRPr/>
          </a:p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7734300" y="4248150"/>
            <a:ext cx="3924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F2F7F8"/>
                </a:solidFill>
                <a:latin typeface="Microsoft YaHei"/>
                <a:ea typeface="Microsoft YaHei"/>
              </a:rPr>
              <a:t>条件可核对</a:t>
            </a:r>
            <a:endParaRPr/>
          </a:p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7734300" y="4448175"/>
            <a:ext cx="3924300" cy="2000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行为、判定、源权限、</a:t>
            </a:r>
            <a:r>
              <a:rPr lang="en-US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8/8 </a:t>
            </a:r>
            <a:r>
              <a:rPr lang="zh-CN" sz="765">
                <a:solidFill>
                  <a:srgbClr val="F2F7F8">
                    <a:alpha val="54000"/>
                  </a:srgbClr>
                </a:solidFill>
                <a:latin typeface="Microsoft YaHei"/>
                <a:ea typeface="Microsoft YaHei"/>
              </a:rPr>
              <a:t>前置条件、目标结果，五项逐条通过。</a:t>
            </a:r>
            <a:endParaRPr/>
          </a:p>
        </p:txBody>
      </p:sp>
      <p:sp>
        <p:nvSpPr>
          <p:cNvPr id="795" name=""/>
          <p:cNvSpPr/>
          <p:nvPr/>
        </p:nvSpPr>
        <p:spPr>
          <a:xfrm rot="0" flipH="0" flipV="0">
            <a:off x="7734300" y="5048250"/>
            <a:ext cx="3943350" cy="571500"/>
          </a:xfrm>
          <a:custGeom>
            <a:pathLst>
              <a:path w="414" h="60">
                <a:moveTo>
                  <a:pt x="0" y="0"/>
                </a:moveTo>
                <a:lnTo>
                  <a:pt x="2" y="0"/>
                </a:lnTo>
                <a:lnTo>
                  <a:pt x="2" y="60"/>
                </a:lnTo>
                <a:lnTo>
                  <a:pt x="0" y="60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7867650" y="5048250"/>
            <a:ext cx="3790950" cy="5715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88" b="1">
                <a:solidFill>
                  <a:srgbClr val="F2F7F8">
                    <a:alpha val="88000"/>
                  </a:srgbClr>
                </a:solidFill>
                <a:latin typeface="Microsoft YaHei"/>
                <a:ea typeface="Microsoft YaHei"/>
              </a:rPr>
              <a:t>不是“黑盒拦截”，</a:t>
            </a:r>
            <a:endParaRPr/>
          </a:p>
          <a:p>
            <a:pPr>
              <a:lnSpc>
                <a:spcPct val="170000"/>
              </a:lnSpc>
            </a:pPr>
            <a:r>
              <a:rPr lang="zh-CN" sz="1088" b="1">
                <a:solidFill>
                  <a:srgbClr val="F2F7F8">
                    <a:alpha val="88000"/>
                  </a:srgbClr>
                </a:solidFill>
                <a:latin typeface="Microsoft YaHei"/>
                <a:ea typeface="Microsoft YaHei"/>
              </a:rPr>
              <a:t>而是一条可以逐项复核的证据链。</a:t>
            </a:r>
            <a:endParaRPr/>
          </a:p>
        </p:txBody>
      </p:sp>
      <p:sp>
        <p:nvSpPr>
          <p:cNvPr id="797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23 / 28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800" name="" descr="&lt;Slide style={{ width: 1280, height: 720, background: '#07111B', padding: 0, position: 'relative', overflow: 'hidden' }}&gt;&#10;    &lt;svg width={1280} height={720} viewBox='0 0 1280 720' style={{ position: 'absolute', left: 0, top: 0 }}&gt;&#10;        &lt;g stroke='rgba(242,247,248,0.022)' strokeWidth='1'&gt;&#10;            &lt;path d='M0 96H1280M0 192H1280M0 288H1280M0 384H1280M0 480H1280M0 576H1280M0 672H1280' /&gt;&#10;        &lt;/g&gt;&#10;    &lt;/svg&gt;&#10;&#10;    &lt;Box style={{ position: 'absolute', left: 56, top: 38 }}&gt;&#10;        &lt;Text style={{ fontFamily: 'Consolas', fontSize: 11, color: '#6BC8D1', letterSpacing: 1.8 }}&gt;APPENDIX 03 / 功能图集&lt;/Text&gt;&#10;    &lt;/Box&gt;&#10;    &lt;Text style={{ position: 'absolute', left: 56, top: 62, fontFamily: 'Microsoft YaHei', fontSize: 31, fontWeight: 'bold', color: '#F2F7F8', letterSpacing: 0.5 }}&gt;状态空间：16 个状态、40 条转移&lt;/Text&gt;&#10;    &lt;Text style={{ position: 'absolute', right: 56, top: 76, fontFamily: 'Consolas', fontSize: 10.5, color: 'rgba(242,247,248,0.42)' }}&gt;BOUNDED STATE SEARCH&lt;/Text&gt;&#10;&#10;    &lt;Box style={{ position: 'absolute', left: 56, top: 140, width: 760 }}&gt;&#10;        &lt;Image src=&quot;assets/appendix_attack_graph.png&quot; style={{ width: 760, height: 402, objectFit: 'cover', borderRadius: 8, border: '1px solid rgba(107,200,209,0.20)' }} /&gt;&#10;        &lt;Text style={{ marginTop: 9, fontFamily: 'Microsoft YaHei', fontSize: 10.5, color: 'rgba(242,247,248,0.46)' }}&gt;攻击状态空间：按权限与数据访问能力合并后的可达状态&lt;/Text&gt;&#10;    &lt;/Box&gt;&#10;&#10;    &lt;Box style={{ position: 'absolute', left: 850, top: 146, width: 374 }}&gt;&#10;        &lt;Box style={{ height: 74, borderTop: '1px solid rgba(242,247,248,0.10)' }}&gt;&#10;            &lt;Text style={{ marginTop: 8, fontFamily: 'Consolas', fontSize: 32, fontWeight: 'bold', color: '#F2F7F8', lineHeight: 1 }}&gt;16&lt;/Text&gt;&#10;            &lt;Text style={{ marginTop: 2, fontFamily: 'Microsoft YaHei', fontSize: 10, color: 'rgba(242,247,248,0.46)' }}&gt;个可达安全状态&lt;/Text&gt;&#10;        &lt;/Box&gt;&#10;        &lt;Box style={{ height: 74, borderTop: '1px solid rgba(242,247,248,0.10)' }}&gt;&#10;            &lt;Text style={{ marginTop: 8, fontFamily: 'Consolas', fontSize: 32, fontWeight: 'bold', color: '#6BC8D1', lineHeight: 1 }}&gt;40&lt;/Text&gt;&#10;            &lt;Text style={{ marginTop: 2, fontFamily: 'Microsoft YaHei', fontSize: 10, color: 'rgba(242,247,248,0.46)' }}&gt;条状态转移&lt;/Text&gt;&#10;        &lt;/Box&gt;&#10;        &lt;Box style={{ height: 74, borderTop: '1px solid rgba(242,247,248,0.10)' }}&gt;&#10;            &lt;Text style={{ marginTop: 8, fontFamily: 'Consolas', fontSize: 32, fontWeight: 'bold', color: '#F2F7F8', lineHeight: 1 }}&gt;0&lt;/Text&gt;&#10;            &lt;Text style={{ marginTop: 2, fontFamily: 'Microsoft YaHei', fontSize: 10, color: 'rgba(242,247,248,0.46)' }}&gt;原始配置下的阻断尝试&lt;/Text&gt;&#10;        &lt;/Box&gt;&#10;        &lt;Box style={{ height: 74, borderTop: '1px solid rgba(242,247,248,0.10)' }}&gt;&#10;            &lt;Text style={{ marginTop: 8, fontFamily: 'Consolas', fontSize: 32, fontWeight: 'bold', color: '#E78172', lineHeight: 1 }}&gt;05&lt;/Text&gt;&#10;            &lt;Text style={{ marginTop: 2, fontFamily: 'Microsoft YaHei', fontSize: 10, color: 'rgba(242,247,248,0.46)' }}&gt;本次搜索最大深度&lt;/Text&gt;&#10;        &lt;/Box&gt;&#10;        &lt;Box style={{ marginTop: 12, paddingTop: 10, borderTop: '1px solid rgba(107,200,209,0.22)' }}&gt;&#10;            &lt;Text style={{ fontFamily: 'Consolas', fontSize: 9.5, color: '#6BC8D1' }}&gt;搜索完整 · 未触及边界&lt;/Text&gt;&#10;        &lt;/Box&gt;&#10;    &lt;/Box&gt;&#10;&#10;    &lt;Box style={{ position: 'absolute', left: 56, top: 578, width: 1168 }}&gt;&#10;        &lt;Box style={{ flexDirection: 'row', gap: 24 }}&gt;&#10;            &lt;Box style={{ width: 370, paddingLeft: 12, borderLeft: '2px solid rgba(107,200,209,0.45)' }}&gt;&#10;                &lt;Text style={{ fontFamily: 'Microsoft YaHei', fontSize: 12, fontWeight: 'bold', color: '#F2F7F8' }}&gt;状态签名去重&lt;/Text&gt;&#10;                &lt;Text style={{ marginTop: 4, fontFamily: 'Microsoft YaHei', fontSize: 9.8, color: 'rgba(242,247,248,0.46)', lineHeight: 1.6 }}&gt;只保留权限与数据访问能力，历史路径不参与签名，等价状态自动合并。&lt;/Text&gt;&#10;            &lt;/Box&gt;&#10;            &lt;Box style={{ width: 370, paddingLeft: 12, borderLeft: '2px solid rgba(107,200,209,0.45)' }}&gt;&#10;                &lt;Text style={{ fontFamily: 'Microsoft YaHei', fontSize: 12, fontWeight: 'bold', color: '#F2F7F8' }}&gt;边界明确&lt;/Text&gt;&#10;                &lt;Text style={{ marginTop: 4, fontFamily: 'Microsoft YaHei', fontSize: 9.8, color: 'rgba(242,247,248,0.46)', lineHeight: 1.6 }}&gt;深度 8 / 160 状态上限；触边会标注“未完整”，不把没搜到当成安全。&lt;/Text&gt;&#10;            &lt;/Box&gt;&#10;            &lt;Box style={{ width: 370, paddingLeft: 12, borderLeft: '2px solid rgba(231,129,114,0.45)' }}&gt;&#10;                &lt;Text style={{ fontFamily: 'Microsoft YaHei', fontSize: 12, fontWeight: 'bold', color: '#F2F7F8' }}&gt;见证链&lt;/Text&gt;&#10;                &lt;Text style={{ marginTop: 4, fontFamily: 'Microsoft YaHei', fontSize: 9.8, color: 'rgba(242,247,248,0.46)', lineHeight: 1.6 }}&gt;成功给出最短见证链；失败给出最近阻断见证，而不是一句“被拦住了”。&lt;/Text&gt;&#10;            &lt;/Box&gt;&#10;        &lt;/Box&gt;&#10;    &lt;/Box&gt;&#10;&#10;    &lt;Box style={{ position: 'absolute', left: 56, top: 664, width: 1168, height: 1, background: 'rgba(242,247,248,0.10)' }} /&gt;&#10;    &lt;Text style={{ position: 'absolute', left: 56, top: 678, fontFamily: 'Consolas', fontSize: 10.5, color: 'rgba(242,247,248,0.40)', letterSpacing: 0.8 }}&gt;智御网络 · 三维网络安全策略交互验证平台&lt;/Text&gt;&#10;    &lt;Text style={{ position: 'absolute', right: 56, top: 678, fontFamily: 'Consolas', fontSize: 10.5, color: 'rgba(242,247,248,0.40)' }}&gt;24 / 28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80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771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APPENDIX 03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功能图集</a:t>
            </a:r>
            <a:endParaRPr/>
          </a:p>
        </p:txBody>
      </p:sp>
      <p:sp>
        <p:nvSpPr>
          <p:cNvPr id="804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4533900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状态空间：</a:t>
            </a:r>
            <a:r>
              <a:rPr lang="en-US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16 </a:t>
            </a: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个状态、</a:t>
            </a:r>
            <a:r>
              <a:rPr lang="en-US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40 </a:t>
            </a: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条转移</a:t>
            </a:r>
            <a:endParaRPr/>
          </a:p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10553700" y="723900"/>
            <a:ext cx="1104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BOUNDED STATE SEARCH</a:t>
            </a:r>
            <a:endParaRPr/>
          </a:p>
        </p:txBody>
      </p:sp>
      <p:sp>
        <p:nvSpPr>
          <p:cNvPr id="806" name=""/>
          <p:cNvSpPr/>
          <p:nvPr/>
        </p:nvSpPr>
        <p:spPr>
          <a:xfrm rot="0" flipH="0" flipV="0">
            <a:off x="533400" y="1333500"/>
            <a:ext cx="7239000" cy="3829050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07" name=""/>
          <p:cNvPicPr>
            <a:picLocks noChangeAspect="1"/>
          </p:cNvPicPr>
          <p:nvPr/>
        </p:nvPicPr>
        <p:blipFill>
          <a:blip r:embed="rId2"/>
          <a:srcRect l="0" t="43" r="0" b="43"/>
          <a:stretch>
            <a:fillRect/>
          </a:stretch>
        </p:blipFill>
        <p:spPr>
          <a:xfrm rot="0" flipH="0" flipV="0">
            <a:off x="533400" y="1333500"/>
            <a:ext cx="7239000" cy="3829050"/>
          </a:xfrm>
          <a:prstGeom prst="roundRect">
            <a:avLst>
              <a:gd name="adj" fmla="val 1990"/>
            </a:avLst>
          </a:prstGeom>
          <a:ln/>
        </p:spPr>
      </p:pic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533400" y="5248275"/>
            <a:ext cx="72390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攻击状态空间：按权限与数据访问能力合并后的可达状态</a:t>
            </a:r>
            <a:endParaRPr/>
          </a:p>
        </p:txBody>
      </p:sp>
      <p:sp>
        <p:nvSpPr>
          <p:cNvPr id="809" name=""/>
          <p:cNvSpPr/>
          <p:nvPr/>
        </p:nvSpPr>
        <p:spPr>
          <a:xfrm rot="0" flipH="0" flipV="0">
            <a:off x="8096250" y="1390650"/>
            <a:ext cx="3562350" cy="704850"/>
          </a:xfrm>
          <a:custGeom>
            <a:pathLst>
              <a:path w="374" h="74">
                <a:moveTo>
                  <a:pt x="0" y="0"/>
                </a:moveTo>
                <a:lnTo>
                  <a:pt x="374" y="0"/>
                </a:lnTo>
                <a:lnTo>
                  <a:pt x="37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8096250" y="1476375"/>
            <a:ext cx="35623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2F7F8"/>
                </a:solidFill>
                <a:latin typeface="Consolas"/>
                <a:ea typeface="Consolas"/>
              </a:rPr>
              <a:t>16</a:t>
            </a:r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8096250" y="1866900"/>
            <a:ext cx="3562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个可达安全状态</a:t>
            </a:r>
            <a:endParaRPr/>
          </a:p>
        </p:txBody>
      </p:sp>
      <p:sp>
        <p:nvSpPr>
          <p:cNvPr id="812" name=""/>
          <p:cNvSpPr/>
          <p:nvPr/>
        </p:nvSpPr>
        <p:spPr>
          <a:xfrm rot="0" flipH="0" flipV="0">
            <a:off x="8096250" y="2095500"/>
            <a:ext cx="3562350" cy="704850"/>
          </a:xfrm>
          <a:custGeom>
            <a:pathLst>
              <a:path w="374" h="74">
                <a:moveTo>
                  <a:pt x="0" y="0"/>
                </a:moveTo>
                <a:lnTo>
                  <a:pt x="374" y="0"/>
                </a:lnTo>
                <a:lnTo>
                  <a:pt x="37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8096250" y="2181225"/>
            <a:ext cx="35623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6BC8D1"/>
                </a:solidFill>
                <a:latin typeface="Consolas"/>
                <a:ea typeface="Consolas"/>
              </a:rPr>
              <a:t>40</a:t>
            </a:r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8096250" y="2571750"/>
            <a:ext cx="3562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条状态转移</a:t>
            </a:r>
            <a:endParaRPr/>
          </a:p>
        </p:txBody>
      </p:sp>
      <p:sp>
        <p:nvSpPr>
          <p:cNvPr id="815" name=""/>
          <p:cNvSpPr/>
          <p:nvPr/>
        </p:nvSpPr>
        <p:spPr>
          <a:xfrm rot="0" flipH="0" flipV="0">
            <a:off x="8096250" y="2800350"/>
            <a:ext cx="3562350" cy="704850"/>
          </a:xfrm>
          <a:custGeom>
            <a:pathLst>
              <a:path w="374" h="74">
                <a:moveTo>
                  <a:pt x="0" y="0"/>
                </a:moveTo>
                <a:lnTo>
                  <a:pt x="374" y="0"/>
                </a:lnTo>
                <a:lnTo>
                  <a:pt x="37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8096250" y="2886075"/>
            <a:ext cx="35623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2F7F8"/>
                </a:solidFill>
                <a:latin typeface="Consolas"/>
                <a:ea typeface="Consolas"/>
              </a:rPr>
              <a:t>0</a:t>
            </a:r>
            <a:endParaRPr/>
          </a:p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8096250" y="3276600"/>
            <a:ext cx="3562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原始配置下的阻断尝试</a:t>
            </a:r>
            <a:endParaRPr/>
          </a:p>
        </p:txBody>
      </p:sp>
      <p:sp>
        <p:nvSpPr>
          <p:cNvPr id="818" name=""/>
          <p:cNvSpPr/>
          <p:nvPr/>
        </p:nvSpPr>
        <p:spPr>
          <a:xfrm rot="0" flipH="0" flipV="0">
            <a:off x="8096250" y="3505200"/>
            <a:ext cx="3562350" cy="704850"/>
          </a:xfrm>
          <a:custGeom>
            <a:pathLst>
              <a:path w="374" h="74">
                <a:moveTo>
                  <a:pt x="0" y="0"/>
                </a:moveTo>
                <a:lnTo>
                  <a:pt x="374" y="0"/>
                </a:lnTo>
                <a:lnTo>
                  <a:pt x="37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8096250" y="3590925"/>
            <a:ext cx="35623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E78172"/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8096250" y="3981450"/>
            <a:ext cx="3562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本次搜索最大深度</a:t>
            </a:r>
            <a:endParaRPr/>
          </a:p>
        </p:txBody>
      </p:sp>
      <p:sp>
        <p:nvSpPr>
          <p:cNvPr id="821" name=""/>
          <p:cNvSpPr/>
          <p:nvPr/>
        </p:nvSpPr>
        <p:spPr>
          <a:xfrm rot="0" flipH="0" flipV="0">
            <a:off x="8096250" y="4324350"/>
            <a:ext cx="3562350" cy="228600"/>
          </a:xfrm>
          <a:custGeom>
            <a:pathLst>
              <a:path w="374" h="24">
                <a:moveTo>
                  <a:pt x="0" y="0"/>
                </a:moveTo>
                <a:lnTo>
                  <a:pt x="374" y="0"/>
                </a:lnTo>
                <a:lnTo>
                  <a:pt x="374" y="1"/>
                </a:lnTo>
                <a:lnTo>
                  <a:pt x="0" y="1"/>
                </a:lnTo>
                <a:close/>
              </a:path>
            </a:pathLst>
          </a:custGeom>
          <a:solidFill>
            <a:srgbClr val="6BC8D1">
              <a:alpha val="22000"/>
            </a:srgbClr>
          </a:solidFill>
          <a:ln/>
        </p:spPr>
        <p:txBody>
          <a:bodyPr/>
          <a:p/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8096250" y="4429125"/>
            <a:ext cx="35623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6BC8D1"/>
                </a:solidFill>
                <a:latin typeface="Consolas"/>
                <a:ea typeface="Consolas"/>
              </a:rPr>
              <a:t>搜索完整</a:t>
            </a:r>
            <a:r>
              <a:rPr lang="en-US" sz="713">
                <a:solidFill>
                  <a:srgbClr val="6BC8D1"/>
                </a:solidFill>
                <a:latin typeface="Consolas"/>
                <a:ea typeface="Consolas"/>
              </a:rPr>
              <a:t> · </a:t>
            </a:r>
            <a:r>
              <a:rPr lang="zh-CN" sz="713">
                <a:solidFill>
                  <a:srgbClr val="6BC8D1"/>
                </a:solidFill>
                <a:latin typeface="Consolas"/>
                <a:ea typeface="Consolas"/>
              </a:rPr>
              <a:t>未触及边界</a:t>
            </a:r>
            <a:endParaRPr/>
          </a:p>
        </p:txBody>
      </p:sp>
      <p:sp>
        <p:nvSpPr>
          <p:cNvPr id="823" name=""/>
          <p:cNvSpPr/>
          <p:nvPr/>
        </p:nvSpPr>
        <p:spPr>
          <a:xfrm rot="0" flipH="0" flipV="0">
            <a:off x="533400" y="5505450"/>
            <a:ext cx="3524250" cy="361950"/>
          </a:xfrm>
          <a:custGeom>
            <a:pathLst>
              <a:path w="370" h="38">
                <a:moveTo>
                  <a:pt x="0" y="0"/>
                </a:moveTo>
                <a:lnTo>
                  <a:pt x="2" y="0"/>
                </a:lnTo>
                <a:lnTo>
                  <a:pt x="2" y="38"/>
                </a:lnTo>
                <a:lnTo>
                  <a:pt x="0" y="38"/>
                </a:lnTo>
                <a:close/>
              </a:path>
            </a:pathLst>
          </a:custGeom>
          <a:solidFill>
            <a:srgbClr val="6BC8D1">
              <a:alpha val="45000"/>
            </a:srgbClr>
          </a:solidFill>
          <a:ln/>
        </p:spPr>
        <p:txBody>
          <a:bodyPr/>
          <a:p/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666750" y="5505450"/>
            <a:ext cx="3390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2F7F8"/>
                </a:solidFill>
                <a:latin typeface="Microsoft YaHei"/>
                <a:ea typeface="Microsoft YaHei"/>
              </a:rPr>
              <a:t>状态签名去重</a:t>
            </a:r>
            <a:endParaRPr/>
          </a:p>
        </p:txBody>
      </p:sp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666750" y="5686425"/>
            <a:ext cx="3390900" cy="1809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73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只保留权限与数据访问能力，历史路径不参与签名，等价状态自动合并。</a:t>
            </a:r>
            <a:endParaRPr/>
          </a:p>
        </p:txBody>
      </p:sp>
      <p:sp>
        <p:nvSpPr>
          <p:cNvPr id="826" name=""/>
          <p:cNvSpPr/>
          <p:nvPr/>
        </p:nvSpPr>
        <p:spPr>
          <a:xfrm rot="0" flipH="0" flipV="0">
            <a:off x="4286250" y="5505450"/>
            <a:ext cx="3524250" cy="361950"/>
          </a:xfrm>
          <a:custGeom>
            <a:pathLst>
              <a:path w="370" h="38">
                <a:moveTo>
                  <a:pt x="0" y="0"/>
                </a:moveTo>
                <a:lnTo>
                  <a:pt x="2" y="0"/>
                </a:lnTo>
                <a:lnTo>
                  <a:pt x="2" y="38"/>
                </a:lnTo>
                <a:lnTo>
                  <a:pt x="0" y="38"/>
                </a:lnTo>
                <a:close/>
              </a:path>
            </a:pathLst>
          </a:custGeom>
          <a:solidFill>
            <a:srgbClr val="6BC8D1">
              <a:alpha val="45000"/>
            </a:srgbClr>
          </a:solidFill>
          <a:ln/>
        </p:spPr>
        <p:txBody>
          <a:bodyPr/>
          <a:p/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4419600" y="5505450"/>
            <a:ext cx="3390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2F7F8"/>
                </a:solidFill>
                <a:latin typeface="Microsoft YaHei"/>
                <a:ea typeface="Microsoft YaHei"/>
              </a:rPr>
              <a:t>边界明确</a:t>
            </a:r>
            <a:endParaRPr/>
          </a:p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4419600" y="5686425"/>
            <a:ext cx="3390900" cy="1809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73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深度</a:t>
            </a:r>
            <a:r>
              <a:rPr lang="en-US" sz="73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 8 / 160 </a:t>
            </a:r>
            <a:r>
              <a:rPr lang="zh-CN" sz="73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状态上限；触边会标注“未完整”，不把没搜到当成安全。</a:t>
            </a:r>
            <a:endParaRPr/>
          </a:p>
        </p:txBody>
      </p:sp>
      <p:sp>
        <p:nvSpPr>
          <p:cNvPr id="829" name=""/>
          <p:cNvSpPr/>
          <p:nvPr/>
        </p:nvSpPr>
        <p:spPr>
          <a:xfrm rot="0" flipH="0" flipV="0">
            <a:off x="8039100" y="5505450"/>
            <a:ext cx="3524250" cy="361950"/>
          </a:xfrm>
          <a:custGeom>
            <a:pathLst>
              <a:path w="370" h="38">
                <a:moveTo>
                  <a:pt x="0" y="0"/>
                </a:moveTo>
                <a:lnTo>
                  <a:pt x="2" y="0"/>
                </a:lnTo>
                <a:lnTo>
                  <a:pt x="2" y="38"/>
                </a:lnTo>
                <a:lnTo>
                  <a:pt x="0" y="38"/>
                </a:lnTo>
                <a:close/>
              </a:path>
            </a:pathLst>
          </a:custGeom>
          <a:solidFill>
            <a:srgbClr val="E78172">
              <a:alpha val="45000"/>
            </a:srgbClr>
          </a:solidFill>
          <a:ln/>
        </p:spPr>
        <p:txBody>
          <a:bodyPr/>
          <a:p/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8172450" y="5505450"/>
            <a:ext cx="3390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2F7F8"/>
                </a:solidFill>
                <a:latin typeface="Microsoft YaHei"/>
                <a:ea typeface="Microsoft YaHei"/>
              </a:rPr>
              <a:t>见证链</a:t>
            </a:r>
            <a:endParaRPr/>
          </a:p>
        </p:txBody>
      </p:sp>
      <p:sp>
        <p:nvSpPr>
          <p:cNvPr id="831" name="" descr="{&quot;isTemplate&quot;:true,&quot;type&quot;:&quot;text&quot;}"/>
          <p:cNvSpPr txBox="1"/>
          <p:nvPr/>
        </p:nvSpPr>
        <p:spPr>
          <a:xfrm rot="0" flipH="0" flipV="0">
            <a:off x="8172450" y="5686425"/>
            <a:ext cx="3390900" cy="1809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735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成功给出最短见证链；失败给出最近阻断见证，而不是一句“被拦住了”。</a:t>
            </a:r>
            <a:endParaRPr/>
          </a:p>
        </p:txBody>
      </p:sp>
      <p:sp>
        <p:nvSpPr>
          <p:cNvPr id="832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24 / 28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835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APPENDIX 04 / 功能图集&lt;/Text&gt;&#13;&#10;    &lt;/Box&gt;&#13;&#10;    &lt;Text style={{ position: 'absolute', left: 56, top: 62, fontFamily: 'Microsoft YaHei', fontSize: 31, fontWeight: 'bold', color: '#F2F7F8', letterSpacing: 0.5 }}&gt;学习中心：知识、练习、考试在同一条链路&lt;/Text&gt;&#13;&#10;    &lt;Text style={{ position: 'absolute', right: 56, top: 76, fontFamily: 'Consolas', fontSize: 10.5, color: 'rgba(242,247,248,0.42)' }}&gt;LEARN · PRACTICE · EXAM&lt;/Text&gt;&#13;&#10;&#13;&#10;    &lt;Box style={{ position: 'absolute', left: 56, top: 142, width: 370 }}&gt;&#13;&#10;        &lt;Image src=&quot;assets/appendix_learn.png&quot; style={{ width: 370, height: 208, objectFit: 'cover', borderRadius: 8, border: '1px solid rgba(107,200,209,0.18)' }} /&gt;&#13;&#10;        &lt;Text style={{ marginTop: 8, fontFamily: 'Consolas', fontSize: 9, color: '#6BC8D1' }}&gt;01 / KNOWLEDGE&lt;/Text&gt;&#13;&#10;        &lt;Text style={{ marginTop: 3, fontFamily: 'Microsoft YaHei', fontSize: 11, color: 'rgba(242,247,248,0.58)' }}&gt;6 个知识模块 · 每张卡片直达关联实验&lt;/Text&gt;&#13;&#10;    &lt;/Box&gt;&#13;&#10;&#13;&#10;    &lt;Box style={{ position: 'absolute', left: 446, top: 142, width: 370 }}&gt;&#13;&#10;        &lt;Image src=&quot;assets/appendix_quiz.png&quot; style={{ width: 370, height: 215, objectFit: 'cover', borderRadius: 8, border: '1px solid rgba(107,200,209,0.18)' }} /&gt;&#13;&#10;        &lt;Text style={{ marginTop: 8, fontFamily: 'Consolas', fontSize: 9, color: '#6BC8D1' }}&gt;02 / PRACTICE&lt;/Text&gt;&#13;&#10;        &lt;Text style={{ marginTop: 3, fontFamily: 'Microsoft YaHei', fontSize: 11, color: 'rgba(242,247,248,0.58)' }}&gt;20 题随堂练习 · 作答即解析 + 静态示意图&lt;/Text&gt;&#13;&#10;    &lt;/Box&gt;&#13;&#10;&#13;&#10;    &lt;Box style={{ position: 'absolute', left: 836, top: 142, width: 370 }}&gt;&#13;&#10;        &lt;Image src=&quot;assets/appendix_exam.png&quot; style={{ width: 370, height: 215, objectFit: 'cover', borderRadius: 8, border: '1px solid rgba(107,200,209,0.18)' }} /&gt;&#13;&#10;        &lt;Text style={{ marginTop: 8, fontFamily: 'Consolas', fontSize: 9, color: '#6BC8D1' }}&gt;03 / EXAM&lt;/Text&gt;&#13;&#10;        &lt;Text style={{ marginTop: 3, fontFamily: 'Microsoft YaHei', fontSize: 11, color: 'rgba(242,247,248,0.58)' }}&gt;模拟考试 · 答题卡、评分与错题回看&lt;/Text&gt;&#13;&#10;    &lt;/Box&gt;&#13;&#10;&#13;&#10;    &lt;Box style={{ position: 'absolute', left: 56, top: 412, width: 370, paddingTop: 14, borderTop: '1px solid rgba(242,247,248,0.10)' }}&gt;&#13;&#10;        &lt;Text style={{ fontFamily: 'Microsoft YaHei', fontSize: 14, fontWeight: 'bold', color: '#F2F7F8' }}&gt;学 · 建立概念&lt;/Text&gt;&#13;&#10;        &lt;Text style={{ marginTop: 6, fontFamily: 'Microsoft YaHei', fontSize: 10.2, color: 'rgba(242,247,248,0.52)', lineHeight: 1.7 }}&gt;网络分区、防火墙、终端防护、关键资产、横向传播、最小权限，六个模块各配一个可操作实验。&lt;/Text&gt;&#13;&#10;    &lt;/Box&gt;&#13;&#10;    &lt;Box style={{ position: 'absolute', left: 446, top: 412, width: 370, paddingTop: 14, borderTop: '1px solid rgba(242,247,248,0.10)' }}&gt;&#13;&#10;        &lt;Text style={{ fontFamily: 'Microsoft YaHei', fontSize: 14, fontWeight: 'bold', color: '#F2F7F8' }}&gt;练 · 即时反馈&lt;/Text&gt;&#13;&#10;        &lt;Text style={{ marginTop: 6, fontFamily: 'Microsoft YaHei', fontSize: 10.2, color: 'rgba(242,247,248,0.52)', lineHeight: 1.7 }}&gt;每题作答后立刻显示对错、知识解析和静态示意图，并可跳转到对应实验继续验证。&lt;/Text&gt;&#13;&#10;    &lt;/Box&gt;&#13;&#10;    &lt;Box style={{ position: 'absolute', left: 836, top: 412, width: 370, paddingTop: 14, borderTop: '1px solid rgba(242,247,248,0.10)' }}&gt;&#13;&#10;        &lt;Text style={{ fontFamily: 'Microsoft YaHei', fontSize: 14, fontWeight: 'bold', color: '#F2F7F8' }}&gt;考 · 可回看&lt;/Text&gt;&#13;&#10;        &lt;Text style={{ marginTop: 6, fontFamily: 'Microsoft YaHei', fontSize: 10.2, color: 'rgba(242,247,248,0.52)', lineHeight: 1.7 }}&gt;答题卡定位、交卷评分、逐题回看；每次成绩与最佳分都记录在本地，不需要账号。&lt;/Text&gt;&#13;&#10;    &lt;/Box&gt;&#13;&#10;&#13;&#10;    &lt;Box style={{ position: 'absolute', left: 56, top: 558, width: 1168, height: 56, paddingLeft: 16, paddingRight: 16, flexDirection: 'row', alignItems: 'center', justifyContent: 'space-between', background: 'rgba(107,200,209,0.055)', borderLeft: '2px solid #6BC8D1' }}&gt;&#13;&#10;        &lt;Text style={{ fontFamily: 'Consolas', fontSize: 10, color: '#6BC8D1', letterSpacing: 1 }}&gt;LEARNING LOOP · 20 QUESTIONS · 6 MODULES&lt;/Text&gt;&#13;&#10;        &lt;Text style={{ fontFamily: 'Microsoft YaHei', fontSize: 11, color: 'rgba(242,247,248,0.56)' }}&gt;知识卡 → 随堂练习 → 模拟考试 → 实验室验证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25 / 2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8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771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APPENDIX 04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功能图集</a:t>
            </a:r>
            <a:endParaRPr/>
          </a:p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5705475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学习中心：知识、练习、考试在同一条链路</a:t>
            </a:r>
            <a:endParaRPr/>
          </a:p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10391775" y="723900"/>
            <a:ext cx="1266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LEARN · PRACTICE · EXAM</a:t>
            </a:r>
            <a:endParaRPr/>
          </a:p>
        </p:txBody>
      </p:sp>
      <p:sp>
        <p:nvSpPr>
          <p:cNvPr id="841" name=""/>
          <p:cNvSpPr/>
          <p:nvPr/>
        </p:nvSpPr>
        <p:spPr>
          <a:xfrm rot="0" flipH="0" flipV="0">
            <a:off x="533400" y="1352550"/>
            <a:ext cx="3524250" cy="1981200"/>
          </a:xfrm>
          <a:prstGeom prst="rect">
            <a:avLst/>
          </a:prstGeom>
          <a:ln w="12700">
            <a:solidFill>
              <a:srgbClr val="6BC8D1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42" name=""/>
          <p:cNvPicPr>
            <a:picLocks noChangeAspect="1"/>
          </p:cNvPicPr>
          <p:nvPr/>
        </p:nvPicPr>
        <p:blipFill>
          <a:blip r:embed="rId2"/>
          <a:srcRect l="0" t="30" r="0" b="30"/>
          <a:stretch>
            <a:fillRect/>
          </a:stretch>
        </p:blipFill>
        <p:spPr>
          <a:xfrm rot="0" flipH="0" flipV="0">
            <a:off x="533400" y="1352550"/>
            <a:ext cx="3524250" cy="1981200"/>
          </a:xfrm>
          <a:prstGeom prst="roundRect">
            <a:avLst>
              <a:gd name="adj" fmla="val 3846"/>
            </a:avLst>
          </a:prstGeom>
          <a:ln/>
        </p:spPr>
      </p:pic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533400" y="3409950"/>
            <a:ext cx="3524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01 / KNOWLEDGE</a:t>
            </a:r>
            <a:endParaRPr/>
          </a:p>
        </p:txBody>
      </p:sp>
      <p:sp>
        <p:nvSpPr>
          <p:cNvPr id="844" name="" descr="{&quot;isTemplate&quot;:true,&quot;type&quot;:&quot;text&quot;}"/>
          <p:cNvSpPr txBox="1"/>
          <p:nvPr/>
        </p:nvSpPr>
        <p:spPr>
          <a:xfrm rot="0" flipH="0" flipV="0">
            <a:off x="533400" y="3543300"/>
            <a:ext cx="3524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6 </a:t>
            </a: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个知识模块</a:t>
            </a:r>
            <a:r>
              <a:rPr lang="en-US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每张卡片直达关联实验</a:t>
            </a:r>
            <a:endParaRPr/>
          </a:p>
        </p:txBody>
      </p:sp>
      <p:sp>
        <p:nvSpPr>
          <p:cNvPr id="845" name=""/>
          <p:cNvSpPr/>
          <p:nvPr/>
        </p:nvSpPr>
        <p:spPr>
          <a:xfrm rot="0" flipH="0" flipV="0">
            <a:off x="4248150" y="1352550"/>
            <a:ext cx="3524250" cy="2047875"/>
          </a:xfrm>
          <a:prstGeom prst="rect">
            <a:avLst/>
          </a:prstGeom>
          <a:ln w="12700">
            <a:solidFill>
              <a:srgbClr val="6BC8D1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46" nam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0" flipH="0" flipV="0">
            <a:off x="4248150" y="1352550"/>
            <a:ext cx="3524250" cy="2047875"/>
          </a:xfrm>
          <a:prstGeom prst="roundRect">
            <a:avLst>
              <a:gd name="adj" fmla="val 3721"/>
            </a:avLst>
          </a:prstGeom>
          <a:ln/>
        </p:spPr>
      </p:pic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4248150" y="3476625"/>
            <a:ext cx="3524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02 / PRACTICE</a:t>
            </a:r>
            <a:endParaRPr/>
          </a:p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4248150" y="3609975"/>
            <a:ext cx="3524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20 </a:t>
            </a: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题随堂练习</a:t>
            </a:r>
            <a:r>
              <a:rPr lang="en-US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作答即解析</a:t>
            </a:r>
            <a:r>
              <a:rPr lang="en-US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静态示意图</a:t>
            </a:r>
            <a:endParaRPr/>
          </a:p>
        </p:txBody>
      </p:sp>
      <p:sp>
        <p:nvSpPr>
          <p:cNvPr id="849" name=""/>
          <p:cNvSpPr/>
          <p:nvPr/>
        </p:nvSpPr>
        <p:spPr>
          <a:xfrm rot="0" flipH="0" flipV="0">
            <a:off x="7962900" y="1352550"/>
            <a:ext cx="3524250" cy="2047875"/>
          </a:xfrm>
          <a:prstGeom prst="rect">
            <a:avLst/>
          </a:prstGeom>
          <a:ln w="12700">
            <a:solidFill>
              <a:srgbClr val="6BC8D1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50" name=""/>
          <p:cNvPicPr>
            <a:picLocks noChangeAspect="1"/>
          </p:cNvPicPr>
          <p:nvPr/>
        </p:nvPicPr>
        <p:blipFill>
          <a:blip r:embed="rId4"/>
          <a:srcRect l="0" t="1136" r="0" b="1136"/>
          <a:stretch>
            <a:fillRect/>
          </a:stretch>
        </p:blipFill>
        <p:spPr>
          <a:xfrm rot="0" flipH="0" flipV="0">
            <a:off x="7962900" y="1352550"/>
            <a:ext cx="3524250" cy="2047875"/>
          </a:xfrm>
          <a:prstGeom prst="roundRect">
            <a:avLst>
              <a:gd name="adj" fmla="val 3721"/>
            </a:avLst>
          </a:prstGeom>
          <a:ln/>
        </p:spPr>
      </p:pic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7962900" y="3476625"/>
            <a:ext cx="3524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03 / EXAM</a:t>
            </a:r>
            <a:endParaRPr/>
          </a:p>
        </p:txBody>
      </p:sp>
      <p:sp>
        <p:nvSpPr>
          <p:cNvPr id="852" name="" descr="{&quot;isTemplate&quot;:true,&quot;type&quot;:&quot;text&quot;}"/>
          <p:cNvSpPr txBox="1"/>
          <p:nvPr/>
        </p:nvSpPr>
        <p:spPr>
          <a:xfrm rot="0" flipH="0" flipV="0">
            <a:off x="7962900" y="3609975"/>
            <a:ext cx="3524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模拟考试</a:t>
            </a:r>
            <a:r>
              <a:rPr lang="en-US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答题卡、评分与错题回看</a:t>
            </a:r>
            <a:endParaRPr/>
          </a:p>
        </p:txBody>
      </p:sp>
      <p:sp>
        <p:nvSpPr>
          <p:cNvPr id="853" name=""/>
          <p:cNvSpPr/>
          <p:nvPr/>
        </p:nvSpPr>
        <p:spPr>
          <a:xfrm rot="0" flipH="0" flipV="0">
            <a:off x="533400" y="3924300"/>
            <a:ext cx="3524250" cy="771525"/>
          </a:xfrm>
          <a:custGeom>
            <a:pathLst>
              <a:path w="370" h="81">
                <a:moveTo>
                  <a:pt x="0" y="0"/>
                </a:moveTo>
                <a:lnTo>
                  <a:pt x="370" y="0"/>
                </a:lnTo>
                <a:lnTo>
                  <a:pt x="37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533400" y="4067175"/>
            <a:ext cx="352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学</a:t>
            </a:r>
            <a:r>
              <a:rPr lang="en-US" sz="1050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建立概念</a:t>
            </a:r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533400" y="4286250"/>
            <a:ext cx="35242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76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网络分区、防火墙、终端防护、关键资产、横向传播、最小权限，六个模块各配一个可操作实验。</a:t>
            </a:r>
            <a:endParaRPr/>
          </a:p>
        </p:txBody>
      </p:sp>
      <p:sp>
        <p:nvSpPr>
          <p:cNvPr id="856" name=""/>
          <p:cNvSpPr/>
          <p:nvPr/>
        </p:nvSpPr>
        <p:spPr>
          <a:xfrm rot="0" flipH="0" flipV="0">
            <a:off x="4248150" y="3924300"/>
            <a:ext cx="3524250" cy="771525"/>
          </a:xfrm>
          <a:custGeom>
            <a:pathLst>
              <a:path w="370" h="81">
                <a:moveTo>
                  <a:pt x="0" y="0"/>
                </a:moveTo>
                <a:lnTo>
                  <a:pt x="370" y="0"/>
                </a:lnTo>
                <a:lnTo>
                  <a:pt x="37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57" name="" descr="{&quot;isTemplate&quot;:true,&quot;type&quot;:&quot;text&quot;}"/>
          <p:cNvSpPr txBox="1"/>
          <p:nvPr/>
        </p:nvSpPr>
        <p:spPr>
          <a:xfrm rot="0" flipH="0" flipV="0">
            <a:off x="4248150" y="4067175"/>
            <a:ext cx="352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练</a:t>
            </a:r>
            <a:r>
              <a:rPr lang="en-US" sz="1050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即时反馈</a:t>
            </a:r>
            <a:endParaRPr/>
          </a:p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4248150" y="4286250"/>
            <a:ext cx="35242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76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每题作答后立刻显示对错、知识解析和静态示意图，并可跳转到对应实验继续验证。</a:t>
            </a:r>
            <a:endParaRPr/>
          </a:p>
        </p:txBody>
      </p:sp>
      <p:sp>
        <p:nvSpPr>
          <p:cNvPr id="859" name=""/>
          <p:cNvSpPr/>
          <p:nvPr/>
        </p:nvSpPr>
        <p:spPr>
          <a:xfrm rot="0" flipH="0" flipV="0">
            <a:off x="7962900" y="3924300"/>
            <a:ext cx="3524250" cy="771525"/>
          </a:xfrm>
          <a:custGeom>
            <a:pathLst>
              <a:path w="370" h="81">
                <a:moveTo>
                  <a:pt x="0" y="0"/>
                </a:moveTo>
                <a:lnTo>
                  <a:pt x="370" y="0"/>
                </a:lnTo>
                <a:lnTo>
                  <a:pt x="37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7962900" y="4067175"/>
            <a:ext cx="352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考</a:t>
            </a:r>
            <a:r>
              <a:rPr lang="en-US" sz="1050" b="1">
                <a:solidFill>
                  <a:srgbClr val="F2F7F8"/>
                </a:solidFill>
                <a:latin typeface="Microsoft YaHei"/>
                <a:ea typeface="Microsoft YaHei"/>
              </a:rPr>
              <a:t> · </a:t>
            </a: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可回看</a:t>
            </a:r>
            <a:endParaRPr/>
          </a:p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7962900" y="4286250"/>
            <a:ext cx="3524250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76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答题卡定位、交卷评分、逐题回看；每次成绩与最佳分都记录在本地，不需要账号。</a:t>
            </a:r>
            <a:endParaRPr/>
          </a:p>
        </p:txBody>
      </p:sp>
      <p:sp>
        <p:nvSpPr>
          <p:cNvPr id="862" name=""/>
          <p:cNvSpPr/>
          <p:nvPr/>
        </p:nvSpPr>
        <p:spPr>
          <a:xfrm rot="0" flipH="0" flipV="0">
            <a:off x="552450" y="5314950"/>
            <a:ext cx="11106150" cy="533400"/>
          </a:xfrm>
          <a:prstGeom prst="rect">
            <a:avLst/>
          </a:prstGeom>
          <a:solidFill>
            <a:srgbClr val="6BC8D1">
              <a:alpha val="5500"/>
            </a:srgbClr>
          </a:solidFill>
          <a:ln/>
        </p:spPr>
        <p:txBody>
          <a:bodyPr/>
          <a:p/>
        </p:txBody>
      </p:sp>
      <p:sp>
        <p:nvSpPr>
          <p:cNvPr id="863" name=""/>
          <p:cNvSpPr/>
          <p:nvPr/>
        </p:nvSpPr>
        <p:spPr>
          <a:xfrm rot="0" flipH="0" flipV="0">
            <a:off x="533400" y="5314950"/>
            <a:ext cx="11125200" cy="533400"/>
          </a:xfrm>
          <a:custGeom>
            <a:pathLst>
              <a:path w="1168" h="56">
                <a:moveTo>
                  <a:pt x="0" y="0"/>
                </a:moveTo>
                <a:lnTo>
                  <a:pt x="2" y="0"/>
                </a:lnTo>
                <a:lnTo>
                  <a:pt x="2" y="56"/>
                </a:lnTo>
                <a:lnTo>
                  <a:pt x="0" y="56"/>
                </a:lnTo>
                <a:close/>
              </a:path>
            </a:pathLst>
          </a:custGeom>
          <a:solidFill>
            <a:srgbClr val="6BC8D1"/>
          </a:solidFill>
          <a:ln/>
        </p:spPr>
        <p:txBody>
          <a:bodyPr/>
          <a:p/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704850" y="5524500"/>
            <a:ext cx="24765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 spc="75">
                <a:solidFill>
                  <a:srgbClr val="6BC8D1"/>
                </a:solidFill>
                <a:latin typeface="Consolas"/>
                <a:ea typeface="Consolas"/>
              </a:rPr>
              <a:t>LEARNING LOOP · 20 QUESTIONS · 6 MODULES</a:t>
            </a:r>
            <a:endParaRPr/>
          </a:p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9324975" y="5514975"/>
            <a:ext cx="2181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知识卡</a:t>
            </a:r>
            <a:r>
              <a:rPr lang="en-US" sz="825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825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随堂练习</a:t>
            </a:r>
            <a:r>
              <a:rPr lang="en-US" sz="825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825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模拟考试</a:t>
            </a:r>
            <a:r>
              <a:rPr lang="en-US" sz="825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825">
                <a:solidFill>
                  <a:srgbClr val="F2F7F8">
                    <a:alpha val="56000"/>
                  </a:srgbClr>
                </a:solidFill>
                <a:latin typeface="Microsoft YaHei"/>
                <a:ea typeface="Microsoft YaHei"/>
              </a:rPr>
              <a:t>实验室验证</a:t>
            </a:r>
            <a:endParaRPr/>
          </a:p>
        </p:txBody>
      </p:sp>
      <p:sp>
        <p:nvSpPr>
          <p:cNvPr id="866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25 / 28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869" name="" descr="&lt;Slide style={{ width: 1280, height: 720, background: '#07111B', padding: 0, position: 'relative', overflow: 'hidden' }}&gt;&#13;&#10;    &lt;svg width={1280} height={720} viewBox='0 0 1280 720' style={{ position: 'absolute', left: 0, top: 0 }}&gt;&#13;&#10;        &lt;g stroke='rgba(242,247,248,0.022)' strokeWidth='1'&gt;&#13;&#10;            &lt;path d='M0 96H1280M0 192H1280M0 288H1280M0 384H1280M0 480H1280M0 576H1280M0 672H1280' /&gt;&#13;&#10;        &lt;/g&gt;&#13;&#10;    &lt;/svg&gt;&#13;&#10;&#13;&#10;    &lt;Box style={{ position: 'absolute', left: 56, top: 38 }}&gt;&#13;&#10;        &lt;Text style={{ fontFamily: 'Consolas', fontSize: 11, color: '#6BC8D1', letterSpacing: 1.8 }}&gt;APPENDIX 05 / 功能图集&lt;/Text&gt;&#13;&#10;    &lt;/Box&gt;&#13;&#10;    &lt;Text style={{ position: 'absolute', left: 56, top: 62, fontFamily: 'Microsoft YaHei', fontSize: 31, fontWeight: 'bold', color: '#F2F7F8', letterSpacing: 0.5 }}&gt;七个场景，七种网络结构&lt;/Text&gt;&#13;&#10;    &lt;Text style={{ position: 'absolute', right: 56, top: 76, fontFamily: 'Consolas', fontSize: 10.5, color: 'rgba(242,247,248,0.42)' }}&gt;SEVEN SCENARIOS · ONE ENGINE&lt;/Text&gt;&#13;&#10;&#13;&#10;    &lt;Box style={{ position: 'absolute', left: 56, top: 142, width: 350 }}&gt;&#13;&#10;        &lt;Image src=&quot;assets/scenario_lateral.png&quot; style={{ width: 350, height: 197, objectFit: 'cover', borderRadius: 7, border: '1px solid rgba(231,129,114,0.28)' }} /&gt;&#13;&#10;        &lt;Text style={{ marginTop: 7, fontFamily: 'Microsoft YaHei', fontSize: 10.5, color: '#F2F7F8' }}&gt;01 终端失陷与横向传播&lt;/Text&gt;&#13;&#10;        &lt;Text style={{ marginTop: 2, fontFamily: 'Consolas', fontSize: 8.5, color: '#E78172' }}&gt;ATTACK_STATE · 核心实验&lt;/Text&gt;&#13;&#10;    &lt;/Box&gt;&#13;&#10;&#13;&#10;    &lt;Box style={{ position: 'absolute', left: 426, top: 142, width: 350 }}&gt;&#13;&#10;        &lt;Image src=&quot;assets/scenario_zerotrust.png&quot; style={{ width: 350, height: 197, objectFit: 'cover', borderRadius: 7, border: '1px solid rgba(107,200,209,0.20)' }} /&gt;&#13;&#10;        &lt;Text style={{ marginTop: 7, fontFamily: 'Microsoft YaHei', fontSize: 10.5, color: '#F2F7F8' }}&gt;06 零信任微隔离：主机对主机&lt;/Text&gt;&#13;&#10;        &lt;Text style={{ marginTop: 2, fontFamily: 'Consolas', fontSize: 8.5, color: '#6BC8D1' }}&gt;TEACHING · 挑战&lt;/Text&gt;&#13;&#10;    &lt;/Box&gt;&#13;&#10;&#13;&#10;    &lt;Box style={{ position: 'absolute', left: 56, top: 382, width: 350 }}&gt;&#13;&#10;        &lt;Image src=&quot;assets/scenario_supplychain.png&quot; style={{ width: 350, height: 197, objectFit: 'cover', borderRadius: 7, border: '1px solid rgba(107,200,209,0.20)' }} /&gt;&#13;&#10;        &lt;Text style={{ marginTop: 7, fontFamily: 'Microsoft YaHei', fontSize: 10.5, color: '#F2F7F8' }}&gt;04 供应链入口传播路径&lt;/Text&gt;&#13;&#10;        &lt;Text style={{ marginTop: 2, fontFamily: 'Consolas', fontSize: 8.5, color: '#6BC8D1' }}&gt;TEACHING · 挑战&lt;/Text&gt;&#13;&#10;    &lt;/Box&gt;&#13;&#10;&#13;&#10;    &lt;Box style={{ position: 'absolute', left: 426, top: 382, width: 350 }}&gt;&#13;&#10;        &lt;Image src=&quot;assets/scenario_industrial.png&quot; style={{ width: 350, height: 197, objectFit: 'cover', borderRadius: 7, border: '1px solid rgba(107,200,209,0.20)' }} /&gt;&#13;&#10;        &lt;Text style={{ marginTop: 7, fontFamily: 'Microsoft YaHei', fontSize: 10.5, color: '#F2F7F8' }}&gt;07 工业控制网：SCADA / PLC&lt;/Text&gt;&#13;&#10;        &lt;Text style={{ marginTop: 2, fontFamily: 'Consolas', fontSize: 8.5, color: '#6BC8D1' }}&gt;TEACHING · 挑战&lt;/Text&gt;&#13;&#10;    &lt;/Box&gt;&#13;&#10;&#13;&#10;    &lt;Box style={{ position: 'absolute', left: 820, top: 142, width: 404 }}&gt;&#13;&#10;        &lt;Text style={{ fontFamily: 'Consolas', fontSize: 9.5, color: '#6BC8D1', letterSpacing: 1.2 }}&gt;THE OTHER THREE&lt;/Text&gt;&#13;&#10;        &lt;Box style={{ marginTop: 10, height: 78, borderTop: '1px solid rgba(242,247,248,0.10)' }}&gt;&#13;&#10;            &lt;Text style={{ marginTop: 10, fontFamily: 'Microsoft YaHei', fontSize: 12.5, fontWeight: 'bold', color: '#F2F7F8' }}&gt;02 外部访问与防火墙拦截&lt;/Text&gt;&#13;&#10;            &lt;Text style={{ marginTop: 3, fontFamily: 'Microsoft YaHei', fontSize: 9.8, color: 'rgba(242,247,248,0.48)', lineHeight: 1.55 }}&gt;入门 · 5 min · 边界显式放行与默认拒绝&lt;/Text&gt;&#13;&#10;        &lt;/Box&gt;&#13;&#10;        &lt;Box style={{ height: 78, borderTop: '1px solid rgba(242,247,248,0.10)' }}&gt;&#13;&#10;            &lt;Text style={{ marginTop: 10, fontFamily: 'Microsoft YaHei', fontSize: 12.5, fontWeight: 'bold', color: '#F2F7F8' }}&gt;03 网络分区防御实验&lt;/Text&gt;&#13;&#10;            &lt;Text style={{ marginTop: 3, fontFamily: 'Microsoft YaHei', fontSize: 9.8, color: 'rgba(242,247,248,0.48)', lineHeight: 1.55 }}&gt;进阶 · 6 min · VLAN 与区域边界&lt;/Text&gt;&#13;&#10;        &lt;/Box&gt;&#13;&#10;        &lt;Box style={{ height: 78, borderTop: '1px solid rgba(242,247,248,0.10)', borderBottom: '1px solid rgba(242,247,248,0.10)' }}&gt;&#13;&#10;            &lt;Text style={{ marginTop: 10, fontFamily: 'Microsoft YaHei', fontSize: 12.5, fontWeight: 'bold', color: '#F2F7F8' }}&gt;05 勒索风险与文件服务保护&lt;/Text&gt;&#13;&#10;            &lt;Text style={{ marginTop: 3, fontFamily: 'Microsoft YaHei', fontSize: 9.8, color: 'rgba(242,247,248,0.48)', lineHeight: 1.55 }}&gt;进阶 · 9 min · 终端防护与业务连续性&lt;/Text&gt;&#13;&#10;        &lt;/Box&gt;&#13;&#10;&#13;&#10;        &lt;Box style={{ marginTop: 22, flexDirection: 'row', justifyContent: 'space-between' }}&gt;&#13;&#10;            &lt;Box&gt;&#13;&#10;                &lt;Text style={{ fontFamily: 'Consolas', fontSize: 26, fontWeight: 'bold', color: '#F2F7F8' }}&gt;07&lt;/Text&gt;&#13;&#10;                &lt;Text style={{ marginTop: 2, fontFamily: 'Consolas', fontSize: 8, color: 'rgba(242,247,248,0.38)' }}&gt;SCENARIOS&lt;/Text&gt;&#13;&#10;            &lt;/Box&gt;&#13;&#10;            &lt;Box&gt;&#13;&#10;                &lt;Text style={{ fontFamily: 'Consolas', fontSize: 26, fontWeight: 'bold', color: '#F2F7F8' }}&gt;03&lt;/Text&gt;&#13;&#10;                &lt;Text style={{ marginTop: 2, fontFamily: 'Consolas', fontSize: 8, color: 'rgba(242,247,248,0.38)' }}&gt;LEVELS&lt;/Text&gt;&#13;&#10;            &lt;/Box&gt;&#13;&#10;            &lt;Box&gt;&#13;&#10;                &lt;Text style={{ fontFamily: 'Consolas', fontSize: 26, fontWeight: 'bold', color: '#6BC8D1' }}&gt;02&lt;/Text&gt;&#13;&#10;                &lt;Text style={{ marginTop: 2, fontFamily: 'Consolas', fontSize: 8, color: 'rgba(242,247,248,0.38)' }}&gt;MODES&lt;/Text&gt;&#13;&#10;            &lt;/Box&gt;&#13;&#10;        &lt;/Box&gt;&#13;&#10;&#13;&#10;        &lt;Box style={{ marginTop: 22, paddingTop: 12, borderTop: '1px solid rgba(242,247,248,0.10)' }}&gt;&#13;&#10;            &lt;Text style={{ fontFamily: 'Consolas', fontSize: 9, color: '#6BC8D1', letterSpacing: 1.2 }}&gt;COMMON BASE&lt;/Text&gt;&#13;&#10;            &lt;Text style={{ marginTop: 7, fontFamily: 'Microsoft YaHei', fontSize: 10.2, color: 'rgba(242,247,248,0.50)', lineHeight: 1.8 }}&gt;同一套拓扑与接口模型&lt;br /&gt;同一套路由与 First Match&lt;br /&gt;同一套事件、指标与挑战判定&lt;/Text&gt;&#13;&#10;        &lt;/Box&gt;&#13;&#10;    &lt;/Box&gt;&#13;&#10;&#13;&#10;    &lt;Box style={{ position: 'absolute', left: 56, top: 620, flexDirection: 'row', alignItems: 'center', gap: 10 }}&gt;&#13;&#10;        &lt;Box style={{ width: 20, height: 1, background: '#6BC8D1' }} /&gt;&#13;&#10;        &lt;Text style={{ fontFamily: 'Microsoft YaHei', fontSize: 10.5, color: 'rgba(242,247,248,0.46)' }}&gt;七个场景共用同一套拓扑、路由与策略引擎；差异来自配置，而不是七套写死的脚本。&lt;/Text&gt;&#13;&#10;    &lt;/Box&gt;&#13;&#10;&#13;&#10;    &lt;Box style={{ position: 'absolute', left: 56, top: 664, width: 1168, height: 1, background: 'rgba(242,247,248,0.10)' }} /&gt;&#13;&#10;    &lt;Text style={{ position: 'absolute', left: 56, top: 678, fontFamily: 'Consolas', fontSize: 10.5, color: 'rgba(242,247,248,0.40)', letterSpacing: 0.8 }}&gt;智御网络 · 三维网络安全策略交互验证平台&lt;/Text&gt;&#13;&#10;    &lt;Text style={{ position: 'absolute', right: 56, top: 678, fontFamily: 'Consolas', fontSize: 10.5, color: 'rgba(242,247,248,0.40)' }}&gt;26 / 2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8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771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APPENDIX 05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功能图集</a:t>
            </a:r>
            <a:endParaRPr/>
          </a:p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3305175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七个场景，七种网络结构</a:t>
            </a:r>
            <a:endParaRPr/>
          </a:p>
        </p:txBody>
      </p:sp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10115550" y="723900"/>
            <a:ext cx="1543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SEVEN SCENARIOS · ONE ENGINE</a:t>
            </a:r>
            <a:endParaRPr/>
          </a:p>
        </p:txBody>
      </p:sp>
      <p:sp>
        <p:nvSpPr>
          <p:cNvPr id="875" name=""/>
          <p:cNvSpPr/>
          <p:nvPr/>
        </p:nvSpPr>
        <p:spPr>
          <a:xfrm rot="0" flipH="0" flipV="0">
            <a:off x="533400" y="1352550"/>
            <a:ext cx="3333750" cy="1876425"/>
          </a:xfrm>
          <a:prstGeom prst="rect">
            <a:avLst/>
          </a:prstGeom>
          <a:ln w="12700">
            <a:solidFill>
              <a:srgbClr val="E78172">
                <a:alpha val="2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76" name=""/>
          <p:cNvPicPr>
            <a:picLocks noChangeAspect="1"/>
          </p:cNvPicPr>
          <p:nvPr/>
        </p:nvPicPr>
        <p:blipFill>
          <a:blip r:embed="rId2"/>
          <a:srcRect l="31" t="0" r="31" b="0"/>
          <a:stretch>
            <a:fillRect/>
          </a:stretch>
        </p:blipFill>
        <p:spPr>
          <a:xfrm rot="0" flipH="0" flipV="0">
            <a:off x="533400" y="1352550"/>
            <a:ext cx="3333750" cy="1876425"/>
          </a:xfrm>
          <a:prstGeom prst="roundRect">
            <a:avLst>
              <a:gd name="adj" fmla="val 3553"/>
            </a:avLst>
          </a:prstGeom>
          <a:ln/>
        </p:spPr>
      </p:pic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533400" y="3295650"/>
            <a:ext cx="33337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/>
                </a:solidFill>
                <a:latin typeface="Microsoft YaHei"/>
                <a:ea typeface="Microsoft YaHei"/>
              </a:rPr>
              <a:t>01 </a:t>
            </a:r>
            <a:r>
              <a:rPr lang="zh-CN" sz="788">
                <a:solidFill>
                  <a:srgbClr val="F2F7F8"/>
                </a:solidFill>
                <a:latin typeface="Microsoft YaHei"/>
                <a:ea typeface="Microsoft YaHei"/>
              </a:rPr>
              <a:t>终端失陷与横向传播</a:t>
            </a:r>
            <a:endParaRPr/>
          </a:p>
        </p:txBody>
      </p:sp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533400" y="3438525"/>
            <a:ext cx="3333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E78172"/>
                </a:solidFill>
                <a:latin typeface="Consolas"/>
                <a:ea typeface="Consolas"/>
              </a:rPr>
              <a:t>ATTACK_STATE · </a:t>
            </a:r>
            <a:r>
              <a:rPr lang="zh-CN" sz="638">
                <a:solidFill>
                  <a:srgbClr val="E78172"/>
                </a:solidFill>
                <a:latin typeface="Consolas"/>
                <a:ea typeface="Consolas"/>
              </a:rPr>
              <a:t>核心实验</a:t>
            </a:r>
            <a:endParaRPr/>
          </a:p>
        </p:txBody>
      </p:sp>
      <p:sp>
        <p:nvSpPr>
          <p:cNvPr id="879" name=""/>
          <p:cNvSpPr/>
          <p:nvPr/>
        </p:nvSpPr>
        <p:spPr>
          <a:xfrm rot="0" flipH="0" flipV="0">
            <a:off x="4057650" y="1352550"/>
            <a:ext cx="3333750" cy="1876425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80" name=""/>
          <p:cNvPicPr>
            <a:picLocks noChangeAspect="1"/>
          </p:cNvPicPr>
          <p:nvPr/>
        </p:nvPicPr>
        <p:blipFill>
          <a:blip r:embed="rId3"/>
          <a:srcRect l="31" t="0" r="31" b="0"/>
          <a:stretch>
            <a:fillRect/>
          </a:stretch>
        </p:blipFill>
        <p:spPr>
          <a:xfrm rot="0" flipH="0" flipV="0">
            <a:off x="4057650" y="1352550"/>
            <a:ext cx="3333750" cy="1876425"/>
          </a:xfrm>
          <a:prstGeom prst="roundRect">
            <a:avLst>
              <a:gd name="adj" fmla="val 3553"/>
            </a:avLst>
          </a:prstGeom>
          <a:ln/>
        </p:spPr>
      </p:pic>
      <p:sp>
        <p:nvSpPr>
          <p:cNvPr id="881" name="" descr="{&quot;isTemplate&quot;:true,&quot;type&quot;:&quot;text&quot;}"/>
          <p:cNvSpPr txBox="1"/>
          <p:nvPr/>
        </p:nvSpPr>
        <p:spPr>
          <a:xfrm rot="0" flipH="0" flipV="0">
            <a:off x="4057650" y="3295650"/>
            <a:ext cx="33337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/>
                </a:solidFill>
                <a:latin typeface="Microsoft YaHei"/>
                <a:ea typeface="Microsoft YaHei"/>
              </a:rPr>
              <a:t>06 </a:t>
            </a:r>
            <a:r>
              <a:rPr lang="zh-CN" sz="788">
                <a:solidFill>
                  <a:srgbClr val="F2F7F8"/>
                </a:solidFill>
                <a:latin typeface="Microsoft YaHei"/>
                <a:ea typeface="Microsoft YaHei"/>
              </a:rPr>
              <a:t>零信任微隔离：主机对主机</a:t>
            </a:r>
            <a:endParaRPr/>
          </a:p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4057650" y="3438525"/>
            <a:ext cx="3333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6BC8D1"/>
                </a:solidFill>
                <a:latin typeface="Consolas"/>
                <a:ea typeface="Consolas"/>
              </a:rPr>
              <a:t>TEACHING · </a:t>
            </a:r>
            <a:r>
              <a:rPr lang="zh-CN" sz="638">
                <a:solidFill>
                  <a:srgbClr val="6BC8D1"/>
                </a:solidFill>
                <a:latin typeface="Consolas"/>
                <a:ea typeface="Consolas"/>
              </a:rPr>
              <a:t>挑战</a:t>
            </a:r>
            <a:endParaRPr/>
          </a:p>
        </p:txBody>
      </p:sp>
      <p:sp>
        <p:nvSpPr>
          <p:cNvPr id="883" name=""/>
          <p:cNvSpPr/>
          <p:nvPr/>
        </p:nvSpPr>
        <p:spPr>
          <a:xfrm rot="0" flipH="0" flipV="0">
            <a:off x="533400" y="3638550"/>
            <a:ext cx="3333750" cy="1876425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84" name=""/>
          <p:cNvPicPr>
            <a:picLocks noChangeAspect="1"/>
          </p:cNvPicPr>
          <p:nvPr/>
        </p:nvPicPr>
        <p:blipFill>
          <a:blip r:embed="rId4"/>
          <a:srcRect l="31" t="0" r="31" b="0"/>
          <a:stretch>
            <a:fillRect/>
          </a:stretch>
        </p:blipFill>
        <p:spPr>
          <a:xfrm rot="0" flipH="0" flipV="0">
            <a:off x="533400" y="3638550"/>
            <a:ext cx="3333750" cy="1876425"/>
          </a:xfrm>
          <a:prstGeom prst="roundRect">
            <a:avLst>
              <a:gd name="adj" fmla="val 3553"/>
            </a:avLst>
          </a:prstGeom>
          <a:ln/>
        </p:spPr>
      </p:pic>
      <p:sp>
        <p:nvSpPr>
          <p:cNvPr id="885" name="" descr="{&quot;isTemplate&quot;:true,&quot;type&quot;:&quot;text&quot;}"/>
          <p:cNvSpPr txBox="1"/>
          <p:nvPr/>
        </p:nvSpPr>
        <p:spPr>
          <a:xfrm rot="0" flipH="0" flipV="0">
            <a:off x="533400" y="5581650"/>
            <a:ext cx="33337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/>
                </a:solidFill>
                <a:latin typeface="Microsoft YaHei"/>
                <a:ea typeface="Microsoft YaHei"/>
              </a:rPr>
              <a:t>04 </a:t>
            </a:r>
            <a:r>
              <a:rPr lang="zh-CN" sz="788">
                <a:solidFill>
                  <a:srgbClr val="F2F7F8"/>
                </a:solidFill>
                <a:latin typeface="Microsoft YaHei"/>
                <a:ea typeface="Microsoft YaHei"/>
              </a:rPr>
              <a:t>供应链入口传播路径</a:t>
            </a:r>
            <a:endParaRPr/>
          </a:p>
        </p:txBody>
      </p:sp>
      <p:sp>
        <p:nvSpPr>
          <p:cNvPr id="886" name="" descr="{&quot;isTemplate&quot;:true,&quot;type&quot;:&quot;text&quot;}"/>
          <p:cNvSpPr txBox="1"/>
          <p:nvPr/>
        </p:nvSpPr>
        <p:spPr>
          <a:xfrm rot="0" flipH="0" flipV="0">
            <a:off x="533400" y="5724525"/>
            <a:ext cx="3333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6BC8D1"/>
                </a:solidFill>
                <a:latin typeface="Consolas"/>
                <a:ea typeface="Consolas"/>
              </a:rPr>
              <a:t>TEACHING · </a:t>
            </a:r>
            <a:r>
              <a:rPr lang="zh-CN" sz="638">
                <a:solidFill>
                  <a:srgbClr val="6BC8D1"/>
                </a:solidFill>
                <a:latin typeface="Consolas"/>
                <a:ea typeface="Consolas"/>
              </a:rPr>
              <a:t>挑战</a:t>
            </a:r>
            <a:endParaRPr/>
          </a:p>
        </p:txBody>
      </p:sp>
      <p:sp>
        <p:nvSpPr>
          <p:cNvPr id="887" name=""/>
          <p:cNvSpPr/>
          <p:nvPr/>
        </p:nvSpPr>
        <p:spPr>
          <a:xfrm rot="0" flipH="0" flipV="0">
            <a:off x="4057650" y="3638550"/>
            <a:ext cx="3333750" cy="1876425"/>
          </a:xfrm>
          <a:prstGeom prst="rect">
            <a:avLst/>
          </a:prstGeom>
          <a:ln w="12700">
            <a:solidFill>
              <a:srgbClr val="6BC8D1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88" name=""/>
          <p:cNvPicPr>
            <a:picLocks noChangeAspect="1"/>
          </p:cNvPicPr>
          <p:nvPr/>
        </p:nvPicPr>
        <p:blipFill>
          <a:blip r:embed="rId5"/>
          <a:srcRect l="31" t="0" r="31" b="0"/>
          <a:stretch>
            <a:fillRect/>
          </a:stretch>
        </p:blipFill>
        <p:spPr>
          <a:xfrm rot="0" flipH="0" flipV="0">
            <a:off x="4057650" y="3638550"/>
            <a:ext cx="3333750" cy="1876425"/>
          </a:xfrm>
          <a:prstGeom prst="roundRect">
            <a:avLst>
              <a:gd name="adj" fmla="val 3553"/>
            </a:avLst>
          </a:prstGeom>
          <a:ln/>
        </p:spPr>
      </p:pic>
      <p:sp>
        <p:nvSpPr>
          <p:cNvPr id="889" name="" descr="{&quot;isTemplate&quot;:true,&quot;type&quot;:&quot;text&quot;}"/>
          <p:cNvSpPr txBox="1"/>
          <p:nvPr/>
        </p:nvSpPr>
        <p:spPr>
          <a:xfrm rot="0" flipH="0" flipV="0">
            <a:off x="4057650" y="5581650"/>
            <a:ext cx="33337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/>
                </a:solidFill>
                <a:latin typeface="Microsoft YaHei"/>
                <a:ea typeface="Microsoft YaHei"/>
              </a:rPr>
              <a:t>07 </a:t>
            </a:r>
            <a:r>
              <a:rPr lang="zh-CN" sz="788">
                <a:solidFill>
                  <a:srgbClr val="F2F7F8"/>
                </a:solidFill>
                <a:latin typeface="Microsoft YaHei"/>
                <a:ea typeface="Microsoft YaHei"/>
              </a:rPr>
              <a:t>工业控制网：</a:t>
            </a:r>
            <a:r>
              <a:rPr lang="en-US" sz="788">
                <a:solidFill>
                  <a:srgbClr val="F2F7F8"/>
                </a:solidFill>
                <a:latin typeface="Microsoft YaHei"/>
                <a:ea typeface="Microsoft YaHei"/>
              </a:rPr>
              <a:t>SCADA / PLC</a:t>
            </a:r>
            <a:endParaRPr/>
          </a:p>
        </p:txBody>
      </p:sp>
      <p:sp>
        <p:nvSpPr>
          <p:cNvPr id="890" name="" descr="{&quot;isTemplate&quot;:true,&quot;type&quot;:&quot;text&quot;}"/>
          <p:cNvSpPr txBox="1"/>
          <p:nvPr/>
        </p:nvSpPr>
        <p:spPr>
          <a:xfrm rot="0" flipH="0" flipV="0">
            <a:off x="4057650" y="5724525"/>
            <a:ext cx="33337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8">
                <a:solidFill>
                  <a:srgbClr val="6BC8D1"/>
                </a:solidFill>
                <a:latin typeface="Consolas"/>
                <a:ea typeface="Consolas"/>
              </a:rPr>
              <a:t>TEACHING · </a:t>
            </a:r>
            <a:r>
              <a:rPr lang="zh-CN" sz="638">
                <a:solidFill>
                  <a:srgbClr val="6BC8D1"/>
                </a:solidFill>
                <a:latin typeface="Consolas"/>
                <a:ea typeface="Consolas"/>
              </a:rPr>
              <a:t>挑战</a:t>
            </a:r>
            <a:endParaRPr/>
          </a:p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7810500" y="1352550"/>
            <a:ext cx="38481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90">
                <a:solidFill>
                  <a:srgbClr val="6BC8D1"/>
                </a:solidFill>
                <a:latin typeface="Consolas"/>
                <a:ea typeface="Consolas"/>
              </a:rPr>
              <a:t>THE OTHER THREE</a:t>
            </a:r>
            <a:endParaRPr/>
          </a:p>
        </p:txBody>
      </p:sp>
      <p:sp>
        <p:nvSpPr>
          <p:cNvPr id="892" name=""/>
          <p:cNvSpPr/>
          <p:nvPr/>
        </p:nvSpPr>
        <p:spPr>
          <a:xfrm rot="0" flipH="0" flipV="0">
            <a:off x="7810500" y="1562100"/>
            <a:ext cx="3848100" cy="742950"/>
          </a:xfrm>
          <a:custGeom>
            <a:pathLst>
              <a:path w="404" h="78">
                <a:moveTo>
                  <a:pt x="0" y="0"/>
                </a:moveTo>
                <a:lnTo>
                  <a:pt x="404" y="0"/>
                </a:lnTo>
                <a:lnTo>
                  <a:pt x="40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93" name="" descr="{&quot;isTemplate&quot;:true,&quot;type&quot;:&quot;text&quot;}"/>
          <p:cNvSpPr txBox="1"/>
          <p:nvPr/>
        </p:nvSpPr>
        <p:spPr>
          <a:xfrm rot="0" flipH="0" flipV="0">
            <a:off x="7810500" y="1666875"/>
            <a:ext cx="3848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2F7F8"/>
                </a:solidFill>
                <a:latin typeface="Microsoft YaHei"/>
                <a:ea typeface="Microsoft YaHei"/>
              </a:rPr>
              <a:t>02 </a:t>
            </a:r>
            <a:r>
              <a:rPr lang="zh-CN" sz="938" b="1">
                <a:solidFill>
                  <a:srgbClr val="F2F7F8"/>
                </a:solidFill>
                <a:latin typeface="Microsoft YaHei"/>
                <a:ea typeface="Microsoft YaHei"/>
              </a:rPr>
              <a:t>外部访问与防火墙拦截</a:t>
            </a:r>
            <a:endParaRPr/>
          </a:p>
        </p:txBody>
      </p:sp>
      <p:sp>
        <p:nvSpPr>
          <p:cNvPr id="894" name="" descr="{&quot;isTemplate&quot;:true,&quot;type&quot;:&quot;text&quot;}"/>
          <p:cNvSpPr txBox="1"/>
          <p:nvPr/>
        </p:nvSpPr>
        <p:spPr>
          <a:xfrm rot="0" flipH="0" flipV="0">
            <a:off x="7810500" y="1838325"/>
            <a:ext cx="3848100" cy="1809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735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入门</a:t>
            </a:r>
            <a:r>
              <a:rPr lang="en-US" sz="735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· 5 min · </a:t>
            </a:r>
            <a:r>
              <a:rPr lang="zh-CN" sz="735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边界显式放行与默认拒绝</a:t>
            </a:r>
            <a:endParaRPr/>
          </a:p>
        </p:txBody>
      </p:sp>
      <p:sp>
        <p:nvSpPr>
          <p:cNvPr id="895" name=""/>
          <p:cNvSpPr/>
          <p:nvPr/>
        </p:nvSpPr>
        <p:spPr>
          <a:xfrm rot="0" flipH="0" flipV="0">
            <a:off x="7810500" y="2305050"/>
            <a:ext cx="3848100" cy="742950"/>
          </a:xfrm>
          <a:custGeom>
            <a:pathLst>
              <a:path w="404" h="78">
                <a:moveTo>
                  <a:pt x="0" y="0"/>
                </a:moveTo>
                <a:lnTo>
                  <a:pt x="404" y="0"/>
                </a:lnTo>
                <a:lnTo>
                  <a:pt x="40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7810500" y="2409825"/>
            <a:ext cx="3848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2F7F8"/>
                </a:solidFill>
                <a:latin typeface="Microsoft YaHei"/>
                <a:ea typeface="Microsoft YaHei"/>
              </a:rPr>
              <a:t>03 </a:t>
            </a:r>
            <a:r>
              <a:rPr lang="zh-CN" sz="938" b="1">
                <a:solidFill>
                  <a:srgbClr val="F2F7F8"/>
                </a:solidFill>
                <a:latin typeface="Microsoft YaHei"/>
                <a:ea typeface="Microsoft YaHei"/>
              </a:rPr>
              <a:t>网络分区防御实验</a:t>
            </a:r>
            <a:endParaRPr/>
          </a:p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7810500" y="2581275"/>
            <a:ext cx="3848100" cy="1809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735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进阶</a:t>
            </a:r>
            <a:r>
              <a:rPr lang="en-US" sz="735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· 6 min · VLAN </a:t>
            </a:r>
            <a:r>
              <a:rPr lang="zh-CN" sz="735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与区域边界</a:t>
            </a:r>
            <a:endParaRPr/>
          </a:p>
        </p:txBody>
      </p:sp>
      <p:sp>
        <p:nvSpPr>
          <p:cNvPr id="898" name=""/>
          <p:cNvSpPr/>
          <p:nvPr/>
        </p:nvSpPr>
        <p:spPr>
          <a:xfrm rot="0" flipH="0" flipV="0">
            <a:off x="7810500" y="3048000"/>
            <a:ext cx="3848100" cy="742950"/>
          </a:xfrm>
          <a:custGeom>
            <a:pathLst>
              <a:path w="404" h="78">
                <a:moveTo>
                  <a:pt x="0" y="0"/>
                </a:moveTo>
                <a:lnTo>
                  <a:pt x="404" y="0"/>
                </a:lnTo>
                <a:lnTo>
                  <a:pt x="40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899" name=""/>
          <p:cNvSpPr/>
          <p:nvPr/>
        </p:nvSpPr>
        <p:spPr>
          <a:xfrm rot="0" flipH="0" flipV="0">
            <a:off x="7810500" y="3048000"/>
            <a:ext cx="3848100" cy="742950"/>
          </a:xfrm>
          <a:custGeom>
            <a:pathLst>
              <a:path w="404" h="78">
                <a:moveTo>
                  <a:pt x="0" y="77"/>
                </a:moveTo>
                <a:lnTo>
                  <a:pt x="404" y="77"/>
                </a:lnTo>
                <a:lnTo>
                  <a:pt x="404" y="78"/>
                </a:lnTo>
                <a:lnTo>
                  <a:pt x="0" y="78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7810500" y="3152775"/>
            <a:ext cx="3848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F2F7F8"/>
                </a:solidFill>
                <a:latin typeface="Microsoft YaHei"/>
                <a:ea typeface="Microsoft YaHei"/>
              </a:rPr>
              <a:t>05 </a:t>
            </a:r>
            <a:r>
              <a:rPr lang="zh-CN" sz="938" b="1">
                <a:solidFill>
                  <a:srgbClr val="F2F7F8"/>
                </a:solidFill>
                <a:latin typeface="Microsoft YaHei"/>
                <a:ea typeface="Microsoft YaHei"/>
              </a:rPr>
              <a:t>勒索风险与文件服务保护</a:t>
            </a:r>
            <a:endParaRPr/>
          </a:p>
        </p:txBody>
      </p:sp>
      <p:sp>
        <p:nvSpPr>
          <p:cNvPr id="901" name="" descr="{&quot;isTemplate&quot;:true,&quot;type&quot;:&quot;text&quot;}"/>
          <p:cNvSpPr txBox="1"/>
          <p:nvPr/>
        </p:nvSpPr>
        <p:spPr>
          <a:xfrm rot="0" flipH="0" flipV="0">
            <a:off x="7810500" y="3324225"/>
            <a:ext cx="3848100" cy="1809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735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进阶</a:t>
            </a:r>
            <a:r>
              <a:rPr lang="en-US" sz="735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 · 9 min · </a:t>
            </a:r>
            <a:r>
              <a:rPr lang="zh-CN" sz="735">
                <a:solidFill>
                  <a:srgbClr val="F2F7F8">
                    <a:alpha val="48000"/>
                  </a:srgbClr>
                </a:solidFill>
                <a:latin typeface="Microsoft YaHei"/>
                <a:ea typeface="Microsoft YaHei"/>
              </a:rPr>
              <a:t>终端防护与业务连续性</a:t>
            </a:r>
            <a:endParaRPr/>
          </a:p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7810500" y="4000500"/>
            <a:ext cx="381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2F7F8"/>
                </a:solidFill>
                <a:latin typeface="Consolas"/>
                <a:ea typeface="Consolas"/>
              </a:rPr>
              <a:t>07</a:t>
            </a:r>
            <a:endParaRPr/>
          </a:p>
        </p:txBody>
      </p:sp>
      <p:sp>
        <p:nvSpPr>
          <p:cNvPr id="903" name="" descr="{&quot;isTemplate&quot;:true,&quot;type&quot;:&quot;text&quot;}"/>
          <p:cNvSpPr txBox="1"/>
          <p:nvPr/>
        </p:nvSpPr>
        <p:spPr>
          <a:xfrm rot="0" flipH="0" flipV="0">
            <a:off x="7810500" y="4324350"/>
            <a:ext cx="381000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SCENARIOS</a:t>
            </a:r>
            <a:endParaRPr/>
          </a:p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9648825" y="4000500"/>
            <a:ext cx="2762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2F7F8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905" name="" descr="{&quot;isTemplate&quot;:true,&quot;type&quot;:&quot;text&quot;}"/>
          <p:cNvSpPr txBox="1"/>
          <p:nvPr/>
        </p:nvSpPr>
        <p:spPr>
          <a:xfrm rot="0" flipH="0" flipV="0">
            <a:off x="9648825" y="4324350"/>
            <a:ext cx="276225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LEVELS</a:t>
            </a:r>
            <a:endParaRPr/>
          </a:p>
        </p:txBody>
      </p:sp>
      <p:sp>
        <p:nvSpPr>
          <p:cNvPr id="906" name="" descr="{&quot;isTemplate&quot;:true,&quot;type&quot;:&quot;text&quot;}"/>
          <p:cNvSpPr txBox="1"/>
          <p:nvPr/>
        </p:nvSpPr>
        <p:spPr>
          <a:xfrm rot="0" flipH="0" flipV="0">
            <a:off x="11382375" y="4000500"/>
            <a:ext cx="2762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6BC8D1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11382375" y="4324350"/>
            <a:ext cx="276225" cy="952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00">
                <a:solidFill>
                  <a:srgbClr val="F2F7F8">
                    <a:alpha val="38000"/>
                  </a:srgbClr>
                </a:solidFill>
                <a:latin typeface="Consolas"/>
                <a:ea typeface="Consolas"/>
              </a:rPr>
              <a:t>MODES</a:t>
            </a:r>
            <a:endParaRPr/>
          </a:p>
        </p:txBody>
      </p:sp>
      <p:sp>
        <p:nvSpPr>
          <p:cNvPr id="908" name=""/>
          <p:cNvSpPr/>
          <p:nvPr/>
        </p:nvSpPr>
        <p:spPr>
          <a:xfrm rot="0" flipH="0" flipV="0">
            <a:off x="7810500" y="4629150"/>
            <a:ext cx="3848100" cy="942975"/>
          </a:xfrm>
          <a:custGeom>
            <a:pathLst>
              <a:path w="404" h="99">
                <a:moveTo>
                  <a:pt x="0" y="0"/>
                </a:moveTo>
                <a:lnTo>
                  <a:pt x="404" y="0"/>
                </a:lnTo>
                <a:lnTo>
                  <a:pt x="404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09" name="" descr="{&quot;isTemplate&quot;:true,&quot;type&quot;:&quot;text&quot;}"/>
          <p:cNvSpPr txBox="1"/>
          <p:nvPr/>
        </p:nvSpPr>
        <p:spPr>
          <a:xfrm rot="0" flipH="0" flipV="0">
            <a:off x="7810500" y="4752975"/>
            <a:ext cx="384810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spc="90">
                <a:solidFill>
                  <a:srgbClr val="6BC8D1"/>
                </a:solidFill>
                <a:latin typeface="Consolas"/>
                <a:ea typeface="Consolas"/>
              </a:rPr>
              <a:t>COMMON BASE</a:t>
            </a:r>
            <a:endParaRPr/>
          </a:p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7810500" y="4924425"/>
            <a:ext cx="3848100" cy="6381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765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同一套拓扑与接口模型</a:t>
            </a:r>
            <a:endParaRPr/>
          </a:p>
          <a:p>
            <a:pPr>
              <a:lnSpc>
                <a:spcPct val="180000"/>
              </a:lnSpc>
            </a:pPr>
            <a:r>
              <a:rPr lang="zh-CN" sz="765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同一套路由与</a:t>
            </a:r>
            <a:r>
              <a:rPr lang="en-US" sz="765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 First Match</a:t>
            </a:r>
            <a:endParaRPr/>
          </a:p>
          <a:p>
            <a:pPr>
              <a:lnSpc>
                <a:spcPct val="180000"/>
              </a:lnSpc>
            </a:pPr>
            <a:r>
              <a:rPr lang="zh-CN" sz="765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同一套事件、指标与挑战判定</a:t>
            </a:r>
            <a:endParaRPr/>
          </a:p>
        </p:txBody>
      </p:sp>
      <p:sp>
        <p:nvSpPr>
          <p:cNvPr id="911" name=""/>
          <p:cNvSpPr/>
          <p:nvPr/>
        </p:nvSpPr>
        <p:spPr>
          <a:xfrm rot="0" flipH="0" flipV="0">
            <a:off x="533400" y="5962650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912" name="" descr="{&quot;isTemplate&quot;:true,&quot;type&quot;:&quot;text&quot;}"/>
          <p:cNvSpPr txBox="1"/>
          <p:nvPr/>
        </p:nvSpPr>
        <p:spPr>
          <a:xfrm rot="0" flipH="0" flipV="0">
            <a:off x="819150" y="5905500"/>
            <a:ext cx="38004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6000"/>
                  </a:srgbClr>
                </a:solidFill>
                <a:latin typeface="Microsoft YaHei"/>
                <a:ea typeface="Microsoft YaHei"/>
              </a:rPr>
              <a:t>七个场景共用同一套拓扑、路由与策略引擎；差异来自配置，而不是七套写死的脚本。</a:t>
            </a:r>
            <a:endParaRPr/>
          </a:p>
        </p:txBody>
      </p:sp>
      <p:sp>
        <p:nvSpPr>
          <p:cNvPr id="913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915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26 / 28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916" name="" descr="&lt;Slide style={{ width: 1280, height: 720, background: '#07111B', padding: 0, position: 'relative', overflow: 'hidden' }}&gt;&#10;    &lt;svg width={1280} height={720} viewBox='0 0 1280 720' style={{ position: 'absolute', left: 0, top: 0 }}&gt;&#10;        &lt;g stroke='rgba(242,247,248,0.022)' strokeWidth='1'&gt;&#10;            &lt;path d='M0 96H1280M0 192H1280M0 288H1280M0 384H1280M0 480H1280M0 576H1280M0 672H1280' /&gt;&#10;        &lt;/g&gt;&#10;    &lt;/svg&gt;&#10;&#10;    &lt;Box style={{ position: 'absolute', left: 56, top: 38 }}&gt;&#10;        &lt;Text style={{ fontFamily: 'Consolas', fontSize: 11, color: '#6BC8D1', letterSpacing: 1.8 }}&gt;APPENDIX 06 / 功能图集&lt;/Text&gt;&#10;    &lt;/Box&gt;&#10;    &lt;Text style={{ position: 'absolute', left: 56, top: 62, fontFamily: 'Microsoft YaHei', fontSize: 31, fontWeight: 'bold', color: '#F2F7F8', letterSpacing: 0.5 }}&gt;演示、分析与复现：结果不只留在实验室&lt;/Text&gt;&#10;    &lt;Text style={{ position: 'absolute', right: 56, top: 76, fontFamily: 'Consolas', fontSize: 10.5, color: 'rgba(242,247,248,0.42)' }}&gt;PRESENT · ANALYZE · REPRODUCE&lt;/Text&gt;&#10;&#10;    &lt;Box style={{ position: 'absolute', left: 56, top: 142, width: 370 }}&gt;&#10;        &lt;Image src=&quot;assets/appendix_presentation.png&quot; style={{ width: 370, height: 208, objectFit: 'cover', borderRadius: 8, border: '1px solid rgba(107,200,209,0.18)' }} /&gt;&#10;        &lt;Text style={{ marginTop: 8, fontFamily: 'Consolas', fontSize: 9, color: '#6BC8D1' }}&gt;01 / PRESENTATION&lt;/Text&gt;&#10;        &lt;Text style={{ marginTop: 3, fontFamily: 'Microsoft YaHei', fontSize: 11, color: 'rgba(242,247,248,0.58)' }}&gt;演示模式 · 收起编辑控件，放大拓扑&lt;/Text&gt;&#10;    &lt;/Box&gt;&#10;&#10;    &lt;Box style={{ position: 'absolute', left: 446, top: 142, width: 370 }}&gt;&#10;        &lt;Image src=&quot;assets/appendix_analysis.png&quot; style={{ width: 370, height: 208, objectFit: 'cover', borderRadius: 8, border: '1px solid rgba(107,200,209,0.18)' }} /&gt;&#10;        &lt;Text style={{ marginTop: 8, fontFamily: 'Consolas', fontSize: 9, color: '#6BC8D1' }}&gt;02 / ANALYSIS&lt;/Text&gt;&#10;        &lt;Text style={{ marginTop: 3, fontFamily: 'Microsoft YaHei', fontSize: 11, color: 'rgba(242,247,248,0.58)' }}&gt;实验分析 · 结论、图表、关键事件&lt;/Text&gt;&#10;    &lt;/Box&gt;&#10;&#10;    &lt;Box style={{ position: 'absolute', left: 836, top: 142, width: 370 }}&gt;&#10;        &lt;Image src=&quot;assets/appendix_compare.png&quot; style={{ width: 370, height: 208, objectFit: 'cover', borderRadius: 8, border: '1px solid rgba(107,200,209,0.18)' }} /&gt;&#10;        &lt;Text style={{ marginTop: 8, fontFamily: 'Consolas', fontSize: 9, color: '#6BC8D1' }}&gt;03 / A-B COMPARE&lt;/Text&gt;&#10;        &lt;Text style={{ marginTop: 3, fontFamily: 'Microsoft YaHei', fontSize: 11, color: 'rgba(242,247,248,0.58)' }}&gt;方案对比 · 同一初始条件，两种配置&lt;/Text&gt;&#10;    &lt;/Box&gt;&#10;&#10;    &lt;Box style={{ position: 'absolute', left: 56, top: 412, width: 370, paddingTop: 14, borderTop: '1px solid rgba(242,247,248,0.10)' }}&gt;&#10;        &lt;Text style={{ fontFamily: 'Microsoft YaHei', fontSize: 14, fontWeight: 'bold', color: '#F2F7F8' }}&gt;课堂投屏&lt;/Text&gt;&#10;        &lt;Text style={{ marginTop: 6, fontFamily: 'Microsoft YaHei', fontSize: 10.2, color: 'rgba(242,247,248,0.52)', lineHeight: 1.7 }}&gt;演示模式隐藏编辑入口、放大拓扑；讲解时只保留场景、事件和结果。&lt;/Text&gt;&#10;    &lt;/Box&gt;&#10;    &lt;Box style={{ position: 'absolute', left: 446, top: 412, width: 370, paddingTop: 14, borderTop: '1px solid rgba(242,247,248,0.10)' }}&gt;&#10;        &lt;Text style={{ fontFamily: 'Microsoft YaHei', fontSize: 14, fontWeight: 'bold', color: '#F2F7F8' }}&gt;结果回看&lt;/Text&gt;&#10;        &lt;Text style={{ marginTop: 6, fontFamily: 'Microsoft YaHei', fontSize: 10.2, color: 'rgba(242,247,248,0.52)', lineHeight: 1.7 }}&gt;关键目标、业务可达、代表链与事件记录同页呈现；报告一键打开打印。&lt;/Text&gt;&#10;    &lt;/Box&gt;&#10;    &lt;Box style={{ position: 'absolute', left: 836, top: 412, width: 370, paddingTop: 14, borderTop: '1px solid rgba(242,247,248,0.10)' }}&gt;&#10;        &lt;Text style={{ fontFamily: 'Microsoft YaHei', fontSize: 14, fontWeight: 'bold', color: '#F2F7F8' }}&gt;带走结果&lt;/Text&gt;&#10;        &lt;Text style={{ marginTop: 6, fontFamily: 'Microsoft YaHei', fontSize: 10.2, color: 'rgba(242,247,248,0.52)', lineHeight: 1.7 }}&gt;复制复现链接、导出场景 JSON；对方打开后仍是可交互、可重算的沙盘。&lt;/Text&gt;&#10;    &lt;/Box&gt;&#10;&#10;    &lt;Box style={{ position: 'absolute', left: 56, top: 560, width: 1168, flexDirection: 'row', gap: 10 }}&gt;&#10;        &lt;Box style={{ paddingLeft: 12, paddingRight: 12, paddingTop: 7, paddingBottom: 7, border: '1px solid rgba(107,200,209,0.24)', borderRadius: 4 }}&gt;&#10;            &lt;Text style={{ fontFamily: 'Microsoft YaHei', fontSize: 10.5, color: '#6BC8D1' }}&gt;演示模式&lt;/Text&gt;&#10;        &lt;/Box&gt;&#10;        &lt;Box style={{ paddingLeft: 12, paddingRight: 12, paddingTop: 7, paddingBottom: 7, border: '1px solid rgba(242,247,248,0.12)', borderRadius: 4 }}&gt;&#10;            &lt;Text style={{ fontFamily: 'Microsoft YaHei', fontSize: 10.5, color: 'rgba(242,247,248,0.58)' }}&gt;实验报告&lt;/Text&gt;&#10;        &lt;/Box&gt;&#10;        &lt;Box style={{ paddingLeft: 12, paddingRight: 12, paddingTop: 7, paddingBottom: 7, border: '1px solid rgba(242,247,248,0.12)', borderRadius: 4 }}&gt;&#10;            &lt;Text style={{ fontFamily: 'Microsoft YaHei', fontSize: 10.5, color: 'rgba(242,247,248,0.58)' }}&gt;复现链接&lt;/Text&gt;&#10;        &lt;/Box&gt;&#10;        &lt;Box style={{ paddingLeft: 12, paddingRight: 12, paddingTop: 7, paddingBottom: 7, border: '1px solid rgba(242,247,248,0.12)', borderRadius: 4 }}&gt;&#10;            &lt;Text style={{ fontFamily: 'Microsoft YaHei', fontSize: 10.5, color: 'rgba(242,247,248,0.58)' }}&gt;场景 JSON 导入 / 导出&lt;/Text&gt;&#10;        &lt;/Box&gt;&#10;        &lt;Box style={{ paddingLeft: 12, paddingRight: 12, paddingTop: 7, paddingBottom: 7, border: '1px solid rgba(242,247,248,0.12)', borderRadius: 4 }}&gt;&#10;            &lt;Text style={{ fontFamily: 'Microsoft YaHei', fontSize: 10.5, color: 'rgba(242,247,248,0.58)' }}&gt;恢复默认&lt;/Text&gt;&#10;        &lt;/Box&gt;&#10;    &lt;/Box&gt;&#10;&#10;    &lt;Box style={{ position: 'absolute', left: 56, top: 620, flexDirection: 'row', alignItems: 'center', gap: 10 }}&gt;&#10;        &lt;Box style={{ width: 20, height: 1, background: '#6BC8D1' }} /&gt;&#10;        &lt;Text style={{ fontFamily: 'Microsoft YaHei', fontSize: 10.5, color: 'rgba(242,247,248,0.44)' }}&gt;分享的是配置，不是截图；对方打开链接后仍能改策略、重新验证。&lt;/Text&gt;&#10;    &lt;/Box&gt;&#10;&#10;    &lt;Box style={{ position: 'absolute', left: 56, top: 664, width: 1168, height: 1, background: 'rgba(242,247,248,0.10)' }} /&gt;&#10;    &lt;Text style={{ position: 'absolute', left: 56, top: 678, fontFamily: 'Consolas', fontSize: 10.5, color: 'rgba(242,247,248,0.40)', letterSpacing: 0.8 }}&gt;智御网络 · 三维网络安全策略交互验证平台&lt;/Text&gt;&#10;    &lt;Text style={{ position: 'absolute', right: 56, top: 678, fontFamily: 'Consolas', fontSize: 10.5, color: 'rgba(242,247,248,0.40)' }}&gt;27 / 28&lt;/Text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9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919" name="" descr="{&quot;isTemplate&quot;:true,&quot;type&quot;:&quot;text&quot;}"/>
          <p:cNvSpPr txBox="1"/>
          <p:nvPr/>
        </p:nvSpPr>
        <p:spPr>
          <a:xfrm rot="0" flipH="0" flipV="0">
            <a:off x="533400" y="361950"/>
            <a:ext cx="1771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35">
                <a:solidFill>
                  <a:srgbClr val="6BC8D1"/>
                </a:solidFill>
                <a:latin typeface="Consolas"/>
                <a:ea typeface="Consolas"/>
              </a:rPr>
              <a:t>APPENDIX 06 / </a:t>
            </a:r>
            <a:r>
              <a:rPr lang="zh-CN" sz="825" spc="135">
                <a:solidFill>
                  <a:srgbClr val="6BC8D1"/>
                </a:solidFill>
                <a:latin typeface="Consolas"/>
                <a:ea typeface="Consolas"/>
              </a:rPr>
              <a:t>功能图集</a:t>
            </a:r>
            <a:endParaRPr/>
          </a:p>
        </p:txBody>
      </p:sp>
      <p:sp>
        <p:nvSpPr>
          <p:cNvPr id="920" name="" descr="{&quot;isTemplate&quot;:true,&quot;type&quot;:&quot;text&quot;}"/>
          <p:cNvSpPr txBox="1"/>
          <p:nvPr/>
        </p:nvSpPr>
        <p:spPr>
          <a:xfrm rot="0" flipH="0" flipV="0">
            <a:off x="533400" y="590550"/>
            <a:ext cx="5400675" cy="3619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325" b="1" spc="38">
                <a:solidFill>
                  <a:srgbClr val="F2F7F8"/>
                </a:solidFill>
                <a:latin typeface="Microsoft YaHei"/>
                <a:ea typeface="Microsoft YaHei"/>
              </a:rPr>
              <a:t>演示、分析与复现：结果不只留在实验室</a:t>
            </a:r>
            <a:endParaRPr/>
          </a:p>
        </p:txBody>
      </p:sp>
      <p:sp>
        <p:nvSpPr>
          <p:cNvPr id="921" name="" descr="{&quot;isTemplate&quot;:true,&quot;type&quot;:&quot;text&quot;}"/>
          <p:cNvSpPr txBox="1"/>
          <p:nvPr/>
        </p:nvSpPr>
        <p:spPr>
          <a:xfrm rot="0" flipH="0" flipV="0">
            <a:off x="10058400" y="723900"/>
            <a:ext cx="16002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2000"/>
                  </a:srgbClr>
                </a:solidFill>
                <a:latin typeface="Consolas"/>
                <a:ea typeface="Consolas"/>
              </a:rPr>
              <a:t>PRESENT · ANALYZE · REPRODUCE</a:t>
            </a:r>
            <a:endParaRPr/>
          </a:p>
        </p:txBody>
      </p:sp>
      <p:sp>
        <p:nvSpPr>
          <p:cNvPr id="922" name=""/>
          <p:cNvSpPr/>
          <p:nvPr/>
        </p:nvSpPr>
        <p:spPr>
          <a:xfrm rot="0" flipH="0" flipV="0">
            <a:off x="533400" y="1352550"/>
            <a:ext cx="3524250" cy="1981200"/>
          </a:xfrm>
          <a:prstGeom prst="rect">
            <a:avLst/>
          </a:prstGeom>
          <a:ln w="12700">
            <a:solidFill>
              <a:srgbClr val="6BC8D1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23" name=""/>
          <p:cNvPicPr>
            <a:picLocks noChangeAspect="1"/>
          </p:cNvPicPr>
          <p:nvPr/>
        </p:nvPicPr>
        <p:blipFill>
          <a:blip r:embed="rId2"/>
          <a:srcRect l="0" t="30" r="0" b="30"/>
          <a:stretch>
            <a:fillRect/>
          </a:stretch>
        </p:blipFill>
        <p:spPr>
          <a:xfrm rot="0" flipH="0" flipV="0">
            <a:off x="533400" y="1352550"/>
            <a:ext cx="3524250" cy="1981200"/>
          </a:xfrm>
          <a:prstGeom prst="roundRect">
            <a:avLst>
              <a:gd name="adj" fmla="val 3846"/>
            </a:avLst>
          </a:prstGeom>
          <a:ln/>
        </p:spPr>
      </p:pic>
      <p:sp>
        <p:nvSpPr>
          <p:cNvPr id="924" name="" descr="{&quot;isTemplate&quot;:true,&quot;type&quot;:&quot;text&quot;}"/>
          <p:cNvSpPr txBox="1"/>
          <p:nvPr/>
        </p:nvSpPr>
        <p:spPr>
          <a:xfrm rot="0" flipH="0" flipV="0">
            <a:off x="533400" y="3409950"/>
            <a:ext cx="3524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01 / PRESENTATION</a:t>
            </a:r>
            <a:endParaRPr/>
          </a:p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533400" y="3543300"/>
            <a:ext cx="3524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演示模式</a:t>
            </a:r>
            <a:r>
              <a:rPr lang="en-US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收起编辑控件，放大拓扑</a:t>
            </a:r>
            <a:endParaRPr/>
          </a:p>
        </p:txBody>
      </p:sp>
      <p:sp>
        <p:nvSpPr>
          <p:cNvPr id="926" name=""/>
          <p:cNvSpPr/>
          <p:nvPr/>
        </p:nvSpPr>
        <p:spPr>
          <a:xfrm rot="0" flipH="0" flipV="0">
            <a:off x="4248150" y="1352550"/>
            <a:ext cx="3524250" cy="1981200"/>
          </a:xfrm>
          <a:prstGeom prst="rect">
            <a:avLst/>
          </a:prstGeom>
          <a:ln w="12700">
            <a:solidFill>
              <a:srgbClr val="6BC8D1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27" name=""/>
          <p:cNvPicPr>
            <a:picLocks noChangeAspect="1"/>
          </p:cNvPicPr>
          <p:nvPr/>
        </p:nvPicPr>
        <p:blipFill>
          <a:blip r:embed="rId3"/>
          <a:srcRect l="0" t="30" r="0" b="30"/>
          <a:stretch>
            <a:fillRect/>
          </a:stretch>
        </p:blipFill>
        <p:spPr>
          <a:xfrm rot="0" flipH="0" flipV="0">
            <a:off x="4248150" y="1352550"/>
            <a:ext cx="3524250" cy="1981200"/>
          </a:xfrm>
          <a:prstGeom prst="roundRect">
            <a:avLst>
              <a:gd name="adj" fmla="val 3846"/>
            </a:avLst>
          </a:prstGeom>
          <a:ln/>
        </p:spPr>
      </p:pic>
      <p:sp>
        <p:nvSpPr>
          <p:cNvPr id="928" name="" descr="{&quot;isTemplate&quot;:true,&quot;type&quot;:&quot;text&quot;}"/>
          <p:cNvSpPr txBox="1"/>
          <p:nvPr/>
        </p:nvSpPr>
        <p:spPr>
          <a:xfrm rot="0" flipH="0" flipV="0">
            <a:off x="4248150" y="3409950"/>
            <a:ext cx="3524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02 / ANALYSIS</a:t>
            </a:r>
            <a:endParaRPr/>
          </a:p>
        </p:txBody>
      </p:sp>
      <p:sp>
        <p:nvSpPr>
          <p:cNvPr id="929" name="" descr="{&quot;isTemplate&quot;:true,&quot;type&quot;:&quot;text&quot;}"/>
          <p:cNvSpPr txBox="1"/>
          <p:nvPr/>
        </p:nvSpPr>
        <p:spPr>
          <a:xfrm rot="0" flipH="0" flipV="0">
            <a:off x="4248150" y="3543300"/>
            <a:ext cx="3524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实验分析</a:t>
            </a:r>
            <a:r>
              <a:rPr lang="en-US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结论、图表、关键事件</a:t>
            </a:r>
            <a:endParaRPr/>
          </a:p>
        </p:txBody>
      </p:sp>
      <p:sp>
        <p:nvSpPr>
          <p:cNvPr id="930" name=""/>
          <p:cNvSpPr/>
          <p:nvPr/>
        </p:nvSpPr>
        <p:spPr>
          <a:xfrm rot="0" flipH="0" flipV="0">
            <a:off x="7962900" y="1352550"/>
            <a:ext cx="3524250" cy="1981200"/>
          </a:xfrm>
          <a:prstGeom prst="rect">
            <a:avLst/>
          </a:prstGeom>
          <a:ln w="12700">
            <a:solidFill>
              <a:srgbClr val="6BC8D1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31" name=""/>
          <p:cNvPicPr>
            <a:picLocks noChangeAspect="1"/>
          </p:cNvPicPr>
          <p:nvPr/>
        </p:nvPicPr>
        <p:blipFill>
          <a:blip r:embed="rId4"/>
          <a:srcRect l="0" t="30" r="0" b="30"/>
          <a:stretch>
            <a:fillRect/>
          </a:stretch>
        </p:blipFill>
        <p:spPr>
          <a:xfrm rot="0" flipH="0" flipV="0">
            <a:off x="7962900" y="1352550"/>
            <a:ext cx="3524250" cy="1981200"/>
          </a:xfrm>
          <a:prstGeom prst="roundRect">
            <a:avLst>
              <a:gd name="adj" fmla="val 3846"/>
            </a:avLst>
          </a:prstGeom>
          <a:ln/>
        </p:spPr>
      </p:pic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7962900" y="3409950"/>
            <a:ext cx="3524250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>
                <a:solidFill>
                  <a:srgbClr val="6BC8D1"/>
                </a:solidFill>
                <a:latin typeface="Consolas"/>
                <a:ea typeface="Consolas"/>
              </a:rPr>
              <a:t>03 / A-B COMPARE</a:t>
            </a:r>
            <a:endParaRPr/>
          </a:p>
        </p:txBody>
      </p:sp>
      <p:sp>
        <p:nvSpPr>
          <p:cNvPr id="933" name="" descr="{&quot;isTemplate&quot;:true,&quot;type&quot;:&quot;text&quot;}"/>
          <p:cNvSpPr txBox="1"/>
          <p:nvPr/>
        </p:nvSpPr>
        <p:spPr>
          <a:xfrm rot="0" flipH="0" flipV="0">
            <a:off x="7962900" y="3543300"/>
            <a:ext cx="3524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方案对比</a:t>
            </a:r>
            <a:r>
              <a:rPr lang="en-US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825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同一初始条件，两种配置</a:t>
            </a:r>
            <a:endParaRPr/>
          </a:p>
        </p:txBody>
      </p:sp>
      <p:sp>
        <p:nvSpPr>
          <p:cNvPr id="934" name=""/>
          <p:cNvSpPr/>
          <p:nvPr/>
        </p:nvSpPr>
        <p:spPr>
          <a:xfrm rot="0" flipH="0" flipV="0">
            <a:off x="533400" y="3924300"/>
            <a:ext cx="3524250" cy="571500"/>
          </a:xfrm>
          <a:custGeom>
            <a:pathLst>
              <a:path w="370" h="60">
                <a:moveTo>
                  <a:pt x="0" y="0"/>
                </a:moveTo>
                <a:lnTo>
                  <a:pt x="370" y="0"/>
                </a:lnTo>
                <a:lnTo>
                  <a:pt x="37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533400" y="4067175"/>
            <a:ext cx="352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课堂投屏</a:t>
            </a:r>
            <a:endParaRPr/>
          </a:p>
        </p:txBody>
      </p:sp>
      <p:sp>
        <p:nvSpPr>
          <p:cNvPr id="936" name="" descr="{&quot;isTemplate&quot;:true,&quot;type&quot;:&quot;text&quot;}"/>
          <p:cNvSpPr txBox="1"/>
          <p:nvPr/>
        </p:nvSpPr>
        <p:spPr>
          <a:xfrm rot="0" flipH="0" flipV="0">
            <a:off x="533400" y="4286250"/>
            <a:ext cx="3524250" cy="2000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6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演示模式隐藏编辑入口、放大拓扑；讲解时只保留场景、事件和结果。</a:t>
            </a:r>
            <a:endParaRPr/>
          </a:p>
        </p:txBody>
      </p:sp>
      <p:sp>
        <p:nvSpPr>
          <p:cNvPr id="937" name=""/>
          <p:cNvSpPr/>
          <p:nvPr/>
        </p:nvSpPr>
        <p:spPr>
          <a:xfrm rot="0" flipH="0" flipV="0">
            <a:off x="4248150" y="3924300"/>
            <a:ext cx="3524250" cy="571500"/>
          </a:xfrm>
          <a:custGeom>
            <a:pathLst>
              <a:path w="370" h="60">
                <a:moveTo>
                  <a:pt x="0" y="0"/>
                </a:moveTo>
                <a:lnTo>
                  <a:pt x="370" y="0"/>
                </a:lnTo>
                <a:lnTo>
                  <a:pt x="37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38" name="" descr="{&quot;isTemplate&quot;:true,&quot;type&quot;:&quot;text&quot;}"/>
          <p:cNvSpPr txBox="1"/>
          <p:nvPr/>
        </p:nvSpPr>
        <p:spPr>
          <a:xfrm rot="0" flipH="0" flipV="0">
            <a:off x="4248150" y="4067175"/>
            <a:ext cx="352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结果回看</a:t>
            </a:r>
            <a:endParaRPr/>
          </a:p>
        </p:txBody>
      </p:sp>
      <p:sp>
        <p:nvSpPr>
          <p:cNvPr id="939" name="" descr="{&quot;isTemplate&quot;:true,&quot;type&quot;:&quot;text&quot;}"/>
          <p:cNvSpPr txBox="1"/>
          <p:nvPr/>
        </p:nvSpPr>
        <p:spPr>
          <a:xfrm rot="0" flipH="0" flipV="0">
            <a:off x="4248150" y="4286250"/>
            <a:ext cx="3524250" cy="2000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6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关键目标、业务可达、代表链与事件记录同页呈现；报告一键打开打印。</a:t>
            </a:r>
            <a:endParaRPr/>
          </a:p>
        </p:txBody>
      </p:sp>
      <p:sp>
        <p:nvSpPr>
          <p:cNvPr id="940" name=""/>
          <p:cNvSpPr/>
          <p:nvPr/>
        </p:nvSpPr>
        <p:spPr>
          <a:xfrm rot="0" flipH="0" flipV="0">
            <a:off x="7962900" y="3924300"/>
            <a:ext cx="3524250" cy="571500"/>
          </a:xfrm>
          <a:custGeom>
            <a:pathLst>
              <a:path w="370" h="60">
                <a:moveTo>
                  <a:pt x="0" y="0"/>
                </a:moveTo>
                <a:lnTo>
                  <a:pt x="370" y="0"/>
                </a:lnTo>
                <a:lnTo>
                  <a:pt x="370" y="1"/>
                </a:lnTo>
                <a:lnTo>
                  <a:pt x="0" y="1"/>
                </a:lnTo>
                <a:close/>
              </a:path>
            </a:pathLst>
          </a:cu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41" name="" descr="{&quot;isTemplate&quot;:true,&quot;type&quot;:&quot;text&quot;}"/>
          <p:cNvSpPr txBox="1"/>
          <p:nvPr/>
        </p:nvSpPr>
        <p:spPr>
          <a:xfrm rot="0" flipH="0" flipV="0">
            <a:off x="7962900" y="4067175"/>
            <a:ext cx="3524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2F7F8"/>
                </a:solidFill>
                <a:latin typeface="Microsoft YaHei"/>
                <a:ea typeface="Microsoft YaHei"/>
              </a:rPr>
              <a:t>带走结果</a:t>
            </a:r>
            <a:endParaRPr/>
          </a:p>
        </p:txBody>
      </p:sp>
      <p:sp>
        <p:nvSpPr>
          <p:cNvPr id="942" name="" descr="{&quot;isTemplate&quot;:true,&quot;type&quot;:&quot;text&quot;}"/>
          <p:cNvSpPr txBox="1"/>
          <p:nvPr/>
        </p:nvSpPr>
        <p:spPr>
          <a:xfrm rot="0" flipH="0" flipV="0">
            <a:off x="7962900" y="4286250"/>
            <a:ext cx="3524250" cy="2000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76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复制复现链接、导出场景</a:t>
            </a:r>
            <a:r>
              <a:rPr lang="en-US" sz="76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 JSON</a:t>
            </a:r>
            <a:r>
              <a:rPr lang="zh-CN" sz="765">
                <a:solidFill>
                  <a:srgbClr val="F2F7F8">
                    <a:alpha val="52000"/>
                  </a:srgbClr>
                </a:solidFill>
                <a:latin typeface="Microsoft YaHei"/>
                <a:ea typeface="Microsoft YaHei"/>
              </a:rPr>
              <a:t>；对方打开后仍是可交互、可重算的沙盘。</a:t>
            </a:r>
            <a:endParaRPr/>
          </a:p>
        </p:txBody>
      </p:sp>
      <p:sp>
        <p:nvSpPr>
          <p:cNvPr id="943" name=""/>
          <p:cNvSpPr/>
          <p:nvPr/>
        </p:nvSpPr>
        <p:spPr>
          <a:xfrm rot="0" flipH="0" flipV="0">
            <a:off x="533400" y="5334000"/>
            <a:ext cx="628650" cy="257175"/>
          </a:xfrm>
          <a:prstGeom prst="roundRect">
            <a:avLst>
              <a:gd name="adj" fmla="val 14815"/>
            </a:avLst>
          </a:prstGeom>
          <a:ln w="12700">
            <a:solidFill>
              <a:srgbClr val="6BC8D1">
                <a:alpha val="2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44" name="" descr="{&quot;isTemplate&quot;:true,&quot;type&quot;:&quot;text&quot;}"/>
          <p:cNvSpPr txBox="1"/>
          <p:nvPr/>
        </p:nvSpPr>
        <p:spPr>
          <a:xfrm rot="0" flipH="0" flipV="0">
            <a:off x="647700" y="540067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6BC8D1"/>
                </a:solidFill>
                <a:latin typeface="Microsoft YaHei"/>
                <a:ea typeface="Microsoft YaHei"/>
              </a:rPr>
              <a:t>演示模式</a:t>
            </a:r>
            <a:endParaRPr/>
          </a:p>
        </p:txBody>
      </p:sp>
      <p:sp>
        <p:nvSpPr>
          <p:cNvPr id="945" name=""/>
          <p:cNvSpPr/>
          <p:nvPr/>
        </p:nvSpPr>
        <p:spPr>
          <a:xfrm rot="0" flipH="0" flipV="0">
            <a:off x="1257300" y="5334000"/>
            <a:ext cx="628650" cy="257175"/>
          </a:xfrm>
          <a:prstGeom prst="roundRect">
            <a:avLst>
              <a:gd name="adj" fmla="val 14815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46" name="" descr="{&quot;isTemplate&quot;:true,&quot;type&quot;:&quot;text&quot;}"/>
          <p:cNvSpPr txBox="1"/>
          <p:nvPr/>
        </p:nvSpPr>
        <p:spPr>
          <a:xfrm rot="0" flipH="0" flipV="0">
            <a:off x="1371600" y="540067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实验报告</a:t>
            </a:r>
            <a:endParaRPr/>
          </a:p>
        </p:txBody>
      </p:sp>
      <p:sp>
        <p:nvSpPr>
          <p:cNvPr id="947" name=""/>
          <p:cNvSpPr/>
          <p:nvPr/>
        </p:nvSpPr>
        <p:spPr>
          <a:xfrm rot="0" flipH="0" flipV="0">
            <a:off x="1981200" y="5334000"/>
            <a:ext cx="628650" cy="257175"/>
          </a:xfrm>
          <a:prstGeom prst="roundRect">
            <a:avLst>
              <a:gd name="adj" fmla="val 14815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48" name="" descr="{&quot;isTemplate&quot;:true,&quot;type&quot;:&quot;text&quot;}"/>
          <p:cNvSpPr txBox="1"/>
          <p:nvPr/>
        </p:nvSpPr>
        <p:spPr>
          <a:xfrm rot="0" flipH="0" flipV="0">
            <a:off x="2095500" y="540067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复现链接</a:t>
            </a:r>
            <a:endParaRPr/>
          </a:p>
        </p:txBody>
      </p:sp>
      <p:sp>
        <p:nvSpPr>
          <p:cNvPr id="949" name=""/>
          <p:cNvSpPr/>
          <p:nvPr/>
        </p:nvSpPr>
        <p:spPr>
          <a:xfrm rot="0" flipH="0" flipV="0">
            <a:off x="2705100" y="5334000"/>
            <a:ext cx="1257300" cy="257175"/>
          </a:xfrm>
          <a:prstGeom prst="roundRect">
            <a:avLst>
              <a:gd name="adj" fmla="val 14815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50" name="" descr="{&quot;isTemplate&quot;:true,&quot;type&quot;:&quot;text&quot;}"/>
          <p:cNvSpPr txBox="1"/>
          <p:nvPr/>
        </p:nvSpPr>
        <p:spPr>
          <a:xfrm rot="0" flipH="0" flipV="0">
            <a:off x="2819400" y="5400675"/>
            <a:ext cx="1028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场景</a:t>
            </a:r>
            <a:r>
              <a:rPr lang="en-US" sz="788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JSON </a:t>
            </a:r>
            <a:r>
              <a:rPr lang="zh-CN" sz="788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导入</a:t>
            </a:r>
            <a:r>
              <a:rPr lang="en-US" sz="788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788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导出</a:t>
            </a:r>
            <a:endParaRPr/>
          </a:p>
        </p:txBody>
      </p:sp>
      <p:sp>
        <p:nvSpPr>
          <p:cNvPr id="951" name=""/>
          <p:cNvSpPr/>
          <p:nvPr/>
        </p:nvSpPr>
        <p:spPr>
          <a:xfrm rot="0" flipH="0" flipV="0">
            <a:off x="4057650" y="5334000"/>
            <a:ext cx="628650" cy="257175"/>
          </a:xfrm>
          <a:prstGeom prst="roundRect">
            <a:avLst>
              <a:gd name="adj" fmla="val 14815"/>
            </a:avLst>
          </a:prstGeom>
          <a:ln w="12700">
            <a:solidFill>
              <a:srgbClr val="F2F7F8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52" name="" descr="{&quot;isTemplate&quot;:true,&quot;type&quot;:&quot;text&quot;}"/>
          <p:cNvSpPr txBox="1"/>
          <p:nvPr/>
        </p:nvSpPr>
        <p:spPr>
          <a:xfrm rot="0" flipH="0" flipV="0">
            <a:off x="4171950" y="540067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58000"/>
                  </a:srgbClr>
                </a:solidFill>
                <a:latin typeface="Microsoft YaHei"/>
                <a:ea typeface="Microsoft YaHei"/>
              </a:rPr>
              <a:t>恢复默认</a:t>
            </a:r>
            <a:endParaRPr/>
          </a:p>
        </p:txBody>
      </p:sp>
      <p:sp>
        <p:nvSpPr>
          <p:cNvPr id="953" name=""/>
          <p:cNvSpPr/>
          <p:nvPr/>
        </p:nvSpPr>
        <p:spPr>
          <a:xfrm rot="0" flipH="0" flipV="0">
            <a:off x="533400" y="5962650"/>
            <a:ext cx="19050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954" name="" descr="{&quot;isTemplate&quot;:true,&quot;type&quot;:&quot;text&quot;}"/>
          <p:cNvSpPr txBox="1"/>
          <p:nvPr/>
        </p:nvSpPr>
        <p:spPr>
          <a:xfrm rot="0" flipH="0" flipV="0">
            <a:off x="819150" y="5905500"/>
            <a:ext cx="30003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F2F7F8">
                    <a:alpha val="44000"/>
                  </a:srgbClr>
                </a:solidFill>
                <a:latin typeface="Microsoft YaHei"/>
                <a:ea typeface="Microsoft YaHei"/>
              </a:rPr>
              <a:t>分享的是配置，不是截图；对方打开链接后仍能改策略、重新验证。</a:t>
            </a:r>
            <a:endParaRPr/>
          </a:p>
        </p:txBody>
      </p:sp>
      <p:sp>
        <p:nvSpPr>
          <p:cNvPr id="955" name=""/>
          <p:cNvSpPr/>
          <p:nvPr/>
        </p:nvSpPr>
        <p:spPr>
          <a:xfrm rot="0" flipH="0" flipV="0">
            <a:off x="533400" y="6324600"/>
            <a:ext cx="11125200" cy="9525"/>
          </a:xfrm>
          <a:prstGeom prst="rect">
            <a:avLst/>
          </a:prstGeom>
          <a:solidFill>
            <a:srgbClr val="F2F7F8">
              <a:alpha val="10000"/>
            </a:srgbClr>
          </a:solidFill>
          <a:ln/>
        </p:spPr>
        <p:txBody>
          <a:bodyPr/>
          <a:p/>
        </p:txBody>
      </p:sp>
      <p:sp>
        <p:nvSpPr>
          <p:cNvPr id="956" name="" descr="{&quot;isTemplate&quot;:true,&quot;type&quot;:&quot;text&quot;}"/>
          <p:cNvSpPr txBox="1"/>
          <p:nvPr/>
        </p:nvSpPr>
        <p:spPr>
          <a:xfrm rot="0" flipH="0" flipV="0">
            <a:off x="533400" y="6457950"/>
            <a:ext cx="3248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智御网络</a:t>
            </a:r>
            <a:r>
              <a:rPr lang="en-US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 · </a:t>
            </a:r>
            <a:r>
              <a:rPr lang="zh-CN" sz="788" spc="60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三维网络安全策略交互验证平台</a:t>
            </a:r>
            <a:endParaRPr/>
          </a:p>
        </p:txBody>
      </p:sp>
      <p:sp>
        <p:nvSpPr>
          <p:cNvPr id="957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27 / 28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958" name="" descr="&lt;Slide style={{ width: 1280, height: 720, background: '#07111B', padding: 0, position: 'relative', overflow: 'hidden' }}&gt;&#13;&#10;    &lt;Image src=&quot;assets/cover_topology.png&quot; style={{ position: 'absolute', left: 0, top: 0, width: 1280, height: 720, objectFit: 'cover', opacity: 0.38 }} /&gt;&#13;&#10;    &lt;Box style={{ position: 'absolute', left: 0, top: 0, width: 1280, height: 720, background: 'linear-gradient(90deg, #07111B 0%, rgba(7,17,27,0.97) 40%, rgba(7,17,27,0.76) 70%, rgba(7,17,27,0.60) 100%)' }} /&gt;&#13;&#10;    &lt;Box style={{ position: 'absolute', left: 0, top: 0, width: 1280, height: 720, background: 'linear-gradient(180deg, rgba(7,17,27,0.35) 0%, rgba(7,17,27,0) 35%, rgba(7,17,27,0.55) 100%)' }} /&gt;&#13;&#10;    &lt;Box style={{ position: 'absolute', left: 0, top: 0, width: 5, height: 720, background: '#6BC8D1', opacity: 0.6 }} /&gt;&#13;&#10;&#13;&#10;    &lt;Box style={{ position: 'absolute', left: 92, top: 150, width: 760 }}&gt;&#13;&#10;        &lt;Box style={{ flexDirection: 'row', alignItems: 'center', gap: 10 }}&gt;&#13;&#10;            &lt;Box style={{ width: 18, height: 1, background: '#6BC8D1' }} /&gt;&#13;&#10;            &lt;Text style={{ fontFamily: 'Consolas', fontSize: 10.5, color: '#6BC8D1', letterSpacing: 2 }}&gt;THANK YOU FOR LISTENING&lt;/Text&gt;&#13;&#10;        &lt;/Box&gt;&#13;&#10;        &lt;Text style={{ marginTop: 34, fontFamily: 'Microsoft YaHei', fontSize: 52, fontWeight: 'bold', color: '#F2F7F8', lineHeight: 1.45, letterSpacing: 1 }}&gt;&#13;&#10;            让每一条安全策略，&lt;br /&gt;都能&lt;span style={{ color: '#6BC8D1' }}&gt;被看见&lt;/span&gt;、&lt;span style={{ color: '#6BC8D1' }}&gt;被验证&lt;/span&gt;。&#13;&#10;        &lt;/Text&gt;&#13;&#10;        &lt;Box style={{ marginTop: 24, width: 52, height: 3, background: '#6BC8D1' }} /&gt;&#13;&#10;        &lt;Text style={{ marginTop: 20, fontFamily: 'Microsoft YaHei', fontSize: 17, color: 'rgba(242,247,248,0.66)', letterSpacing: 0.8 }}&gt;智御网络 · 三维网络安全策略交互验证平台&lt;/Text&gt;&#13;&#10;        &lt;Box style={{ marginTop: 26, flexDirection: 'row', gap: 10 }}&gt;&#13;&#10;            &lt;Box style={{ paddingLeft: 12, paddingRight: 12, paddingTop: 6, paddingBottom: 6, border: '1px solid rgba(107,200,209,0.28)', borderRadius: 4 }}&gt;&#13;&#10;                &lt;Text style={{ fontFamily: 'Consolas', fontSize: 9.5, color: '#6BC8D1' }}&gt;可观察&lt;/Text&gt;&#13;&#10;            &lt;/Box&gt;&#13;&#10;            &lt;Box style={{ paddingLeft: 12, paddingRight: 12, paddingTop: 6, paddingBottom: 6, border: '1px solid rgba(107,200,209,0.28)', borderRadius: 4 }}&gt;&#13;&#10;                &lt;Text style={{ fontFamily: 'Consolas', fontSize: 9.5, color: '#6BC8D1' }}&gt;可干预&lt;/Text&gt;&#13;&#10;            &lt;/Box&gt;&#13;&#10;            &lt;Box style={{ paddingLeft: 12, paddingRight: 12, paddingTop: 6, paddingBottom: 6, border: '1px solid rgba(107,200,209,0.28)', borderRadius: 4 }}&gt;&#13;&#10;                &lt;Text style={{ fontFamily: 'Consolas', fontSize: 9.5, color: '#6BC8D1' }}&gt;可解释&lt;/Text&gt;&#13;&#10;            &lt;/Box&gt;&#13;&#10;            &lt;Box style={{ paddingLeft: 12, paddingRight: 12, paddingTop: 6, paddingBottom: 6, border: '1px solid rgba(107,200,209,0.28)', borderRadius: 4 }}&gt;&#13;&#10;                &lt;Text style={{ fontFamily: 'Consolas', fontSize: 9.5, color: '#6BC8D1' }}&gt;可复现&lt;/Text&gt;&#13;&#10;            &lt;/Box&gt;&#13;&#10;        &lt;/Box&gt;&#13;&#10;    &lt;/Box&gt;&#13;&#10;&#13;&#10;    &lt;Box style={{ position: 'absolute', left: 92, bottom: 62, flexDirection: 'row', alignItems: 'center', gap: 14 }}&gt;&#13;&#10;        &lt;Text style={{ fontFamily: 'Microsoft YaHei', fontSize: 12, color: 'rgba(242,247,248,0.50)' }}&gt;谢谢聆听 · 欢迎批评指正&lt;/Text&gt;&#13;&#10;        &lt;Box style={{ width: 26, height: 1, background: 'rgba(242,247,248,0.22)' }} /&gt;&#13;&#10;        &lt;Text style={{ fontFamily: 'Consolas', fontSize: 9.5, color: 'rgba(242,247,248,0.34)', letterSpacing: 0.8 }}&gt;2026 全国大学生数字媒体科技作品及创意竞赛&lt;/Text&gt;&#13;&#10;    &lt;/Box&gt;&#13;&#10;&#13;&#10;    &lt;Box style={{ position: 'absolute', right: 62, top: 54, flexDirection: 'row', alignItems: 'center', gap: 8 }}&gt;&#13;&#10;        &lt;Box style={{ width: 6, height: 6, borderRadius: 3, background: '#6BC8D1' }} /&gt;&#13;&#10;        &lt;Text style={{ fontFamily: 'Consolas', fontSize: 9.5, color: 'rgba(242,247,248,0.46)', letterSpacing: 1.4 }}&gt;ZHIYU NETWORK LAB&lt;/Text&gt;&#13;&#10;    &lt;/Box&gt;&#13;&#10;    &lt;Text style={{ position: 'absolute', right: 56, top: 678, fontFamily: 'Consolas', fontSize: 10.5, color: 'rgba(242,247,248,0.40)' }}&gt;28 / 28&lt;/Text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7111B"/>
          </a:solidFill>
          <a:ln/>
        </p:spPr>
        <p:txBody>
          <a:bodyPr/>
          <a:p/>
        </p:txBody>
      </p:sp>
      <p:pic>
        <p:nvPicPr>
          <p:cNvPr id="960" name=""/>
          <p:cNvPicPr>
            <a:picLocks noChangeAspect="1"/>
          </p:cNvPicPr>
          <p:nvPr/>
        </p:nvPicPr>
        <p:blipFill>
          <a:blip r:embed="rId1">
            <a:alphaModFix amt="38000"/>
          </a:blip>
          <a:srcRect l="43" t="0" r="43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9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B"/>
              </a:gs>
              <a:gs pos="40000">
                <a:srgbClr val="07111B">
                  <a:alpha val="97000"/>
                </a:srgbClr>
              </a:gs>
              <a:gs pos="70000">
                <a:srgbClr val="07111B">
                  <a:alpha val="76000"/>
                </a:srgbClr>
              </a:gs>
              <a:gs pos="100000">
                <a:srgbClr val="07111B">
                  <a:alpha val="60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9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11B">
                  <a:alpha val="35000"/>
                </a:srgbClr>
              </a:gs>
              <a:gs pos="35000">
                <a:srgbClr val="07111B">
                  <a:alpha val="0"/>
                </a:srgbClr>
              </a:gs>
              <a:gs pos="100000">
                <a:srgbClr val="07111B">
                  <a:alpha val="55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963" name=""/>
          <p:cNvSpPr/>
          <p:nvPr/>
        </p:nvSpPr>
        <p:spPr>
          <a:xfrm rot="0" flipH="0" flipV="0">
            <a:off x="0" y="0"/>
            <a:ext cx="47625" cy="6858000"/>
          </a:xfrm>
          <a:prstGeom prst="rect">
            <a:avLst/>
          </a:prstGeom>
          <a:solidFill>
            <a:srgbClr val="6BC8D1">
              <a:alpha val="60000"/>
            </a:srgbClr>
          </a:solidFill>
          <a:ln/>
        </p:spPr>
        <p:txBody>
          <a:bodyPr/>
          <a:p/>
        </p:txBody>
      </p:sp>
      <p:sp>
        <p:nvSpPr>
          <p:cNvPr id="964" name=""/>
          <p:cNvSpPr/>
          <p:nvPr/>
        </p:nvSpPr>
        <p:spPr>
          <a:xfrm rot="0" flipH="0" flipV="0">
            <a:off x="876300" y="1485900"/>
            <a:ext cx="171450" cy="952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965" name="" descr="{&quot;isTemplate&quot;:true,&quot;type&quot;:&quot;text&quot;}"/>
          <p:cNvSpPr txBox="1"/>
          <p:nvPr/>
        </p:nvSpPr>
        <p:spPr>
          <a:xfrm rot="0" flipH="0" flipV="0">
            <a:off x="1143000" y="1428750"/>
            <a:ext cx="17049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spc="150">
                <a:solidFill>
                  <a:srgbClr val="6BC8D1"/>
                </a:solidFill>
                <a:latin typeface="Consolas"/>
                <a:ea typeface="Consolas"/>
              </a:rPr>
              <a:t>THANK YOU FOR LISTENING</a:t>
            </a:r>
            <a:endParaRPr/>
          </a:p>
        </p:txBody>
      </p:sp>
      <p:sp>
        <p:nvSpPr>
          <p:cNvPr id="966" name="" descr="{&quot;isTemplate&quot;:true,&quot;type&quot;:&quot;text&quot;}"/>
          <p:cNvSpPr txBox="1"/>
          <p:nvPr/>
        </p:nvSpPr>
        <p:spPr>
          <a:xfrm rot="0" flipH="0" flipV="0">
            <a:off x="876300" y="1876425"/>
            <a:ext cx="7239000" cy="17240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3900" b="1" spc="75">
                <a:solidFill>
                  <a:srgbClr val="F2F7F8"/>
                </a:solidFill>
                <a:latin typeface="Microsoft YaHei"/>
                <a:ea typeface="Microsoft YaHei"/>
              </a:rPr>
              <a:t>让每一条安全策略，</a:t>
            </a:r>
            <a:endParaRPr/>
          </a:p>
          <a:p>
            <a:pPr>
              <a:lnSpc>
                <a:spcPct val="145000"/>
              </a:lnSpc>
            </a:pPr>
            <a:r>
              <a:rPr lang="zh-CN" sz="3900" b="1" spc="75">
                <a:solidFill>
                  <a:srgbClr val="F2F7F8"/>
                </a:solidFill>
                <a:latin typeface="Microsoft YaHei"/>
                <a:ea typeface="Microsoft YaHei"/>
              </a:rPr>
              <a:t>都能</a:t>
            </a:r>
            <a:r>
              <a:rPr lang="zh-CN" sz="3900" b="1" spc="75">
                <a:solidFill>
                  <a:srgbClr val="6BC8D1"/>
                </a:solidFill>
                <a:latin typeface="Microsoft YaHei"/>
                <a:ea typeface="Microsoft YaHei"/>
              </a:rPr>
              <a:t>被看见</a:t>
            </a:r>
            <a:r>
              <a:rPr lang="zh-CN" sz="3900" b="1" spc="75">
                <a:solidFill>
                  <a:srgbClr val="F2F7F8"/>
                </a:solidFill>
                <a:latin typeface="Microsoft YaHei"/>
                <a:ea typeface="Microsoft YaHei"/>
              </a:rPr>
              <a:t>、</a:t>
            </a:r>
            <a:r>
              <a:rPr lang="zh-CN" sz="3900" b="1" spc="75">
                <a:solidFill>
                  <a:srgbClr val="6BC8D1"/>
                </a:solidFill>
                <a:latin typeface="Microsoft YaHei"/>
                <a:ea typeface="Microsoft YaHei"/>
              </a:rPr>
              <a:t>被验证</a:t>
            </a:r>
            <a:r>
              <a:rPr lang="zh-CN" sz="3900" b="1" spc="75">
                <a:solidFill>
                  <a:srgbClr val="F2F7F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967" name=""/>
          <p:cNvSpPr/>
          <p:nvPr/>
        </p:nvSpPr>
        <p:spPr>
          <a:xfrm rot="0" flipH="0" flipV="0">
            <a:off x="876300" y="3829050"/>
            <a:ext cx="495300" cy="28575"/>
          </a:xfrm>
          <a:prstGeom prst="rect">
            <a:avLst/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968" name="" descr="{&quot;isTemplate&quot;:true,&quot;type&quot;:&quot;text&quot;}"/>
          <p:cNvSpPr txBox="1"/>
          <p:nvPr/>
        </p:nvSpPr>
        <p:spPr>
          <a:xfrm rot="0" flipH="0" flipV="0">
            <a:off x="876300" y="4048125"/>
            <a:ext cx="723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60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智御网络</a:t>
            </a:r>
            <a:r>
              <a:rPr lang="en-US" sz="1275" spc="60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75" spc="60">
                <a:solidFill>
                  <a:srgbClr val="F2F7F8">
                    <a:alpha val="66000"/>
                  </a:srgbClr>
                </a:solidFill>
                <a:latin typeface="Microsoft YaHei"/>
                <a:ea typeface="Microsoft YaHei"/>
              </a:rPr>
              <a:t>三维网络安全策略交互验证平台</a:t>
            </a:r>
            <a:endParaRPr/>
          </a:p>
        </p:txBody>
      </p:sp>
      <p:sp>
        <p:nvSpPr>
          <p:cNvPr id="969" name=""/>
          <p:cNvSpPr/>
          <p:nvPr/>
        </p:nvSpPr>
        <p:spPr>
          <a:xfrm rot="0" flipH="0" flipV="0">
            <a:off x="876300" y="4495800"/>
            <a:ext cx="714375" cy="228600"/>
          </a:xfrm>
          <a:prstGeom prst="roundRect">
            <a:avLst>
              <a:gd name="adj" fmla="val 16667"/>
            </a:avLst>
          </a:prstGeom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70" name="" descr="{&quot;isTemplate&quot;:true,&quot;type&quot;:&quot;text&quot;}"/>
          <p:cNvSpPr txBox="1"/>
          <p:nvPr/>
        </p:nvSpPr>
        <p:spPr>
          <a:xfrm rot="0" flipH="0" flipV="0">
            <a:off x="990600" y="4552950"/>
            <a:ext cx="4857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6BC8D1"/>
                </a:solidFill>
                <a:latin typeface="Consolas"/>
                <a:ea typeface="Consolas"/>
              </a:rPr>
              <a:t>可观察</a:t>
            </a:r>
            <a:endParaRPr/>
          </a:p>
        </p:txBody>
      </p:sp>
      <p:sp>
        <p:nvSpPr>
          <p:cNvPr id="971" name=""/>
          <p:cNvSpPr/>
          <p:nvPr/>
        </p:nvSpPr>
        <p:spPr>
          <a:xfrm rot="0" flipH="0" flipV="0">
            <a:off x="1685925" y="4495800"/>
            <a:ext cx="714375" cy="228600"/>
          </a:xfrm>
          <a:prstGeom prst="roundRect">
            <a:avLst>
              <a:gd name="adj" fmla="val 16667"/>
            </a:avLst>
          </a:prstGeom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72" name="" descr="{&quot;isTemplate&quot;:true,&quot;type&quot;:&quot;text&quot;}"/>
          <p:cNvSpPr txBox="1"/>
          <p:nvPr/>
        </p:nvSpPr>
        <p:spPr>
          <a:xfrm rot="0" flipH="0" flipV="0">
            <a:off x="1800225" y="4552950"/>
            <a:ext cx="4857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6BC8D1"/>
                </a:solidFill>
                <a:latin typeface="Consolas"/>
                <a:ea typeface="Consolas"/>
              </a:rPr>
              <a:t>可干预</a:t>
            </a:r>
            <a:endParaRPr/>
          </a:p>
        </p:txBody>
      </p:sp>
      <p:sp>
        <p:nvSpPr>
          <p:cNvPr id="973" name=""/>
          <p:cNvSpPr/>
          <p:nvPr/>
        </p:nvSpPr>
        <p:spPr>
          <a:xfrm rot="0" flipH="0" flipV="0">
            <a:off x="2495550" y="4495800"/>
            <a:ext cx="714375" cy="228600"/>
          </a:xfrm>
          <a:prstGeom prst="roundRect">
            <a:avLst>
              <a:gd name="adj" fmla="val 16667"/>
            </a:avLst>
          </a:prstGeom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74" name="" descr="{&quot;isTemplate&quot;:true,&quot;type&quot;:&quot;text&quot;}"/>
          <p:cNvSpPr txBox="1"/>
          <p:nvPr/>
        </p:nvSpPr>
        <p:spPr>
          <a:xfrm rot="0" flipH="0" flipV="0">
            <a:off x="2609850" y="4552950"/>
            <a:ext cx="4857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6BC8D1"/>
                </a:solidFill>
                <a:latin typeface="Consolas"/>
                <a:ea typeface="Consolas"/>
              </a:rPr>
              <a:t>可解释</a:t>
            </a:r>
            <a:endParaRPr/>
          </a:p>
        </p:txBody>
      </p:sp>
      <p:sp>
        <p:nvSpPr>
          <p:cNvPr id="975" name=""/>
          <p:cNvSpPr/>
          <p:nvPr/>
        </p:nvSpPr>
        <p:spPr>
          <a:xfrm rot="0" flipH="0" flipV="0">
            <a:off x="3305175" y="4495800"/>
            <a:ext cx="714375" cy="228600"/>
          </a:xfrm>
          <a:prstGeom prst="roundRect">
            <a:avLst>
              <a:gd name="adj" fmla="val 16667"/>
            </a:avLst>
          </a:prstGeom>
          <a:ln w="12700">
            <a:solidFill>
              <a:srgbClr val="6BC8D1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76" name="" descr="{&quot;isTemplate&quot;:true,&quot;type&quot;:&quot;text&quot;}"/>
          <p:cNvSpPr txBox="1"/>
          <p:nvPr/>
        </p:nvSpPr>
        <p:spPr>
          <a:xfrm rot="0" flipH="0" flipV="0">
            <a:off x="3419475" y="4552950"/>
            <a:ext cx="4857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13">
                <a:solidFill>
                  <a:srgbClr val="6BC8D1"/>
                </a:solidFill>
                <a:latin typeface="Consolas"/>
                <a:ea typeface="Consolas"/>
              </a:rPr>
              <a:t>可复现</a:t>
            </a:r>
            <a:endParaRPr/>
          </a:p>
        </p:txBody>
      </p:sp>
      <p:sp>
        <p:nvSpPr>
          <p:cNvPr id="977" name="" descr="{&quot;isTemplate&quot;:true,&quot;type&quot;:&quot;text&quot;}"/>
          <p:cNvSpPr txBox="1"/>
          <p:nvPr/>
        </p:nvSpPr>
        <p:spPr>
          <a:xfrm rot="0" flipH="0" flipV="0">
            <a:off x="876300" y="6124575"/>
            <a:ext cx="1238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谢谢聆听</a:t>
            </a:r>
            <a:r>
              <a:rPr lang="en-US" sz="900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F2F7F8">
                    <a:alpha val="50000"/>
                  </a:srgbClr>
                </a:solidFill>
                <a:latin typeface="Microsoft YaHei"/>
                <a:ea typeface="Microsoft YaHei"/>
              </a:rPr>
              <a:t>欢迎批评指正</a:t>
            </a:r>
            <a:endParaRPr/>
          </a:p>
        </p:txBody>
      </p:sp>
      <p:sp>
        <p:nvSpPr>
          <p:cNvPr id="978" name=""/>
          <p:cNvSpPr/>
          <p:nvPr/>
        </p:nvSpPr>
        <p:spPr>
          <a:xfrm rot="0" flipH="0" flipV="0">
            <a:off x="2247900" y="6191250"/>
            <a:ext cx="247650" cy="9525"/>
          </a:xfrm>
          <a:prstGeom prst="rect">
            <a:avLst/>
          </a:prstGeom>
          <a:solidFill>
            <a:srgbClr val="F2F7F8">
              <a:alpha val="22000"/>
            </a:srgbClr>
          </a:solidFill>
          <a:ln/>
        </p:spPr>
        <p:txBody>
          <a:bodyPr/>
          <a:p/>
        </p:txBody>
      </p:sp>
      <p:sp>
        <p:nvSpPr>
          <p:cNvPr id="979" name="" descr="{&quot;isTemplate&quot;:true,&quot;type&quot;:&quot;text&quot;}"/>
          <p:cNvSpPr txBox="1"/>
          <p:nvPr/>
        </p:nvSpPr>
        <p:spPr>
          <a:xfrm rot="0" flipH="0" flipV="0">
            <a:off x="2628900" y="6143625"/>
            <a:ext cx="33432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60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2026 </a:t>
            </a:r>
            <a:r>
              <a:rPr lang="zh-CN" sz="713" spc="60">
                <a:solidFill>
                  <a:srgbClr val="F2F7F8">
                    <a:alpha val="34000"/>
                  </a:srgbClr>
                </a:solidFill>
                <a:latin typeface="Consolas"/>
                <a:ea typeface="Consolas"/>
              </a:rPr>
              <a:t>全国大学生数字媒体科技作品及创意竞赛</a:t>
            </a:r>
            <a:endParaRPr/>
          </a:p>
        </p:txBody>
      </p:sp>
      <p:sp>
        <p:nvSpPr>
          <p:cNvPr id="980" name=""/>
          <p:cNvSpPr/>
          <p:nvPr/>
        </p:nvSpPr>
        <p:spPr>
          <a:xfrm rot="0" flipH="0" flipV="0">
            <a:off x="10391775" y="5429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6BC8D1"/>
          </a:solidFill>
          <a:ln/>
        </p:spPr>
        <p:txBody>
          <a:bodyPr/>
          <a:p/>
        </p:txBody>
      </p:sp>
      <p:sp>
        <p:nvSpPr>
          <p:cNvPr id="981" name="" descr="{&quot;isTemplate&quot;:true,&quot;type&quot;:&quot;text&quot;}"/>
          <p:cNvSpPr txBox="1"/>
          <p:nvPr/>
        </p:nvSpPr>
        <p:spPr>
          <a:xfrm rot="0" flipH="0" flipV="0">
            <a:off x="10525125" y="514350"/>
            <a:ext cx="10763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13" spc="105">
                <a:solidFill>
                  <a:srgbClr val="F2F7F8">
                    <a:alpha val="46000"/>
                  </a:srgbClr>
                </a:solidFill>
                <a:latin typeface="Consolas"/>
                <a:ea typeface="Consolas"/>
              </a:rPr>
              <a:t>ZHIYU NETWORK LAB</a:t>
            </a:r>
            <a:endParaRPr/>
          </a:p>
        </p:txBody>
      </p:sp>
      <p:sp>
        <p:nvSpPr>
          <p:cNvPr id="982" name="" descr="{&quot;isTemplate&quot;:true,&quot;type&quot;:&quot;text&quot;}"/>
          <p:cNvSpPr txBox="1"/>
          <p:nvPr/>
        </p:nvSpPr>
        <p:spPr>
          <a:xfrm rot="0" flipH="0" flipV="0">
            <a:off x="11268075" y="6457950"/>
            <a:ext cx="390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F2F7F8">
                    <a:alpha val="40000"/>
                  </a:srgbClr>
                </a:solidFill>
                <a:latin typeface="Consolas"/>
                <a:ea typeface="Consolas"/>
              </a:rPr>
              <a:t>28 / 28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2026-10-20T09:56:06Z</dcterms:created>
  <dcterms:modified xsi:type="dcterms:W3CDTF">2026-10-20T09:56:06Z</dcterms:modified>
</cp:coreProperties>
</file>