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33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3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20" Type="http://schemas.openxmlformats.org/officeDocument/2006/relationships/slide" Target="slides/slide2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33" Type="http://schemas.openxmlformats.org/officeDocument/2006/relationships/slide" Target="slides/slide33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7" Type="http://schemas.openxmlformats.org/officeDocument/2006/relationships/slide" Target="slides/slide7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8" Type="http://schemas.openxmlformats.org/officeDocument/2006/relationships/slide" Target="slides/slide8.xml" /><Relationship Id="rId31" Type="http://schemas.openxmlformats.org/officeDocument/2006/relationships/slide" Target="slides/slide31.xml" /><Relationship Id="rId4" Type="http://schemas.openxmlformats.org/officeDocument/2006/relationships/slide" Target="slides/slide4.xml" /><Relationship Id="rId32" Type="http://schemas.openxmlformats.org/officeDocument/2006/relationships/slide" Target="slides/slide32.xml" /><Relationship Id="rId34" Type="http://schemas.openxmlformats.org/officeDocument/2006/relationships/slide" Target="slides/slide34.xml" /><Relationship Id="rId39" Type="http://schemas.openxmlformats.org/officeDocument/2006/relationships/viewProps" Target="viewProps.xml" /><Relationship Id="rId35" Type="http://schemas.openxmlformats.org/officeDocument/2006/relationships/slide" Target="slides/slide35.xml" /><Relationship Id="rId36" Type="http://schemas.openxmlformats.org/officeDocument/2006/relationships/notesMaster" Target="notesMasters/notesMaster1.xml" 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6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7.svg" /><Relationship Id="rId2" Type="http://schemas.openxmlformats.org/officeDocument/2006/relationships/image" Target="media/image38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39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8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12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8.png" /><Relationship Id="rId3" Type="http://schemas.openxmlformats.org/officeDocument/2006/relationships/image" Target="media/image19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0.png" /></Relationships>
</file>

<file path=ppt/slides/_rels/slide25.xml.rels><?xml version="1.0" encoding="UTF-8" standalone="yes"?><Relationships xmlns="http://schemas.openxmlformats.org/package/2006/relationships"><Relationship Id="rId3" Type="http://schemas.openxmlformats.org/officeDocument/2006/relationships/image" Target="media/image2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4" Type="http://schemas.openxmlformats.org/officeDocument/2006/relationships/image" Target="media/image23.png" /><Relationship Id="rId2" Type="http://schemas.openxmlformats.org/officeDocument/2006/relationships/image" Target="media/image21.png" /></Relationships>
</file>

<file path=ppt/slides/_rels/slide26.xml.rels><?xml version="1.0" encoding="UTF-8" standalone="yes"?><Relationships xmlns="http://schemas.openxmlformats.org/package/2006/relationships"><Relationship Id="rId3" Type="http://schemas.openxmlformats.org/officeDocument/2006/relationships/image" Target="media/image25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4.png" /><Relationship Id="rId4" Type="http://schemas.openxmlformats.org/officeDocument/2006/relationships/image" Target="media/image26.png" /><Relationship Id="rId5" Type="http://schemas.openxmlformats.org/officeDocument/2006/relationships/image" Target="media/image27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4.png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8.pn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9.png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6.png" /></Relationships>
</file>

<file path=ppt/slides/_rels/slide31.xml.rels><?xml version="1.0" encoding="UTF-8" standalone="yes"?><Relationships xmlns="http://schemas.openxmlformats.org/package/2006/relationships"><Relationship Id="rId2" Type="http://schemas.openxmlformats.org/officeDocument/2006/relationships/image" Target="media/image31.pn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5.png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7.png" /></Relationships>
</file>

<file path=ppt/slides/_rels/slide34.xml.rels><?xml version="1.0" encoding="UTF-8" standalone="yes"?><Relationships xmlns="http://schemas.openxmlformats.org/package/2006/relationships"><Relationship Id="rId3" Type="http://schemas.openxmlformats.org/officeDocument/2006/relationships/image" Target="media/image33.png" /><Relationship Id="rId2" Type="http://schemas.openxmlformats.org/officeDocument/2006/relationships/image" Target="media/image3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4" Type="http://schemas.openxmlformats.org/officeDocument/2006/relationships/image" Target="media/image34.pn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62 }} /&gt;&#13;&#10;    &lt;Box style={{ position: 'absolute', left: 0, top: 0, width: 1280, height: 720, background: 'linear-gradient(90deg, #07111B 0%, rgba(7,17,27,0.98) 34%, rgba(7,17,27,0.78) 56%, rgba(7,17,27,0.38) 100%)' }} /&gt;&#13;&#10;    &lt;Box style={{ position: 'absolute', left: 0, top: 0, width: 1280, height: 720, background: 'linear-gradient(180deg, rgba(7,17,27,0.30) 0%, rgba(7,17,27,0) 30%, rgba(7,17,27,0) 70%, rgba(7,17,27,0.72) 100%)' }} /&gt;&#13;&#10;    &lt;Box style={{ position: 'absolute', left: 0, top: 0, width: 5, height: 720, background: '#6BC8D1', opacity: 0.6 }} /&gt;&#13;&#10;&#13;&#10;    &lt;Box style={{ position: 'absolute', left: 72, top: 88, width: 560 }}&gt;&#13;&#10;        &lt;Box style={{ flexDirection: 'row', alignItems: 'center', gap: 10 }}&gt;&#13;&#10;            &lt;Box style={{ width: 18, height: 1, background: '#6BC8D1' }} /&gt;&#13;&#10;            &lt;Text style={{ fontFamily: 'Consolas', fontSize: 11, color: '#6BC8D1', letterSpacing: 1.5 }}&gt;2026 全国大学生数字媒体科技作品及创意竞赛&lt;/Text&gt;&#13;&#10;        &lt;/Box&gt;&#13;&#10;        &lt;Text style={{ marginTop: 24, fontFamily: 'Microsoft YaHei', fontSize: 82, fontWeight: 'bold', color: '#F2F7F8', letterSpacing: 4, lineHeight: 1.05 }}&gt;智御网络&lt;/Text&gt;&#13;&#10;        &lt;Box style={{ marginTop: 14, width: 48, height: 3, background: '#6BC8D1' }} /&gt;&#13;&#10;        &lt;Text style={{ marginTop: 18, fontFamily: 'Microsoft YaHei', fontSize: 24, color: '#F2F7F8', letterSpacing: 1.2 }}&gt;三维网络安全策略交互验证平台&lt;/Text&gt;&#13;&#10;        &lt;Text style={{ marginTop: 18, fontFamily: 'Microsoft YaHei', fontSize: 14.5, color: 'rgba(242,247,248,0.68)', lineHeight: 1.8, width: 450 }}&gt;&#13;&#10;            在企业网络沙盘中调整拓扑与防御策略，观察事件路径、攻击状态、业务可达性，并用 A/B 对照验证每一次改动。&#13;&#10;        &lt;/Text&gt;&#13;&#10;        &lt;Box style={{ marginTop: 26, flexDirection: 'row', gap: 10 }}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三维交互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状态推演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A/B 验证&lt;/Text&gt;&#13;&#10;            &lt;/Box&gt;&#13;&#10;        &lt;/Box&gt;&#13;&#10;    &lt;/Box&gt;&#13;&#10;&#13;&#10;    &lt;Box style={{ position: 'absolute', left: 72, bottom: 50, flexDirection: 'row', alignItems: 'center', gap: 14 }}&gt;&#13;&#10;        &lt;Text style={{ fontFamily: 'Consolas', fontSize: 11, color: 'rgba(242,247,248,0.48)', letterSpacing: 1.4 }}&gt;参赛作品汇报&lt;/Text&gt;&#13;&#10;        &lt;Box style={{ width: 26, height: 1, background: 'rgba(242,247,248,0.24)' }} /&gt;&#13;&#10;        &lt;Text style={{ fontFamily: 'Consolas', fontSize: 11, color: 'rgba(242,247,248,0.48)', letterSpacing: 1.4 }}&gt;2026.10&lt;/Text&gt;&#13;&#10;    &lt;/Box&gt;&#13;&#10;&#13;&#10;    &lt;Box style={{ position: 'absolute', right: 56, top: 44, flexDirection: 'row', alignItems: 'center', gap: 8 }}&gt;&#13;&#10;        &lt;Box style={{ width: 6, height: 6, borderRadius: 3, background: '#6BC8D1' }} /&gt;&#13;&#10;        &lt;Text style={{ fontFamily: 'Consolas', fontSize: 10, color: 'rgba(242,247,248,0.52)', letterSpacing: 1.6 }}&gt;INTERACTIVE SECURITY SANDBOX&lt;/Text&gt;&#13;&#10;    &lt;/Box&gt;&#13;&#10;&#13;&#10;    &lt;Box style={{ position: 'absolute', right: 56, bottom: 50, flexDirection: 'row', alignItems: 'center', gap: 10 }}&gt;&#13;&#10;        &lt;Text style={{ fontFamily: 'Consolas', fontSize: 10, color: 'rgba(242,247,248,0.46)', letterSpacing: 1 }}&gt;核心实验 · 终端失陷与横向传播&lt;/Text&gt;&#13;&#10;        &lt;Box style={{ width: 22, height: 1, background: 'rgba(107,200,209,0.46)' }} /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62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34000">
                <a:srgbClr val="07111B">
                  <a:alpha val="98000"/>
                </a:srgbClr>
              </a:gs>
              <a:gs pos="56000">
                <a:srgbClr val="07111B">
                  <a:alpha val="78000"/>
                </a:srgbClr>
              </a:gs>
              <a:gs pos="100000">
                <a:srgbClr val="07111B">
                  <a:alpha val="3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0000"/>
                </a:srgbClr>
              </a:gs>
              <a:gs pos="30000">
                <a:srgbClr val="07111B">
                  <a:alpha val="0"/>
                </a:srgbClr>
              </a:gs>
              <a:gs pos="70000">
                <a:srgbClr val="07111B">
                  <a:alpha val="0"/>
                </a:srgbClr>
              </a:gs>
              <a:gs pos="100000">
                <a:srgbClr val="07111B">
                  <a:alpha val="7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685800" y="904875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52500" y="838200"/>
            <a:ext cx="3533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6BC8D1"/>
                </a:solidFill>
                <a:latin typeface="Consolas"/>
                <a:ea typeface="Consolas"/>
              </a:rPr>
              <a:t>2026 </a:t>
            </a:r>
            <a:r>
              <a:rPr lang="zh-CN" sz="825" spc="113">
                <a:solidFill>
                  <a:srgbClr val="6BC8D1"/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5334000" cy="9906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150" b="1" spc="300">
                <a:solidFill>
                  <a:srgbClr val="F2F7F8"/>
                </a:solidFill>
                <a:latin typeface="Microsoft YaHei"/>
                <a:ea typeface="Microsoft YaHei"/>
              </a:rPr>
              <a:t>智御网络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2324100"/>
            <a:ext cx="4572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90">
                <a:solidFill>
                  <a:srgbClr val="F2F7F8"/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4286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在企业网络沙盘中调整拓扑与防御策略，观察事件路径、攻击状态、业务可达性，并用</a:t>
            </a:r>
            <a:r>
              <a:rPr lang="en-US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 A/B </a:t>
            </a: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对照验证每一次改动。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580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三维交互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69545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80975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705100" y="3819525"/>
            <a:ext cx="81915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819400" y="3876675"/>
            <a:ext cx="590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60">
                <a:solidFill>
                  <a:srgbClr val="6BC8D1"/>
                </a:solidFill>
                <a:latin typeface="Consolas"/>
                <a:ea typeface="Consolas"/>
              </a:rPr>
              <a:t>A/B </a:t>
            </a: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验证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6248400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参赛作品汇报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876425" y="6315075"/>
            <a:ext cx="247650" cy="9525"/>
          </a:xfrm>
          <a:prstGeom prst="rect">
            <a:avLst/>
          </a:prstGeom>
          <a:solidFill>
            <a:srgbClr val="F2F7F8">
              <a:alpha val="24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257425" y="624840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2026.10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9629775" y="447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763125" y="419100"/>
            <a:ext cx="18954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2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INTERACTIVE SECURITY SANDBOX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934450" y="6267450"/>
            <a:ext cx="2419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核心实验</a:t>
            </a:r>
            <a:r>
              <a:rPr lang="en-US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终端失陷与横向传播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49050" y="6324600"/>
            <a:ext cx="209550" cy="9525"/>
          </a:xfrm>
          <a:prstGeom prst="rect">
            <a:avLst/>
          </a:prstGeom>
          <a:solidFill>
            <a:srgbClr val="6BC8D1">
              <a:alpha val="46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6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8)' strokeWidth='1'&gt;&#13;&#10;            &lt;path d='M0 64H1280M0 128H1280M0 192H1280M0 256H1280M0 320H1280M0 384H1280M0 448H1280M0 512H1280M0 576H1280M0 640H1280' /&gt;&#13;&#10;            &lt;path d='M64 0V720M128 0V720M192 0V720M256 0V720M320 0V720M384 0V720M448 0V720M512 0V720M576 0V720M640 0V720M704 0V720M768 0V720M832 0V720M896 0V720M960 0V720M1024 0V720M1088 0V720M1152 0V720M1216 0V720' /&gt;&#13;&#10;        &lt;/g&gt;&#13;&#10;        &lt;circle cx='1120' cy='60' r='260' fill='rgba(107,200,209,0.05)' /&gt;&#13;&#10;    &lt;/svg&gt;&#13;&#10;    &lt;Box style={{ position: 'absolute', left: 0, top: 0, width: 4, height: 720, background: '#6BC8D1', opacity: 0.5 }} /&gt;&#13;&#10;&#13;&#10;    &lt;Box style={{ position: 'absolute', left: 56, top: 38 }}&gt;&#13;&#10;        &lt;Text style={{ fontFamily: 'Consolas', fontSize: 11, color: '#6BC8D1', letterSpacing: 2 }}&gt;CONTENTS&lt;/Text&gt;&#13;&#10;    &lt;/Box&gt;&#13;&#10;&#13;&#10;    &lt;Box style={{ position: 'absolute', left: 56, top: 94, width: 268 }}&gt;&#13;&#10;        &lt;Text style={{ fontFamily: 'Microsoft YaHei', fontSize: 54, fontWeight: 'bold', color: '#F2F7F8', letterSpacing: 2 }}&gt;目录&lt;/Text&gt;&#13;&#10;        &lt;Box style={{ marginTop: 18, width: 34, height: 2, background: '#6BC8D1' }} /&gt;&#13;&#10;        &lt;Text style={{ marginTop: 22, fontFamily: 'Microsoft YaHei', fontSize: 13, color: 'rgba(242,247,248,0.58)', lineHeight: 1.9 }}&gt;&#13;&#10;            五章，回答五个问题：&lt;br /&gt;为什么做、做了什么、&lt;br /&gt;怎么做到、怎么验证、&lt;br /&gt;价值在哪里。&#13;&#10;        &lt;/Text&gt;&#13;&#10;        &lt;Box style={{ marginTop: 30, paddingTop: 12, borderTop: '1px solid rgba(242,247,248,0.12)', flexDirection: 'row', gap: 20 }}&gt;&#13;&#10;            &lt;Box&gt;&#13;&#10;                &lt;Text style={{ fontFamily: 'Consolas', fontSize: 26, fontWeight: 'bold', color: '#F2F7F8' }}&gt;05&lt;/Text&gt;&#13;&#10;                &lt;Text style={{ marginTop: 2, fontFamily: 'Consolas', fontSize: 9.5, color: 'rgba(242,247,248,0.40)', letterSpacing: 1 }}&gt;CHAPTERS&lt;/Text&gt;&#13;&#10;            &lt;/Box&gt;&#13;&#10;            &lt;Box&gt;&#13;&#10;                &lt;Text style={{ fontFamily: 'Consolas', fontSize: 26, fontWeight: 'bold', color: '#F2F7F8' }}&gt;35&lt;/Text&gt;&#13;&#10;                &lt;Text style={{ marginTop: 2, fontFamily: 'Consolas', fontSize: 9.5, color: 'rgba(242,247,248,0.40)', letterSpacing: 1 }}&gt;PAGES&lt;/Text&gt;&#13;&#10;            &lt;/Box&gt;&#13;&#10;        &lt;/Box&gt;&#13;&#10;    &lt;/Box&gt;&#13;&#10;&#13;&#10;    &lt;Box style={{ position: 'absolute', left: 366, top: 84, width: 2, height: 566, background: 'rgba(242,247,248,0.10)' }} /&gt;&#13;&#10;&#13;&#10;    &lt;Box style={{ position: 'absolute', left: 410, top: 72, width: 814 }}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1&lt;/Text&gt;&#13;&#10;            &lt;Box style={{ width: 620 }}&gt;&#13;&#10;                &lt;Text style={{ fontFamily: 'Microsoft YaHei', fontSize: 23, fontWeight: 'bold', color: '#F2F7F8', letterSpacing: 0.5 }}&gt;背景与问题&lt;/Text&gt;&#13;&#10;                &lt;Text style={{ marginTop: 5, fontFamily: 'Microsoft YaHei', fontSize: 12, color: 'rgba(242,247,248,0.55)' }}&gt;安全策略教学，为什么“讲了”却“不会用”？&lt;/Text&gt;&#13;&#10;            &lt;/Box&gt;&#13;&#10;            &lt;Text style={{ width: 84, textAlign: 'right', fontFamily: 'Consolas', fontSize: 11, color: 'rgba(242,247,248,0.40)' }}&gt;P.03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2&lt;/Text&gt;&#13;&#10;            &lt;Box style={{ width: 620 }}&gt;&#13;&#10;                &lt;Text style={{ fontFamily: 'Microsoft YaHei', fontSize: 23, fontWeight: 'bold', color: '#F2F7F8', letterSpacing: 0.5 }}&gt;作品概览&lt;/Text&gt;&#13;&#10;                &lt;Text style={{ marginTop: 5, fontFamily: 'Microsoft YaHei', fontSize: 12, color: 'rgba(242,247,248,0.55)' }}&gt;一个平台、六个工作面、七个实验场景。&lt;/Text&gt;&#13;&#10;            &lt;/Box&gt;&#13;&#10;            &lt;Text style={{ width: 84, textAlign: 'right', fontFamily: 'Consolas', fontSize: 11, color: 'rgba(242,247,248,0.40)' }}&gt;P.05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3&lt;/Text&gt;&#13;&#10;            &lt;Box style={{ width: 620 }}&gt;&#13;&#10;                &lt;Text style={{ fontFamily: 'Microsoft YaHei', fontSize: 23, fontWeight: 'bold', color: '#F2F7F8', letterSpacing: 0.5 }}&gt;核心机制&lt;/Text&gt;&#13;&#10;                &lt;Text style={{ marginTop: 5, fontFamily: 'Microsoft YaHei', fontSize: 12, color: 'rgba(242,247,248,0.55)' }}&gt;双引擎、三维沙盘、策略判定与状态链。&lt;/Text&gt;&#13;&#10;            &lt;/Box&gt;&#13;&#10;            &lt;Text style={{ width: 84, textAlign: 'right', fontFamily: 'Consolas', fontSize: 11, color: 'rgba(242,247,248,0.40)' }}&gt;P.09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4&lt;/Text&gt;&#13;&#10;            &lt;Box style={{ width: 620 }}&gt;&#13;&#10;                &lt;Text style={{ fontFamily: 'Microsoft YaHei', fontSize: 23, fontWeight: 'bold', color: '#F2F7F8', letterSpacing: 0.5 }}&gt;实验与验证&lt;/Text&gt;&#13;&#10;                &lt;Text style={{ marginTop: 5, fontFamily: 'Microsoft YaHei', fontSize: 12, color: 'rgba(242,247,248,0.55)' }}&gt;七个场景、一条教学闭环、清晰的模型边界。&lt;/Text&gt;&#13;&#10;            &lt;/Box&gt;&#13;&#10;            &lt;Text style={{ width: 84, textAlign: 'right', fontFamily: 'Consolas', fontSize: 11, color: 'rgba(242,247,248,0.40)' }}&gt;P.16&lt;/Text&gt;&#13;&#10;        &lt;/Box&gt;&#13;&#10;        &lt;Box style={{ flexDirection: 'row', alignItems: 'center', height: 100 }}&gt;&#13;&#10;            &lt;Text style={{ width: 58, fontFamily: 'Consolas', fontSize: 13, color: '#6BC8D1', letterSpacing: 1 }}&gt;05&lt;/Text&gt;&#13;&#10;            &lt;Box style={{ width: 620 }}&gt;&#13;&#10;                &lt;Text style={{ fontFamily: 'Microsoft YaHei', fontSize: 23, fontWeight: 'bold', color: '#F2F7F8', letterSpacing: 0.5 }}&gt;价值与展望&lt;/Text&gt;&#13;&#10;                &lt;Text style={{ marginTop: 5, fontFamily: 'Microsoft YaHei', fontSize: 12, color: 'rgba(242,247,248,0.55)' }}&gt;三个创新点，最终都指向“可验证”。&lt;/Text&gt;&#13;&#10;            &lt;/Box&gt;&#13;&#10;            &lt;Text style={{ width: 84, textAlign: 'right', fontFamily: 'Consolas', fontSize: 11, color: 'rgba(242,247,248,0.40)' }}&gt;P.20&lt;/Text&gt;&#13;&#10;        &lt;/Box&gt;&#13;&#10;    &lt;/Box&gt;&#13;&#10;&#13;&#10;    &lt;Box style={{ position: 'absolute', left: 410, top: 604, flexDirection: 'row', alignItems: 'center', gap: 8 }}&gt;&#13;&#10;        &lt;Text style={{ fontFamily: 'Consolas', fontSize: 9.5, color: '#6BC8D1', letterSpacing: 1.2 }}&gt;APPENDIX&lt;/Text&gt;&#13;&#10;        &lt;Box style={{ width: 18, height: 1, background: 'rgba(107,200,209,0.40)' }} /&gt;&#13;&#10;        &lt;Text style={{ fontFamily: 'Microsoft YaHei', fontSize: 10.5, color: 'rgba(242,247,248,0.44)' }}&gt;场景与功能图集 · 13 页 · P.22–34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2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0" y="0"/>
            <a:ext cx="38100" cy="6858000"/>
          </a:xfrm>
          <a:prstGeom prst="rect">
            <a:avLst/>
          </a:pr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619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CONTENTS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33400" y="895350"/>
            <a:ext cx="25527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 spc="150">
                <a:solidFill>
                  <a:srgbClr val="F2F7F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33400" y="1685925"/>
            <a:ext cx="323850" cy="19050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533400" y="1914525"/>
            <a:ext cx="2552700" cy="11334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五章，回答五个问题：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为什么做、做了什么、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怎么做到、怎么验证、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价值在哪里。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533400" y="3333750"/>
            <a:ext cx="2552700" cy="571500"/>
          </a:xfrm>
          <a:custGeom>
            <a:pathLst>
              <a:path w="268" h="60">
                <a:moveTo>
                  <a:pt x="0" y="0"/>
                </a:moveTo>
                <a:lnTo>
                  <a:pt x="268" y="0"/>
                </a:lnTo>
                <a:lnTo>
                  <a:pt x="2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33400" y="3457575"/>
            <a:ext cx="476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" y="3781425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CHAPTERS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200150" y="3457575"/>
            <a:ext cx="304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35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200150" y="378142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PAGES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486150" y="800100"/>
            <a:ext cx="19050" cy="5391150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3905250" y="685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905250" y="108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457700" y="93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457700" y="124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安全策略教学，为什么“讲了”却“不会用”？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0363200" y="109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P.03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905250" y="1638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905250" y="2038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57700" y="1885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457700" y="2200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一个平台、六个工作面、七个实验场景。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363200" y="2047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P.05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3905250" y="2590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3905250" y="2990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4457700" y="2838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457700" y="3152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双引擎、三维沙盘、策略判定与状态链。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363200" y="3000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P.09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905250" y="3543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905250" y="3943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457700" y="3790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457700" y="4105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七个场景、一条教学闭环、清晰的模型边界。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363200" y="3952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P.16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905250" y="489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457700" y="474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4457700" y="505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三个创新点，最终都指向“可验证”。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0363200" y="490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P.20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905250" y="5762625"/>
            <a:ext cx="495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APPENDIX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4476750" y="58102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724400" y="5753100"/>
            <a:ext cx="1476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场景与功能图集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· 13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页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· P.22–34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02 / 35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2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22)' strokeWidth='1' fill='none'&gt;&#13;&#10;            &lt;path d='M760 450L850 340L980 400L1090 280L1180 340' /&gt;&#13;&#10;            &lt;path d='M850 340L900 480L1010 520L1090 280' /&gt;&#13;&#10;        &lt;/g&gt;&#13;&#10;        &lt;g fill='#6BC8D1'&gt;&#13;&#10;            &lt;circle cx='760' cy='450' r='4' opacity='0.6' /&gt;&#13;&#10;            &lt;circle cx='850' cy='340' r='5' opacity='0.8' /&gt;&#13;&#10;            &lt;circle cx='980' cy='400' r='4' opacity='0.55' /&gt;&#13;&#10;            &lt;circle cx='1090' cy='280' r='6' opacity='0.9' /&gt;&#13;&#10;            &lt;circle cx='1180' cy='340' r='3.5' opacity='0.5' /&gt;&#13;&#10;            &lt;circle cx='900' cy='480' r='4' opacity='0.55' /&gt;&#13;&#10;            &lt;circle cx='1010' cy='520' r='5' opacity='0.6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1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1 / 05&lt;/Text&gt;&#13;&#10;    &lt;/Box&gt;&#13;&#10;    &lt;Box style={{ position: 'absolute', left: 72, top: 176, width: 620 }}&gt;&#13;&#10;        &lt;Text style={{ fontFamily: 'Microsoft YaHei', fontSize: 58, fontWeight: 'bold', color: '#F2F7F8', letterSpacing: 2 }}&gt;背景与问题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安全策略教学，缺的不是知识，而是一次可重复的验证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1.1&lt;/Text&gt;&#13;&#10;            &lt;Text style={{ fontFamily: 'Microsoft YaHei', fontSize: 14, color: 'rgba(242,247,248,0.72)' }}&gt;三个教学困境：看不见、不敢动、难验证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1.2&lt;/Text&gt;&#13;&#10;            &lt;Text style={{ fontFamily: 'Microsoft YaHei', fontSize: 14, color: 'rgba(242,247,248,0.72)' }}&gt;一个核心矛盾：效果必须可观察，网络不允许试错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1.3&lt;/Text&gt;&#13;&#10;            &lt;Text style={{ fontFamily: 'Microsoft YaHei', fontSize: 14, color: 'rgba(242,247,248,0.72)' }}&gt;从“记住规则”走向“看见后果”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BACKGROUND&lt;/Text&gt;&#13;&#10;    &lt;/Box&gt;&#13;&#10;    &lt;Text style={{ position: 'absolute', right: 56, top: 664, fontFamily: 'Consolas', fontSize: 10.5, color: 'rgba(242,247,248,0.40)' }}&gt;03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01 / 05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安全策略教学，缺的不是知识，而是一次可重复的验证。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01.1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三个教学困境：看不见、不敢动、难验证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01.2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一个核心矛盾：效果必须可观察，网络不允许试错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01.3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从“记住规则”走向“看见后果”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BACKGROUND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03 / 35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6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180' cy='120' r='220' fill='rgba(107,200,209,0.035)' /&gt;&#13;&#10;    &lt;/svg&gt;&#13;&#10;&#13;&#10;    &lt;Box style={{ position: 'absolute', left: 56, top: 38 }}&gt;&#13;&#10;        &lt;Text style={{ fontFamily: 'Consolas', fontSize: 11, color: '#6BC8D1', letterSpacing: 1.8 }}&gt;01 / 背景与问题&lt;/Text&gt;&#13;&#10;    &lt;/Box&gt;&#13;&#10;    &lt;Text style={{ position: 'absolute', left: 56, top: 62, fontFamily: 'Microsoft YaHei', fontSize: 32, fontWeight: 'bold', color: '#F2F7F8', letterSpacing: 0.5 }}&gt;为什么“讲了”却“不会用”？&lt;/Text&gt;&#13;&#10;    &lt;Text style={{ position: 'absolute', right: 56, top: 76, fontFamily: 'Consolas', fontSize: 10.5, color: 'rgba(242,247,248,0.42)' }}&gt;THREE GAPS · ONE CONTRADICTION&lt;/Text&gt;&#13;&#10;&#13;&#10;    &lt;Box style={{ position: 'absolute', left: 56, top: 140, width: 650 }}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1&lt;/Text&gt;&#13;&#10;            &lt;Box style={{ width: 560 }}&gt;&#13;&#10;                &lt;Text style={{ marginTop: 16, fontFamily: 'Microsoft YaHei', fontSize: 19, fontWeight: 'bold', color: '#F2F7F8' }}&gt;看不见&lt;/Text&gt;&#13;&#10;                &lt;Text style={{ marginTop: 8, fontFamily: 'Microsoft YaHei', fontSize: 13.5, color: 'rgba(242,247,248,0.64)', lineHeight: 1.75 }}&gt;&#13;&#10;                    拓扑、VLAN、路由和规则顺序都藏在配置里。学生只能靠想象还原一条路径，更看不见它在哪一跳被拒绝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2&lt;/Text&gt;&#13;&#10;            &lt;Box style={{ width: 560 }}&gt;&#13;&#10;                &lt;Text style={{ marginTop: 16, fontFamily: 'Microsoft YaHei', fontSize: 19, fontWeight: 'bold', color: '#F2F7F8' }}&gt;不敢动&lt;/Text&gt;&#13;&#10;                &lt;Text style={{ marginTop: 8, fontFamily: 'Microsoft YaHei', fontSize: 13.5, color: 'rgba(242,247,248,0.64)', lineHeight: 1.75 }}&gt;&#13;&#10;                    真实设备不能反复试错。一次错误的放行、一条位置不当的规则，都可能直接中断业务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E78172' }}&gt;03&lt;/Text&gt;&#13;&#10;            &lt;Box style={{ width: 560 }}&gt;&#13;&#10;                &lt;Text style={{ marginTop: 16, fontFamily: 'Microsoft YaHei', fontSize: 19, fontWeight: 'bold', color: '#F2F7F8' }}&gt;难验证&lt;/Text&gt;&#13;&#10;                &lt;Text style={{ marginTop: 8, fontFamily: 'Microsoft YaHei', fontSize: 13.5, color: 'rgba(242,247,248,0.64)', lineHeight: 1.75 }}&gt;&#13;&#10;                    改完规则只知道“好像更安全”，却说不清是挡住了风险，还是把必要业务一起切断了。&#13;&#10;                &lt;/Text&gt;&#13;&#10;            &lt;/Box&gt;&#13;&#10;        &lt;/Box&gt;&#13;&#10;        &lt;Text style={{ marginTop: 18, width: 620, fontFamily: 'Microsoft YaHei', fontSize: 14.5, color: 'rgba(242,247,248,0.58)', lineHeight: 1.8 }}&gt;&#13;&#10;            所以问题不是“再讲一遍规则”，而是让学生在一个允许犯错的网络里，看见每一次改动的后果。&#13;&#10;        &lt;/Text&gt;&#13;&#10;    &lt;/Box&gt;&#13;&#10;&#13;&#10;    &lt;Box style={{ position: 'absolute', left: 742, top: 140, width: 482, height: 392, padding: 22, background: 'linear-gradient(145deg, rgba(242,247,248,0.055) 0%, rgba(242,247,248,0.022) 100%)', border: '1px solid rgba(107,200,209,0.16)', borderRadius: 10 }}&gt;&#13;&#10;        &lt;Text style={{ fontFamily: 'Consolas', fontSize: 10, color: 'rgba(242,247,248,0.42)', letterSpacing: 1.5 }}&gt;THE GAP&lt;/Text&gt;&#13;&#10;        &lt;Text style={{ marginTop: 8, fontFamily: 'Microsoft YaHei', fontSize: 15, fontWeight: 'bold', color: '#F2F7F8' }}&gt;同一组规则，顺序不同，结果相反&lt;/Text&gt;&#13;&#10;        &lt;Box style={{ marginTop: 16, padding: 12, background: 'rgba(7,17,27,0.55)', border: '1px solid rgba(242,247,248,0.08)', borderRadius: 6 }}&gt;&#13;&#10;            &lt;Text style={{ fontFamily: 'Consolas', fontSize: 10.5, color: 'rgba(242,247,248,0.62)', lineHeight: 1.9 }}&gt;&#13;&#10;                10  ALLOW  Office → DB  DATABASE&lt;br /&gt;&#13;&#10;                20  DENY   Office → Database  ANY&#13;&#10;            &lt;/Text&gt;&#13;&#10;        &lt;/Box&gt;&#13;&#10;        &lt;Box style={{ marginTop: 14, flexDirection: 'row', alignItems: 'center', gap: 12 }}&gt;&#13;&#10;            &lt;Box style={{ flex: 1, height: 1, background: 'rgba(242,247,248,0.12)' }} /&gt;&#13;&#10;            &lt;Text style={{ fontFamily: 'Consolas', fontSize: 10, color: 'rgba(242,247,248,0.38)', letterSpacing: 1 }}&gt;CONFIG TEXT&lt;/Text&gt;&#13;&#10;            &lt;Box style={{ flex: 1, height: 1, background: 'rgba(242,247,248,0.12)' }} /&gt;&#13;&#10;        &lt;/Box&gt;&#13;&#10;        &lt;Text style={{ marginTop: 8, textAlign: 'center', fontFamily: 'Consolas', fontSize: 64, fontWeight: 'bold', color: '#6BC8D1', lineHeight: 1 }}&gt;?&lt;/Text&gt;&#13;&#10;        &lt;Box style={{ marginTop: 4, flexDirection: 'row', gap: 8 }}&gt;&#13;&#10;            &lt;Box style={{ flex: 1, padding: 10, border: '1px solid rgba(231,129,114,0.26)', borderRadius: 6, background: 'rgba(231,129,114,0.06)' }}&gt;&#13;&#10;                &lt;Text style={{ fontFamily: 'Microsoft YaHei', fontSize: 11.5, color: '#E78172', fontWeight: 'bold' }}&gt;风险被阻断？&lt;/Text&gt;&#13;&#10;                &lt;Text style={{ marginTop: 4, fontFamily: 'Microsoft YaHei', fontSize: 10.5, color: 'rgba(242,247,248,0.48)', lineHeight: 1.6 }}&gt;还是只是路径没走到&lt;/Text&gt;&#13;&#10;            &lt;/Box&gt;&#13;&#10;            &lt;Box style={{ flex: 1, padding: 10, border: '1px solid rgba(107,200,209,0.24)', borderRadius: 6, background: 'rgba(107,200,209,0.05)' }}&gt;&#13;&#10;                &lt;Text style={{ fontFamily: 'Microsoft YaHei', fontSize: 11.5, color: '#6BC8D1', fontWeight: 'bold' }}&gt;业务仍可达？&lt;/Text&gt;&#13;&#10;                &lt;Text style={{ marginTop: 4, fontFamily: 'Microsoft YaHei', fontSize: 10.5, color: 'rgba(242,247,248,0.48)', lineHeight: 1.6 }}&gt;还是被一起切断&lt;/Text&gt;&#13;&#10;            &lt;/Box&gt;&#13;&#10;        &lt;/Box&gt;&#13;&#10;        &lt;Text style={{ marginTop: 12, fontFamily: 'Microsoft YaHei', fontSize: 10.5, color: 'rgba(242,247,248,0.38)', lineHeight: 1.6 }}&gt;没有可观察的结果，规则就只是一段文本。&lt;/Text&gt;&#13;&#10;    &lt;/Box&gt;&#13;&#10;&#13;&#10;    &lt;Box style={{ position: 'absolute', left: 56, top: 580, width: 1168, height: 56, paddingLeft: 18, paddingRight: 18, flexDirection: 'row', alignItems: 'center', background: 'rgba(107,200,209,0.055)', borderLeft: '2px solid #6BC8D1' }}&gt;&#13;&#10;        &lt;Text style={{ fontFamily: 'Consolas', fontSize: 10, color: '#6BC8D1', letterSpacing: 1.2, width: 92 }}&gt;核心矛盾&lt;/Text&gt;&#13;&#10;        &lt;Text style={{ fontFamily: 'Microsoft YaHei', fontSize: 15, color: 'rgba(242,247,248,0.82)' }}&gt;&#13;&#10;            策略效果必须可观察，但真实网络不允许反复试错——这正是“沙盘”存在的理由。&#13;&#10;        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4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背景与问题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为什么“讲了”却“不会用”？</a:t>
            </a:r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10001250" y="723900"/>
            <a:ext cx="1657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 GAPS · ONE CONTRADICTION</a:t>
            </a:r>
            <a:endParaRPr/>
          </a:p>
        </p:txBody>
      </p:sp>
      <p:sp>
        <p:nvSpPr>
          <p:cNvPr id="1271" name=""/>
          <p:cNvSpPr/>
          <p:nvPr/>
        </p:nvSpPr>
        <p:spPr>
          <a:xfrm rot="0" flipH="0" flipV="0">
            <a:off x="533400" y="13335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533400" y="15144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1123950" y="14954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看不见</a:t>
            </a:r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1123950" y="1790700"/>
            <a:ext cx="53340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拓扑、</a:t>
            </a:r>
            <a:r>
              <a:rPr lang="en-US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、路由和规则顺序都藏在配置里。学生只能靠想象还原一条路径，更看不见它在哪一跳被拒绝。</a:t>
            </a:r>
            <a:endParaRPr/>
          </a:p>
        </p:txBody>
      </p:sp>
      <p:sp>
        <p:nvSpPr>
          <p:cNvPr id="1275" name=""/>
          <p:cNvSpPr/>
          <p:nvPr/>
        </p:nvSpPr>
        <p:spPr>
          <a:xfrm rot="0" flipH="0" flipV="0">
            <a:off x="533400" y="245745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1123950" y="26193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不敢动</a:t>
            </a:r>
            <a:endParaRPr/>
          </a:p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1123950" y="29146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真实设备不能反复试错。一次错误的放行、一条位置不当的规则，都可能直接中断业务。</a:t>
            </a:r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533400" y="35814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533400" y="37623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78172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1123950" y="37433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难验证</a:t>
            </a:r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1123950" y="40386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改完规则只知道“好像更安全”，却说不清是挡住了风险，还是把必要业务一起切断了。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59055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所以问题不是“再讲一遍规则”，而是让学生在一个允许犯错的网络里，看见每一次改动的后果。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7067550" y="1333500"/>
            <a:ext cx="4591050" cy="3733800"/>
          </a:xfrm>
          <a:prstGeom prst="roundRect">
            <a:avLst>
              <a:gd name="adj" fmla="val 2551"/>
            </a:avLst>
          </a:prstGeom>
          <a:gradFill>
            <a:gsLst>
              <a:gs pos="0">
                <a:srgbClr val="F2F7F8">
                  <a:alpha val="5500"/>
                </a:srgbClr>
              </a:gs>
              <a:gs pos="100000">
                <a:srgbClr val="F2F7F8">
                  <a:alpha val="2200"/>
                </a:srgbClr>
              </a:gs>
            </a:gsLst>
            <a:lin ang="3300000" scaled="1"/>
          </a:gradFill>
          <a:ln w="12700">
            <a:solidFill>
              <a:srgbClr val="6BC8D1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7277100" y="1543050"/>
            <a:ext cx="417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13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THE GAP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7277100" y="17335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同一组规则，顺序不同，结果相反</a:t>
            </a:r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7277100" y="2057400"/>
            <a:ext cx="4171950" cy="685800"/>
          </a:xfrm>
          <a:prstGeom prst="roundRect">
            <a:avLst>
              <a:gd name="adj" fmla="val 8333"/>
            </a:avLst>
          </a:prstGeom>
          <a:solidFill>
            <a:srgbClr val="07111B">
              <a:alpha val="55000"/>
            </a:srgbClr>
          </a:solidFill>
          <a:ln w="12700">
            <a:solidFill>
              <a:srgbClr val="F2F7F8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7391400" y="2171700"/>
            <a:ext cx="3943350" cy="457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10  ALLOW  Office → DB  DATABASE</a:t>
            </a:r>
            <a:endParaRPr/>
          </a:p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20  DENY   Office → Database  ANY</a:t>
            </a:r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7277100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9020175" y="2876550"/>
            <a:ext cx="685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CONFIG TEXT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9820275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7277100" y="3067050"/>
            <a:ext cx="417195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6BC8D1"/>
                </a:solidFill>
                <a:latin typeface="Consolas"/>
                <a:ea typeface="Consolas"/>
              </a:rPr>
              <a:t>?</a:t>
            </a:r>
            <a:endParaRPr/>
          </a:p>
        </p:txBody>
      </p:sp>
      <p:sp>
        <p:nvSpPr>
          <p:cNvPr id="1293" name=""/>
          <p:cNvSpPr/>
          <p:nvPr/>
        </p:nvSpPr>
        <p:spPr>
          <a:xfrm rot="0" flipH="0" flipV="0">
            <a:off x="7277100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E78172">
              <a:alpha val="6000"/>
            </a:srgbClr>
          </a:solidFill>
          <a:ln w="12700">
            <a:solidFill>
              <a:srgbClr val="E78172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7372350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78172"/>
                </a:solidFill>
                <a:latin typeface="Microsoft YaHei"/>
                <a:ea typeface="Microsoft YaHei"/>
              </a:rPr>
              <a:t>风险被阻断？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7372350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还是只是路径没走到</a:t>
            </a:r>
            <a:endParaRPr/>
          </a:p>
        </p:txBody>
      </p:sp>
      <p:sp>
        <p:nvSpPr>
          <p:cNvPr id="1296" name=""/>
          <p:cNvSpPr/>
          <p:nvPr/>
        </p:nvSpPr>
        <p:spPr>
          <a:xfrm rot="0" flipH="0" flipV="0">
            <a:off x="9401175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6BC8D1">
              <a:alpha val="5000"/>
            </a:srgbClr>
          </a:soli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9496425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6BC8D1"/>
                </a:solidFill>
                <a:latin typeface="Microsoft YaHei"/>
                <a:ea typeface="Microsoft YaHei"/>
              </a:rPr>
              <a:t>业务仍可达？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9496425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还是被一起切断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7277100" y="45148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没有可观察的结果，规则就只是一段文本。</a:t>
            </a:r>
            <a:endParaRPr/>
          </a:p>
        </p:txBody>
      </p:sp>
      <p:sp>
        <p:nvSpPr>
          <p:cNvPr id="1300" name=""/>
          <p:cNvSpPr/>
          <p:nvPr/>
        </p:nvSpPr>
        <p:spPr>
          <a:xfrm rot="0" flipH="0" flipV="0">
            <a:off x="552450" y="552450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1301" name=""/>
          <p:cNvSpPr/>
          <p:nvPr/>
        </p:nvSpPr>
        <p:spPr>
          <a:xfrm rot="0" flipH="0" flipV="0">
            <a:off x="533400" y="552450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723900" y="573405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90">
                <a:solidFill>
                  <a:srgbClr val="6BC8D1"/>
                </a:solidFill>
                <a:latin typeface="Consolas"/>
                <a:ea typeface="Consolas"/>
              </a:rPr>
              <a:t>核心矛盾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1600200" y="570547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7F8">
                    <a:alpha val="82000"/>
                  </a:srgbClr>
                </a:solidFill>
                <a:latin typeface="Microsoft YaHei"/>
                <a:ea typeface="Microsoft YaHei"/>
              </a:rPr>
              <a:t>策略效果必须可观察，但真实网络不允许反复试错——这正是“沙盘”存在的理由。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04 / 35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0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20)' strokeWidth='1' fill='none'&gt;&#13;&#10;            &lt;path d='M780 300L880 380L1010 330L1110 430L1200 380' /&gt;&#13;&#10;            &lt;path d='M880 380L960 510L1080 480' /&gt;&#13;&#10;        &lt;/g&gt;&#13;&#10;        &lt;g fill='#6BC8D1'&gt;&#13;&#10;            &lt;circle cx='780' cy='300' r='4' opacity='0.55' /&gt;&#13;&#10;            &lt;circle cx='880' cy='380' r='6' opacity='0.9' /&gt;&#13;&#10;            &lt;circle cx='1010' cy='330' r='5' opacity='0.7' /&gt;&#13;&#10;            &lt;circle cx='1110' cy='430' r='4.5' opacity='0.6' /&gt;&#13;&#10;            &lt;circle cx='1200' cy='380' r='3.5' opacity='0.45' /&gt;&#13;&#10;            &lt;circle cx='960' cy='510' r='5' opacity='0.65' /&gt;&#13;&#10;            &lt;circle cx='1080' cy='4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2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2 / 05&lt;/Text&gt;&#13;&#10;    &lt;/Box&gt;&#13;&#10;    &lt;Box style={{ position: 'absolute', left: 72, top: 176, width: 620 }}&gt;&#13;&#10;        &lt;Text style={{ fontFamily: 'Microsoft YaHei', fontSize: 58, fontWeight: 'bold', color: '#F2F7F8', letterSpacing: 2 }}&gt;作品概览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一个平台，六个工作面，七个可验证的实验场景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2.1&lt;/Text&gt;&#13;&#10;            &lt;Text style={{ fontFamily: 'Microsoft YaHei', fontSize: 14, color: 'rgba(242,247,248,0.72)' }}&gt;产品定位：可观察、可干预、可验证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2.2&lt;/Text&gt;&#13;&#10;            &lt;Text style={{ fontFamily: 'Microsoft YaHei', fontSize: 14, color: 'rgba(242,247,248,0.72)' }}&gt;功能全景：总览、实验、对比、分析、学习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2.3&lt;/Text&gt;&#13;&#10;            &lt;Text style={{ fontFamily: 'Microsoft YaHei', fontSize: 14, color: 'rgba(242,247,248,0.72)' }}&gt;实验室：六个工作面串成一次完整实验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OVERVIEW&lt;/Text&gt;&#13;&#10;    &lt;/Box&gt;&#13;&#10;    &lt;Text style={{ position: 'absolute', right: 56, top: 664, fontFamily: 'Consolas', fontSize: 10.5, color: 'rgba(242,247,248,0.40)' }}&gt;05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311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02 / 05</a:t>
            </a:r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1314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一个平台，六个工作面，七个可验证的实验场景。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02.1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产品定位：可观察、可干预、可验证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02.2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功能全景：总览、实验、对比、分析、学习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23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02.3</a:t>
            </a:r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实验室：六个工作面串成一次完整实验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47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OVERVIEW</a:t>
            </a:r>
            <a:endParaRPr/>
          </a:p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05 / 35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3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200' cy='80' r='240' fill='rgba(107,200,209,0.04)' /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把企业网络，变成可反复试错的沙盘&lt;/Text&gt;&#13;&#10;    &lt;Text style={{ position: 'absolute', right: 56, top: 76, fontFamily: 'Consolas', fontSize: 10.5, color: 'rgba(242,247,248,0.42)' }}&gt;PRODUCT OVERVIEW&lt;/Text&gt;&#13;&#10;&#13;&#10;    &lt;Box style={{ position: 'absolute', left: 56, top: 140, width: 468 }}&gt;&#13;&#10;        &lt;Text style={{ fontFamily: 'Microsoft YaHei', fontSize: 15.5, color: 'rgba(242,247,248,0.72)', lineHeight: 1.8, width: 450 }}&gt;&#13;&#10;            不是一段预设动画，而是一套会重新计算的沙盘：改一条规则，路径、状态与业务可达性都会随之变化。&#13;&#10;        &lt;/Text&gt;&#13;&#10;        &lt;Box style={{ marginTop: 20 }}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1&lt;/Text&gt;&#13;&#10;                &lt;Box style={{ width: 395 }}&gt;&#13;&#10;                    &lt;Text style={{ fontFamily: 'Microsoft YaHei', fontSize: 14.5, fontWeight: 'bold', color: '#F2F7F8' }}&gt;三维路径观察&lt;/Text&gt;&#13;&#10;                    &lt;Text style={{ marginTop: 3, fontFamily: 'Microsoft YaHei', fontSize: 11.5, color: 'rgba(242,247,248,0.54)', lineHeight: 1.6 }}&gt;设备、区域、VLAN 与真实路由路径在同一空间里可见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2&lt;/Text&gt;&#13;&#10;                &lt;Box style={{ width: 395 }}&gt;&#13;&#10;                    &lt;Text style={{ fontFamily: 'Microsoft YaHei', fontSize: 14.5, fontWeight: 'bold', color: '#F2F7F8' }}&gt;攻击状态推演&lt;/Text&gt;&#13;&#10;                    &lt;Text style={{ marginTop: 3, fontFamily: 'Microsoft YaHei', fontSize: 11.5, color: 'rgba(242,247,248,0.54)', lineHeight: 1.6 }}&gt;权限、教学条件与安全控制共同决定状态是否改变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3&lt;/Text&gt;&#13;&#10;                &lt;Box style={{ width: 395 }}&gt;&#13;&#10;                    &lt;Text style={{ fontFamily: 'Microsoft YaHei', fontSize: 14.5, fontWeight: 'bold', color: '#F2F7F8' }}&gt;策略 A/B 验证&lt;/Text&gt;&#13;&#10;                    &lt;Text style={{ marginTop: 3, fontFamily: 'Microsoft YaHei', fontSize: 11.5, color: 'rgba(242,247,248,0.54)', lineHeight: 1.6 }}&gt;原始基线 vs 当前配置，同源重算，指标逐项对照。&lt;/Text&gt;&#13;&#10;                &lt;/Box&gt;&#13;&#10;            &lt;/Box&gt;&#13;&#10;            &lt;Box style={{ flexDirection: 'row', alignItems: 'flex-start', paddingTop: 10, paddingBottom: 10, borderTop: '1px solid rgba(242,247,248,0.10)', borderBottom: '1px solid rgba(242,247,248,0.10)' }}&gt;&#13;&#10;                &lt;Text style={{ width: 42, fontFamily: 'Consolas', fontSize: 10, color: '#6BC8D1' }}&gt;04&lt;/Text&gt;&#13;&#10;                &lt;Box style={{ width: 395 }}&gt;&#13;&#10;                    &lt;Text style={{ fontFamily: 'Microsoft YaHei', fontSize: 14.5, fontWeight: 'bold', color: '#F2F7F8' }}&gt;教学闭环&lt;/Text&gt;&#13;&#10;                    &lt;Text style={{ marginTop: 3, fontFamily: 'Microsoft YaHei', fontSize: 11.5, color: 'rgba(242,247,248,0.54)', lineHeight: 1.6 }}&gt;知识卡片、20 题练习、模拟考试与实验挑战互相直达。&lt;/Text&gt;&#13;&#10;                &lt;/Box&gt;&#13;&#10;            &lt;/Box&gt;&#13;&#10;        &lt;/Box&gt;&#13;&#10;    &lt;/Box&gt;&#13;&#10;&#13;&#10;    &lt;Box style={{ position: 'absolute', left: 574, top: 136, width: 650, height: 345 }}&gt;&#13;&#10;        &lt;Image src=&quot;assets/home_hero.png&quot; style={{ width: 650, height: 345, objectFit: 'cover', borderRadius: 10, border: '1px solid rgba(107,200,209,0.22)' }} /&gt;&#13;&#10;        &lt;Box style={{ position: 'absolute', left: 0, right: 0, bottom: 0, height: 36, paddingLeft: 14, paddingRight: 14, flexDirection: 'row', alignItems: 'center', justifyContent: 'space-between', background: 'rgba(7,17,27,0.82)', borderTop: '1px solid rgba(107,200,209,0.18)' }}&gt;&#13;&#10;            &lt;Text style={{ fontFamily: 'Consolas', fontSize: 10, color: 'rgba(242,247,248,0.62)', letterSpacing: 0.8 }}&gt;真实运行界面 · 首页 / 核心实验入口&lt;/Text&gt;&#13;&#10;            &lt;Text style={{ fontFamily: 'Consolas', fontSize: 10, color: '#6BC8D1' }}&gt;01 CORE LAB&lt;/Text&gt;&#13;&#10;        &lt;/Box&gt;&#13;&#10;        &lt;Box style={{ position: 'absolute', left: 14, top: 14, paddingLeft: 10, paddingRight: 10, paddingTop: 5, paddingBottom: 5, background: 'rgba(7,17,27,0.78)', border: '1px solid rgba(107,200,209,0.28)', borderRadius: 4 }}&gt;&#13;&#10;            &lt;Text style={{ fontFamily: 'Consolas', fontSize: 9.5, color: '#6BC8D1', letterSpacing: 1 }}&gt;LIVE PREVIEW&lt;/Text&gt;&#13;&#10;        &lt;/Box&gt;&#13;&#10;    &lt;/Box&gt;&#13;&#10;&#13;&#10;    &lt;Box style={{ position: 'absolute', left: 574, top: 520, width: 650, flexDirection: 'row', justifyContent: 'space-between', alignItems: 'center' }}&gt;&#13;&#10;        &lt;Box style={{ flexDirection: 'row', alignItems: 'flex-end', gap: 8 }}&gt;&#13;&#10;            &lt;Text style={{ fontFamily: 'Consolas', fontSize: 40, fontWeight: 'bold', color: '#F2F7F8', lineHeight: 1 }}&gt;07&lt;/Text&gt;&#13;&#10;            &lt;Text style={{ fontFamily: 'Microsoft YaHei', fontSize: 11.5, color: 'rgba(242,247,248,0.52)', marginBottom: 4 }}&gt;个实验场景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F2F7F8', lineHeight: 1 }}&gt;02&lt;/Text&gt;&#13;&#10;            &lt;Text style={{ fontFamily: 'Microsoft YaHei', fontSize: 11.5, color: 'rgba(242,247,248,0.52)', marginBottom: 4 }}&gt;种仿真模式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6BC8D1', lineHeight: 1 }}&gt;111&lt;/Text&gt;&#13;&#10;            &lt;Text style={{ fontFamily: 'Microsoft YaHei', fontSize: 11.5, color: 'rgba(242,247,248,0.52)', marginBottom: 4 }}&gt;项自动化测试&lt;/Text&gt;&#13;&#10;        &lt;/Box&gt;&#13;&#10;    &lt;/Box&gt;&#13;&#10;&#13;&#10;    &lt;Box style={{ position: 'absolute', left: 56, top: 512, width: 468, paddingLeft: 14, borderLeft: '2px solid rgba(107,200,209,0.50)' }}&gt;&#13;&#10;        &lt;Text style={{ fontFamily: 'Microsoft YaHei', fontSize: 12.5, color: 'rgba(242,247,248,0.52)', lineHeight: 1.8 }}&gt;&#13;&#10;            沙盘的价值，不是演示一次结果，&lt;br /&gt;而是允许学生问：如果改成这样呢？&#13;&#10;        &lt;/Text&gt;&#13;&#10;    &lt;/Box&gt;&#13;&#10;&#13;&#10;    &lt;Box style={{ position: 'absolute', left: 574, top: 600, width: 650, flexDirection: 'row', alignItems: 'center', gap: 10 }}&gt;&#13;&#10;        &lt;Box style={{ width: 18, height: 1, background: 'rgba(107,200,209,0.40)' }} /&gt;&#13;&#10;        &lt;Text style={{ fontFamily: 'Consolas', fontSize: 9.5, color: 'rgba(242,247,248,0.36)', letterSpacing: 0.8 }}&gt;同一份场景状态 · 同一套判定引擎 · 每次改动都会重新计算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6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把企业网络，变成可反复试错的沙盘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PRODUCT OVERVIEW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4286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不是一段预设动画，而是一套会重新计算的沙盘：改一条规则，路径、状态与业务可达性都会随之变化。</a:t>
            </a:r>
            <a:endParaRPr/>
          </a:p>
        </p:txBody>
      </p:sp>
      <p:sp>
        <p:nvSpPr>
          <p:cNvPr id="1337" name=""/>
          <p:cNvSpPr/>
          <p:nvPr/>
        </p:nvSpPr>
        <p:spPr>
          <a:xfrm rot="0" flipH="0" flipV="0">
            <a:off x="533400" y="216217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533400" y="226695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933450" y="226695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三维路径观察</a:t>
            </a:r>
            <a:endParaRPr/>
          </a:p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933450" y="246697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设备、区域、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与真实路由路径在同一空间里可见。</a:t>
            </a:r>
            <a:endParaRPr/>
          </a:p>
        </p:txBody>
      </p:sp>
      <p:sp>
        <p:nvSpPr>
          <p:cNvPr id="1341" name=""/>
          <p:cNvSpPr/>
          <p:nvPr/>
        </p:nvSpPr>
        <p:spPr>
          <a:xfrm rot="0" flipH="0" flipV="0">
            <a:off x="533400" y="2781300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933450" y="288607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攻击状态推演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933450" y="308610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权限、教学条件与安全控制共同决定状态是否改变。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533400" y="340042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533400" y="35052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策略</a:t>
            </a:r>
            <a:r>
              <a:rPr lang="en-US" sz="1088" b="1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当前配置，同源重算，指标逐项对照。</a:t>
            </a:r>
            <a:endParaRPr/>
          </a:p>
        </p:txBody>
      </p:sp>
      <p:sp>
        <p:nvSpPr>
          <p:cNvPr id="1349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50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67"/>
                </a:moveTo>
                <a:lnTo>
                  <a:pt x="468" y="67"/>
                </a:lnTo>
                <a:lnTo>
                  <a:pt x="46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533400" y="4124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352" name="" descr="{&quot;isTemplate&quot;:true,&quot;type&quot;:&quot;text&quot;}"/>
          <p:cNvSpPr txBox="1"/>
          <p:nvPr/>
        </p:nvSpPr>
        <p:spPr>
          <a:xfrm rot="0" flipH="0" flipV="0">
            <a:off x="933450" y="412432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教学闭环</a:t>
            </a:r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933450" y="432435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知识卡片、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题练习、模拟考试与实验挑战互相直达。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5467350" y="1295400"/>
            <a:ext cx="6191250" cy="3286125"/>
          </a:xfrm>
          <a:prstGeom prst="rect">
            <a:avLst/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55" name=""/>
          <p:cNvPicPr>
            <a:picLocks noChangeAspect="1"/>
          </p:cNvPicPr>
          <p:nvPr/>
        </p:nvPicPr>
        <p:blipFill>
          <a:blip r:embed="rId2"/>
          <a:srcRect l="14" t="0" r="14" b="0"/>
          <a:stretch>
            <a:fillRect/>
          </a:stretch>
        </p:blipFill>
        <p:spPr>
          <a:xfrm rot="0" flipH="0" flipV="0">
            <a:off x="5467350" y="1295400"/>
            <a:ext cx="6191250" cy="3286125"/>
          </a:xfrm>
          <a:prstGeom prst="roundRect">
            <a:avLst>
              <a:gd name="adj" fmla="val 2899"/>
            </a:avLst>
          </a:prstGeom>
          <a:ln/>
        </p:spPr>
      </p:pic>
      <p:sp>
        <p:nvSpPr>
          <p:cNvPr id="1356" name=""/>
          <p:cNvSpPr/>
          <p:nvPr/>
        </p:nvSpPr>
        <p:spPr>
          <a:xfrm rot="0" flipH="0" flipV="0">
            <a:off x="5467350" y="4248150"/>
            <a:ext cx="6191250" cy="333375"/>
          </a:xfrm>
          <a:prstGeom prst="rect">
            <a:avLst/>
          </a:prstGeom>
          <a:solidFill>
            <a:srgbClr val="07111B">
              <a:alpha val="82000"/>
            </a:srgbClr>
          </a:solidFill>
          <a:ln/>
        </p:spPr>
        <p:txBody>
          <a:bodyPr/>
          <a:p/>
        </p:txBody>
      </p:sp>
      <p:sp>
        <p:nvSpPr>
          <p:cNvPr id="1357" name=""/>
          <p:cNvSpPr/>
          <p:nvPr/>
        </p:nvSpPr>
        <p:spPr>
          <a:xfrm rot="0" flipH="0" flipV="0">
            <a:off x="5467350" y="4238625"/>
            <a:ext cx="6191250" cy="342900"/>
          </a:xfrm>
          <a:custGeom>
            <a:pathLst>
              <a:path w="650" h="36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5600700" y="4362450"/>
            <a:ext cx="2733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真实运行界面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首页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核心实验入口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10944225" y="4362450"/>
            <a:ext cx="581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 CORE LAB</a:t>
            </a:r>
            <a:endParaRPr/>
          </a:p>
        </p:txBody>
      </p:sp>
      <p:sp>
        <p:nvSpPr>
          <p:cNvPr id="1360" name=""/>
          <p:cNvSpPr/>
          <p:nvPr/>
        </p:nvSpPr>
        <p:spPr>
          <a:xfrm rot="0" flipH="0" flipV="0">
            <a:off x="5600700" y="1428750"/>
            <a:ext cx="904875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7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5695950" y="1476375"/>
            <a:ext cx="714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LIVE PREVIEW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596265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719137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788670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838200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1367" name=""/>
          <p:cNvSpPr/>
          <p:nvPr/>
        </p:nvSpPr>
        <p:spPr>
          <a:xfrm rot="0" flipH="0" flipV="0">
            <a:off x="961072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10296525" y="49530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1369" name="" descr="{&quot;isTemplate&quot;:true,&quot;type&quot;:&quot;text&quot;}"/>
          <p:cNvSpPr txBox="1"/>
          <p:nvPr/>
        </p:nvSpPr>
        <p:spPr>
          <a:xfrm rot="0" flipH="0" flipV="0">
            <a:off x="11001375" y="52387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1370" name=""/>
          <p:cNvSpPr/>
          <p:nvPr/>
        </p:nvSpPr>
        <p:spPr>
          <a:xfrm rot="0" flipH="0" flipV="0">
            <a:off x="533400" y="4876800"/>
            <a:ext cx="4457700" cy="514350"/>
          </a:xfrm>
          <a:custGeom>
            <a:pathLst>
              <a:path w="468" h="54">
                <a:moveTo>
                  <a:pt x="0" y="0"/>
                </a:moveTo>
                <a:lnTo>
                  <a:pt x="2" y="0"/>
                </a:lnTo>
                <a:lnTo>
                  <a:pt x="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685800" y="4876800"/>
            <a:ext cx="43053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沙盘的价值，不是演示一次结果，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而是允许学生问：如果改成这样呢？</a:t>
            </a:r>
            <a:endParaRPr/>
          </a:p>
        </p:txBody>
      </p:sp>
      <p:sp>
        <p:nvSpPr>
          <p:cNvPr id="1372" name=""/>
          <p:cNvSpPr/>
          <p:nvPr/>
        </p:nvSpPr>
        <p:spPr>
          <a:xfrm rot="0" flipH="0" flipV="0">
            <a:off x="5467350" y="57721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5734050" y="5715000"/>
            <a:ext cx="4419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同一份场景状态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同一套判定引擎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每次改动都会重新计算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06 / 35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7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2, fontWeight: 'bold', color: '#F2F7F8', letterSpacing: 0.5 }}&gt;一个平台，六个工作面&lt;/Text&gt;&#13;&#10;    &lt;Text style={{ position: 'absolute', right: 56, top: 76, fontFamily: 'Consolas', fontSize: 10.5, color: 'rgba(242,247,248,0.42)' }}&gt;SIX SURFACES · ONE ENGINE&lt;/Text&gt;&#13;&#10;&#13;&#10;    &lt;Box style={{ position: 'absolute', left: 56, top: 138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1 / OVERVIEW&lt;/Text&gt;&#13;&#10;            &lt;Text style={{ fontFamily: 'Consolas', fontSize: 10, color: 'rgba(242,247,248,0.32)' }}&gt;入口&lt;/Text&gt;&#13;&#10;        &lt;/Box&gt;&#13;&#10;        &lt;Text style={{ marginTop: 10, fontFamily: 'Microsoft YaHei', fontSize: 19, fontWeight: 'bold', color: '#F2F7F8' }}&gt;总览&lt;/Text&gt;&#13;&#10;        &lt;Text style={{ marginTop: 8, fontFamily: 'Microsoft YaHei', fontSize: 10.5, color: 'rgba(242,247,248,0.42)' }}&gt;进入实验的第一屏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核心实验入口与初始条件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扩展场景矩阵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三维拓扑实时预览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选场景 → 进实验&lt;/Text&gt;&#13;&#10;            &lt;Text style={{ fontFamily: 'Consolas', fontSize: 16, color: '#6BC8D1' }}&gt;→&lt;/Text&gt;&#13;&#10;        &lt;/Box&gt;&#13;&#10;    &lt;/Box&gt;&#13;&#10;&#13;&#10;    &lt;Box style={{ position: 'absolute', left: 492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2 / LABORATORY&lt;/Text&gt;&#13;&#10;        &lt;Text style={{ marginTop: 10, fontFamily: 'Microsoft YaHei', fontSize: 19, fontWeight: 'bold', color: '#F2F7F8' }}&gt;三维实验室&lt;/Text&gt;&#13;&#10;        &lt;Text style={{ marginTop: 8, fontFamily: 'Microsoft YaHei', fontSize: 10.5, color: 'rgba(242,247,248,0.42)' }}&gt;核心工作面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拓扑拖拽、缩放与点选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规则编辑、排序与启停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事件时间线与代表链回放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改一处 → 重新验证&lt;/Text&gt;&#13;&#10;            &lt;Text style={{ fontFamily: 'Consolas', fontSize: 16, color: '#6BC8D1' }}&gt;→&lt;/Text&gt;&#13;&#10;        &lt;/Box&gt;&#13;&#10;    &lt;/Box&gt;&#13;&#10;&#13;&#10;    &lt;Box style={{ position: 'absolute', left: 864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3 / COMPARE&lt;/Text&gt;&#13;&#10;        &lt;Text style={{ marginTop: 10, fontFamily: 'Microsoft YaHei', fontSize: 19, fontWeight: 'bold', color: '#F2F7F8' }}&gt;方案对比&lt;/Text&gt;&#13;&#10;        &lt;Text style={{ marginTop: 8, fontFamily: 'Microsoft YaHei', fontSize: 10.5, color: 'rgba(242,247,248,0.42)' }}&gt;两次独立计算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原始基线 vs 当前配置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指标差异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代表链并排查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A → B 的净变化&lt;/Text&gt;&#13;&#10;            &lt;Text style={{ fontFamily: 'Consolas', fontSize: 16, color: '#6BC8D1' }}&gt;→&lt;/Text&gt;&#13;&#10;        &lt;/Box&gt;&#13;&#10;    &lt;/Box&gt;&#13;&#10;&#13;&#10;    &lt;Box style={{ position: 'absolute', left: 56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4 / ANALYSIS&lt;/Text&gt;&#13;&#10;        &lt;Text style={{ marginTop: 10, fontFamily: 'Microsoft YaHei', fontSize: 19, fontWeight: 'bold', color: '#F2F7F8' }}&gt;实验分析&lt;/Text&gt;&#13;&#10;        &lt;Text style={{ marginTop: 8, fontFamily: 'Microsoft YaHei', fontSize: 10.5, color: 'rgba(242,247,248,0.42)' }}&gt;结果回看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结论与业务可达率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状态分布与影响趋势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事件与报告导出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结论 → 证据&lt;/Text&gt;&#13;&#10;            &lt;Text style={{ fontFamily: 'Consolas', fontSize: 16, color: '#6BC8D1' }}&gt;→&lt;/Text&gt;&#13;&#10;        &lt;/Box&gt;&#13;&#10;    &lt;/Box&gt;&#13;&#10;&#13;&#10;    &lt;Box style={{ position: 'absolute', left: 428, top: 380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5 / LEARN&lt;/Text&gt;&#13;&#10;            &lt;Text style={{ fontFamily: 'Consolas', fontSize: 10, color: 'rgba(242,247,248,0.32)' }}&gt;20 题&lt;/Text&gt;&#13;&#10;        &lt;/Box&gt;&#13;&#10;        &lt;Text style={{ marginTop: 10, fontFamily: 'Microsoft YaHei', fontSize: 19, fontWeight: 'bold', color: '#F2F7F8' }}&gt;学习中心&lt;/Text&gt;&#13;&#10;        &lt;Text style={{ marginTop: 8, fontFamily: 'Microsoft YaHei', fontSize: 10.5, color: 'rgba(242,247,248,0.42)' }}&gt;学 · 练 · 考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知识模块，直达实验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0 题随堂练习与解析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模拟考试、评分与错题回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知识 → 操作&lt;/Text&gt;&#13;&#10;            &lt;Text style={{ fontFamily: 'Consolas', fontSize: 16, color: '#6BC8D1' }}&gt;→&lt;/Text&gt;&#13;&#10;        &lt;/Box&gt;&#13;&#10;    &lt;/Box&gt;&#13;&#10;&#13;&#10;    &lt;Box style={{ position: 'absolute', left: 864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6 / SCENARIOS&lt;/Text&gt;&#13;&#10;        &lt;Text style={{ marginTop: 10, fontFamily: 'Microsoft YaHei', fontSize: 19, fontWeight: 'bold', color: '#F2F7F8' }}&gt;场景与说明&lt;/Text&gt;&#13;&#10;        &lt;Text style={{ marginTop: 8, fontFamily: 'Microsoft YaHei', fontSize: 10.5, color: 'rgba(242,247,248,0.42)' }}&gt;同一套判定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7 个场景 / 3 档难度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 种仿真模式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项目说明与模型边界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场景 → 策略&lt;/Text&gt;&#13;&#10;            &lt;Text style={{ fontFamily: 'Consolas', fontSize: 16, color: '#6BC8D1' }}&gt;→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六个工作面共享同一套数据模型与确定性引擎；界面只是结果的视图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7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3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095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一个平台，六个工作面</a:t>
            </a:r>
            <a:endParaRPr/>
          </a:p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10277475" y="723900"/>
            <a:ext cx="1381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SURFACES · ONE ENGINE</a:t>
            </a:r>
            <a:endParaRPr/>
          </a:p>
        </p:txBody>
      </p:sp>
      <p:sp>
        <p:nvSpPr>
          <p:cNvPr id="1383" name=""/>
          <p:cNvSpPr/>
          <p:nvPr/>
        </p:nvSpPr>
        <p:spPr>
          <a:xfrm rot="0" flipH="0" flipV="0">
            <a:off x="533400" y="131445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809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01 / OVERVIEW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4038600" y="148590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入口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704850" y="16954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704850" y="199072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进入实验的第一屏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7048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核心实验入口与初始条件</a:t>
            </a:r>
            <a:endParaRPr/>
          </a:p>
        </p:txBody>
      </p:sp>
      <p:sp>
        <p:nvSpPr>
          <p:cNvPr id="1390" name=""/>
          <p:cNvSpPr/>
          <p:nvPr/>
        </p:nvSpPr>
        <p:spPr>
          <a:xfrm rot="0" flipH="0" flipV="0">
            <a:off x="7048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809625" y="24479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六个扩展场景矩阵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7048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809625" y="26574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三维拓扑实时预览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704850" y="3124200"/>
            <a:ext cx="762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选场景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进实验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42767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46863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48577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 / LABORATORY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48577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三维实验室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48577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核心工作面</a:t>
            </a:r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48577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4962525" y="223837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拓扑拖拽、缩放与点选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48577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4962525" y="244792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规则编辑、排序与启停</a:t>
            </a:r>
            <a:endParaRPr/>
          </a:p>
        </p:txBody>
      </p:sp>
      <p:sp>
        <p:nvSpPr>
          <p:cNvPr id="1404" name=""/>
          <p:cNvSpPr/>
          <p:nvPr/>
        </p:nvSpPr>
        <p:spPr>
          <a:xfrm rot="0" flipH="0" flipV="0">
            <a:off x="48577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4962525" y="26574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事件时间线与代表链回放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4857750" y="3124200"/>
            <a:ext cx="866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改一处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78200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82296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84010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 / COMPARE</a:t>
            </a:r>
            <a:endParaRPr/>
          </a:p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84010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方案对比</a:t>
            </a:r>
            <a:endParaRPr/>
          </a:p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84010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两次独立计算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84010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8505825" y="2238375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当前配置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84010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8505825" y="24479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关键指标差异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84010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8505825" y="2657475"/>
            <a:ext cx="771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代表链并排查看</a:t>
            </a:r>
            <a:endParaRPr/>
          </a:p>
        </p:txBody>
      </p:sp>
      <p:sp>
        <p:nvSpPr>
          <p:cNvPr id="1418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723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A → B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的净变化</a:t>
            </a:r>
            <a:endParaRPr/>
          </a:p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113633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420" name=""/>
          <p:cNvSpPr/>
          <p:nvPr/>
        </p:nvSpPr>
        <p:spPr>
          <a:xfrm rot="0" flipH="0" flipV="0">
            <a:off x="5334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7048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 / ANALYSIS</a:t>
            </a:r>
            <a:endParaRPr/>
          </a:p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7048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实验分析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7048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7048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25" name="" descr="{&quot;isTemplate&quot;:true,&quot;type&quot;:&quot;text&quot;}"/>
          <p:cNvSpPr txBox="1"/>
          <p:nvPr/>
        </p:nvSpPr>
        <p:spPr>
          <a:xfrm rot="0" flipH="0" flipV="0">
            <a:off x="809625" y="45434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结论与业务可达率</a:t>
            </a:r>
            <a:endParaRPr/>
          </a:p>
        </p:txBody>
      </p:sp>
      <p:sp>
        <p:nvSpPr>
          <p:cNvPr id="1426" name=""/>
          <p:cNvSpPr/>
          <p:nvPr/>
        </p:nvSpPr>
        <p:spPr>
          <a:xfrm rot="0" flipH="0" flipV="0">
            <a:off x="7048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809625" y="47529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状态分布与影响趋势</a:t>
            </a:r>
            <a:endParaRPr/>
          </a:p>
        </p:txBody>
      </p:sp>
      <p:sp>
        <p:nvSpPr>
          <p:cNvPr id="1428" name=""/>
          <p:cNvSpPr/>
          <p:nvPr/>
        </p:nvSpPr>
        <p:spPr>
          <a:xfrm rot="0" flipH="0" flipV="0">
            <a:off x="7048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8096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关键事件与报告导出</a:t>
            </a:r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7048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结论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36671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432" name=""/>
          <p:cNvSpPr/>
          <p:nvPr/>
        </p:nvSpPr>
        <p:spPr>
          <a:xfrm rot="0" flipH="0" flipV="0">
            <a:off x="4076700" y="361950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33" name="" descr="{&quot;isTemplate&quot;:true,&quot;type&quot;:&quot;text&quot;}"/>
          <p:cNvSpPr txBox="1"/>
          <p:nvPr/>
        </p:nvSpPr>
        <p:spPr>
          <a:xfrm rot="0" flipH="0" flipV="0">
            <a:off x="4248150" y="3790950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05 / LEARN</a:t>
            </a:r>
            <a:endParaRPr/>
          </a:p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7581900" y="379095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20 </a:t>
            </a: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题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4248150" y="400050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4248150" y="429577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学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练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1437" name=""/>
          <p:cNvSpPr/>
          <p:nvPr/>
        </p:nvSpPr>
        <p:spPr>
          <a:xfrm rot="0" flipH="0" flipV="0">
            <a:off x="42481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4352925" y="45434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六个知识模块，直达实验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42481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4352925" y="4752975"/>
            <a:ext cx="1038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题随堂练习与解析</a:t>
            </a:r>
            <a:endParaRPr/>
          </a:p>
        </p:txBody>
      </p:sp>
      <p:sp>
        <p:nvSpPr>
          <p:cNvPr id="1441" name=""/>
          <p:cNvSpPr/>
          <p:nvPr/>
        </p:nvSpPr>
        <p:spPr>
          <a:xfrm rot="0" flipH="0" flipV="0">
            <a:off x="42481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4352925" y="496252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模拟考试、评分与错题回看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42481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78200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82296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84010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 / SCENARIOS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84010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场景与说明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84010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同一套判定</a:t>
            </a:r>
            <a:endParaRPr/>
          </a:p>
        </p:txBody>
      </p:sp>
      <p:sp>
        <p:nvSpPr>
          <p:cNvPr id="1449" name=""/>
          <p:cNvSpPr/>
          <p:nvPr/>
        </p:nvSpPr>
        <p:spPr>
          <a:xfrm rot="0" flipH="0" flipV="0">
            <a:off x="84010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8505825" y="454342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个场景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/ 3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84010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8505825" y="47529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1453" name=""/>
          <p:cNvSpPr/>
          <p:nvPr/>
        </p:nvSpPr>
        <p:spPr>
          <a:xfrm rot="0" flipH="0" flipV="0">
            <a:off x="84010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85058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项目说明与模型边界</a:t>
            </a:r>
            <a:endParaRPr/>
          </a:p>
        </p:txBody>
      </p:sp>
      <p:sp>
        <p:nvSpPr>
          <p:cNvPr id="1455" name="" descr="{&quot;isTemplate&quot;:true,&quot;type&quot;:&quot;text&quot;}"/>
          <p:cNvSpPr txBox="1"/>
          <p:nvPr/>
        </p:nvSpPr>
        <p:spPr>
          <a:xfrm rot="0" flipH="0" flipV="0">
            <a:off x="84010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113633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457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400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六个工作面共享同一套数据模型与确定性引擎；界面只是结果的视图。</a:t>
            </a:r>
            <a:endParaRPr/>
          </a:p>
        </p:txBody>
      </p:sp>
      <p:sp>
        <p:nvSpPr>
          <p:cNvPr id="145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07 / 35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6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实验室：从“看拓扑”到“改策略、看判定”&lt;/Text&gt;&#13;&#10;    &lt;Text style={{ position: 'absolute', right: 56, top: 76, fontFamily: 'Consolas', fontSize: 10.5, color: 'rgba(242,247,248,0.42)' }}&gt;SIX LAB SURFACES&lt;/Text&gt;&#13;&#10;&#13;&#10;    &lt;Box style={{ position: 'absolute', left: 56, top: 146, width: 600, height: 352 }}&gt;&#13;&#10;        &lt;Image src=&quot;assets/lab_verified.png&quot; style={{ width: 600, height: 338, objectFit: 'cover', borderRadius: 8, border: '1px solid rgba(107,200,209,0.20)' }} /&gt;&#13;&#10;        &lt;Box style={{ position: 'absolute', left: 12, top: 12, paddingLeft: 10, paddingRight: 10, paddingTop: 5, paddingBottom: 5, background: 'rgba(7,17,27,0.82)', border: '1px solid rgba(107,200,209,0.30)', borderRadius: 4 }}&gt;&#13;&#10;            &lt;Text style={{ fontFamily: 'Consolas', fontSize: 9.5, color: '#6BC8D1', letterSpacing: 1 }}&gt;CHALLENGE PASSED · 3 / 3&lt;/Text&gt;&#13;&#10;        &lt;/Box&gt;&#13;&#10;        &lt;Text style={{ marginTop: 10, fontFamily: 'Microsoft YaHei', fontSize: 10.5, color: 'rgba(242,247,248,0.44)' }}&gt;真实界面：关键数据目标“已保护”，必要业务 2 / 2 可达。&lt;/Text&gt;&#13;&#10;    &lt;/Box&gt;&#13;&#10;&#13;&#10;    &lt;Box style={{ position: 'absolute', left: 692, top: 140, width: 532 }}&gt;&#13;&#10;        &lt;Box style={{ flexDirection: 'row', alignItems: 'flex-start', height: 70, borderTop: '1px solid rgba(242,247,248,0.10)' }}&gt;&#13;&#10;            &lt;Text style={{ width: 44, marginTop: 12, fontFamily: 'Consolas', fontSize: 10, color: '#6BC8D1' }}&gt;01&lt;/Text&gt;&#13;&#10;            &lt;Box style={{ width: 488 }}&gt;&#13;&#10;                &lt;Text style={{ marginTop: 10, fontFamily: 'Microsoft YaHei', fontSize: 14, fontWeight: 'bold', color: '#F2F7F8' }}&gt;三维拓扑&lt;/Text&gt;&#13;&#10;                &lt;Text style={{ marginTop: 3, fontFamily: 'Microsoft YaHei', fontSize: 11, color: 'rgba(242,247,248,0.54)', lineHeight: 1.55 }}&gt;拖动旋转、滚轮缩放、点选设备；节点位置可拖动调整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2&lt;/Text&gt;&#13;&#10;            &lt;Box style={{ width: 488 }}&gt;&#13;&#10;                &lt;Text style={{ marginTop: 10, fontFamily: 'Microsoft YaHei', fontSize: 14, fontWeight: 'bold', color: '#F2F7F8' }}&gt;节点与策略&lt;/Text&gt;&#13;&#10;                &lt;Text style={{ marginTop: 3, fontFamily: 'Microsoft YaHei', fontSize: 11, color: 'rgba(242,247,248,0.54)', lineHeight: 1.55 }}&gt;查看 IP / VLAN / 路由；启停终端防护、服务加固、数据访问控制与隔离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3&lt;/Text&gt;&#13;&#10;            &lt;Box style={{ width: 488 }}&gt;&#13;&#10;                &lt;Text style={{ marginTop: 10, fontFamily: 'Microsoft YaHei', fontSize: 14, fontWeight: 'bold', color: '#F2F7F8' }}&gt;事件判定&lt;/Text&gt;&#13;&#10;                &lt;Text style={{ marginTop: 3, fontFamily: 'Microsoft YaHei', fontSize: 11, color: 'rgba(242,247,248,0.54)', lineHeight: 1.55 }}&gt;结果、实际路径、命中规则、阻断位置，以及状态的前后值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4&lt;/Text&gt;&#13;&#10;            &lt;Box style={{ width: 488 }}&gt;&#13;&#10;                &lt;Text style={{ marginTop: 10, fontFamily: 'Microsoft YaHei', fontSize: 14, fontWeight: 'bold', color: '#F2F7F8' }}&gt;代表链回放&lt;/Text&gt;&#13;&#10;                &lt;Text style={{ marginTop: 3, fontFamily: 'Microsoft YaHei', fontSize: 11, color: 'rgba(242,247,248,0.54)', lineHeight: 1.55 }}&gt;播放 / 暂停 / 单步 / 倍速；点击 T0–Tn 直接定位到对应状态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E78172' }}&gt;05&lt;/Text&gt;&#13;&#10;            &lt;Box style={{ width: 488 }}&gt;&#13;&#10;                &lt;Text style={{ marginTop: 10, fontFamily: 'Microsoft YaHei', fontSize: 14, fontWeight: 'bold', color: '#F2F7F8' }}&gt;安全挑战&lt;/Text&gt;&#13;&#10;                &lt;Text style={{ marginTop: 3, fontFamily: 'Microsoft YaHei', fontSize: 11, color: 'rgba(242,247,248,0.54)', lineHeight: 1.55 }}&gt;不是“全断开”：关键目标保护 + 必要业务可达，两个条件同时通过。&lt;/Text&gt;&#13;&#10;            &lt;/Box&gt;&#13;&#10;        &lt;/Box&gt;&#13;&#10;        &lt;Box style={{ flexDirection: 'row', alignItems: 'flex-start', height: 70, borderTop: '1px solid rgba(242,247,248,0.10)', borderBottom: '1px solid rgba(242,247,248,0.10)' }}&gt;&#13;&#10;            &lt;Text style={{ width: 44, marginTop: 12, fontFamily: 'Consolas', fontSize: 10, color: '#6BC8D1' }}&gt;06&lt;/Text&gt;&#13;&#10;            &lt;Box style={{ width: 488 }}&gt;&#13;&#10;                &lt;Text style={{ marginTop: 10, fontFamily: 'Microsoft YaHei', fontSize: 14, fontWeight: 'bold', color: '#F2F7F8' }}&gt;演示模式&lt;/Text&gt;&#13;&#10;                &lt;Text style={{ marginTop: 3, fontFamily: 'Microsoft YaHei', fontSize: 11, color: 'rgba(242,247,248,0.54)', lineHeight: 1.55 }}&gt;收起编辑控件、放大拓扑；课堂投屏时只保留讲解需要的信息。&lt;/Text&gt;&#13;&#10;            &lt;/Box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更多操作：恢复默认 · 复制复现链接 · 导出/导入场景 JSON；六个功能区共享同一份场景状态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8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4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0007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实验室：从“看拓扑”到“改策略、看判定”</a:t>
            </a:r>
            <a:endParaRPr/>
          </a:p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LAB SURFACES</a:t>
            </a:r>
            <a:endParaRPr/>
          </a:p>
        </p:txBody>
      </p:sp>
      <p:sp>
        <p:nvSpPr>
          <p:cNvPr id="1468" name=""/>
          <p:cNvSpPr/>
          <p:nvPr/>
        </p:nvSpPr>
        <p:spPr>
          <a:xfrm rot="0" flipH="0" flipV="0">
            <a:off x="533400" y="1390650"/>
            <a:ext cx="5715000" cy="32194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69" name=""/>
          <p:cNvPicPr>
            <a:picLocks noChangeAspect="1"/>
          </p:cNvPicPr>
          <p:nvPr/>
        </p:nvPicPr>
        <p:blipFill>
          <a:blip r:embed="rId2"/>
          <a:srcRect l="73" t="0" r="73" b="0"/>
          <a:stretch>
            <a:fillRect/>
          </a:stretch>
        </p:blipFill>
        <p:spPr>
          <a:xfrm rot="0" flipH="0" flipV="0">
            <a:off x="533400" y="1390650"/>
            <a:ext cx="5715000" cy="3219450"/>
          </a:xfrm>
          <a:prstGeom prst="roundRect">
            <a:avLst>
              <a:gd name="adj" fmla="val 2367"/>
            </a:avLst>
          </a:prstGeom>
          <a:ln/>
        </p:spPr>
      </p:pic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571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真实界面：关键数据目标“已保护”，必要业务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2 / 2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可达。</a:t>
            </a:r>
            <a:endParaRPr/>
          </a:p>
        </p:txBody>
      </p:sp>
      <p:sp>
        <p:nvSpPr>
          <p:cNvPr id="1471" name=""/>
          <p:cNvSpPr/>
          <p:nvPr/>
        </p:nvSpPr>
        <p:spPr>
          <a:xfrm rot="0" flipH="0" flipV="0">
            <a:off x="647700" y="1504950"/>
            <a:ext cx="1619250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82000"/>
            </a:srgbClr>
          </a:solidFill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742950" y="15525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CHALLENGE PASSED · 3 / 3</a:t>
            </a:r>
            <a:endParaRPr/>
          </a:p>
        </p:txBody>
      </p:sp>
      <p:sp>
        <p:nvSpPr>
          <p:cNvPr id="1473" name=""/>
          <p:cNvSpPr/>
          <p:nvPr/>
        </p:nvSpPr>
        <p:spPr>
          <a:xfrm rot="0" flipH="0" flipV="0">
            <a:off x="6591300" y="1333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6591300" y="1457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7010400" y="1438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三维拓扑</a:t>
            </a:r>
            <a:endParaRPr/>
          </a:p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7010400" y="1628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拖动旋转、滚轮缩放、点选设备；节点位置可拖动调整。</a:t>
            </a:r>
            <a:endParaRPr/>
          </a:p>
        </p:txBody>
      </p:sp>
      <p:sp>
        <p:nvSpPr>
          <p:cNvPr id="1477" name=""/>
          <p:cNvSpPr/>
          <p:nvPr/>
        </p:nvSpPr>
        <p:spPr>
          <a:xfrm rot="0" flipH="0" flipV="0">
            <a:off x="6591300" y="2000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6591300" y="2124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7010400" y="2105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节点与策略</a:t>
            </a:r>
            <a:endParaRPr/>
          </a:p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7010400" y="2295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查看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IP / VLAN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路由；启停终端防护、服务加固、数据访问控制与隔离。</a:t>
            </a:r>
            <a:endParaRPr/>
          </a:p>
        </p:txBody>
      </p:sp>
      <p:sp>
        <p:nvSpPr>
          <p:cNvPr id="1481" name=""/>
          <p:cNvSpPr/>
          <p:nvPr/>
        </p:nvSpPr>
        <p:spPr>
          <a:xfrm rot="0" flipH="0" flipV="0">
            <a:off x="6591300" y="26670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6591300" y="27908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7010400" y="27717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事件判定</a:t>
            </a:r>
            <a:endParaRPr/>
          </a:p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7010400" y="29622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结果、实际路径、命中规则、阻断位置，以及状态的前后值。</a:t>
            </a:r>
            <a:endParaRPr/>
          </a:p>
        </p:txBody>
      </p:sp>
      <p:sp>
        <p:nvSpPr>
          <p:cNvPr id="1485" name=""/>
          <p:cNvSpPr/>
          <p:nvPr/>
        </p:nvSpPr>
        <p:spPr>
          <a:xfrm rot="0" flipH="0" flipV="0">
            <a:off x="6591300" y="33337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6591300" y="3457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7010400" y="34385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代表链回放</a:t>
            </a:r>
            <a:endParaRPr/>
          </a:p>
        </p:txBody>
      </p:sp>
      <p:sp>
        <p:nvSpPr>
          <p:cNvPr id="1488" name="" descr="{&quot;isTemplate&quot;:true,&quot;type&quot;:&quot;text&quot;}"/>
          <p:cNvSpPr txBox="1"/>
          <p:nvPr/>
        </p:nvSpPr>
        <p:spPr>
          <a:xfrm rot="0" flipH="0" flipV="0">
            <a:off x="7010400" y="36290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单步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倍速；点击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T0–Tn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直接定位到对应状态。</a:t>
            </a:r>
            <a:endParaRPr/>
          </a:p>
        </p:txBody>
      </p:sp>
      <p:sp>
        <p:nvSpPr>
          <p:cNvPr id="1489" name=""/>
          <p:cNvSpPr/>
          <p:nvPr/>
        </p:nvSpPr>
        <p:spPr>
          <a:xfrm rot="0" flipH="0" flipV="0">
            <a:off x="6591300" y="4000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6591300" y="4124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7010400" y="4105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安全挑战</a:t>
            </a:r>
            <a:endParaRPr/>
          </a:p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7010400" y="4295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不是“全断开”：关键目标保护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必要业务可达，两个条件同时通过。</a:t>
            </a:r>
            <a:endParaRPr/>
          </a:p>
        </p:txBody>
      </p:sp>
      <p:sp>
        <p:nvSpPr>
          <p:cNvPr id="1493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94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69"/>
                </a:moveTo>
                <a:lnTo>
                  <a:pt x="532" y="69"/>
                </a:lnTo>
                <a:lnTo>
                  <a:pt x="53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6591300" y="4791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1496" name="" descr="{&quot;isTemplate&quot;:true,&quot;type&quot;:&quot;text&quot;}"/>
          <p:cNvSpPr txBox="1"/>
          <p:nvPr/>
        </p:nvSpPr>
        <p:spPr>
          <a:xfrm rot="0" flipH="0" flipV="0">
            <a:off x="7010400" y="4772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7010400" y="4962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收起编辑控件、放大拓扑；课堂投屏时只保留讲解需要的信息。</a:t>
            </a:r>
            <a:endParaRPr/>
          </a:p>
        </p:txBody>
      </p:sp>
      <p:sp>
        <p:nvSpPr>
          <p:cNvPr id="1498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460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更多操作：恢复默认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复制复现链接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导出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导入场景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；六个功能区共享同一份场景状态。</a:t>
            </a:r>
            <a:endParaRPr/>
          </a:p>
        </p:txBody>
      </p:sp>
      <p:sp>
        <p:nvSpPr>
          <p:cNvPr id="1500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01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08 / 35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0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00 520L790 420L900 470L1010 350L1120 400' /&gt;&#13;&#10;            &lt;path d='M790 420L850 540L960 580L1010 350' /&gt;&#13;&#10;        &lt;/g&gt;&#13;&#10;        &lt;g fill='#6BC8D1'&gt;&#13;&#10;            &lt;circle cx='700' cy='520' r='4' opacity='0.45' /&gt;&#13;&#10;            &lt;circle cx='790' cy='420' r='5' opacity='0.7' /&gt;&#13;&#10;            &lt;circle cx='900' cy='470' r='4' opacity='0.45' /&gt;&#13;&#10;            &lt;circle cx='1010' cy='350' r='6' opacity='0.85' /&gt;&#13;&#10;            &lt;circle cx='1120' cy='400' r='3.5' opacity='0.4' /&gt;&#13;&#10;            &lt;circle cx='850' cy='540' r='4' opacity='0.45' /&gt;&#13;&#10;            &lt;circle cx='960' cy='5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3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3 / 05&lt;/Text&gt;&#13;&#10;    &lt;/Box&gt;&#13;&#10;    &lt;Box style={{ position: 'absolute', left: 72, top: 176, width: 620 }}&gt;&#13;&#10;        &lt;Text style={{ fontFamily: 'Microsoft YaHei', fontSize: 58, fontWeight: 'bold', color: '#F2F7F8', letterSpacing: 2 }}&gt;核心机制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能不能通，和会不会变，是两道必须分开回答的问题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3.1&lt;/Text&gt;&#13;&#10;            &lt;Text style={{ fontFamily: 'Microsoft YaHei', fontSize: 14, color: 'rgba(242,247,248,0.72)' }}&gt;双引擎：通信判定与状态转移解耦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3.2&lt;/Text&gt;&#13;&#10;            &lt;Text style={{ fontFamily: 'Microsoft YaHei', fontSize: 14, color: 'rgba(242,247,248,0.72)' }}&gt;三维沙盘与策略工作台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3.3&lt;/Text&gt;&#13;&#10;            &lt;Text style={{ fontFamily: 'Microsoft YaHei', fontSize: 14, color: 'rgba(242,247,248,0.72)' }}&gt;状态链、A/B 对照与工程实现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MECHANISM&lt;/Text&gt;&#13;&#10;    &lt;/Box&gt;&#13;&#10;    &lt;Text style={{ position: 'absolute', right: 56, top: 664, fontFamily: 'Consolas', fontSize: 10.5, color: 'rgba(242,247,248,0.40)' }}&gt;09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507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03 / 05</a:t>
            </a:r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1510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能不能通，和会不会变，是两道必须分开回答的问题。</a:t>
            </a:r>
            <a:endParaRPr/>
          </a:p>
        </p:txBody>
      </p:sp>
      <p:sp>
        <p:nvSpPr>
          <p:cNvPr id="1512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513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03.1</a:t>
            </a:r>
            <a:endParaRPr/>
          </a:p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双引擎：通信判定与状态转移解耦</a:t>
            </a:r>
            <a:endParaRPr/>
          </a:p>
        </p:txBody>
      </p:sp>
      <p:sp>
        <p:nvSpPr>
          <p:cNvPr id="1515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03.2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三维沙盘与策略工作台</a:t>
            </a:r>
            <a:endParaRPr/>
          </a:p>
        </p:txBody>
      </p:sp>
      <p:sp>
        <p:nvSpPr>
          <p:cNvPr id="1518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519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03.3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状态链、</a:t>
            </a:r>
            <a:r>
              <a:rPr lang="en-US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对照与工程实现</a:t>
            </a:r>
            <a:endParaRPr/>
          </a:p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523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MECHANISM</a:t>
            </a:r>
            <a:endParaRPr/>
          </a:p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09 / 35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40' cy='120' r='26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双引擎：让“能不能通”和“会不会变”分开计算&lt;/Text&gt;&#13;&#10;    &lt;Text style={{ position: 'absolute', right: 56, top: 76, fontFamily: 'Consolas', fontSize: 10.5, color: 'rgba(242,247,248,0.42)' }}&gt;NETWORK LAYER × STATE LAYER&lt;/Text&gt;&#13;&#10;&#13;&#10;    &lt;Box style={{ position: 'absolute', left: 56, top: 138, width: 1168, height: 364 }}&gt;&#13;&#10;        &lt;svg width={1168} height={364} viewBox='0 0 1168 364' style={{ position: 'absolute', left: 0, top: 0 }}&gt;&#13;&#10;            &lt;g stroke='rgba(107,200,209,0.40)' strokeWidth='1.2' fill='none'&gt;&#13;&#10;                &lt;path d='M232 80H262' /&gt;&#13;&#10;                &lt;path d='M232 270H262' /&gt;&#13;&#10;                &lt;path d='M852 80H882' /&gt;&#13;&#10;                &lt;path d='M852 270H882' /&gt;&#13;&#10;                &lt;path d='M560 160V186' strokeDasharray='4 4' stroke='rgba(231,129,114,0.55)' /&gt;&#13;&#10;            &lt;/g&gt;&#13;&#10;            &lt;g fill='rgba(107,200,209,0.65)'&gt;&#13;&#10;                &lt;path d='M262 76L270 80L262 84Z' /&gt;&#13;&#10;                &lt;path d='M262 266L270 270L262 274Z' /&gt;&#13;&#10;                &lt;path d='M882 76L890 80L882 84Z' /&gt;&#13;&#10;                &lt;path d='M882 266L890 270L882 274Z' /&gt;&#13;&#10;            &lt;/g&gt;&#13;&#10;            &lt;path d='M556 186L560 194L564 186Z' fill='rgba(231,129,114,0.75)' /&gt;&#13;&#10;        &lt;/svg&gt;&#13;&#10;&#13;&#10;        &lt;Box style={{ position: 'absolute', left: 0, top: 0, width: 232, height: 364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INPUT / SCENARIO&lt;/Text&gt;&#13;&#10;            &lt;Text style={{ marginTop: 12, fontFamily: 'Microsoft YaHei', fontSize: 21, fontWeight: 'bold', color: '#F2F7F8' }}&gt;场景配置&lt;/Text&gt;&#13;&#10;            &lt;Box style={{ marginTop: 16 }}&gt;&#13;&#10;                &lt;Text style={{ fontFamily: 'Microsoft YaHei', fontSize: 11.5, color: 'rgba(242,247,248,0.60)', lineHeight: 2.1 }}&gt;拓扑 · 接口 · VLAN&lt;/Text&gt;&#13;&#10;                &lt;Text style={{ fontFamily: 'Microsoft YaHei', fontSize: 11.5, color: 'rgba(242,247,248,0.60)', lineHeight: 2.1 }}&gt;路由 · 静态 / 直连&lt;/Text&gt;&#13;&#10;                &lt;Text style={{ fontFamily: 'Microsoft YaHei', fontSize: 11.5, color: 'rgba(242,247,248,0.60)', lineHeight: 2.1 }}&gt;Firewall Policy&lt;/Text&gt;&#13;&#10;                &lt;Text style={{ fontFamily: 'Microsoft YaHei', fontSize: 11.5, color: 'rgba(242,247,248,0.60)', lineHeight: 2.1 }}&gt;初始状态 · 业务路径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同一份输入&lt;/Text&gt;&#13;&#10;            &lt;/Box&gt;&#13;&#10;        &lt;/Box&gt;&#13;&#10;&#13;&#10;        &lt;Box style={{ position: 'absolute', left: 272, top: 0, width: 580, height: 158, padding: 18, background: 'linear-gradient(145deg, rgba(107,200,209,0.09) 0%, rgba(242,247,248,0.02) 100%)', border: '1px solid rgba(107,200,209,0.24)', borderRadius: 10 }}&gt;&#13;&#10;            &lt;Box style={{ flexDirection: 'row', justifyContent: 'space-between', alignItems: 'center' }}&gt;&#13;&#10;                &lt;Text style={{ fontFamily: 'Consolas', fontSize: 9.5, color: '#6BC8D1', letterSpacing: 1.2 }}&gt;ENGINE 01 / NETWORK&lt;/Text&gt;&#13;&#10;                &lt;Text style={{ fontFamily: 'Consolas', fontSize: 9.5, color: 'rgba(242,247,248,0.38)' }}&gt;路径计算&lt;/Text&gt;&#13;&#10;            &lt;/Box&gt;&#13;&#10;            &lt;Text style={{ marginTop: 8, fontFamily: 'Microsoft YaHei', fontSize: 21, fontWeight: 'bold', color: '#F2F7F8' }}&gt;通信引擎&lt;/Text&gt;&#13;&#10;            &lt;Text style={{ marginTop: 6, fontFamily: 'Consolas', fontSize: 11.5, color: 'rgba(242,247,248,0.62)', letterSpacing: 0.3 }}&gt;L2 VLAN → 最长前缀路由 → First Match&lt;/Text&gt;&#13;&#10;            &lt;Box style={{ marginTop: 10, flexDirection: 'row', gap: 8 }}&gt;&#13;&#10;                &lt;Box style={{ paddingLeft: 9, paddingRight: 9, paddingTop: 4, paddingBottom: 4, border: '1px solid rgba(107,200,209,0.26)', borderRadius: 4 }}&gt;&#13;&#10;                    &lt;Text style={{ fontFamily: 'Consolas', fontSize: 9.5, color: '#6BC8D1' }}&gt;ALLOW / DENY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路径 + 命中规则&lt;/Text&gt;&#13;&#10;                &lt;/Box&gt;&#13;&#10;            &lt;/Box&gt;&#13;&#10;        &lt;/Box&gt;&#13;&#10;&#13;&#10;        &lt;Box style={{ position: 'absolute', left: 272, top: 190, width: 580, height: 158, padding: 18, background: 'linear-gradient(145deg, rgba(231,129,114,0.07) 0%, rgba(242,247,248,0.02) 100%)', border: '1px solid rgba(231,129,114,0.22)', borderRadius: 10 }}&gt;&#13;&#10;            &lt;Box style={{ flexDirection: 'row', justifyContent: 'space-between', alignItems: 'center' }}&gt;&#13;&#10;                &lt;Text style={{ fontFamily: 'Consolas', fontSize: 9.5, color: '#E78172', letterSpacing: 1.2 }}&gt;ENGINE 02 / STATE&lt;/Text&gt;&#13;&#10;                &lt;Text style={{ fontFamily: 'Consolas', fontSize: 9.5, color: 'rgba(242,247,248,0.38)' }}&gt;状态推演&lt;/Text&gt;&#13;&#10;            &lt;/Box&gt;&#13;&#10;            &lt;Text style={{ marginTop: 8, fontFamily: 'Microsoft YaHei', fontSize: 21, fontWeight: 'bold', color: '#F2F7F8' }}&gt;攻击状态引擎&lt;/Text&gt;&#13;&#10;            &lt;Text style={{ marginTop: 6, fontFamily: 'Consolas', fontSize: 11.5, color: 'rgba(242,247,248,0.62)', letterSpacing: 0.3 }}&gt;权限 → 教学行为 → 前置条件 + 安全控制&lt;/Text&gt;&#13;&#10;            &lt;Box style={{ marginTop: 10, flexDirection: 'row', gap: 8 }}&gt;&#13;&#10;                &lt;Box style={{ paddingLeft: 9, paddingRight: 9, paddingTop: 4, paddingBottom: 4, border: '1px solid rgba(231,129,114,0.30)', borderRadius: 4 }}&gt;&#13;&#10;                    &lt;Text style={{ fontFamily: 'Consolas', fontSize: 9.5, color: '#E78172' }}&gt;SUCCESS / BLOCKED / N.A.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见证链 + 最近阻断&lt;/Text&gt;&#13;&#10;                &lt;/Box&gt;&#13;&#10;            &lt;/Box&gt;&#13;&#10;        &lt;/Box&gt;&#13;&#10;&#13;&#10;        &lt;Text style={{ position: 'absolute', left: 578, top: 164, width: 240, fontFamily: 'Microsoft YaHei', fontSize: 9.5, color: 'rgba(231,129,114,0.80)' }}&gt;仅作为前置条件&lt;/Text&gt;&#13;&#10;&#13;&#10;        &lt;Box style={{ position: 'absolute', left: 892, top: 8, width: 276, height: 348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OUTPUT / EVIDENCE&lt;/Text&gt;&#13;&#10;            &lt;Text style={{ marginTop: 12, fontFamily: 'Microsoft YaHei', fontSize: 21, fontWeight: 'bold', color: '#F2F7F8' }}&gt;可验证结果&lt;/Text&gt;&#13;&#10;            &lt;Box style={{ marginTop: 16 }}&gt;&#13;&#10;                &lt;Text style={{ fontFamily: 'Microsoft YaHei', fontSize: 11.5, color: 'rgba(242,247,248,0.62)', lineHeight: 2.2 }}&gt;事件时间线&lt;/Text&gt;&#13;&#10;                &lt;Text style={{ fontFamily: 'Microsoft YaHei', fontSize: 11.5, color: 'rgba(242,247,248,0.62)', lineHeight: 2.2 }}&gt;代表链与见证&lt;/Text&gt;&#13;&#10;                &lt;Text style={{ fontFamily: 'Microsoft YaHei', fontSize: 11.5, color: 'rgba(242,247,248,0.62)', lineHeight: 2.2 }}&gt;A/B 指标&lt;/Text&gt;&#13;&#10;                &lt;Text style={{ fontFamily: 'Microsoft YaHei', fontSize: 11.5, color: 'rgba(242,247,248,0.62)', lineHeight: 2.2 }}&gt;挑战判定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可回放 · 可解释&lt;/Text&gt;&#13;&#10;            &lt;/Box&gt;&#13;&#10;        &lt;/Box&gt;&#13;&#10;    &lt;/Box&gt;&#13;&#10;&#13;&#10;    &lt;Text style={{ position: 'absolute', left: 56, top: 512, fontFamily: 'Consolas', fontSize: 86, fontWeight: 'bold', color: '#6BC8D1', lineHeight: 1 }}&gt;≠&lt;/Text&gt;&#13;&#10;    &lt;Text style={{ position: 'absolute', left: 158, top: 522, fontFamily: 'Microsoft YaHei', fontSize: 34, fontWeight: 'bold', color: '#F2F7F8', letterSpacing: 0.5 }}&gt;通信可达 ≠ 状态改变&lt;/Text&gt;&#13;&#10;    &lt;Text style={{ position: 'absolute', left: 158, top: 574, width: 760, fontFamily: 'Microsoft YaHei', fontSize: 13.5, color: 'rgba(242,247,248,0.60)', lineHeight: 1.75 }}&gt;&#13;&#10;        网络层只回答“能不能到达”；状态层还要检查来源范围、权限、教学条件与目标安全控制。通信放行不会自动改变目标状态。&#13;&#10;    &lt;/Text&gt;&#13;&#10;&#13;&#10;    &lt;Box style={{ position: 'absolute', right: 56, top: 512, width: 292, flexDirection: 'row', justifyContent: 'space-between' }}&gt;&#13;&#10;        &lt;Box&gt;&#13;&#10;            &lt;Text style={{ fontFamily: 'Consolas', fontSize: 30, fontWeight: 'bold', color: '#F2F7F8' }}&gt;8&lt;/Text&gt;&#13;&#10;            &lt;Text style={{ marginTop: 3, fontFamily: 'Consolas', fontSize: 8.5, color: 'rgba(242,247,248,0.40)' }}&gt;MAX DEPTH&lt;/Text&gt;&#13;&#10;        &lt;/Box&gt;&#13;&#10;        &lt;Box&gt;&#13;&#10;            &lt;Text style={{ fontFamily: 'Consolas', fontSize: 30, fontWeight: 'bold', color: '#F2F7F8' }}&gt;160&lt;/Text&gt;&#13;&#10;            &lt;Text style={{ marginTop: 3, fontFamily: 'Consolas', fontSize: 8.5, color: 'rgba(242,247,248,0.40)' }}&gt;MAX STATES&lt;/Text&gt;&#13;&#10;        &lt;/Box&gt;&#13;&#10;        &lt;Box&gt;&#13;&#10;            &lt;Text style={{ fontFamily: 'Consolas', fontSize: 30, fontWeight: 'bold', color: '#E78172' }}&gt;3&lt;/Text&gt;&#13;&#10;            &lt;Text style={{ marginTop: 3, fontFamily: 'Consolas', fontSize: 8.5, color: 'rgba(242,247,248,0.40)' }}&gt;RESULTS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0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6008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双引擎：让“能不能通”和“会不会变”分开计算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172700" y="723900"/>
            <a:ext cx="1485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NETWORK LAYER × STATE LAYER</a:t>
            </a:r>
            <a:endParaRPr/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14450"/>
            <a:ext cx="11125200" cy="3467100"/>
          </a:xfrm>
          <a:prstGeom prst="rect">
            <a:avLst/>
          </a:prstGeom>
          <a:ln/>
        </p:spPr>
      </p:pic>
      <p:sp>
        <p:nvSpPr>
          <p:cNvPr id="33" name=""/>
          <p:cNvSpPr/>
          <p:nvPr/>
        </p:nvSpPr>
        <p:spPr>
          <a:xfrm rot="0" flipH="0" flipV="0">
            <a:off x="533400" y="1314450"/>
            <a:ext cx="2209800" cy="3467100"/>
          </a:xfrm>
          <a:prstGeom prst="roundRect">
            <a:avLst>
              <a:gd name="adj" fmla="val 431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INPUT / SCENARIO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" y="1714500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场景配置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4850" y="211455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拓扑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VLAN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" y="23907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路由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静态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直连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4850" y="266700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Firewall Policy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4850" y="29432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初始状态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业务路径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04850" y="4391025"/>
            <a:ext cx="1866900" cy="228600"/>
          </a:xfrm>
          <a:custGeom>
            <a:pathLst>
              <a:path w="196" h="24">
                <a:moveTo>
                  <a:pt x="0" y="0"/>
                </a:moveTo>
                <a:lnTo>
                  <a:pt x="196" y="0"/>
                </a:lnTo>
                <a:lnTo>
                  <a:pt x="19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04850" y="44958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同一份输入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124200" y="131445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6BC8D1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295650" y="1485900"/>
            <a:ext cx="11715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ENGINE 01 / NETWORK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29550" y="148590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路径计算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295650" y="167640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通信引擎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295650" y="198120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L2 VLAN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最长前缀路由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First Match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295650" y="2209800"/>
            <a:ext cx="7715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381375" y="22479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ALLOW / DENY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143375" y="2209800"/>
            <a:ext cx="12954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229100" y="2247900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路径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命中规则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124200" y="312420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E78172">
                  <a:alpha val="7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295650" y="32956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E78172"/>
                </a:solidFill>
                <a:latin typeface="Consolas"/>
                <a:ea typeface="Consolas"/>
              </a:rPr>
              <a:t>ENGINE 02 / STATE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29550" y="329565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295650" y="348615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攻击状态引擎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295650" y="379095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权限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教学行为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前置条件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安全控制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295650" y="4019550"/>
            <a:ext cx="13716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381375" y="4057650"/>
            <a:ext cx="1200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SUCCESS / BLOCKED / N.A.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743450" y="4019550"/>
            <a:ext cx="14573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29175" y="405765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见证链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最近阻断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>
                    <a:alpha val="80000"/>
                  </a:srgbClr>
                </a:solidFill>
                <a:latin typeface="Microsoft YaHei"/>
                <a:ea typeface="Microsoft YaHei"/>
              </a:rPr>
              <a:t>仅作为前置条件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9029700" y="1390650"/>
            <a:ext cx="2628900" cy="3314700"/>
          </a:xfrm>
          <a:prstGeom prst="roundRect">
            <a:avLst>
              <a:gd name="adj" fmla="val 3623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201150" y="15621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OUTPUT / EVIDENCE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01150" y="1790700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可验证结果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01150" y="219075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事件时间线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01150" y="248602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代表链与见证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201150" y="278130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201150" y="307657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挑战判定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201150" y="4314825"/>
            <a:ext cx="2286000" cy="228600"/>
          </a:xfrm>
          <a:custGeom>
            <a:pathLst>
              <a:path w="240" h="24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201150" y="44196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可回放</a:t>
            </a:r>
            <a:r>
              <a:rPr lang="en-US" sz="713" spc="60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4572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450" b="1">
                <a:solidFill>
                  <a:srgbClr val="6BC8D1"/>
                </a:solidFill>
                <a:latin typeface="Consolas"/>
                <a:ea typeface="Consolas"/>
              </a:rPr>
              <a:t>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504950" y="4972050"/>
            <a:ext cx="3086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通信可达</a:t>
            </a:r>
            <a:r>
              <a:rPr lang="en-US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 ≠ </a:t>
            </a: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状态改变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04950" y="5467350"/>
            <a:ext cx="7239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网络层只回答“能不能到达”；状态层还要检查来源范围、权限、教学条件与目标安全控制。通信放行不会自动改变目标状态。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877300" y="487680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877300" y="5248275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DEPTH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077450" y="48768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160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77450" y="5248275"/>
            <a:ext cx="476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STATES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344275" y="48768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78172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44275" y="52482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RESULTS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10 / 35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三维沙盘：路径可以被追踪，而不是被想象&lt;/Text&gt;&#13;&#10;    &lt;Text style={{ position: 'absolute', right: 56, top: 76, fontFamily: 'Consolas', fontSize: 10.5, color: 'rgba(242,247,248,0.42)' }}&gt;THREE.JS · EVENT-DRIVEN&lt;/Text&gt;&#13;&#10;&#13;&#10;    &lt;Box style={{ position: 'absolute', left: 56, top: 150, width: 660, height: 310 }}&gt;&#13;&#10;        &lt;Image src=&quot;assets/lab_topology.png&quot; style={{ width: 660, height: 278, objectFit: 'cover', borderRadius: 8, border: '1px solid rgba(107,200,209,0.20)' }} /&gt;&#13;&#10;        &lt;Box style={{ position: 'absolute', left: 0, right: 0, bottom: 0, height: 32, paddingLeft: 12, paddingRight: 12, flexDirection: 'row', alignItems: 'center', justifyContent: 'space-between', background: 'rgba(7,17,27,0.84)', borderTop: '1px solid rgba(107,200,209,0.18)' }}&gt;&#13;&#10;            &lt;Text style={{ fontFamily: 'Consolas', fontSize: 9.5, color: 'rgba(242,247,248,0.58)', letterSpacing: 0.6 }}&gt;PC-01 → 应用服务 → 客户数据库&lt;/Text&gt;&#13;&#10;            &lt;Text style={{ fontFamily: 'Consolas', fontSize: 9.5, color: '#6BC8D1' }}&gt;STATE VIEW&lt;/Text&gt;&#13;&#10;        &lt;/Box&gt;&#13;&#10;    &lt;/Box&gt;&#13;&#10;&#13;&#10;    &lt;Box style={{ position: 'absolute', left: 748, top: 142, width: 476 }}&gt;&#13;&#10;        &lt;Box style={{ flexDirection: 'row', alignItems: 'flex-start', height: 86, borderTop: '1px solid rgba(242,247,248,0.10)' }}&gt;&#13;&#10;            &lt;Text style={{ width: 44, marginTop: 14, fontFamily: 'Consolas', fontSize: 10, color: '#6BC8D1' }}&gt;01&lt;/Text&gt;&#13;&#10;            &lt;Box style={{ width: 432 }}&gt;&#13;&#10;                &lt;Text style={{ marginTop: 12, fontFamily: 'Microsoft YaHei', fontSize: 14.5, fontWeight: 'bold', color: '#F2F7F8' }}&gt;空间语义&lt;/Text&gt;&#13;&#10;                &lt;Text style={{ marginTop: 4, fontFamily: 'Microsoft YaHei', fontSize: 11.5, color: 'rgba(242,247,248,0.54)', lineHeight: 1.65 }}&gt;区域体积、VLAN 色带与设备造型，先看懂“在哪、属于谁”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2&lt;/Text&gt;&#13;&#10;            &lt;Box style={{ width: 432 }}&gt;&#13;&#10;                &lt;Text style={{ marginTop: 12, fontFamily: 'Microsoft YaHei', fontSize: 14.5, fontWeight: 'bold', color: '#F2F7F8' }}&gt;直接操作&lt;/Text&gt;&#13;&#10;                &lt;Text style={{ marginTop: 4, fontFamily: 'Microsoft YaHei', fontSize: 11.5, color: 'rgba(242,247,248,0.54)', lineHeight: 1.65 }}&gt;拖动旋转、滚轮缩放、点选设备；节点位置可拖动重排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3&lt;/Text&gt;&#13;&#10;            &lt;Box style={{ width: 432 }}&gt;&#13;&#10;                &lt;Text style={{ marginTop: 12, fontFamily: 'Microsoft YaHei', fontSize: 14.5, fontWeight: 'bold', color: '#F2F7F8' }}&gt;路径可视化&lt;/Text&gt;&#13;&#10;                &lt;Text style={{ marginTop: 4, fontFamily: 'Microsoft YaHei', fontSize: 11.5, color: 'rgba(242,247,248,0.54)', lineHeight: 1.65 }}&gt;事件沿真实节点链流光；被阻断的位置单独标记，不画“猜出来”的线。&lt;/Text&gt;&#13;&#10;            &lt;/Box&gt;&#13;&#10;        &lt;/Box&gt;&#13;&#10;        &lt;Box style={{ flexDirection: 'row', alignItems: 'flex-start', height: 86, borderTop: '1px solid rgba(242,247,248,0.10)', borderBottom: '1px solid rgba(242,247,248,0.10)' }}&gt;&#13;&#10;            &lt;Text style={{ width: 44, marginTop: 14, fontFamily: 'Consolas', fontSize: 10, color: '#6BC8D1' }}&gt;04&lt;/Text&gt;&#13;&#10;            &lt;Box style={{ width: 432 }}&gt;&#13;&#10;                &lt;Text style={{ marginTop: 12, fontFamily: 'Microsoft YaHei', fontSize: 14.5, fontWeight: 'bold', color: '#F2F7F8' }}&gt;聚焦与复位&lt;/Text&gt;&#13;&#10;                &lt;Text style={{ marginTop: 4, fontFamily: 'Microsoft YaHei', fontSize: 11.5, color: 'rgba(242,247,248,0.54)', lineHeight: 1.65 }}&gt;一键适配视野、聚焦代表链、恢复拓扑布局；标签按视距分级并自动避让。&lt;/Text&gt;&#13;&#10;            &lt;/Box&gt;&#13;&#10;        &lt;/Box&gt;&#13;&#10;    &lt;/Box&gt;&#13;&#10;&#13;&#10;    &lt;Box style={{ position: 'absolute', left: 56, top: 500, width: 1168, paddingTop: 12, borderTop: '1px solid rgba(107,200,209,0.22)' }}&gt;&#13;&#10;        &lt;Text style={{ fontFamily: 'Consolas', fontSize: 10, color: '#6BC8D1', letterSpacing: 1.2 }}&gt;RENDERING RULE&lt;/Text&gt;&#13;&#10;        &lt;Text style={{ marginTop: 6, fontFamily: 'Microsoft YaHei', fontSize: 12.5, color: 'rgba(242,247,248,0.54)' }}&gt;动画只消费事件携带的路径与节点；三维层不参与判定，也不自行编造连接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1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三维沙盘：路径可以被追踪，而不是被想象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THREE.JS · EVENT-DRIVEN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33400" y="1428750"/>
            <a:ext cx="6286500" cy="26479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 r:embed="rId2"/>
          <a:srcRect l="65" t="0" r="65" b="0"/>
          <a:stretch>
            <a:fillRect/>
          </a:stretch>
        </p:blipFill>
        <p:spPr>
          <a:xfrm rot="0" flipH="0" flipV="0">
            <a:off x="533400" y="1428750"/>
            <a:ext cx="6286500" cy="2647950"/>
          </a:xfrm>
          <a:prstGeom prst="roundRect">
            <a:avLst>
              <a:gd name="adj" fmla="val 2878"/>
            </a:avLst>
          </a:prstGeom>
          <a:ln/>
        </p:spPr>
      </p:pic>
      <p:sp>
        <p:nvSpPr>
          <p:cNvPr id="90" name=""/>
          <p:cNvSpPr/>
          <p:nvPr/>
        </p:nvSpPr>
        <p:spPr>
          <a:xfrm rot="0" flipH="0" flipV="0">
            <a:off x="533400" y="4086225"/>
            <a:ext cx="6286500" cy="295275"/>
          </a:xfrm>
          <a:prstGeom prst="rect">
            <a:avLst/>
          </a:prstGeom>
          <a:solidFill>
            <a:srgbClr val="07111B">
              <a:alpha val="84000"/>
            </a:srgbClr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533400" y="4076700"/>
            <a:ext cx="6286500" cy="304800"/>
          </a:xfrm>
          <a:custGeom>
            <a:pathLst>
              <a:path w="660" h="32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7700" y="4181475"/>
            <a:ext cx="2124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PC-01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应用服务</a:t>
            </a: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客户数据库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00775" y="41814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 VIEW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124700" y="13525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124700" y="14954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543800" y="14763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543800" y="16859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区域体积、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色带与设备造型，先看懂“在哪、属于谁”。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124700" y="21717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124700" y="2314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543800" y="22955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直接操作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43800" y="25050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拖动旋转、滚轮缩放、点选设备；节点位置可拖动重排。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124700" y="29908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24700" y="31337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路径可视化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543800" y="33242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事件沿真实节点链流光；被阻断的位置单独标记，不画“猜出来”的线。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85"/>
                </a:moveTo>
                <a:lnTo>
                  <a:pt x="476" y="85"/>
                </a:lnTo>
                <a:lnTo>
                  <a:pt x="47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124700" y="39528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43800" y="39338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聚焦与复位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543800" y="41433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一键适配视野、聚焦代表链、恢复拓扑布局；标签按视距分级并自动避让。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33400" y="4762500"/>
            <a:ext cx="11125200" cy="447675"/>
          </a:xfrm>
          <a:custGeom>
            <a:pathLst>
              <a:path w="1168" h="4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11125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90">
                <a:solidFill>
                  <a:srgbClr val="6BC8D1"/>
                </a:solidFill>
                <a:latin typeface="Consolas"/>
                <a:ea typeface="Consolas"/>
              </a:rPr>
              <a:t>RENDERING RULE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33400" y="5057775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动画只消费事件携带的路径与节点；三维层不参与判定，也不自行编造连接。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11 / 35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策略工作台：顺序就是语义&lt;/Text&gt;&#13;&#10;    &lt;Text style={{ position: 'absolute', right: 56, top: 76, fontFamily: 'Consolas', fontSize: 10.5, color: 'rgba(242,247,248,0.42)' }}&gt;FIRST MATCH · DEFAULT DENY&lt;/Text&gt;&#13;&#10;&#13;&#10;    &lt;Box style={{ position: 'absolute', left: 56, top: 140, width: 440 }}&gt;&#13;&#10;        &lt;Box style={{ flexDirection: 'row', justifyContent: 'space-between', alignItems: 'center' }}&gt;&#13;&#10;            &lt;Text style={{ fontFamily: 'Consolas', fontSize: 9.5, color: '#6BC8D1', letterSpacing: 1.2 }}&gt;INTERNAL FIREWALL / RULES&lt;/Text&gt;&#13;&#10;            &lt;Text style={{ fontFamily: 'Consolas', fontSize: 9.5, color: 'rgba(242,247,248,0.38)' }}&gt;Default DENY&lt;/Text&gt;&#13;&#10;        &lt;/Box&gt;&#13;&#10;&#13;&#10;        &lt;Box style={{ marginTop: 14, height: 62, paddingLeft: 12, paddingRight: 12, flexDirection: 'row', alignItems: 'center', background: 'rgba(107,200,209,0.09)', border: '1px solid rgba(107,200,209,0.32)', borderRadius: 6 }}&gt;&#13;&#10;            &lt;Text style={{ width: 30, fontFamily: 'Consolas', fontSize: 12, color: '#6BC8D1' }}&gt;10&lt;/Text&gt;&#13;&#10;            &lt;Box style={{ width: 54, paddingTop: 3, paddingBottom: 3, alignItems: 'center', background: 'rgba(107,200,209,0.16)', borderRadius: 3 }}&gt;&#13;&#10;                &lt;Text style={{ fontFamily: 'Consolas', fontSize: 9, color: '#6BC8D1' }}&gt;ALLOW&lt;/Text&gt;&#13;&#10;            &lt;/Box&gt;&#13;&#10;            &lt;Box style={{ marginLeft: 10, width: 250 }}&gt;&#13;&#10;                &lt;Text style={{ fontFamily: 'Microsoft YaHei', fontSize: 12, fontWeight: 'bold', color: '#F2F7F8' }}&gt;应用服务 → 客户数据库&lt;/Text&gt;&#13;&#10;                &lt;Text style={{ marginTop: 3, fontFamily: 'Consolas', fontSize: 9.5, color: 'rgba(242,247,248,0.48)' }}&gt;DATABASE · 应用业务&lt;/Text&gt;&#13;&#10;            &lt;/Box&gt;&#13;&#10;            &lt;Text style={{ marginLeft: 'auto', fontFamily: 'Microsoft YaHei', fontSize: 9.5, color: '#6BC8D1' }}&gt;命中&lt;/Text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0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客户数据库&lt;/Text&gt;&#13;&#10;                &lt;Text style={{ marginTop: 3, fontFamily: 'Consolas', fontSize: 9.5, color: 'rgba(231,129,114,0.80)' }}&gt;DATABASE · 顺序错误&lt;/Text&gt;&#13;&#10;            &lt;/Box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5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应用服务&lt;/Text&gt;&#13;&#10;                &lt;Text style={{ marginTop: 3, fontFamily: 'Consolas', fontSize: 9.5, color: 'rgba(242,247,248,0.48)' }}&gt;WEB · 教学路径&lt;/Text&gt;&#13;&#10;            &lt;/Box&gt;&#13;&#10;        &lt;/Box&gt;&#13;&#10;&#13;&#10;        &lt;Box style={{ marginTop: 8, height: 62, paddingLeft: 12, paddingRight: 12, flexDirection: 'row', alignItems: 'center', background: 'rgba(231,129,114,0.035)', border: '1px solid rgba(231,129,114,0.22)', borderRadius: 6 }}&gt;&#13;&#10;            &lt;Text style={{ width: 30, fontFamily: 'Consolas', fontSize: 12, color: 'rgba(242,247,248,0.52)' }}&gt;30&lt;/Text&gt;&#13;&#10;            &lt;Box style={{ width: 54, paddingTop: 3, paddingBottom: 3, alignItems: 'center', background: 'rgba(231,129,114,0.10)', borderRadius: 3 }}&gt;&#13;&#10;                &lt;Text style={{ fontFamily: 'Consolas', fontSize: 9, color: '#E78172' }}&gt;DENY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数据库区&lt;/Text&gt;&#13;&#10;                &lt;Text style={{ marginTop: 3, fontFamily: 'Consolas', fontSize: 9.5, color: 'rgba(242,247,248,0.48)' }}&gt;ANY · 永远到不了&lt;/Text&gt;&#13;&#10;            &lt;/Box&gt;&#13;&#10;        &lt;/Box&gt;&#13;&#10;&#13;&#10;        &lt;Box style={{ marginTop: 14, paddingLeft: 12, borderLeft: '2px solid #6BC8D1' }}&gt;&#13;&#10;            &lt;Text style={{ fontFamily: 'Microsoft YaHei', fontSize: 11.5, color: 'rgba(242,247,248,0.58)', lineHeight: 1.7 }}&gt;&#13;&#10;                第 1 条命中即停止；第 30 条的拒绝不会被检查。&lt;br /&gt;规则的“位置”，本身就是策略的一部分。&#13;&#10;            &lt;/Text&gt;&#13;&#10;        &lt;/Box&gt;&#13;&#10;    &lt;/Box&gt;&#13;&#10;&#13;&#10;    &lt;Box style={{ position: 'absolute', left: 536, top: 140, width: 688 }}&gt;&#13;&#10;        &lt;Box style={{ flexDirection: 'row', alignItems: 'flex-start', height: 78, borderTop: '1px solid rgba(242,247,248,0.10)' }}&gt;&#13;&#10;            &lt;Text style={{ width: 42, marginTop: 12, fontFamily: 'Consolas', fontSize: 10, color: '#6BC8D1' }}&gt;01&lt;/Text&gt;&#13;&#10;            &lt;Box style={{ width: 630 }}&gt;&#13;&#10;                &lt;Text style={{ marginTop: 10, fontFamily: 'Microsoft YaHei', fontSize: 14.5, fontWeight: 'bold', color: '#F2F7F8' }}&gt;规则可编辑&lt;/Text&gt;&#13;&#10;                &lt;Text style={{ marginTop: 3, fontFamily: 'Microsoft YaHei', fontSize: 11.5, color: 'rgba(242,247,248,0.54)', lineHeight: 1.65 }}&gt;新增、删除、上移、下移、启停；来源与目标支持 ANY / ZONE / NODE 三种粒度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2&lt;/Text&gt;&#13;&#10;            &lt;Box style={{ width: 630 }}&gt;&#13;&#10;                &lt;Text style={{ marginTop: 10, fontFamily: 'Microsoft YaHei', fontSize: 14.5, fontWeight: 'bold', color: '#F2F7F8' }}&gt;判定可追溯&lt;/Text&gt;&#13;&#10;                &lt;Text style={{ marginTop: 3, fontFamily: 'Microsoft YaHei', fontSize: 11.5, color: 'rgba(242,247,248,0.54)', lineHeight: 1.65 }}&gt;通信 → Firewall → 规则 → 结果；命中规则、阻断位置与前后状态都写进事件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3&lt;/Text&gt;&#13;&#10;            &lt;Box style={{ width: 630 }}&gt;&#13;&#10;                &lt;Text style={{ marginTop: 10, fontFamily: 'Microsoft YaHei', fontSize: 14.5, fontWeight: 'bold', color: '#F2F7F8' }}&gt;失效可感知&lt;/Text&gt;&#13;&#10;                &lt;Text style={{ marginTop: 3, fontFamily: 'Microsoft YaHei', fontSize: 11.5, color: 'rgba(242,247,248,0.54)', lineHeight: 1.65 }}&gt;拓扑、策略或安全控制一变，上一轮结果立即标记过期；只改布局不会误触发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2, marginTop: 12, fontFamily: 'Consolas', fontSize: 10, color: '#6BC8D1' }}&gt;04&lt;/Text&gt;&#13;&#10;            &lt;Box style={{ width: 630 }}&gt;&#13;&#10;                &lt;Text style={{ marginTop: 10, fontFamily: 'Microsoft YaHei', fontSize: 14.5, fontWeight: 'bold', color: '#F2F7F8' }}&gt;默认拒绝&lt;/Text&gt;&#13;&#10;                &lt;Text style={{ marginTop: 3, fontFamily: 'Microsoft YaHei', fontSize: 11.5, color: 'rgba(242,247,248,0.54)', lineHeight: 1.65 }}&gt;没有规则命中时使用本机 Default Policy；系统不提供“默认放行”的捷径。&lt;/Text&gt;&#13;&#10;            &lt;/Box&gt;&#13;&#10;        &lt;/Box&gt;&#13;&#10;&#13;&#10;        &lt;Box style={{ marginTop: 26, padding: 16, background: 'rgba(107,200,209,0.055)', borderLeft: '2px solid #6BC8D1' }}&gt;&#13;&#10;            &lt;Text style={{ fontFamily: 'Microsoft YaHei', fontSize: 16, fontWeight: 'bold', color: 'rgba(242,247,248,0.88)', lineHeight: 1.6 }}&gt;&#13;&#10;                不是规则越多越安全，&lt;br /&gt;而是顺序与作用域共同决定结果。&#13;&#10;            &lt;/Text&gt;&#13;&#10;        &lt;/Box&gt;&#13;&#10;    &lt;/Box&gt;&#13;&#10;&#13;&#10;    &lt;Box style={{ position: 'absolute', left: 56, top: 552, width: 1168, paddingTop: 14, borderTop: '1px solid rgba(242,247,248,0.10)' }}&gt;&#13;&#10;        &lt;Box style={{ flexDirection: 'row', alignItems: 'center', gap: 12 }}&gt;&#13;&#10;            &lt;Text style={{ width: 90, fontFamily: 'Consolas', fontSize: 9, color: 'rgba(242,247,248,0.34)', letterSpacing: 1 }}&gt;STATE FLOW&lt;/Text&gt;&#13;&#10;            &lt;Box style={{ width: 168, paddingLeft: 12, paddingRight: 12, paddingTop: 8, paddingBottom: 8, border: '1px solid rgba(242,247,248,0.12)', borderRadius: 4 }}&gt;&#13;&#10;                &lt;Text style={{ fontFamily: 'Microsoft YaHei', fontSize: 11, color: 'rgba(242,247,248,0.62)' }}&gt;改一条规则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231,129,114,0.24)', borderRadius: 4 }}&gt;&#13;&#10;                &lt;Text style={{ fontFamily: 'Microsoft YaHei', fontSize: 11, color: '#E78172' }}&gt;上一轮结果过期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107,200,209,0.26)', borderRadius: 4, background: 'rgba(107,200,209,0.06)' }}&gt;&#13;&#10;                &lt;Text style={{ fontFamily: 'Microsoft YaHei', fontSize: 11, color: '#6BC8D1' }}&gt;重新验证&lt;/Text&gt;&#13;&#10;            &lt;/Box&gt;&#13;&#10;            &lt;Text style={{ fontFamily: 'Consolas', fontSize: 13, color: 'rgba(107,200,209,0.55)' }}&gt;→&lt;/Text&gt;&#13;&#10;            &lt;Box style={{ width: 208, paddingLeft: 12, paddingRight: 12, paddingTop: 8, paddingBottom: 8, border: '1px solid rgba(242,247,248,0.12)', borderRadius: 4 }}&gt;&#13;&#10;                &lt;Text style={{ fontFamily: 'Microsoft YaHei', fontSize: 11, color: 'rgba(242,247,248,0.62)' }}&gt;新事件 / 新指标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2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策略工作台：顺序就是语义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FIRST MATCH · DEFAULT DENY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1533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INTERNAL FIREWALL / RULES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24325" y="13335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Default DENY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33400" y="15811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6BC8D1">
              <a:alpha val="9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7700" y="18097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C8D1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933450" y="18002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6BC8D1">
              <a:alpha val="16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76325" y="18288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43050" y="17335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应用服务</a:t>
            </a:r>
            <a:r>
              <a:rPr lang="en-US" sz="900" b="1">
                <a:solidFill>
                  <a:srgbClr val="F2F7F8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543050" y="19050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应用业务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429125" y="18192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Microsoft YaHei"/>
                <a:ea typeface="Microsoft YaHei"/>
              </a:rPr>
              <a:t>命中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33400" y="22479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7700" y="24765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20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33450" y="24669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76325" y="249555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543050" y="24003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543050" y="25717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顺序错误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9146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7700" y="31432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25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33450" y="31337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76325" y="31623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43050" y="30670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应用服务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543050" y="32385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WEB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教学路径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35814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E78172">
              <a:alpha val="3500"/>
            </a:srgbClr>
          </a:soli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7700" y="38100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30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33450" y="38004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E78172">
              <a:alpha val="10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95375" y="3829050"/>
            <a:ext cx="190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DENY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543050" y="37338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数据库区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543050" y="39052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ANY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永远到不了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33400" y="4305300"/>
            <a:ext cx="4210050" cy="447675"/>
          </a:xfrm>
          <a:custGeom>
            <a:pathLst>
              <a:path w="442" h="47">
                <a:moveTo>
                  <a:pt x="0" y="0"/>
                </a:moveTo>
                <a:lnTo>
                  <a:pt x="2" y="0"/>
                </a:lnTo>
                <a:lnTo>
                  <a:pt x="2" y="47"/>
                </a:lnTo>
                <a:lnTo>
                  <a:pt x="0" y="47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305300"/>
            <a:ext cx="4057650" cy="4476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条命中即停止；第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条的拒绝不会被检查。</a:t>
            </a:r>
            <a:endParaRPr/>
          </a:p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规则的“位置”，本身就是策略的一部分。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105400" y="13335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05400" y="1457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505450" y="14382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505450" y="16383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三种粒度。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105400" y="20764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105400" y="22002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05450" y="21812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05450" y="23812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结果；命中规则、阻断位置与前后状态都写进事件。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105400" y="28194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105400" y="29432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05450" y="29241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失效可感知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05450" y="31242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拓扑、策略或安全控制一变，上一轮结果立即标记过期；只改布局不会误触发。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77"/>
                </a:moveTo>
                <a:lnTo>
                  <a:pt x="688" y="77"/>
                </a:lnTo>
                <a:lnTo>
                  <a:pt x="6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05400" y="3686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505450" y="36671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默认拒绝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505450" y="38671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没有规则命中时使用本机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Policy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；系统不提供“默认放行”的捷径。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124450" y="4552950"/>
            <a:ext cx="6553200" cy="89535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105400" y="4552950"/>
            <a:ext cx="6572250" cy="895350"/>
          </a:xfrm>
          <a:custGeom>
            <a:pathLst>
              <a:path w="690" h="94">
                <a:moveTo>
                  <a:pt x="0" y="0"/>
                </a:moveTo>
                <a:lnTo>
                  <a:pt x="2" y="0"/>
                </a:lnTo>
                <a:lnTo>
                  <a:pt x="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76850" y="4705350"/>
            <a:ext cx="62293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不是规则越多越安全，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而是顺序与作用域共同决定结果。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33400" y="5257800"/>
            <a:ext cx="11125200" cy="438150"/>
          </a:xfrm>
          <a:custGeom>
            <a:pathLst>
              <a:path w="1168" h="46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3400" y="5495925"/>
            <a:ext cx="857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STATE FLOW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504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61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改一条规则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21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409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E78172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524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78172"/>
                </a:solidFill>
                <a:latin typeface="Microsoft YaHei"/>
                <a:ea typeface="Microsoft YaHei"/>
              </a:rPr>
              <a:t>上一轮结果过期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124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314950" y="5400675"/>
            <a:ext cx="1600200" cy="285750"/>
          </a:xfrm>
          <a:prstGeom prst="roundRect">
            <a:avLst>
              <a:gd name="adj" fmla="val 13333"/>
            </a:avLst>
          </a:prstGeom>
          <a:solidFill>
            <a:srgbClr val="6BC8D1">
              <a:alpha val="6000"/>
            </a:srgbClr>
          </a:soli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42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C8D1"/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02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219950" y="5400675"/>
            <a:ext cx="1981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34250" y="54768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新事件</a:t>
            </a:r>
            <a:r>
              <a:rPr lang="en-US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新指标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12 / 35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00' r='240' fill='rgba(231,129,114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一条代表链，四个状态节点&lt;/Text&gt;&#13;&#10;    &lt;Text style={{ position: 'absolute', right: 56, top: 76, fontFamily: 'Consolas', fontSize: 10.5, color: 'rgba(242,247,248,0.42)' }}&gt;ATTACK_STATE · REPRESENTATIVE CHAIN&lt;/Text&gt;&#13;&#10;&#13;&#10;    &lt;Box style={{ position: 'absolute', left: 56, top: 138, flexDirection: 'row', alignItems: 'center', gap: 10 }}&gt;&#13;&#10;        &lt;Text style={{ fontFamily: 'Consolas', fontSize: 9.5, color: '#6BC8D1', letterSpacing: 1.2 }}&gt;T0 → T3&lt;/Text&gt;&#13;&#10;        &lt;Box style={{ width: 24, height: 1, background: 'rgba(107,200,209,0.36)' }} /&gt;&#13;&#10;        &lt;Text style={{ fontFamily: 'Microsoft YaHei', fontSize: 11, color: 'rgba(242,247,248,0.46)' }}&gt;T1–T3 各改变一种状态：控制端点、提升权限、授予数据访问 · T0 为初始条件&lt;/Text&gt;&#13;&#10;    &lt;/Box&gt;&#13;&#10;&#13;&#10;    &lt;Box style={{ position: 'absolute', left: 56, top: 170, width: 1168, height: 206 }}&gt;&#13;&#10;        &lt;svg width={1168} height={206} viewBox='0 0 1168 206' style={{ position: 'absolute', left: 0, top: 0 }}&gt;&#13;&#10;            &lt;g stroke='rgba(107,200,209,0.42)' strokeWidth='1.2'&gt;&#13;&#10;                &lt;path d='M252 104H272' /&gt;&#13;&#10;                &lt;path d='M526 104H546' /&gt;&#13;&#10;                &lt;path d='M800 104H820' /&gt;&#13;&#10;            &lt;/g&gt;&#13;&#10;            &lt;g fill='rgba(107,200,209,0.60)'&gt;&#13;&#10;                &lt;path d='M272 100L280 104L272 108Z' /&gt;&#13;&#10;                &lt;path d='M546 100L554 104L546 108Z' /&gt;&#13;&#10;                &lt;path d='M820 100L828 104L820 108Z' /&gt;&#13;&#10;            &lt;/g&gt;&#13;&#10;        &lt;/svg&gt;&#13;&#10;&#13;&#10;        &lt;Box style={{ position: 'absolute', left: 0, top: 0, width: 252, height: 200, padding: 16, background: 'linear-gradient(145deg, rgba(242,247,248,0.05) 0%, rgba(242,247,248,0.02) 100%)', border: '1px solid rgba(242,247,248,0.12)', borderRadius: 8 }}&gt;&#13;&#10;            &lt;Box style={{ flexDirection: 'row', justifyContent: 'space-between', alignItems: 'center' }}&gt;&#13;&#10;                &lt;Text style={{ fontFamily: 'Consolas', fontSize: 9.5, color: 'rgba(242,247,248,0.42)', letterSpacing: 1 }}&gt;T0 / SEED&lt;/Text&gt;&#13;&#10;                &lt;Text style={{ fontFamily: 'Consolas', fontSize: 9, color: 'rgba(242,247,248,0.34)' }}&gt;初始&lt;/Text&gt;&#13;&#10;            &lt;/Box&gt;&#13;&#10;            &lt;Text style={{ marginTop: 14, fontFamily: 'Microsoft YaHei', fontSize: 13.5, fontWeight: 'bold', color: '#F2F7F8' }}&gt;Office-PC-01&lt;/Text&gt;&#13;&#10;            &lt;Text style={{ marginTop: 8, fontFamily: 'Consolas', fontSize: 24, fontWeight: 'bold', color: 'rgba(242,247,248,0.74)', lineHeight: 1 }}&gt;USER&lt;/Text&gt;&#13;&#10;            &lt;Text style={{ marginTop: 10, fontFamily: 'Microsoft YaHei', fontSize: 10.5, color: 'rgba(242,247,248,0.48)', lineHeight: 1.65 }}&gt;实验开始前已被教学状态标记为受控；不是本轮行为。&lt;/Text&gt;&#13;&#10;            &lt;Box style={{ marginTop: 'auto', paddingTop: 8, borderTop: '1px solid rgba(242,247,248,0.10)' }}&gt;&#13;&#10;                &lt;Text style={{ fontFamily: 'Consolas', fontSize: 9, color: 'rgba(242,247,248,0.38)' }}&gt;SEED · 不计入传播步骤&lt;/Text&gt;&#13;&#10;            &lt;/Box&gt;&#13;&#10;        &lt;/Box&gt;&#13;&#10;&#13;&#10;        &lt;Box style={{ position: 'absolute', left: 274, top: 0, width: 252, height: 200, padding: 16, background: 'linear-gradient(145deg, rgba(107,200,209,0.08) 0%, rgba(242,247,248,0.02) 100%)', border: '1px solid rgba(107,200,209,0.26)', borderRadius: 8 }}&gt;&#13;&#10;            &lt;Box style={{ flexDirection: 'row', justifyContent: 'space-between', alignItems: 'center' }}&gt;&#13;&#10;                &lt;Text style={{ fontFamily: 'Consolas', fontSize: 9.5, color: '#6BC8D1', letterSpacing: 1 }}&gt;T1 / MOVE&lt;/Text&gt;&#13;&#10;                &lt;Text style={{ fontFamily: 'Consolas', fontSize: 9, color: 'rgba(242,247,248,0.34)' }}&gt;端点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6BC8D1', lineHeight: 1 }}&gt;USER&lt;/Text&gt;&#13;&#10;            &lt;Text style={{ marginTop: 10, fontFamily: 'Microsoft YaHei', fontSize: 10.5, color: 'rgba(242,247,248,0.48)', lineHeight: 1.65 }}&gt;应用服务访问：WEB 通信允许 + 远程入口条件满足。&lt;/Text&gt;&#13;&#10;            &lt;Box style={{ marginTop: 'auto', paddingTop: 8, borderTop: '1px solid rgba(107,200,209,0.18)' }}&gt;&#13;&#10;                &lt;Text style={{ fontFamily: 'Consolas', fontSize: 9, color: '#6BC8D1' }}&gt;CONTROL_GRANTED&lt;/Text&gt;&#13;&#10;            &lt;/Box&gt;&#13;&#10;        &lt;/Box&gt;&#13;&#10;&#13;&#10;        &lt;Box style={{ position: 'absolute', left: 548, top: 0, width: 252, height: 200, padding: 16, background: 'linear-gradient(145deg, rgba(231,129,114,0.065) 0%, rgba(242,247,248,0.02) 100%)', border: '1px solid rgba(231,129,114,0.22)', borderRadius: 8 }}&gt;&#13;&#10;            &lt;Box style={{ flexDirection: 'row', justifyContent: 'space-between', alignItems: 'center' }}&gt;&#13;&#10;                &lt;Text style={{ fontFamily: 'Consolas', fontSize: 9.5, color: '#E78172', letterSpacing: 1 }}&gt;T2 / ESCALATE&lt;/Text&gt;&#13;&#10;                &lt;Text style={{ fontFamily: 'Consolas', fontSize: 9, color: 'rgba(242,247,248,0.34)' }}&gt;权限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E78172', lineHeight: 1 }}&gt;ADMIN&lt;/Text&gt;&#13;&#10;            &lt;Text style={{ marginTop: 10, fontFamily: 'Microsoft YaHei', fontSize: 10.5, color: 'rgba(242,247,248,0.48)', lineHeight: 1.65 }}&gt;本地权限提升：具备权限变化条件，且未启用服务加固。&lt;/Text&gt;&#13;&#10;            &lt;Box style={{ marginTop: 'auto', paddingTop: 8, borderTop: '1px solid rgba(231,129,114,0.18)' }}&gt;&#13;&#10;                &lt;Text style={{ fontFamily: 'Consolas', fontSize: 9, color: '#E78172' }}&gt;PRIVILEGE_ESCALATED&lt;/Text&gt;&#13;&#10;            &lt;/Box&gt;&#13;&#10;        &lt;/Box&gt;&#13;&#10;&#13;&#10;        &lt;Box style={{ position: 'absolute', left: 822, top: 0, width: 252, height: 200, padding: 16, background: 'linear-gradient(145deg, rgba(231,129,114,0.09) 0%, rgba(242,247,248,0.02) 100%)', border: '1px solid rgba(231,129,114,0.30)', borderRadius: 8 }}&gt;&#13;&#10;            &lt;Box style={{ flexDirection: 'row', justifyContent: 'space-between', alignItems: 'center' }}&gt;&#13;&#10;                &lt;Text style={{ fontFamily: 'Consolas', fontSize: 9.5, color: '#E78172', letterSpacing: 1 }}&gt;T3 / ACCESS&lt;/Text&gt;&#13;&#10;                &lt;Text style={{ fontFamily: 'Consolas', fontSize: 9, color: 'rgba(242,247,248,0.34)' }}&gt;数据&lt;/Text&gt;&#13;&#10;            &lt;/Box&gt;&#13;&#10;            &lt;Text style={{ marginTop: 14, fontFamily: 'Microsoft YaHei', fontSize: 13.5, fontWeight: 'bold', color: '#F2F7F8' }}&gt;Customer Database&lt;/Text&gt;&#13;&#10;            &lt;Text style={{ marginTop: 8, fontFamily: 'Consolas', fontSize: 20, fontWeight: 'bold', color: '#E78172', lineHeight: 1 }}&gt;DATA_ACCESS&lt;/Text&gt;&#13;&#10;            &lt;Text style={{ marginTop: 10, fontFamily: 'Microsoft YaHei', fontSize: 10.5, color: 'rgba(242,247,248,0.48)', lineHeight: 1.65 }}&gt;数据库数据访问：需 ADMIN + 应用角色 + 数据条件 + DATABASE 通信。&lt;/Text&gt;&#13;&#10;            &lt;Box style={{ marginTop: 'auto', paddingTop: 8, borderTop: '1px solid rgba(231,129,114,0.18)' }}&gt;&#13;&#10;                &lt;Text style={{ fontFamily: 'Consolas', fontSize: 9, color: '#E78172' }}&gt;可被数据访问控制阻断&lt;/Text&gt;&#13;&#10;            &lt;/Box&gt;&#13;&#10;        &lt;/Box&gt;&#13;&#10;    &lt;/Box&gt;&#13;&#10;&#13;&#10;    &lt;Box style={{ position: 'absolute', left: 56, top: 404, width: 286 }}&gt;&#13;&#10;        &lt;Text style={{ fontFamily: 'Consolas', fontSize: 9.5, color: 'rgba(242,247,248,0.42)', letterSpacing: 1.2 }}&gt;SEARCH BOUNDARY&lt;/Text&gt;&#13;&#10;        &lt;Box style={{ marginTop: 4, flexDirection: 'row', alignItems: 'flex-end' }}&gt;&#13;&#10;            &lt;Text style={{ fontFamily: 'Consolas', fontSize: 62, fontWeight: 'bold', color: '#F2F7F8', lineHeight: 1 }}&gt;8&lt;/Text&gt;&#13;&#10;            &lt;Text style={{ fontFamily: 'Consolas', fontSize: 24, color: 'rgba(242,247,248,0.30)', marginBottom: 6, marginLeft: 4 }}&gt;/ 160&lt;/Text&gt;&#13;&#10;        &lt;/Box&gt;&#13;&#10;        &lt;Text style={{ marginTop: 4, fontFamily: 'Microsoft YaHei', fontSize: 10.5, color: 'rgba(242,247,248,0.44)' }}&gt;最大深度 / 状态上限&lt;/Text&gt;&#13;&#10;        &lt;Box style={{ marginTop: 14, flexDirection: 'row', gap: 6 }}&gt;&#13;&#10;            &lt;Box style={{ paddingLeft: 7, paddingRight: 7, paddingTop: 3, paddingBottom: 3, border: '1px solid rgba(107,200,209,0.28)', borderRadius: 3 }}&gt;&#13;&#10;                &lt;Text style={{ fontFamily: 'Consolas', fontSize: 8.5, color: '#6BC8D1' }}&gt;SUCCESS&lt;/Text&gt;&#13;&#10;            &lt;/Box&gt;&#13;&#10;            &lt;Box style={{ paddingLeft: 7, paddingRight: 7, paddingTop: 3, paddingBottom: 3, border: '1px solid rgba(231,129,114,0.30)', borderRadius: 3 }}&gt;&#13;&#10;                &lt;Text style={{ fontFamily: 'Consolas', fontSize: 8.5, color: '#E78172' }}&gt;BLOCKED&lt;/Text&gt;&#13;&#10;            &lt;/Box&gt;&#13;&#10;            &lt;Box style={{ paddingLeft: 7, paddingRight: 7, paddingTop: 3, paddingBottom: 3, border: '1px solid rgba(242,247,248,0.16)', borderRadius: 3 }}&gt;&#13;&#10;                &lt;Text style={{ fontFamily: 'Consolas', fontSize: 8.5, color: 'rgba(242,247,248,0.50)' }}&gt;N.A.&lt;/Text&gt;&#13;&#10;            &lt;/Box&gt;&#13;&#10;        &lt;/Box&gt;&#13;&#10;    &lt;/Box&gt;&#13;&#10;&#13;&#10;    &lt;Box style={{ position: 'absolute', left: 390, top: 404, width: 834, height: 206, padding: 20, background: 'linear-gradient(145deg, rgba(231,129,114,0.05) 0%, rgba(242,247,248,0.02) 100%)', border: '1px solid rgba(231,129,114,0.18)', borderRadius: 10 }}&gt;&#13;&#10;        &lt;Text style={{ fontFamily: 'Microsoft YaHei', fontSize: 17, fontWeight: 'bold', color: '#F2F7F8' }}&gt;为什么 PC-01 直连数据库也不行？&lt;/Text&gt;&#13;&#10;        &lt;Text style={{ marginTop: 9, fontFamily: 'Microsoft YaHei', fontSize: 12, color: 'rgba(242,247,248,0.58)', lineHeight: 1.8 }}&gt;&#13;&#10;            行为来源范围只允许应用服务器；源权限、源条件、目标条件与目标安全控制要逐项检查。通信放行只是前置条件，不是状态结果。&#13;&#10;        &lt;/Text&gt;&#13;&#10;        &lt;Text style={{ marginTop: 8, fontFamily: 'Microsoft YaHei', fontSize: 12, color: 'rgba(231,129,114,0.82)', lineHeight: 1.8 }}&gt;&#13;&#10;            启用数据访问控制后，T3 记为 BLOCKED；应用到数据库的网络通信仍然正常——这正是“保护数据”和“切断业务”的区别。&#13;&#10;        &lt;/Text&gt;&#13;&#10;        &lt;Box style={{ marginTop: 10, flexDirection: 'row', alignItems: 'center', gap: 8 }}&gt;&#13;&#10;            &lt;Box style={{ width: 16, height: 1, background: 'rgba(231,129,114,0.50)' }} /&gt;&#13;&#10;            &lt;Text style={{ fontFamily: 'Consolas', fontSize: 9, color: 'rgba(242,247,248,0.38)' }}&gt;SEARCH IS BOUNDED · INCOMPLETE IS NOT “SAFE”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3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一条代表链，四个状态节点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725025" y="723900"/>
            <a:ext cx="193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ATTACK_STATE · REPRESENTATIVE CHAIN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T0 → T3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057275" y="1381125"/>
            <a:ext cx="228600" cy="9525"/>
          </a:xfrm>
          <a:prstGeom prst="rect">
            <a:avLst/>
          </a:prstGeom>
          <a:solidFill>
            <a:srgbClr val="6BC8D1">
              <a:alpha val="36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81125" y="1314450"/>
            <a:ext cx="3609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T1–T3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各改变一种状态：控制端点、提升权限、授予数据访问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T0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为初始条件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619250"/>
            <a:ext cx="11125200" cy="1962150"/>
          </a:xfrm>
          <a:prstGeom prst="rect">
            <a:avLst/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5334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T0 / SEED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4574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初始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Office-PC-01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7F8">
                    <a:alpha val="74000"/>
                  </a:srgbClr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实验开始前已被教学状态标记为受控；不是本轮行为。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SEED · </a:t>
            </a:r>
            <a:r>
              <a:rPr lang="zh-CN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不计入传播步骤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1432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6BC8D1">
                  <a:alpha val="8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29565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T1 / MOVE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0673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端点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2956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29565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6BC8D1"/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29565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应用服务访问：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通信允许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远程入口条件满足。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2956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2956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CONTROL_GRANTED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531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65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905500" y="1771650"/>
            <a:ext cx="771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T2 / ESCALATE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771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9055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9055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78172"/>
                </a:solidFill>
                <a:latin typeface="Consolas"/>
                <a:ea typeface="Consolas"/>
              </a:rPr>
              <a:t>ADMIN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9055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本地权限提升：具备权限变化条件，且未启用服务加固。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9055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9055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PRIVILEGE_ESCALATED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3629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515350" y="1771650"/>
            <a:ext cx="657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T3 / ACCESS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2870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5153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Customer Database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515350" y="22574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78172"/>
                </a:solidFill>
                <a:latin typeface="Consolas"/>
                <a:ea typeface="Consolas"/>
              </a:rPr>
              <a:t>DATA_ACCESS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515350" y="2581275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数据库数据访问：需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ADMIN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应用角色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数据条件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DATABASE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5153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153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E78172"/>
                </a:solidFill>
                <a:latin typeface="Consolas"/>
                <a:ea typeface="Consolas"/>
              </a:rPr>
              <a:t>可被数据访问控制阻断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3400" y="3848100"/>
            <a:ext cx="2724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SEARCH BOUNDARY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3333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04875" y="4381500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/ 160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33400" y="4752975"/>
            <a:ext cx="2724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最大深度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状态上限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33400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0075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SUCCESS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1038225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04900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BLOCKED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543050" y="5010150"/>
            <a:ext cx="314325" cy="161925"/>
          </a:xfrm>
          <a:prstGeom prst="roundRect">
            <a:avLst>
              <a:gd name="adj" fmla="val 17647"/>
            </a:avLst>
          </a:prstGeom>
          <a:ln w="12700">
            <a:solidFill>
              <a:srgbClr val="F2F7F8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9725" y="503872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50000"/>
                  </a:srgbClr>
                </a:solidFill>
                <a:latin typeface="Consolas"/>
                <a:ea typeface="Consolas"/>
              </a:rPr>
              <a:t>N.A.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714750" y="3848100"/>
            <a:ext cx="7943850" cy="1962150"/>
          </a:xfrm>
          <a:prstGeom prst="roundRect">
            <a:avLst>
              <a:gd name="adj" fmla="val 4854"/>
            </a:avLst>
          </a:prstGeom>
          <a:gradFill>
            <a:gsLst>
              <a:gs pos="0">
                <a:srgbClr val="E78172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905250" y="4038600"/>
            <a:ext cx="756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为什么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PC-01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直连数据库也不行？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905250" y="432435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行为来源范围只允许应用服务器；源权限、源条件、目标条件与目标安全控制要逐项检查。通信放行只是前置条件，不是状态结果。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05250" y="464820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启用数据访问控制后，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T3 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记为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 BLOCKED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；应用到数据库的网络通信仍然正常——这正是“保护数据”和“切断业务”的区别。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905250" y="5038725"/>
            <a:ext cx="152400" cy="9525"/>
          </a:xfrm>
          <a:prstGeom prst="rect">
            <a:avLst/>
          </a:prstGeom>
          <a:solidFill>
            <a:srgbClr val="E78172">
              <a:alpha val="50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133850" y="4991100"/>
            <a:ext cx="2076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SEARCH IS BOUNDED · INCOMPLETE IS NOT “SAFE”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13 / 35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从 A/B 到实验分析：结果要能读懂&lt;/Text&gt;&#13;&#10;    &lt;Text style={{ position: 'absolute', right: 56, top: 76, fontFamily: 'Consolas', fontSize: 10.5, color: 'rgba(242,247,248,0.42)' }}&gt;SAME INPUT · TWO RUNS&lt;/Text&gt;&#13;&#10;&#13;&#10;    &lt;Box style={{ position: 'absolute', left: 56, top: 140, width: 620, height: 268, padding: 18, background: 'linear-gradient(145deg, rgba(242,247,248,0.05) 0%, rgba(242,247,248,0.02) 100%)', border: '1px solid rgba(242,247,248,0.10)', borderRadius: 10 }}&gt;&#13;&#10;        &lt;Box style={{ flexDirection: 'row', justifyContent: 'space-between', alignItems: 'center' }}&gt;&#13;&#10;            &lt;Text style={{ fontFamily: 'Microsoft YaHei', fontSize: 15, fontWeight: 'bold', color: '#F2F7F8' }}&gt;A/B 对照&lt;/Text&gt;&#13;&#10;            &lt;Text style={{ fontFamily: 'Consolas', fontSize: 9, color: 'rgba(242,247,248,0.36)' }}&gt;同源重算&lt;/Text&gt;&#13;&#10;        &lt;/Box&gt;&#13;&#10;&#13;&#10;        &lt;Box style={{ marginTop: 10, flexDirection: 'row', alignItems: 'flex-end', height: 26 }}&gt;&#13;&#10;            &lt;Text style={{ width: 190, fontFamily: 'Consolas', fontSize: 9, color: 'rgba(242,247,248,0.30)' }}&gt;METRIC&lt;/Text&gt;&#13;&#10;            &lt;Box style={{ width: 150 }}&gt;&#13;&#10;                &lt;Text style={{ fontFamily: 'Consolas', fontSize: 9, color: 'rgba(242,247,248,0.40)', letterSpacing: 1 }}&gt;A / ORIGINAL&lt;/Text&gt;&#13;&#10;                &lt;Text style={{ marginTop: 1, fontFamily: 'Microsoft YaHei', fontSize: 10, color: 'rgba(242,247,248,0.44)' }}&gt;原始配置&lt;/Text&gt;&#13;&#10;            &lt;/Box&gt;&#13;&#10;            &lt;Text style={{ width: 40, textAlign: 'center', fontFamily: 'Consolas', fontSize: 12, color: 'rgba(107,200,209,0.50)' }}&gt;→&lt;/Text&gt;&#13;&#10;            &lt;Box style={{ width: 190 }}&gt;&#13;&#10;                &lt;Text style={{ fontFamily: 'Consolas', fontSize: 9, color: '#6BC8D1', letterSpacing: 1 }}&gt;B / CURRENT&lt;/Text&gt;&#13;&#10;                &lt;Text style={{ marginTop: 1, fontFamily: 'Microsoft YaHei', fontSize: 10, color: 'rgba(242,247,248,0.44)' }}&gt;当前安全策略&lt;/Text&gt;&#13;&#10;            &lt;/Box&gt;&#13;&#10;        &lt;/Box&gt;&#13;&#10;&#13;&#10;        &lt;Box style={{ marginTop: 6, flexDirection: 'row', alignItems: 'center', height: 34, borderTop: '1px solid rgba(242,247,248,0.10)' }}&gt;&#13;&#10;            &lt;Text style={{ width: 190, fontFamily: 'Microsoft YaHei', fontSize: 11, color: 'rgba(242,247,248,0.52)' }}&gt;关键数据目标&lt;/Text&gt;&#13;&#10;            &lt;Text style={{ width: 150, fontFamily: 'Microsoft YaHei', fontSize: 13, fontWeight: 'bold', color: '#E78172' }}&gt;可达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受保护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必要业务可达&lt;/Text&gt;&#13;&#10;            &lt;Text style={{ width: 150, fontFamily: 'Consolas', fontSize: 13, fontWeight: 'bold', color: '#F2F7F8' }}&gt;100%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6BC8D1' }}&gt;100%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代表链长度&lt;/Text&gt;&#13;&#10;            &lt;Text style={{ width: 150, fontFamily: 'Consolas', fontSize: 13, fontWeight: 'bold', color: '#F2F7F8' }}&gt;3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F2F7F8' }}&gt;3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搜索完整性&lt;/Text&gt;&#13;&#10;            &lt;Text style={{ width: 150, fontFamily: 'Microsoft YaHei', fontSize: 13, fontWeight: 'bold', color: '#F2F7F8' }}&gt;完整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完整&lt;/Text&gt;&#13;&#10;        &lt;/Box&gt;&#13;&#10;        &lt;Text style={{ marginTop: 8, fontFamily: 'Microsoft YaHei', fontSize: 10.5, color: 'rgba(242,247,248,0.44)', lineHeight: 1.6 }}&gt;唯一变化：启用客户数据库的数据访问控制；应用 → 数据库的网络通信不变。&lt;/Text&gt;&#13;&#10;    &lt;/Box&gt;&#13;&#10;&#13;&#10;    &lt;Box style={{ position: 'absolute', left: 710, top: 140, width: 514 }}&gt;&#13;&#10;        &lt;Image src=&quot;assets/analysis.png&quot; style={{ width: 514, height: 206, objectFit: 'cover', borderRadius: 8, border: '1px solid rgba(107,200,209,0.20)' }} /&gt;&#13;&#10;        &lt;Box style={{ marginTop: 8, flexDirection: 'row', justifyContent: 'space-between', alignItems: 'center' }}&gt;&#13;&#10;            &lt;Text style={{ fontFamily: 'Microsoft YaHei', fontSize: 10.5, color: 'rgba(242,247,248,0.44)' }}&gt;实验分析：结论、代表链、状态分布&lt;/Text&gt;&#13;&#10;            &lt;Text style={{ fontFamily: 'Consolas', fontSize: 9, color: '#6BC8D1' }}&gt;REAL RESULT&lt;/Text&gt;&#13;&#10;        &lt;/Box&gt;&#13;&#10;    &lt;/Box&gt;&#13;&#10;&#13;&#10;    &lt;Box style={{ position: 'absolute', left: 56, top: 428, width: 1168, height: 1, background: 'rgba(242,247,248,0.10)' }} /&gt;&#13;&#10;&#13;&#10;    &lt;Box style={{ position: 'absolute', left: 56, top: 452, width: 370 }}&gt;&#13;&#10;        &lt;Text style={{ fontFamily: 'Consolas', fontSize: 26, fontWeight: 'bold', color: '#6BC8D1', lineHeight: 1 }}&gt;01&lt;/Text&gt;&#13;&#10;        &lt;Text style={{ marginTop: 10, fontFamily: 'Microsoft YaHei', fontSize: 14.5, fontWeight: 'bold', color: '#F2F7F8' }}&gt;可信基线&lt;/Text&gt;&#13;&#10;        &lt;Text style={{ marginTop: 6, fontFamily: 'Microsoft YaHei', fontSize: 11.5, color: 'rgba(242,247,248,0.54)', lineHeight: 1.7 }}&gt;只有内置场景才有原始基线；自定义场景禁用 A/B，避免“自己和自己比”的伪对照。&lt;/Text&gt;&#13;&#10;    &lt;/Box&gt;&#13;&#10;    &lt;Box style={{ position: 'absolute', left: 456, top: 452, width: 370 }}&gt;&#13;&#10;        &lt;Text style={{ fontFamily: 'Consolas', fontSize: 26, fontWeight: 'bold', color: '#6BC8D1', lineHeight: 1 }}&gt;02&lt;/Text&gt;&#13;&#10;        &lt;Text style={{ marginTop: 10, fontFamily: 'Microsoft YaHei', fontSize: 14.5, fontWeight: 'bold', color: '#F2F7F8' }}&gt;指纹失效&lt;/Text&gt;&#13;&#10;        &lt;Text style={{ marginTop: 6, fontFamily: 'Microsoft YaHei', fontSize: 11.5, color: 'rgba(242,247,248,0.54)', lineHeight: 1.7 }}&gt;拓扑、策略或安全控制一变，结果立即过期；只调整三维布局不会让计算结果失效。&lt;/Text&gt;&#13;&#10;    &lt;/Box&gt;&#13;&#10;    &lt;Box style={{ position: 'absolute', left: 856, top: 452, width: 370 }}&gt;&#13;&#10;        &lt;Text style={{ fontFamily: 'Consolas', fontSize: 26, fontWeight: 'bold', color: '#6BC8D1', lineHeight: 1 }}&gt;03&lt;/Text&gt;&#13;&#10;        &lt;Text style={{ marginTop: 10, fontFamily: 'Microsoft YaHei', fontSize: 14.5, fontWeight: 'bold', color: '#F2F7F8' }}&gt;链接与报告&lt;/Text&gt;&#13;&#10;        &lt;Text style={{ marginTop: 6, fontFamily: 'Microsoft YaHei', fontSize: 11.5, color: 'rgba(242,247,248,0.54)', lineHeight: 1.7 }}&gt;场景压缩进 URL，接收方本地重算；实验报告可一键打开打印，不依赖后端。&lt;/Text&gt;&#13;&#10;    &lt;/Box&gt;&#13;&#10;&#13;&#10;    &lt;Box style={{ position: 'absolute', left: 56, top: 572, width: 1168, paddingTop: 12, borderTop: '1px solid rgba(242,247,248,0.10)', flexDirection: 'row', alignItems: 'center', gap: 10 }}&gt;&#13;&#10;        &lt;Box style={{ width: 20, height: 1, background: '#6BC8D1' }} /&gt;&#13;&#10;        &lt;Text style={{ fontFamily: 'Microsoft YaHei', fontSize: 11.5, color: 'rgba(242,247,248,0.48)' }}&gt;A/B 解释“变了多少”，分析页解释“为什么变”；两者都引用同一轮计算结果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4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6672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从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到实验分析：结果要能读懂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SAME INPUT · TWO RUNS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33400" y="1333500"/>
            <a:ext cx="5905500" cy="2552700"/>
          </a:xfrm>
          <a:prstGeom prst="roundRect">
            <a:avLst>
              <a:gd name="adj" fmla="val 3731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04850" y="15049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2F7F8"/>
                </a:solidFill>
                <a:latin typeface="Microsoft YaHei"/>
                <a:ea typeface="Microsoft YaHei"/>
              </a:rPr>
              <a:t>A/B </a:t>
            </a: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619750" y="15430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同源重算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04850" y="1914525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METRIC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514600" y="1790700"/>
            <a:ext cx="1428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A / ORIGINAL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514600" y="1905000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原始配置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43350" y="1876425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900">
                <a:solidFill>
                  <a:srgbClr val="6BC8D1">
                    <a:alpha val="5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324350" y="1790700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6BC8D1"/>
                </a:solidFill>
                <a:latin typeface="Consolas"/>
                <a:ea typeface="Consolas"/>
              </a:rPr>
              <a:t>B / CURRENT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324350" y="1905000"/>
            <a:ext cx="1809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当前安全策略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04850" y="20764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关键数据目标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514600" y="21717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78172"/>
                </a:solidFill>
                <a:latin typeface="Microsoft YaHei"/>
                <a:ea typeface="Microsoft YaHei"/>
              </a:rPr>
              <a:t>可达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943350" y="21812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受保护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04850" y="24003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04850" y="25050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514600" y="24955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943350" y="25050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324350" y="24955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C8D1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04850" y="27241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4850" y="28289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代表链长度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2514600" y="2819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943350" y="28289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324350" y="28194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04850" y="30480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04850" y="31527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搜索完整性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514600" y="31432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943350" y="31527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324350" y="31432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4850" y="34480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唯一变化：启用客户数据库的数据访问控制；应用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数据库的网络通信不变。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762750" y="1333500"/>
            <a:ext cx="4895850" cy="19621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 rot="0" flipH="0" flipV="0">
            <a:off x="6762750" y="1333500"/>
            <a:ext cx="4895850" cy="1962150"/>
          </a:xfrm>
          <a:prstGeom prst="roundRect">
            <a:avLst>
              <a:gd name="adj" fmla="val 3883"/>
            </a:avLst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762750" y="33718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实验分析：结论、代表链、状态分布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34725" y="3381375"/>
            <a:ext cx="5238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REAL RESULT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3400" y="40767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可信基线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3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只有内置场景才有原始基线；自定义场景禁用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A/B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，避免“自己和自己比”的伪对照。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4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34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指纹失效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34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拓扑、策略或安全控制一变，结果立即过期；只调整三维布局不会让计算结果失效。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5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链接与报告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5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场景压缩进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URL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，接收方本地重算；实验报告可一键打开打印，不依赖后端。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33400" y="5448300"/>
            <a:ext cx="11125200" cy="266700"/>
          </a:xfrm>
          <a:custGeom>
            <a:pathLst>
              <a:path w="1168" h="28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533400" y="5638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395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解释“变了多少”，分析页解释“为什么变”；两者都引用同一轮计算结果。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14 / 35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5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工程实现：纯前端、确定性、可测试&lt;/Text&gt;&#13;&#10;    &lt;Text style={{ position: 'absolute', right: 56, top: 76, fontFamily: 'Consolas', fontSize: 10.5, color: 'rgba(242,247,248,0.42)' }}&gt;VUE 3 · TYPESCRIPT · THREE.JS&lt;/Text&gt;&#13;&#10;&#13;&#10;    &lt;Box style={{ position: 'absolute', left: 56, top: 140, width: 600 }}&gt;&#13;&#10;        &lt;Text style={{ fontFamily: 'Consolas', fontSize: 9.5, color: 'rgba(242,247,248,0.42)', letterSpacing: 1.2 }}&gt;STACK / PURE FRONTEND&lt;/Text&gt;&#13;&#10;        &lt;Box style={{ marginTop: 12 }}&gt;&#13;&#10;            &lt;Box style={{ flexDirection: 'row', alignItems: 'center', height: 52, borderTop: '1px solid rgba(242,247,248,0.10)' }}&gt;&#13;&#10;                &lt;Text style={{ width: 74, fontFamily: 'Consolas', fontSize: 9.5, color: '#6BC8D1' }}&gt;APP&lt;/Text&gt;&#13;&#10;                &lt;Text style={{ width: 190, fontFamily: 'Microsoft YaHei', fontSize: 13, fontWeight: 'bold', color: '#F2F7F8' }}&gt;应用层&lt;/Text&gt;&#13;&#10;                &lt;Text style={{ width: 330, fontFamily: 'Consolas', fontSize: 10.5, color: 'rgba(242,247,248,0.54)' }}&gt;Vue 3 · TypeScript · Vite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3D&lt;/Text&gt;&#13;&#10;                &lt;Text style={{ width: 190, fontFamily: 'Microsoft YaHei', fontSize: 13, fontWeight: 'bold', color: '#F2F7F8' }}&gt;三维层&lt;/Text&gt;&#13;&#10;                &lt;Text style={{ width: 330, fontFamily: 'Consolas', fontSize: 10.5, color: 'rgba(242,247,248,0.54)' }}&gt;Three.js · WebGL · CSS2DRenderer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CHART&lt;/Text&gt;&#13;&#10;                &lt;Text style={{ width: 190, fontFamily: 'Microsoft YaHei', fontSize: 13, fontWeight: 'bold', color: '#F2F7F8' }}&gt;图表层&lt;/Text&gt;&#13;&#10;                &lt;Text style={{ width: 330, fontFamily: 'Consolas', fontSize: 10.5, color: 'rgba(242,247,248,0.54)' }}&gt;ECharts · 折线 / 环图 / 热力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STATE&lt;/Text&gt;&#13;&#10;                &lt;Text style={{ width: 190, fontFamily: 'Microsoft YaHei', fontSize: 13, fontWeight: 'bold', color: '#F2F7F8' }}&gt;状态层&lt;/Text&gt;&#13;&#10;                &lt;Text style={{ width: 330, fontFamily: 'Consolas', fontSize: 10.5, color: 'rgba(242,247,248,0.54)' }}&gt;Pinia · Vue Router · localStorage&lt;/Text&gt;&#13;&#10;            &lt;/Box&gt;&#13;&#10;            &lt;Box style={{ flexDirection: 'row', alignItems: 'center', height: 52, borderTop: '1px solid rgba(242,247,248,0.10)', borderBottom: '1px solid rgba(242,247,248,0.10)' }}&gt;&#13;&#10;                &lt;Text style={{ width: 74, fontFamily: 'Consolas', fontSize: 9.5, color: '#6BC8D1' }}&gt;TEST&lt;/Text&gt;&#13;&#10;                &lt;Text style={{ width: 190, fontFamily: 'Microsoft YaHei', fontSize: 13, fontWeight: 'bold', color: '#F2F7F8' }}&gt;质量层&lt;/Text&gt;&#13;&#10;                &lt;Text style={{ width: 330, fontFamily: 'Consolas', fontSize: 10.5, color: 'rgba(242,247,248,0.54)' }}&gt;Vitest · vue-tsc · 场景一致性校验&lt;/Text&gt;&#13;&#10;            &lt;/Box&gt;&#13;&#10;        &lt;/Box&gt;&#13;&#10;&#13;&#10;        &lt;Box style={{ marginTop: 26, flexDirection: 'row', alignItems: 'center', gap: 8 }}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UI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STOR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107,200,209,0.32)', borderRadius: 4, background: 'rgba(107,200,209,0.07)' }}&gt;&#13;&#10;                &lt;Text style={{ fontFamily: 'Consolas', fontSize: 9.5, color: '#6BC8D1' }}&gt;ENGIN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TYPES&lt;/Text&gt;&#13;&#10;            &lt;/Box&gt;&#13;&#10;        &lt;/Box&gt;&#13;&#10;        &lt;Text style={{ marginTop: 10, fontFamily: 'Microsoft YaHei', fontSize: 10.5, color: 'rgba(242,247,248,0.42)', lineHeight: 1.7 }}&gt;判定逻辑全部在引擎层；界面只负责输入与呈现，可被单独测试。&lt;/Text&gt;&#13;&#10;    &lt;/Box&gt;&#13;&#10;&#13;&#10;    &lt;Box style={{ position: 'absolute', left: 704, top: 144, width: 520 }}&gt;&#13;&#10;        &lt;Box style={{ flexDirection: 'row', gap: 16 }}&gt;&#13;&#10;            &lt;Box style={{ width: 252, height: 128, padding: 14, borderTop: '2px solid #6BC8D1' }}&gt;&#13;&#10;                &lt;Text style={{ fontFamily: 'Consolas', fontSize: 50, fontWeight: 'bold', color: '#F2F7F8', lineHeight: 1 }}&gt;10,121&lt;/Text&gt;&#13;&#10;                &lt;Text style={{ marginTop: 8, fontFamily: 'Microsoft YaHei', fontSize: 11, color: 'rgba(242,247,248,0.46)' }}&gt;行源码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7&lt;/Text&gt;&#13;&#10;                &lt;Text style={{ marginTop: 8, fontFamily: 'Microsoft YaHei', fontSize: 11, color: 'rgba(242,247,248,0.46)' }}&gt;个实验场景&lt;/Text&gt;&#13;&#10;            &lt;/Box&gt;&#13;&#10;        &lt;/Box&gt;&#13;&#10;        &lt;Box style={{ marginTop: 18, flexDirection: 'row', gap: 16 }}&gt;&#13;&#10;            &lt;Box style={{ width: 252, height: 128, padding: 14, borderTop: '2px solid #6BC8D1' }}&gt;&#13;&#10;                &lt;Text style={{ fontFamily: 'Consolas', fontSize: 50, fontWeight: 'bold', color: '#6BC8D1', lineHeight: 1 }}&gt;111&lt;/Text&gt;&#13;&#10;                &lt;Text style={{ marginTop: 8, fontFamily: 'Microsoft YaHei', fontSize: 11, color: 'rgba(242,247,248,0.46)' }}&gt;项自动化测试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&lt;/Text&gt;&#13;&#10;                &lt;Text style={{ marginTop: 8, fontFamily: 'Microsoft YaHei', fontSize: 11, color: 'rgba(242,247,248,0.46)' }}&gt;后端依赖&lt;/Text&gt;&#13;&#10;            &lt;/Box&gt;&#13;&#10;        &lt;/Box&gt;&#13;&#10;        &lt;Box style={{ marginTop: 20, paddingTop: 12, borderTop: '1px solid rgba(242,247,248,0.10)' }}&gt;&#13;&#10;            &lt;Text style={{ fontFamily: 'Consolas', fontSize: 9.5, color: '#6BC8D1', letterSpacing: 1 }}&gt;9 TEST FILES · ALL PASSING&lt;/Text&gt;&#13;&#10;            &lt;Text style={{ marginTop: 6, fontFamily: 'Microsoft YaHei', fontSize: 11, color: 'rgba(242,247,248,0.46)', lineHeight: 1.7 }}&gt;覆盖通信路径、状态搜索、挑战判定、场景一致性与分享编解码。&lt;/Text&gt;&#13;&#10;        &lt;/Box&gt;&#13;&#10;    &lt;/Box&gt;&#13;&#10;&#13;&#10;    &lt;Box style={{ position: 'absolute', left: 56, top: 530, width: 1168, paddingTop: 14, borderTop: '1px solid rgba(242,247,248,0.10)', flexDirection: 'row', alignItems: 'center', gap: 10 }}&gt;&#13;&#10;        &lt;Box style={{ width: 20, height: 1, background: '#6BC8D1' }} /&gt;&#13;&#10;        &lt;Text style={{ fontFamily: 'Microsoft YaHei', fontSize: 12, color: 'rgba(242,247,248,0.50)' }}&gt;纯前端不是省掉工程，而是把复杂度放进可测试、可复现的引擎；同输入，同结果。&lt;/Text&gt;&#13;&#10;    &lt;/Box&gt;&#13;&#10;    &lt;Box style={{ position: 'absolute', left: 56, top: 590, flexDirection: 'row', alignItems: 'center', gap: 18 }}&gt;&#13;&#10;        &lt;Text style={{ fontFamily: 'Consolas', fontSize: 9.5, color: 'rgba(242,247,248,0.34)' }}&gt;BUILD · npm run build&lt;/Text&gt;&#13;&#10;        &lt;Box style={{ width: 1, height: 10, background: 'rgba(242,247,248,0.14)' }} /&gt;&#13;&#10;        &lt;Text style={{ fontFamily: 'Consolas', fontSize: 9.5, color: 'rgba(242,247,248,0.34)' }}&gt;TEST · npm run test&lt;/Text&gt;&#13;&#10;        &lt;Box style={{ width: 1, height: 10, background: 'rgba(242,247,248,0.14)' }} /&gt;&#13;&#10;        &lt;Text style={{ fontFamily: 'Consolas', fontSize: 9.5, color: 'rgba(242,247,248,0.34)' }}&gt;111 / 111 PASSING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5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工程实现：纯前端、确定性、可测试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VUE 3 · TYPESCRIPT · THREE.JS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71500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STACK / PURE FRONTEND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33400" y="16668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APP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238250" y="1847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048000" y="18573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Vue 3 · TypeScript · Vite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33400" y="21621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33400" y="23622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3D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238250" y="23431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三维层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048000" y="23526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Three.js · WebGL · CSS2DRenderer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33400" y="26574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33400" y="28575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CHART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238250" y="28384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图表层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048000" y="28479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ECharts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折线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环图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热力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33400" y="31527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38250" y="33337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状态层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Pinia · Vue Router · localStorage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51"/>
                </a:moveTo>
                <a:lnTo>
                  <a:pt x="600" y="51"/>
                </a:lnTo>
                <a:lnTo>
                  <a:pt x="6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33400" y="3838575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TEST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238250" y="38195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质量层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048000" y="38385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Vitest · vue-tsc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场景一致性校验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33400" y="4391025"/>
            <a:ext cx="2952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28650" y="4448175"/>
            <a:ext cx="104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UI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04875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047750" y="4391025"/>
            <a:ext cx="495300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43000" y="444817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STORES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619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762125" y="4391025"/>
            <a:ext cx="542925" cy="228600"/>
          </a:xfrm>
          <a:prstGeom prst="roundRect">
            <a:avLst>
              <a:gd name="adj" fmla="val 16667"/>
            </a:avLst>
          </a:prstGeom>
          <a:solidFill>
            <a:srgbClr val="6BC8D1">
              <a:alpha val="7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857375" y="4448175"/>
            <a:ext cx="352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ENGINES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381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2524125" y="4391025"/>
            <a:ext cx="4476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2619375" y="4448175"/>
            <a:ext cx="2571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TYPES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" y="4714875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判定逻辑全部在引擎层；界面只负责输入与呈现，可被单独测试。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7056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389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10,121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8389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行源码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92583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3916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3916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7056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8389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92583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93916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3916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后端依赖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705600" y="4171950"/>
            <a:ext cx="4953000" cy="523875"/>
          </a:xfrm>
          <a:custGeom>
            <a:pathLst>
              <a:path w="520" h="55">
                <a:moveTo>
                  <a:pt x="0" y="0"/>
                </a:moveTo>
                <a:lnTo>
                  <a:pt x="520" y="0"/>
                </a:lnTo>
                <a:lnTo>
                  <a:pt x="5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705600" y="429577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9 TEST FILES · ALL PASSING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705600" y="4467225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覆盖通信路径、状态搜索、挑战判定、场景一致性与分享编解码。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5048250"/>
            <a:ext cx="11125200" cy="295275"/>
          </a:xfrm>
          <a:custGeom>
            <a:pathLst>
              <a:path w="1168" h="31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533400" y="5257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9150" y="51911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纯前端不是省掉工程，而是把复杂度放进可测试、可复现的引擎；同输入，同结果。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" y="56197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BUILD · npm run build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1752600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933575" y="5619750"/>
            <a:ext cx="952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TEST · npm run test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057525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238500" y="5619750"/>
            <a:ext cx="847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111 / 111 PASSING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15 / 35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40 300L830 390L950 330L1060 430L1160 360' /&gt;&#13;&#10;            &lt;path d='M830 390L900 520L1020 480L1060 430' /&gt;&#13;&#10;        &lt;/g&gt;&#13;&#10;        &lt;g fill='#6BC8D1'&gt;&#13;&#10;            &lt;circle cx='740' cy='300' r='4' opacity='0.45' /&gt;&#13;&#10;            &lt;circle cx='830' cy='390' r='6' opacity='0.85' /&gt;&#13;&#10;            &lt;circle cx='950' cy='330' r='4.5' opacity='0.6' /&gt;&#13;&#10;            &lt;circle cx='1060' cy='430' r='5' opacity='0.7' /&gt;&#13;&#10;            &lt;circle cx='1160' cy='360' r='3.5' opacity='0.4' /&gt;&#13;&#10;            &lt;circle cx='900' cy='520' r='4' opacity='0.5' /&gt;&#13;&#10;            &lt;circle cx='1020' cy='4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4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4 / 05&lt;/Text&gt;&#13;&#10;    &lt;/Box&gt;&#13;&#10;    &lt;Box style={{ position: 'absolute', left: 72, top: 176, width: 620 }}&gt;&#13;&#10;        &lt;Text style={{ fontFamily: 'Microsoft YaHei', fontSize: 58, fontWeight: 'bold', color: '#F2F7F8', letterSpacing: 2 }}&gt;实验与验证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七个场景、一条教学闭环，以及一套说清楚的模型边界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4.1&lt;/Text&gt;&#13;&#10;            &lt;Text style={{ fontFamily: 'Microsoft YaHei', fontSize: 14, color: 'rgba(242,247,248,0.72)' }}&gt;七个场景：从入门到挑战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4.2&lt;/Text&gt;&#13;&#10;            &lt;Text style={{ fontFamily: 'Microsoft YaHei', fontSize: 14, color: 'rgba(242,247,248,0.72)' }}&gt;从学到考，再到实验验证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4.3&lt;/Text&gt;&#13;&#10;            &lt;Text style={{ fontFamily: 'Microsoft YaHei', fontSize: 14, color: 'rgba(242,247,248,0.72)' }}&gt;模型边界与公开文献来源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EXPERIMENTS&lt;/Text&gt;&#13;&#10;    &lt;/Box&gt;&#13;&#10;    &lt;Text style={{ position: 'absolute', right: 56, top: 664, fontFamily: 'Consolas', fontSize: 10.5, color: 'rgba(242,247,248,0.40)' }}&gt;16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04 / 05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七个场景、一条教学闭环，以及一套说清楚的模型边界。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04.1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七个场景：从入门到挑战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04.2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从学到考，再到实验验证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模型边界与公开文献来源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609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EXPERIMENTS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16 / 35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9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090' cy='120' r='24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1, fontWeight: 'bold', color: '#F2F7F8', letterSpacing: 0.5 }}&gt;七个场景，一条从入门到挑战的路径&lt;/Text&gt;&#13;&#10;    &lt;Text style={{ position: 'absolute', right: 56, top: 76, fontFamily: 'Consolas', fontSize: 10.5, color: 'rgba(242,247,248,0.42)' }}&gt;1 CORE + 6 EXTENSIONS&lt;/Text&gt;&#13;&#10;&#13;&#10;    &lt;Box style={{ position: 'absolute', left: 56, top: 140, width: 238 }}&gt;&#13;&#10;        &lt;Text style={{ fontFamily: 'Consolas', fontSize: 122, fontWeight: 'bold', color: '#F2F7F8', lineHeight: 0.95, letterSpacing: -4 }}&gt;07&lt;/Text&gt;&#13;&#10;        &lt;Text style={{ marginTop: 6, fontFamily: 'Consolas', fontSize: 10, color: '#6BC8D1', letterSpacing: 2.5 }}&gt;SCENARIOS&lt;/Text&gt;&#13;&#10;        &lt;Box style={{ marginTop: 20, width: 34, height: 2, background: 'rgba(107,200,209,0.55)' }} /&gt;&#13;&#10;        &lt;Text style={{ marginTop: 18, fontFamily: 'Microsoft YaHei', fontSize: 12.5, color: 'rgba(242,247,248,0.56)', lineHeight: 1.8 }}&gt;&#13;&#10;            1 个核心实验&lt;br /&gt;6 个扩展实验&#13;&#10;        &lt;/Text&gt;&#13;&#10;        &lt;Box style={{ marginTop: 22 }}&gt;&#13;&#10;            &lt;Box style={{ flexDirection: 'row', alignItems: 'center', gap: 8, marginBottom: 8 }}&gt;&#13;&#10;                &lt;Box style={{ width: 6, height: 6, borderRadius: 3, background: '#E78172' }} /&gt;&#13;&#10;                &lt;Text style={{ fontFamily: 'Consolas', fontSize: 8.5, color: 'rgba(242,247,248,0.48)' }}&gt;ATTACK_STATE&lt;/Text&gt;&#13;&#10;            &lt;/Box&gt;&#13;&#10;            &lt;Box style={{ flexDirection: 'row', alignItems: 'center', gap: 8 }}&gt;&#13;&#10;                &lt;Box style={{ width: 6, height: 6, borderRadius: 3, background: '#6BC8D1' }} /&gt;&#13;&#10;                &lt;Text style={{ fontFamily: 'Consolas', fontSize: 8.5, color: 'rgba(242,247,248,0.48)' }}&gt;TEACHING&lt;/Text&gt;&#13;&#10;            &lt;/Box&gt;&#13;&#10;        &lt;/Box&gt;&#13;&#10;    &lt;/Box&gt;&#13;&#10;&#13;&#10;    &lt;Box style={{ position: 'absolute', left: 330, top: 136, width: 894 }}&gt;&#13;&#10;        &lt;Box style={{ flexDirection: 'row', alignItems: 'center', height: 22, borderBottom: '1px solid rgba(242,247,248,0.10)' }}&gt;&#13;&#10;            &lt;Text style={{ width: 36, fontFamily: 'Consolas', fontSize: 8, color: 'rgba(242,247,248,0.30)' }}&gt;NO.&lt;/Text&gt;&#13;&#10;            &lt;Text style={{ width: 470, fontFamily: 'Consolas', fontSize: 8, color: 'rgba(242,247,248,0.30)' }}&gt;SCENARIO / OBJECTIVE&lt;/Text&gt;&#13;&#10;            &lt;Text style={{ width: 168, fontFamily: 'Consolas', fontSize: 8, color: 'rgba(242,247,248,0.30)' }}&gt;MODE&lt;/Text&gt;&#13;&#10;            &lt;Text style={{ width: 90, fontFamily: 'Consolas', fontSize: 8, color: 'rgba(242,247,248,0.30)' }}&gt;LEVEL&lt;/Text&gt;&#13;&#10;            &lt;Text style={{ width: 70, textAlign: 'right', fontFamily: 'Consolas', fontSize: 8, color: 'rgba(242,247,248,0.30)' }}&gt;TIME&lt;/Text&gt;&#13;&#10;        &lt;/Box&gt;&#13;&#10;&#13;&#10;        &lt;Box style={{ flexDirection: 'row', alignItems: 'center', height: 64, background: 'rgba(231,129,114,0.055)', borderBottom: '1px solid rgba(242,247,248,0.08)', paddingLeft: 0 }}&gt;&#13;&#10;            &lt;Text style={{ width: 36, fontFamily: 'Consolas', fontSize: 10, color: '#E78172' }}&gt;01&lt;/Text&gt;&#13;&#10;            &lt;Box style={{ width: 470 }}&gt;&#13;&#10;                &lt;Text style={{ fontFamily: 'Microsoft YaHei', fontSize: 13.5, fontWeight: 'bold', color: '#F2F7F8' }}&gt;终端失陷与横向传播&lt;/Text&gt;&#13;&#10;                &lt;Text style={{ marginTop: 3, fontFamily: 'Microsoft YaHei', fontSize: 9.5, color: 'rgba(242,247,248,0.46)' }}&gt;权限、通信与数据访问组成的状态链&lt;/Text&gt;&#13;&#10;            &lt;/Box&gt;&#13;&#10;            &lt;Box style={{ width: 168 }}&gt;&#13;&#10;                &lt;Box style={{ width: 96, paddingTop: 3, paddingBottom: 3, alignItems: 'center', border: '1px solid rgba(231,129,114,0.35)', borderRadius: 3 }}&gt;&#13;&#10;                    &lt;Text style={{ fontFamily: 'Consolas', fontSize: 8, color: '#E78172' }}&gt;ATTACK_STATE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2&lt;/Text&gt;&#13;&#10;            &lt;Box style={{ width: 470 }}&gt;&#13;&#10;                &lt;Text style={{ fontFamily: 'Microsoft YaHei', fontSize: 13.5, fontWeight: 'bold', color: '#F2F7F8' }}&gt;外部访问与防火墙拦截&lt;/Text&gt;&#13;&#10;                &lt;Text style={{ marginTop: 3, fontFamily: 'Microsoft YaHei', fontSize: 9.5, color: 'rgba(242,247,248,0.46)' }}&gt;边界规则、显式放行与默认拒绝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入门&lt;/Text&gt;&#13;&#10;            &lt;Text style={{ width: 70, textAlign: 'right', fontFamily: 'Consolas', fontSize: 9.5, color: 'rgba(242,247,248,0.44)' }}&gt;5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3&lt;/Text&gt;&#13;&#10;            &lt;Box style={{ width: 470 }}&gt;&#13;&#10;                &lt;Text style={{ fontFamily: 'Microsoft YaHei', fontSize: 13.5, fontWeight: 'bold', color: '#F2F7F8' }}&gt;网络分区防御实验&lt;/Text&gt;&#13;&#10;                &lt;Text style={{ marginTop: 3, fontFamily: 'Microsoft YaHei', fontSize: 9.5, color: 'rgba(242,247,248,0.46)' }}&gt;VLAN 与区域边界之间的取舍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6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4&lt;/Text&gt;&#13;&#10;            &lt;Box style={{ width: 470 }}&gt;&#13;&#10;                &lt;Text style={{ fontFamily: 'Microsoft YaHei', fontSize: 13.5, fontWeight: 'bold', color: '#F2F7F8' }}&gt;供应链入口传播路径&lt;/Text&gt;&#13;&#10;                &lt;Text style={{ marginTop: 3, fontFamily: 'Microsoft YaHei', fontSize: 9.5, color: 'rgba(242,247,248,0.46)' }}&gt;跨区必须逐跳命中显式放行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5&lt;/Text&gt;&#13;&#10;            &lt;Box style={{ width: 470 }}&gt;&#13;&#10;                &lt;Text style={{ fontFamily: 'Microsoft YaHei', fontSize: 13.5, fontWeight: 'bold', color: '#F2F7F8' }}&gt;勒索风险与文件服务保护&lt;/Text&gt;&#13;&#10;                &lt;Text style={{ marginTop: 3, fontFamily: 'Microsoft YaHei', fontSize: 9.5, color: 'rgba(242,247,248,0.46)' }}&gt;终端防护与业务连续性的权衡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9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6&lt;/Text&gt;&#13;&#10;            &lt;Box style={{ width: 470 }}&gt;&#13;&#10;                &lt;Text style={{ fontFamily: 'Microsoft YaHei', fontSize: 13.5, fontWeight: 'bold', color: '#F2F7F8' }}&gt;零信任微隔离：主机对主机&lt;/Text&gt;&#13;&#10;                &lt;Text style={{ marginTop: 3, fontFamily: 'Microsoft YaHei', fontSize: 9.5, color: 'rgba(242,247,248,0.46)' }}&gt;取消“同区域即可信”后的最小权限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7&lt;/Text&gt;&#13;&#10;            &lt;Box style={{ width: 470 }}&gt;&#13;&#10;                &lt;Text style={{ fontFamily: 'Microsoft YaHei', fontSize: 13.5, fontWeight: 'bold', color: '#F2F7F8' }}&gt;工业控制网：SCADA / PLC&lt;/Text&gt;&#13;&#10;                &lt;Text style={{ marginTop: 3, fontFamily: 'Microsoft YaHei', fontSize: 9.5, color: 'rgba(242,247,248,0.46)' }}&gt;控制区、现场区与历史数据区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    &lt;/Box&gt;&#13;&#10;&#13;&#10;    &lt;Box style={{ position: 'absolute', left: 56, top: 626, width: 1168, flexDirection: 'row', alignItems: 'center', gap: 10 }}&gt;&#13;&#10;        &lt;Box style={{ width: 20, height: 1, background: '#6BC8D1' }} /&gt;&#13;&#10;        &lt;Text style={{ fontFamily: 'Microsoft YaHei', fontSize: 11, color: 'rgba(242,247,248,0.46)' }}&gt;场景不是七套脚本：拓扑、接口、VLAN、路由、策略与初始条件共同驱动同一套引擎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7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七个场景，一条从入门到挑战的路径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1 CORE + 6 EXTENSIONS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2266950" cy="133350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9150" b="1" spc="-300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33400" y="27241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88">
                <a:solidFill>
                  <a:srgbClr val="6BC8D1"/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33400" y="3028950"/>
            <a:ext cx="3238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33400" y="3219450"/>
            <a:ext cx="226695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1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个核心实验</a:t>
            </a:r>
            <a:endParaRPr/>
          </a:p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个扩展实验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33400" y="3971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78172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66750" y="394335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33400" y="4152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66750" y="4124325"/>
            <a:ext cx="3619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143250" y="1295400"/>
            <a:ext cx="8515350" cy="209550"/>
          </a:xfrm>
          <a:custGeom>
            <a:pathLst>
              <a:path w="894" h="22">
                <a:moveTo>
                  <a:pt x="0" y="21"/>
                </a:moveTo>
                <a:lnTo>
                  <a:pt x="894" y="21"/>
                </a:lnTo>
                <a:lnTo>
                  <a:pt x="894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143250" y="1352550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NO.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486150" y="1352550"/>
            <a:ext cx="44767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SCENARIO / OBJECTIVE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962900" y="1352550"/>
            <a:ext cx="16002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MODE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563100" y="1352550"/>
            <a:ext cx="8572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LEVEL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420350" y="1352550"/>
            <a:ext cx="666750" cy="952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TIME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143250" y="1504950"/>
            <a:ext cx="8515350" cy="600075"/>
          </a:xfrm>
          <a:prstGeom prst="rect">
            <a:avLst/>
          </a:prstGeom>
          <a:solidFill>
            <a:srgbClr val="E78172">
              <a:alpha val="5500"/>
            </a:srgbClr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3143250" y="1504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143250" y="1752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486150" y="1657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486150" y="1847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权限、通信与数据访问组成的状态链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962900" y="1733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E78172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172450" y="1762125"/>
            <a:ext cx="5048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E78172"/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563100" y="1752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420350" y="1752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3143250" y="2114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143250" y="2362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486150" y="2266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486150" y="2457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边界规则、显式放行与默认拒绝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962900" y="2343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248650" y="2371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563100" y="2362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420350" y="2362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5 min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3143250" y="27241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143250" y="29718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486150" y="28765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486150" y="30670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与区域边界之间的取舍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7962900" y="29527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248650" y="29813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563100" y="29718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420350" y="29718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6 min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143250" y="33337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143250" y="35814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486150" y="34861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486150" y="36766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跨区必须逐跳命中显式放行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962900" y="35623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248650" y="35909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563100" y="35814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420350" y="35814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143250" y="39433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143250" y="41910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486150" y="40957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486150" y="42862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终端防护与业务连续性的权衡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962900" y="41719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48650" y="42005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563100" y="41910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420350" y="41910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9 min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143250" y="4552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143250" y="4800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486150" y="4705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486150" y="4895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取消“同区域即可信”后的最小权限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962900" y="4781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248650" y="48101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563100" y="4800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0420350" y="4800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143250" y="5162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143250" y="5410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486150" y="5314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486150" y="5505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控制区、现场区与历史数据区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962900" y="5391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248650" y="5419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563100" y="5410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420350" y="5410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533400" y="602932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9150" y="5962650"/>
            <a:ext cx="406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场景不是七套脚本：拓扑、接口、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、路由、策略与初始条件共同驱动同一套引擎。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17 / 35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从学到考，再到验证：一条闭环&lt;/Text&gt;&#13;&#10;    &lt;Text style={{ position: 'absolute', right: 56, top: 76, fontFamily: 'Consolas', fontSize: 10.5, color: 'rgba(242,247,248,0.42)' }}&gt;LEARN · PRACTICE · EXAM · VERIFY&lt;/Text&gt;&#13;&#10;&#13;&#10;    &lt;Box style={{ position: 'absolute', left: 56, top: 140, width: 440, height: 460 }}&gt;&#13;&#10;        &lt;svg width={440} height={460} viewBox='0 0 440 460' style={{ position: 'absolute', left: 0, top: 0 }}&gt;&#13;&#10;            &lt;circle cx='220' cy='220' r='156' fill='none' stroke='rgba(107,200,209,0.22)' strokeWidth='1' strokeDasharray='5 6' /&gt;&#13;&#10;            &lt;circle cx='220' cy='220' r='112' fill='none' stroke='rgba(242,247,248,0.06)' strokeWidth='1' /&gt;&#13;&#10;            &lt;circle cx='220' cy='220' r='156' fill='rgba(107,200,209,0.025)' /&gt;&#13;&#10;        &lt;/svg&gt;&#13;&#10;&#13;&#10;        &lt;Box style={{ position: 'absolute', left: 156, top: 32, width: 128, height: 128, borderRadius: 64, background: 'rgba(107,200,209,0.10)', border: '1px solid rgba(107,200,209,0.34)', alignItems: 'center', justifyContent: 'center' }}&gt;&#13;&#10;            &lt;Text style={{ fontFamily: 'Microsoft YaHei', fontSize: 25, fontWeight: 'bold', color: '#6BC8D1' }}&gt;学&lt;/Text&gt;&#13;&#10;            &lt;Text style={{ marginTop: 4, fontFamily: 'Consolas', fontSize: 8.5, color: 'rgba(242,247,248,0.46)' }}&gt;5 MODULES&lt;/Text&gt;&#13;&#10;        &lt;/Box&gt;&#13;&#10;        &lt;Box style={{ position: 'absolute', left: 316, top: 188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练&lt;/Text&gt;&#13;&#10;            &lt;Text style={{ marginTop: 4, fontFamily: 'Consolas', fontSize: 8.5, color: 'rgba(242,247,248,0.46)' }}&gt;20 QUESTIONS&lt;/Text&gt;&#13;&#10;        &lt;/Box&gt;&#13;&#10;        &lt;Box style={{ position: 'absolute', left: 156, top: 344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考&lt;/Text&gt;&#13;&#10;            &lt;Text style={{ marginTop: 4, fontFamily: 'Consolas', fontSize: 8.5, color: 'rgba(242,247,248,0.46)' }}&gt;EXAM&lt;/Text&gt;&#13;&#10;        &lt;/Box&gt;&#13;&#10;        &lt;Box style={{ position: 'absolute', left: -4, top: 188, width: 128, height: 128, borderRadius: 64, background: 'rgba(231,129,114,0.08)', border: '1px solid rgba(231,129,114,0.28)', alignItems: 'center', justifyContent: 'center' }}&gt;&#13;&#10;            &lt;Text style={{ fontFamily: 'Microsoft YaHei', fontSize: 25, fontWeight: 'bold', color: '#E78172' }}&gt;验&lt;/Text&gt;&#13;&#10;            &lt;Text style={{ marginTop: 4, fontFamily: 'Consolas', fontSize: 8.5, color: 'rgba(242,247,248,0.46)' }}&gt;CHALLENGE&lt;/Text&gt;&#13;&#10;        &lt;/Box&gt;&#13;&#10;&#13;&#10;        &lt;Box style={{ position: 'absolute', left: 150, top: 190, width: 140, alignItems: 'center' }}&gt;&#13;&#10;            &lt;Text style={{ fontFamily: 'Consolas', fontSize: 40, fontWeight: 'bold', color: '#F2F7F8', lineHeight: 1 }}&gt;04&lt;/Text&gt;&#13;&#10;            &lt;Text style={{ marginTop: 4, fontFamily: 'Consolas', fontSize: 9, color: '#6BC8D1', letterSpacing: 1.5 }}&gt;STEPS&lt;/Text&gt;&#13;&#10;            &lt;Text style={{ marginTop: 10, fontFamily: 'Microsoft YaHei', fontSize: 10, color: 'rgba(242,247,248,0.42)' }}&gt;知识 → 操作 → 反馈&lt;/Text&gt;&#13;&#10;        &lt;/Box&gt;&#13;&#10;    &lt;/Box&gt;&#13;&#10;&#13;&#10;    &lt;Box style={{ position: 'absolute', left: 560, top: 140, width: 664 }}&gt;&#13;&#10;        &lt;Box style={{ flexDirection: 'row', alignItems: 'flex-start', height: 94, borderTop: '1px solid rgba(242,247,248,0.10)' }}&gt;&#13;&#10;            &lt;Text style={{ width: 46, marginTop: 14, fontFamily: 'Consolas', fontSize: 10, color: '#6BC8D1' }}&gt;01&lt;/Text&gt;&#13;&#10;            &lt;Box style={{ width: 608 }}&gt;&#13;&#10;                &lt;Text style={{ marginTop: 12, fontFamily: 'Microsoft YaHei', fontSize: 17, fontWeight: 'bold', color: '#F2F7F8' }}&gt;学 · 建立概念&lt;/Text&gt;&#13;&#10;                &lt;Text style={{ marginTop: 4, fontFamily: 'Microsoft YaHei', fontSize: 11.5, color: 'rgba(242,247,248,0.54)', lineHeight: 1.7 }}&gt;六个知识模块：网络分区、防火墙、终端防护、关键资产、横向传播、最小权限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2&lt;/Text&gt;&#13;&#10;            &lt;Box style={{ width: 608 }}&gt;&#13;&#10;                &lt;Text style={{ marginTop: 12, fontFamily: 'Microsoft YaHei', fontSize: 17, fontWeight: 'bold', color: '#F2F7F8' }}&gt;练 · 即时反馈&lt;/Text&gt;&#13;&#10;                &lt;Text style={{ marginTop: 4, fontFamily: 'Microsoft YaHei', fontSize: 11.5, color: 'rgba(242,247,248,0.54)', lineHeight: 1.7 }}&gt;20 题随堂练习；作答后立即给出解析与静态示意图，并可跳转到关联实验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3&lt;/Text&gt;&#13;&#10;            &lt;Box style={{ width: 608 }}&gt;&#13;&#10;                &lt;Text style={{ marginTop: 12, fontFamily: 'Microsoft YaHei', fontSize: 17, fontWeight: 'bold', color: '#F2F7F8' }}&gt;考 · 可回看&lt;/Text&gt;&#13;&#10;                &lt;Text style={{ marginTop: 4, fontFamily: 'Microsoft YaHei', fontSize: 11.5, color: 'rgba(242,247,248,0.54)', lineHeight: 1.7 }}&gt;模拟考试含答题卡、交卷评分与错题回看；记录每次得分与最佳成绩。&lt;/Text&gt;&#13;&#10;            &lt;/Box&gt;&#13;&#10;        &lt;/Box&gt;&#13;&#10;        &lt;Box style={{ flexDirection: 'row', alignItems: 'flex-start', height: 94, borderTop: '1px solid rgba(242,247,248,0.10)', borderBottom: '1px solid rgba(242,247,248,0.10)' }}&gt;&#13;&#10;            &lt;Text style={{ width: 46, marginTop: 14, fontFamily: 'Consolas', fontSize: 10, color: '#E78172' }}&gt;04&lt;/Text&gt;&#13;&#10;            &lt;Box style={{ width: 608 }}&gt;&#13;&#10;                &lt;Text style={{ marginTop: 12, fontFamily: 'Microsoft YaHei', fontSize: 17, fontWeight: 'bold', color: '#F2F7F8' }}&gt;验 · 双条件通过&lt;/Text&gt;&#13;&#10;                &lt;Text style={{ marginTop: 4, fontFamily: 'Microsoft YaHei', fontSize: 11.5, color: 'rgba(242,247,248,0.54)', lineHeight: 1.7 }}&gt;在实验室验证：关键目标保护 + 必要业务可达，同时满足才算通过，而不是“全断开”。&lt;/Text&gt;&#13;&#10;            &lt;/Box&gt;&#13;&#10;        &lt;/Box&gt;&#13;&#10;    &lt;/Box&gt;&#13;&#10;&#13;&#10;    &lt;Box style={{ position: 'absolute', left: 560, top: 532, width: 664, paddingTop: 14, borderTop: '1px solid rgba(107,200,209,0.20)' }}&gt;&#13;&#10;        &lt;Text style={{ fontFamily: 'Consolas', fontSize: 9.5, color: '#6BC8D1', letterSpacing: 1 }}&gt;LOCAL PROGRESS&lt;/Text&gt;&#13;&#10;        &lt;Text style={{ marginTop: 6, fontFamily: 'Microsoft YaHei', fontSize: 11.5, color: 'rgba(242,247,248,0.50)', lineHeight: 1.7 }}&gt;学习与考试进度保存在浏览器本地，不需要账号、后端或数据库；换一台设备就从零开始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8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从学到考，再到验证：一条闭环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896475" y="723900"/>
            <a:ext cx="1762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 · VERIFY</a:t>
            </a:r>
            <a:endParaRPr/>
          </a:p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33500"/>
            <a:ext cx="4191000" cy="4381500"/>
          </a:xfrm>
          <a:prstGeom prst="rect">
            <a:avLst/>
          </a:prstGeom>
          <a:ln/>
        </p:spPr>
      </p:pic>
      <p:sp>
        <p:nvSpPr>
          <p:cNvPr id="483" name=""/>
          <p:cNvSpPr/>
          <p:nvPr/>
        </p:nvSpPr>
        <p:spPr>
          <a:xfrm rot="0" flipH="0" flipV="0">
            <a:off x="2019300" y="16383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10000"/>
            </a:srgbClr>
          </a:solidFill>
          <a:ln w="12700">
            <a:solidFill>
              <a:srgbClr val="6BC8D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2514600" y="20383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学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428875" y="23622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5 MODULES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543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038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练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886200" y="384810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20 QUESTIONS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2019300" y="46101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2514600" y="50101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543175" y="5334000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EXAM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495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E78172">
              <a:alpha val="8000"/>
            </a:srgbClr>
          </a:solidFill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90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E78172"/>
                </a:solidFill>
                <a:latin typeface="Microsoft YaHei"/>
                <a:ea typeface="Microsoft YaHei"/>
              </a:rPr>
              <a:t>验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04875" y="38481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CHALLENGE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2419350" y="31432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2476500" y="36385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113">
                <a:solidFill>
                  <a:srgbClr val="6BC8D1"/>
                </a:solidFill>
                <a:latin typeface="Consolas"/>
                <a:ea typeface="Consolas"/>
              </a:rPr>
              <a:t>STEPS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190750" y="38385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操作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5334000" y="13335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334000" y="14763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772150" y="14573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772150" y="16954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六个知识模块：网络分区、防火墙、终端防护、关键资产、横向传播、最小权限。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334000" y="22288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334000" y="23717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772150" y="23526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72150" y="25908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题随堂练习；作答后立即给出解析与静态示意图，并可跳转到关联实验。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334000" y="31242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334000" y="32670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72150" y="32480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772150" y="34861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模拟考试含答题卡、交卷评分与错题回看；记录每次得分与最佳成绩。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93"/>
                </a:moveTo>
                <a:lnTo>
                  <a:pt x="664" y="93"/>
                </a:lnTo>
                <a:lnTo>
                  <a:pt x="66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334000" y="41624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772150" y="41433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验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双条件通过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772150" y="43815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在实验室验证：关键目标保护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必要业务可达，同时满足才算通过，而不是“全断开”。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334000" y="5067300"/>
            <a:ext cx="6324600" cy="552450"/>
          </a:xfrm>
          <a:custGeom>
            <a:pathLst>
              <a:path w="664" h="58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0000"/>
            </a:srgbClr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334000" y="5210175"/>
            <a:ext cx="6324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LOCAL PROGRESS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334000" y="5381625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学习与考试进度保存在浏览器本地，不需要账号、后端或数据库；换一台设备就从零开始。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18 / 35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80' cy='120' r='22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边界越清楚，教学才越可信&lt;/Text&gt;&#13;&#10;    &lt;Text style={{ position: 'absolute', right: 56, top: 76, fontFamily: 'Consolas', fontSize: 10.5, color: 'rgba(242,247,248,0.42)' }}&gt;BOUNDARY · SOURCES&lt;/Text&gt;&#13;&#10;&#13;&#10;    &lt;Box style={{ position: 'absolute', left: 56, top: 150, width: 486 }}&gt;&#13;&#10;        &lt;Text style={{ fontFamily: 'Consolas', fontSize: 9.5, color: '#6BC8D1', letterSpacing: 1.2 }}&gt;WHAT THIS IS / IS NOT&lt;/Text&gt;&#13;&#10;        &lt;Text style={{ marginTop: 18, fontFamily: 'Microsoft YaHei', fontSize: 42, fontWeight: 'bold', color: '#F2F7F8', lineHeight: 1.35, letterSpacing: 0.5 }}&gt;&#13;&#10;            这是教学抽象，&lt;br /&gt;&lt;span style={{ color: '#E78172' }}&gt;不是攻击预测。&lt;/span&gt;&#13;&#10;        &lt;/Text&gt;&#13;&#10;        &lt;Box style={{ marginTop: 24, width: 42, height: 2, background: 'rgba(107,200,209,0.55)' }} /&gt;&#13;&#10;        &lt;Text style={{ marginTop: 20, fontFamily: 'Microsoft YaHei', fontSize: 12, color: 'rgba(242,247,248,0.54)', lineHeight: 1.9 }}&gt;&#13;&#10;            不模拟漏洞利用、凭据或恶意代码；&lt;br /&gt;&#13;&#10;            不连接真实网络，也不执行任何攻击行为；&lt;br /&gt;&#13;&#10;            不输出真实网络的风险概率或预测结论。&#13;&#10;        &lt;/Text&gt;&#13;&#10;    &lt;/Box&gt;&#13;&#10;&#13;&#10;    &lt;Box style={{ position: 'absolute', left: 596, top: 142, width: 628 }}&gt;&#13;&#10;        &lt;Box style={{ flexDirection: 'row', alignItems: 'flex-start', height: 78, borderTop: '1px solid rgba(242,247,248,0.10)' }}&gt;&#13;&#10;            &lt;Text style={{ width: 44, marginTop: 12, fontFamily: 'Consolas', fontSize: 10, color: '#6BC8D1' }}&gt;01&lt;/Text&gt;&#13;&#10;            &lt;Box style={{ width: 572 }}&gt;&#13;&#10;                &lt;Text style={{ marginTop: 10, fontFamily: 'Microsoft YaHei', fontSize: 14, fontWeight: 'bold', color: '#F2F7F8' }}&gt;模式边界&lt;/Text&gt;&#13;&#10;                &lt;Text style={{ marginTop: 3, fontFamily: 'Microsoft YaHei', fontSize: 11.5, color: 'rgba(242,247,248,0.54)', lineHeight: 1.65 }}&gt;通信判定与状态转移分开；seed 是实验前已存在的状态，不计入本轮传播步骤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2&lt;/Text&gt;&#13;&#10;            &lt;Box style={{ width: 572 }}&gt;&#13;&#10;                &lt;Text style={{ marginTop: 10, fontFamily: 'Microsoft YaHei', fontSize: 14, fontWeight: 'bold', color: '#F2F7F8' }}&gt;能力边界&lt;/Text&gt;&#13;&#10;                &lt;Text style={{ marginTop: 3, fontFamily: 'Microsoft YaHei', fontSize: 11.5, color: 'rgba(242,247,248,0.54)', lineHeight: 1.65 }}&gt;只表示权限级别与数据访问能力；DATA_ACCESS 不等于数据库主机被控制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3&lt;/Text&gt;&#13;&#10;            &lt;Box style={{ width: 572 }}&gt;&#13;&#10;                &lt;Text style={{ marginTop: 10, fontFamily: 'Microsoft YaHei', fontSize: 14, fontWeight: 'bold', color: '#F2F7F8' }}&gt;数据边界&lt;/Text&gt;&#13;&#10;                &lt;Text style={{ marginTop: 3, fontFamily: 'Microsoft YaHei', fontSize: 11.5, color: 'rgba(242,247,248,0.54)', lineHeight: 1.65 }}&gt;纯前端应用；场景、结果与学习进度都留在本地，不上传任何实验数据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4, marginTop: 12, fontFamily: 'Consolas', fontSize: 10, color: '#E78172' }}&gt;04&lt;/Text&gt;&#13;&#10;            &lt;Box style={{ width: 572 }}&gt;&#13;&#10;                &lt;Text style={{ marginTop: 10, fontFamily: 'Microsoft YaHei', fontSize: 14, fontWeight: 'bold', color: '#F2F7F8' }}&gt;结论边界&lt;/Text&gt;&#13;&#10;                &lt;Text style={{ marginTop: 3, fontFamily: 'Microsoft YaHei', fontSize: 11.5, color: 'rgba(242,247,248,0.54)', lineHeight: 1.65 }}&gt;搜索达到深度或状态上限时标注“未完整”；不把“没搜到”当作“安全”。&lt;/Text&gt;&#13;&#10;            &lt;/Box&gt;&#13;&#10;        &lt;/Box&gt;&#13;&#10;    &lt;/Box&gt;&#13;&#10;&#13;&#10;    &lt;Box style={{ position: 'absolute', left: 56, top: 546, width: 1168, paddingTop: 12, borderTop: '1px solid rgba(242,247,248,0.10)' }}&gt;&#13;&#10;        &lt;Box style={{ flexDirection: 'row', alignItems: 'center', justifyContent: 'space-between' }}&gt;&#13;&#10;            &lt;Text style={{ fontFamily: 'Consolas', fontSize: 9.5, color: '#6BC8D1', letterSpacing: 1.2 }}&gt;PUBLIC SOURCES / 每个场景内置&lt;/Text&gt;&#13;&#10;            &lt;Text style={{ fontFamily: 'Microsoft YaHei', fontSize: 9.5, color: 'rgba(242,247,248,0.34)' }}&gt;随实验可查，不参与结果指纹&lt;/Text&gt;&#13;&#10;        &lt;/Box&gt;&#13;&#10;        &lt;Box style={{ marginTop: 10, flexDirection: 'row', flexWrap: 'wrap', gap: 8 }}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41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53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207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MITRE ATT&amp;CK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GB/T 22239-2019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IEC 62443-3-3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9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边界越清楚，教学才越可信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0668000" y="723900"/>
            <a:ext cx="990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BOUNDARY · SOURCES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462915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WHAT THIS IS / IS NOT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33400" y="1819275"/>
            <a:ext cx="4629150" cy="1304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F2F7F8"/>
                </a:solidFill>
                <a:latin typeface="Microsoft YaHei"/>
                <a:ea typeface="Microsoft YaHei"/>
              </a:rPr>
              <a:t>这是教学抽象，</a:t>
            </a:r>
            <a:endParaRPr/>
          </a:p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E78172"/>
                </a:solidFill>
                <a:latin typeface="Microsoft YaHei"/>
                <a:ea typeface="Microsoft YaHei"/>
              </a:rPr>
              <a:t>不是攻击预测。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33400" y="3352800"/>
            <a:ext cx="4000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533400" y="3562350"/>
            <a:ext cx="4629150" cy="7905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不模拟漏洞利用、凭据或恶意代码；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不连接真实网络，也不执行任何攻击行为；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不输出真实网络的风险概率或预测结论。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676900" y="13525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676900" y="14763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0" y="14573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模式边界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0" y="16478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通信判定与状态转移分开；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seed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是实验前已存在的状态，不计入本轮传播步骤。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676900" y="20955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676900" y="2219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0" y="22002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能力边界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0" y="23907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只表示权限级别与数据访问能力；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DATA_ACCESS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不等于数据库主机被控制。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5676900" y="28384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676900" y="29622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0" y="29432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数据边界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0" y="31337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纯前端应用；场景、结果与学习进度都留在本地，不上传任何实验数据。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77"/>
                </a:moveTo>
                <a:lnTo>
                  <a:pt x="628" y="77"/>
                </a:lnTo>
                <a:lnTo>
                  <a:pt x="62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676900" y="37052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096000" y="36861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结论边界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0" y="38766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搜索达到深度或状态上限时标注“未完整”；不把“没搜到”当作“安全”。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33400" y="5200650"/>
            <a:ext cx="11125200" cy="542925"/>
          </a:xfrm>
          <a:custGeom>
            <a:pathLst>
              <a:path w="1168" h="5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2085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PUBLIC SOURCES / </a:t>
            </a:r>
            <a:r>
              <a:rPr lang="zh-CN" sz="713" spc="90">
                <a:solidFill>
                  <a:srgbClr val="6BC8D1"/>
                </a:solidFill>
                <a:latin typeface="Consolas"/>
                <a:ea typeface="Consolas"/>
              </a:rPr>
              <a:t>每个场景内置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477500" y="5324475"/>
            <a:ext cx="1181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4000"/>
                  </a:srgbClr>
                </a:solidFill>
                <a:latin typeface="Microsoft YaHei"/>
                <a:ea typeface="Microsoft YaHei"/>
              </a:rPr>
              <a:t>随实验可查，不参与结果指纹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334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191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800-41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14478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5335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800-53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2362200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2447925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800-207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324225" y="5534025"/>
            <a:ext cx="74295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409950" y="5581650"/>
            <a:ext cx="571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MITRE ATT&amp;CK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143375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229100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GB/T 22239-2019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105400" y="5534025"/>
            <a:ext cx="79057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191125" y="5581650"/>
            <a:ext cx="619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IEC 62443-3-3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19 / 35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1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60 420L850 320L970 370L1080 260L1170 320' /&gt;&#13;&#10;            &lt;path d='M850 320L910 460L1020 500L1080 260' /&gt;&#13;&#10;        &lt;/g&gt;&#13;&#10;        &lt;g fill='#6BC8D1'&gt;&#13;&#10;            &lt;circle cx='760' cy='420' r='4' opacity='0.45' /&gt;&#13;&#10;            &lt;circle cx='850' cy='320' r='6' opacity='0.85' /&gt;&#13;&#10;            &lt;circle cx='970' cy='370' r='4.5' opacity='0.6' /&gt;&#13;&#10;            &lt;circle cx='1080' cy='260' r='5' opacity='0.7' /&gt;&#13;&#10;            &lt;circle cx='1170' cy='320' r='3.5' opacity='0.4' /&gt;&#13;&#10;            &lt;circle cx='910' cy='460' r='4' opacity='0.5' /&gt;&#13;&#10;            &lt;circle cx='1020' cy='50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5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5 / 05&lt;/Text&gt;&#13;&#10;    &lt;/Box&gt;&#13;&#10;    &lt;Box style={{ position: 'absolute', left: 72, top: 176, width: 620 }}&gt;&#13;&#10;        &lt;Text style={{ fontFamily: 'Microsoft YaHei', fontSize: 58, fontWeight: 'bold', color: '#F2F7F8', letterSpacing: 2 }}&gt;价值与展望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三个创新点，最终都指向同一个词：可验证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5.1&lt;/Text&gt;&#13;&#10;            &lt;Text style={{ fontFamily: 'Microsoft YaHei', fontSize: 14, color: 'rgba(242,247,248,0.72)' }}&gt;语义解耦：通与变，分开回答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5.2&lt;/Text&gt;&#13;&#10;            &lt;Text style={{ fontFamily: 'Microsoft YaHei', fontSize: 14, color: 'rgba(242,247,248,0.72)' }}&gt;可解释搜索：见证链与失败原因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5.3&lt;/Text&gt;&#13;&#10;            &lt;Text style={{ fontFamily: 'Microsoft YaHei', fontSize: 14, color: 'rgba(242,247,248,0.72)' }}&gt;可复现交付：同输入，同结果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VALUE&lt;/Text&gt;&#13;&#10;    &lt;/Box&gt;&#13;&#10;    &lt;Text style={{ position: 'absolute', right: 56, top: 664, fontFamily: 'Consolas', fontSize: 10.5, color: 'rgba(242,247,248,0.40)' }}&gt;20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05 / 05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三个创新点，最终都指向同一个词：可验证。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05.1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语义解耦：通与变，分开回答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05.2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可解释搜索：见证链与失败原因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05.3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可复现交付：同输入，同结果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2762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VALUE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20 / 35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3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30' fill='rgba(107,200,209,0.035)' /&gt;&#13;&#10;    &lt;/svg&gt;&#13;&#10;&#13;&#10;    &lt;Box style={{ position: 'absolute', left: 56, top: 38 }}&gt;&#13;&#10;        &lt;Text style={{ fontFamily: 'Consolas', fontSize: 11, color: '#6BC8D1', letterSpacing: 1.8 }}&gt;05 / 价值与展望&lt;/Text&gt;&#13;&#10;    &lt;/Box&gt;&#13;&#10;    &lt;Text style={{ position: 'absolute', left: 56, top: 62, fontFamily: 'Microsoft YaHei', fontSize: 32, fontWeight: 'bold', color: '#F2F7F8', letterSpacing: 0.5 }}&gt;三个创新点，最终都指向“可验证”&lt;/Text&gt;&#13;&#10;    &lt;Text style={{ position: 'absolute', right: 56, top: 76, fontFamily: 'Consolas', fontSize: 10.5, color: 'rgba(242,247,248,0.42)' }}&gt;FROM MECHANISM TO DELIVERY&lt;/Text&gt;&#13;&#10;&#13;&#10;    &lt;Box style={{ position: 'absolute', left: 56, top: 150, width: 880, height: 118, paddingLeft: 20, paddingRight: 20, flexDirection: 'row', alignItems: 'center', background: 'linear-gradient(90deg, rgba(107,200,209,0.10) 0%, rgba(242,247,248,0.02) 100%)', borderLeft: '2px solid #6BC8D1' }}&gt;&#13;&#10;        &lt;Text style={{ width: 88, fontFamily: 'Consolas', fontSize: 40, fontWeight: 'bold', color: 'rgba(107,200,209,0.80)', lineHeight: 1 }}&gt;01&lt;/Text&gt;&#13;&#10;        &lt;Box style={{ width: 752 }}&gt;&#13;&#10;            &lt;Text style={{ fontFamily: 'Microsoft YaHei', fontSize: 17, fontWeight: 'bold', color: '#F2F7F8' }}&gt;语义解耦&lt;/Text&gt;&#13;&#10;            &lt;Text style={{ marginTop: 6, fontFamily: 'Microsoft YaHei', fontSize: 11.5, color: 'rgba(242,247,248,0.56)', lineHeight: 1.7 }}&gt;通信引擎只回答可达性；状态引擎再检查权限、来源、条件与控制。通信可达不等于状态改变。&lt;/Text&gt;&#13;&#10;        &lt;/Box&gt;&#13;&#10;    &lt;/Box&gt;&#13;&#10;&#13;&#10;    &lt;Box style={{ position: 'absolute', left: 56, top: 286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2&lt;/Text&gt;&#13;&#10;        &lt;Box style={{ width: 752 }}&gt;&#13;&#10;            &lt;Text style={{ fontFamily: 'Microsoft YaHei', fontSize: 17, fontWeight: 'bold', color: '#F2F7F8' }}&gt;可解释搜索&lt;/Text&gt;&#13;&#10;            &lt;Text style={{ marginTop: 6, fontFamily: 'Microsoft YaHei', fontSize: 11.5, color: 'rgba(242,247,248,0.56)', lineHeight: 1.7 }}&gt;每条链有见证，每个失败有原因；SUCCESS / BLOCKED / N.A. 三态，深度 8 / 160 状态都有边界。&lt;/Text&gt;&#13;&#10;        &lt;/Box&gt;&#13;&#10;    &lt;/Box&gt;&#13;&#10;&#13;&#10;    &lt;Box style={{ position: 'absolute', left: 56, top: 422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3&lt;/Text&gt;&#13;&#10;        &lt;Box style={{ width: 752 }}&gt;&#13;&#10;            &lt;Text style={{ fontFamily: 'Microsoft YaHei', fontSize: 17, fontWeight: 'bold', color: '#F2F7F8' }}&gt;可复现交付&lt;/Text&gt;&#13;&#10;            &lt;Text style={{ marginTop: 6, fontFamily: 'Microsoft YaHei', fontSize: 11.5, color: 'rgba(242,247,248,0.56)', lineHeight: 1.7 }}&gt;纯前端、无后端；配置指纹让过期结果失效；场景压缩进链接，接收方本地重算，同输入同结果。&lt;/Text&gt;&#13;&#10;        &lt;/Box&gt;&#13;&#10;    &lt;/Box&gt;&#13;&#10;&#13;&#10;    &lt;Box style={{ position: 'absolute', left: 986, top: 150, width: 238 }}&gt;&#13;&#10;        &lt;Text style={{ fontFamily: 'Consolas', fontSize: 9.5, color: '#6BC8D1', letterSpacing: 1.2 }}&gt;APPLICATION&lt;/Text&gt;&#13;&#10;        &lt;Box style={{ marginTop: 16, paddingBottom: 12, borderBottom: '1px solid rgba(242,247,248,0.10)' }}&gt;&#13;&#10;            &lt;Text style={{ fontFamily: 'Microsoft YaHei', fontSize: 13, fontWeight: 'bold', color: '#F2F7F8' }}&gt;高校课堂&lt;/Text&gt;&#13;&#10;            &lt;Text style={{ marginTop: 3, fontFamily: 'Microsoft YaHei', fontSize: 10.5, color: 'rgba(242,247,248,0.46)' }}&gt;网络与安全课程实验&lt;/Text&gt;&#13;&#10;        &lt;/Box&gt;&#13;&#10;        &lt;Box style={{ marginTop: 12, paddingBottom: 12, borderBottom: '1px solid rgba(242,247,248,0.10)' }}&gt;&#13;&#10;            &lt;Text style={{ fontFamily: 'Microsoft YaHei', fontSize: 13, fontWeight: 'bold', color: '#F2F7F8' }}&gt;企业培训&lt;/Text&gt;&#13;&#10;            &lt;Text style={{ marginTop: 3, fontFamily: 'Microsoft YaHei', fontSize: 10.5, color: 'rgba(242,247,248,0.46)' }}&gt;策略变更前的沙盘演练&lt;/Text&gt;&#13;&#10;        &lt;/Box&gt;&#13;&#10;        &lt;Box style={{ marginTop: 12 }}&gt;&#13;&#10;            &lt;Text style={{ fontFamily: 'Microsoft YaHei', fontSize: 13, fontWeight: 'bold', color: '#F2F7F8' }}&gt;竞赛实训&lt;/Text&gt;&#13;&#10;            &lt;Text style={{ marginTop: 3, fontFamily: 'Microsoft YaHei', fontSize: 10.5, color: 'rgba(242,247,248,0.46)' }}&gt;可解释的攻防推演&lt;/Text&gt;&#13;&#10;        &lt;/Box&gt;&#13;&#10;        &lt;Box style={{ marginTop: 28, paddingTop: 14, borderTop: '1px solid rgba(107,200,209,0.22)' }}&gt;&#13;&#10;            &lt;Text style={{ fontFamily: 'Microsoft YaHei', fontSize: 18, fontWeight: 'bold', color: '#6BC8D1', lineHeight: 1.6 }}&gt;把“讲策略”&lt;br /&gt;变成“做验证”。&lt;/Text&gt;&#13;&#10;        &lt;/Box&gt;&#13;&#10;    &lt;/Box&gt;&#13;&#10;&#13;&#10;    &lt;Box style={{ position: 'absolute', left: 56, top: 580, width: 880, flexDirection: 'row', alignItems: 'center', gap: 10 }}&gt;&#13;&#10;        &lt;Box style={{ width: 20, height: 1, background: '#6BC8D1' }} /&gt;&#13;&#10;        &lt;Text style={{ fontFamily: 'Microsoft YaHei', fontSize: 11.5, color: 'rgba(242,247,248,0.46)' }}&gt;从课堂到实训，同一套可验证的沙盘；下一步将扩展更多行业场景与协作式实验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1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价值与展望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三个创新点，最终都指向“可验证”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FROM MECHANISM TO DELIVERY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552450" y="1428750"/>
            <a:ext cx="8362950" cy="1123950"/>
          </a:xfrm>
          <a:prstGeom prst="rect">
            <a:avLst/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533400" y="14287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42950" y="17621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>
                    <a:alpha val="80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581150" y="17526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语义解耦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581150" y="20097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通信引擎只回答可达性；状态引擎再检查权限、来源、条件与控制。通信可达不等于状态改变。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552450" y="27241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533400" y="27241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42950" y="30575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581150" y="30480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可解释搜索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581150" y="33051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每条链有见证，每个失败有原因；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SUCCESS / BLOCKED / N.A.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三态，深度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状态都有边界。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552450" y="40195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533400" y="40195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581150" y="43434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可复现交付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581150" y="46005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纯前端、无后端；配置指纹让过期结果失效；场景压缩进链接，接收方本地重算，同输入同结果。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391650" y="14287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APPLICATION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391650" y="1695450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391650" y="169545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高校课堂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9391650" y="187642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网络与安全课程实验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9391650" y="2238375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391650" y="2238375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企业培训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391650" y="2419350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策略变更前的沙盘演练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9391650" y="27813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竞赛实训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391650" y="296227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可解释的攻防推演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9391650" y="3352800"/>
            <a:ext cx="2266950" cy="819150"/>
          </a:xfrm>
          <a:custGeom>
            <a:pathLst>
              <a:path w="238" h="86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391650" y="3495675"/>
            <a:ext cx="22669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把“讲策略”</a:t>
            </a:r>
            <a:endParaRPr/>
          </a:p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变成“做验证”。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533400" y="5591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从课堂到实训，同一套可验证的沙盘；下一步将扩展更多行业场景与协作式实验。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21 / 35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7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    &lt;path d='M414 138V620M788 138V620' stroke='rgba(242,247,248,0.07)' /&gt;&#13;&#10;        &lt;/g&gt;&#13;&#10;    &lt;/svg&gt;&#13;&#10;&#13;&#10;    &lt;Box style={{ position: 'absolute', left: 56, top: 38 }}&gt;&#13;&#10;        &lt;Text style={{ fontFamily: 'Consolas', fontSize: 11, color: '#6BC8D1', letterSpacing: 1.8 }}&gt;APPENDIX 01 / 功能图集&lt;/Text&gt;&#13;&#10;    &lt;/Box&gt;&#13;&#10;    &lt;Text style={{ position: 'absolute', left: 56, top: 62, fontFamily: 'Microsoft YaHei', fontSize: 31, fontWeight: 'bold', color: '#F2F7F8', letterSpacing: 0.5 }}&gt;六个工作面，60+ 项能力&lt;/Text&gt;&#13;&#10;    &lt;Text style={{ position: 'absolute', right: 56, top: 76, fontFamily: 'Consolas', fontSize: 10.5, color: 'rgba(242,247,248,0.42)' }}&gt;FULL FUNCTION MATRIX&lt;/Text&gt;&#13;&#10;&#13;&#10;    &lt;Box style={{ position: 'absolute', left: 56, top: 138, width: 358 }}&gt;&#13;&#10;        &lt;Box style={{ height: 124 }}&gt;&#13;&#10;            &lt;Box style={{ flexDirection: 'row', alignItems: 'center', justifyContent: 'space-between', height: 22 }}&gt;&#13;&#10;                &lt;Text style={{ fontFamily: 'Microsoft YaHei', fontSize: 13, fontWeight: 'bold', color: '#6BC8D1' }}&gt;总览&lt;/Text&gt;&#13;&#10;                &lt;Text style={{ fontFamily: 'Consolas', fontSize: 8.5, color: 'rgba(242,247,248,0.34)' }}&gt;06&lt;/Text&gt;&#13;&#10;            &lt;/Box&gt;&#13;&#10;            &lt;Text style={{ height: 17, fontFamily: 'Microsoft YaHei', fontSize: 9.2, color: 'rgba(242,247,248,0.62)', lineHeight: 1.55 }}&gt;✓ 核心实验入口&lt;/Text&gt;&#13;&#10;            &lt;Text style={{ height: 17, fontFamily: 'Microsoft YaHei', fontSize: 9.2, color: 'rgba(242,247,248,0.62)', lineHeight: 1.55 }}&gt;✓ 扩展场景矩阵&lt;/Text&gt;&#13;&#10;            &lt;Text style={{ height: 17, fontFamily: 'Microsoft YaHei', fontSize: 9.2, color: 'rgba(242,247,248,0.62)', lineHeight: 1.55 }}&gt;✓ 三维实时预览&lt;/Text&gt;&#13;&#10;            &lt;Text style={{ height: 17, fontFamily: 'Microsoft YaHei', fontSize: 9.2, color: 'rgba(242,247,248,0.62)', lineHeight: 1.55 }}&gt;✓ 难度与时长&lt;/Text&gt;&#13;&#10;            &lt;Text style={{ height: 17, fontFamily: 'Microsoft YaHei', fontSize: 9.2, color: 'rgba(242,247,248,0.62)', lineHeight: 1.55 }}&gt;✓ 实验初始条件&lt;/Text&gt;&#13;&#10;            &lt;Text style={{ height: 17, fontFamily: 'Microsoft YaHei', fontSize: 9.2, color: 'rgba(242,247,248,0.62)', lineHeight: 1.55 }}&gt;✓ 知识来源入口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实验室 · 输入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场景切换&lt;/Text&gt;&#13;&#10;            &lt;Text style={{ height: 17, fontFamily: 'Microsoft YaHei', fontSize: 9.2, color: 'rgba(242,247,248,0.62)', lineHeight: 1.55 }}&gt;✓ 旋转 / 缩放 / 点选&lt;/Text&gt;&#13;&#10;            &lt;Text style={{ height: 17, fontFamily: 'Microsoft YaHei', fontSize: 9.2, color: 'rgba(242,247,248,0.62)', lineHeight: 1.55 }}&gt;✓ 节点拖拽布局&lt;/Text&gt;&#13;&#10;            &lt;Text style={{ height: 17, fontFamily: 'Microsoft YaHei', fontSize: 9.2, color: 'rgba(242,247,248,0.62)', lineHeight: 1.55 }}&gt;✓ 视野适配与聚焦&lt;/Text&gt;&#13;&#10;            &lt;Text style={{ height: 17, fontFamily: 'Microsoft YaHei', fontSize: 9.2, color: 'rgba(242,247,248,0.62)', lineHeight: 1.55 }}&gt;✓ 节点属性面板&lt;/Text&gt;&#13;&#10;            &lt;Text style={{ height: 17, fontFamily: 'Microsoft YaHei', fontSize: 9.2, color: 'rgba(242,247,248,0.62)', lineHeight: 1.55 }}&gt;✓ 接口与路由详情&lt;/Text&gt;&#13;&#10;            &lt;Text style={{ height: 17, fontFamily: 'Microsoft YaHei', fontSize: 9.2, color: 'rgba(242,247,248,0.62)', lineHeight: 1.55 }}&gt;✓ 改名与区域修改&lt;/Text&gt;&#13;&#10;            &lt;Text style={{ height: 17, fontFamily: 'Microsoft YaHei', fontSize: 9.2, color: 'rgba(242,247,248,0.62)', lineHeight: 1.55 }}&gt;✓ 节点隔离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实验室 · 控制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终端防护开关&lt;/Text&gt;&#13;&#10;            &lt;Text style={{ height: 17, fontFamily: 'Microsoft YaHei', fontSize: 9.2, color: 'rgba(242,247,248,0.62)', lineHeight: 1.55 }}&gt;✓ 服务加固开关&lt;/Text&gt;&#13;&#10;            &lt;Text style={{ height: 17, fontFamily: 'Microsoft YaHei', fontSize: 9.2, color: 'rgba(242,247,248,0.62)', lineHeight: 1.55 }}&gt;✓ 数据访问控制&lt;/Text&gt;&#13;&#10;            &lt;Text style={{ height: 17, fontFamily: 'Microsoft YaHei', fontSize: 9.2, color: 'rgba(242,247,248,0.62)', lineHeight: 1.55 }}&gt;✓ 关键资产标记&lt;/Text&gt;&#13;&#10;            &lt;Text style={{ height: 17, fontFamily: 'Microsoft YaHei', fontSize: 9.2, color: 'rgba(242,247,248,0.62)', lineHeight: 1.55 }}&gt;✓ 规则新增 / 删除&lt;/Text&gt;&#13;&#10;            &lt;Text style={{ height: 17, fontFamily: 'Microsoft YaHei', fontSize: 9.2, color: 'rgba(242,247,248,0.62)', lineHeight: 1.55 }}&gt;✓ 规则排序 / 启停&lt;/Text&gt;&#13;&#10;            &lt;Text style={{ height: 17, fontFamily: 'Microsoft YaHei', fontSize: 9.2, color: 'rgba(242,247,248,0.62)', lineHeight: 1.55 }}&gt;✓ ANY / ZONE / NODE&lt;/Text&gt;&#13;&#10;            &lt;Text style={{ height: 17, fontFamily: 'Microsoft YaHei', fontSize: 9.2, color: 'rgba(242,247,248,0.62)', lineHeight: 1.55 }}&gt;✓ Default DENY&lt;/Text&gt;&#13;&#10;        &lt;/Box&gt;&#13;&#10;    &lt;/Box&gt;&#13;&#10;&#13;&#10;    &lt;Box style={{ position: 'absolute', left: 430, top: 138, width: 358 }}&gt;&#13;&#10;        &lt;Box style={{ height: 141 }}&gt;&#13;&#10;            &lt;Box style={{ flexDirection: 'row', alignItems: 'center', justifyContent: 'space-between', height: 22 }}&gt;&#13;&#10;                &lt;Text style={{ fontFamily: 'Microsoft YaHei', fontSize: 13, fontWeight: 'bold', color: '#6BC8D1' }}&gt;事件与判定&lt;/Text&gt;&#13;&#10;                &lt;Text style={{ fontFamily: 'Consolas', fontSize: 8.5, color: 'rgba(242,247,248,0.34)' }}&gt;07&lt;/Text&gt;&#13;&#10;            &lt;/Box&gt;&#13;&#10;            &lt;Text style={{ height: 17, fontFamily: 'Microsoft YaHei', fontSize: 9.2, color: 'rgba(242,247,248,0.62)', lineHeight: 1.55 }}&gt;✓ 事件结果与原因&lt;/Text&gt;&#13;&#10;            &lt;Text style={{ height: 17, fontFamily: 'Microsoft YaHei', fontSize: 9.2, color: 'rgba(242,247,248,0.62)', lineHeight: 1.55 }}&gt;✓ 实际路径&lt;/Text&gt;&#13;&#10;            &lt;Text style={{ height: 17, fontFamily: 'Microsoft YaHei', fontSize: 9.2, color: 'rgba(242,247,248,0.62)', lineHeight: 1.55 }}&gt;✓ 命中规则&lt;/Text&gt;&#13;&#10;            &lt;Text style={{ height: 17, fontFamily: 'Microsoft YaHei', fontSize: 9.2, color: 'rgba(242,247,248,0.62)', lineHeight: 1.55 }}&gt;✓ 阻断位置&lt;/Text&gt;&#13;&#10;            &lt;Text style={{ height: 17, fontFamily: 'Microsoft YaHei', fontSize: 9.2, color: 'rgba(242,247,248,0.62)', lineHeight: 1.55 }}&gt;✓ 状态前后值&lt;/Text&gt;&#13;&#10;            &lt;Text style={{ height: 17, fontFamily: 'Microsoft YaHei', fontSize: 9.2, color: 'rgba(242,247,248,0.62)', lineHeight: 1.55 }}&gt;✓ 五项前置条件&lt;/Text&gt;&#13;&#10;            &lt;Text style={{ height: 17, fontFamily: 'Microsoft YaHei', fontSize: 9.2, color: 'rgba(242,247,248,0.62)', lineHeight: 1.55 }}&gt;✓ 完整判定过程&lt;/Text&gt;&#13;&#10;        &lt;/Box&gt;&#13;&#10;&#13;&#10;        &lt;Box style={{ height: 141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回放与挑战&lt;/Text&gt;&#13;&#10;                &lt;Text style={{ fontFamily: 'Consolas', fontSize: 8.5, color: 'rgba(242,247,248,0.34)' }}&gt;07&lt;/Text&gt;&#13;&#10;            &lt;/Box&gt;&#13;&#10;            &lt;Text style={{ height: 17, fontFamily: 'Microsoft YaHei', fontSize: 9.2, color: 'rgba(242,247,248,0.62)', lineHeight: 1.55 }}&gt;✓ 代表链 T0–Tn&lt;/Text&gt;&#13;&#10;            &lt;Text style={{ height: 17, fontFamily: 'Microsoft YaHei', fontSize: 9.2, color: 'rgba(242,247,248,0.62)', lineHeight: 1.55 }}&gt;✓ 播放 / 暂停 / 单步&lt;/Text&gt;&#13;&#10;            &lt;Text style={{ height: 17, fontFamily: 'Microsoft YaHei', fontSize: 9.2, color: 'rgba(242,247,248,0.62)', lineHeight: 1.55 }}&gt;✓ 倍速与重新播放&lt;/Text&gt;&#13;&#10;            &lt;Text style={{ height: 17, fontFamily: 'Microsoft YaHei', fontSize: 9.2, color: 'rgba(242,247,248,0.62)', lineHeight: 1.55 }}&gt;✓ 时间线定位&lt;/Text&gt;&#13;&#10;            &lt;Text style={{ height: 17, fontFamily: 'Microsoft YaHei', fontSize: 9.2, color: 'rgba(242,247,248,0.62)', lineHeight: 1.55 }}&gt;✓ 关键目标保护&lt;/Text&gt;&#13;&#10;            &lt;Text style={{ height: 17, fontFamily: 'Microsoft YaHei', fontSize: 9.2, color: 'rgba(242,247,248,0.62)', lineHeight: 1.55 }}&gt;✓ 必要业务可达&lt;/Text&gt;&#13;&#10;            &lt;Text style={{ height: 17, fontFamily: 'Microsoft YaHei', fontSize: 9.2, color: 'rgba(242,247,248,0.62)', lineHeight: 1.55 }}&gt;✓ 失败原因与建议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对比与分析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原始基线 A/B&lt;/Text&gt;&#13;&#10;            &lt;Text style={{ height: 17, fontFamily: 'Microsoft YaHei', fontSize: 9.2, color: 'rgba(242,247,248,0.62)', lineHeight: 1.55 }}&gt;✓ 指标差异&lt;/Text&gt;&#13;&#10;            &lt;Text style={{ height: 17, fontFamily: 'Microsoft YaHei', fontSize: 9.2, color: 'rgba(242,247,248,0.62)', lineHeight: 1.55 }}&gt;✓ 代表链并排&lt;/Text&gt;&#13;&#10;            &lt;Text style={{ height: 17, fontFamily: 'Microsoft YaHei', fontSize: 9.2, color: 'rgba(242,247,248,0.62)', lineHeight: 1.55 }}&gt;✓ 实验结论&lt;/Text&gt;&#13;&#10;            &lt;Text style={{ height: 17, fontFamily: 'Microsoft YaHei', fontSize: 9.2, color: 'rgba(242,247,248,0.62)', lineHeight: 1.55 }}&gt;✓ 状态分布&lt;/Text&gt;&#13;&#10;            &lt;Text style={{ height: 17, fontFamily: 'Microsoft YaHei', fontSize: 9.2, color: 'rgba(242,247,248,0.62)', lineHeight: 1.55 }}&gt;✓ 影响趋势&lt;/Text&gt;&#13;&#10;            &lt;Text style={{ height: 17, fontFamily: 'Microsoft YaHei', fontSize: 9.2, color: 'rgba(242,247,248,0.62)', lineHeight: 1.55 }}&gt;✓ 业务路径结果&lt;/Text&gt;&#13;&#10;            &lt;Text style={{ height: 17, fontFamily: 'Microsoft YaHei', fontSize: 9.2, color: 'rgba(242,247,248,0.62)', lineHeight: 1.55 }}&gt;✓ 报告导出&lt;/Text&gt;&#13;&#10;        &lt;/Box&gt;&#13;&#10;    &lt;/Box&gt;&#13;&#10;&#13;&#10;    &lt;Box style={{ position: 'absolute', left: 804, top: 138, width: 358 }}&gt;&#13;&#10;        &lt;Box style={{ height: 175 }}&gt;&#13;&#10;            &lt;Box style={{ flexDirection: 'row', alignItems: 'center', justifyContent: 'space-between', height: 22 }}&gt;&#13;&#10;                &lt;Text style={{ fontFamily: 'Microsoft YaHei', fontSize: 13, fontWeight: 'bold', color: '#6BC8D1' }}&gt;学习中心&lt;/Text&gt;&#13;&#10;                &lt;Text style={{ fontFamily: 'Consolas', fontSize: 8.5, color: 'rgba(242,247,248,0.34)' }}&gt;09&lt;/Text&gt;&#13;&#10;            &lt;/Box&gt;&#13;&#10;            &lt;Text style={{ height: 17, fontFamily: 'Microsoft YaHei', fontSize: 9.2, color: 'rgba(242,247,248,0.62)', lineHeight: 1.55 }}&gt;✓ 6 个知识模块&lt;/Text&gt;&#13;&#10;            &lt;Text style={{ height: 17, fontFamily: 'Microsoft YaHei', fontSize: 9.2, color: 'rgba(242,247,248,0.62)', lineHeight: 1.55 }}&gt;✓ 学习进度概览&lt;/Text&gt;&#13;&#10;            &lt;Text style={{ height: 17, fontFamily: 'Microsoft YaHei', fontSize: 9.2, color: 'rgba(242,247,248,0.62)', lineHeight: 1.55 }}&gt;✓ 20 题随堂练习&lt;/Text&gt;&#13;&#10;            &lt;Text style={{ height: 17, fontFamily: 'Microsoft YaHei', fontSize: 9.2, color: 'rgba(242,247,248,0.62)', lineHeight: 1.55 }}&gt;✓ 作答即时解析&lt;/Text&gt;&#13;&#10;            &lt;Text style={{ height: 17, fontFamily: 'Microsoft YaHei', fontSize: 9.2, color: 'rgba(242,247,248,0.62)', lineHeight: 1.55 }}&gt;✓ 静态示意图&lt;/Text&gt;&#13;&#10;            &lt;Text style={{ height: 17, fontFamily: 'Microsoft YaHei', fontSize: 9.2, color: 'rgba(242,247,248,0.62)', lineHeight: 1.55 }}&gt;✓ 关联实验跳转&lt;/Text&gt;&#13;&#10;            &lt;Text style={{ height: 17, fontFamily: 'Microsoft YaHei', fontSize: 9.2, color: 'rgba(242,247,248,0.62)', lineHeight: 1.55 }}&gt;✓ 模拟考试&lt;/Text&gt;&#13;&#10;            &lt;Text style={{ height: 17, fontFamily: 'Microsoft YaHei', fontSize: 9.2, color: 'rgba(242,247,248,0.62)', lineHeight: 1.55 }}&gt;✓ 答题卡与评分&lt;/Text&gt;&#13;&#10;            &lt;Text style={{ height: 17, fontFamily: 'Microsoft YaHei', fontSize: 9.2, color: 'rgba(242,247,248,0.62)', lineHeight: 1.55 }}&gt;✓ 错题回看 / 最佳分&lt;/Text&gt;&#13;&#10;        &lt;/Box&gt;&#13;&#10;&#13;&#10;        &lt;Box style={{ height: 124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场景与模式&lt;/Text&gt;&#13;&#10;                &lt;Text style={{ fontFamily: 'Consolas', fontSize: 8.5, color: 'rgba(242,247,248,0.34)' }}&gt;06&lt;/Text&gt;&#13;&#10;            &lt;/Box&gt;&#13;&#10;            &lt;Text style={{ height: 17, fontFamily: 'Microsoft YaHei', fontSize: 9.2, color: 'rgba(242,247,248,0.62)', lineHeight: 1.55 }}&gt;✓ 7 个实验场景&lt;/Text&gt;&#13;&#10;            &lt;Text style={{ height: 17, fontFamily: 'Microsoft YaHei', fontSize: 9.2, color: 'rgba(242,247,248,0.62)', lineHeight: 1.55 }}&gt;✓ 3 档难度&lt;/Text&gt;&#13;&#10;            &lt;Text style={{ height: 17, fontFamily: 'Microsoft YaHei', fontSize: 9.2, color: 'rgba(242,247,248,0.62)', lineHeight: 1.55 }}&gt;✓ 2 种仿真模式&lt;/Text&gt;&#13;&#10;            &lt;Text style={{ height: 17, fontFamily: 'Microsoft YaHei', fontSize: 9.2, color: 'rgba(242,247,248,0.62)', lineHeight: 1.55 }}&gt;✓ ATTACK_STATE&lt;/Text&gt;&#13;&#10;            &lt;Text style={{ height: 17, fontFamily: 'Microsoft YaHei', fontSize: 9.2, color: 'rgba(242,247,248,0.62)', lineHeight: 1.55 }}&gt;✓ TEACHING_PROPAGATION&lt;/Text&gt;&#13;&#10;            &lt;Text style={{ height: 17, fontFamily: 'Microsoft YaHei', fontSize: 9.2, color: 'rgba(242,247,248,0.62)', lineHeight: 1.55 }}&gt;✓ 场景文献来源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通用与交付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纯前端 / 零后端&lt;/Text&gt;&#13;&#10;            &lt;Text style={{ height: 17, fontFamily: 'Microsoft YaHei', fontSize: 9.2, color: 'rgba(242,247,248,0.62)', lineHeight: 1.55 }}&gt;✓ 本地进度存储&lt;/Text&gt;&#13;&#10;            &lt;Text style={{ height: 17, fontFamily: 'Microsoft YaHei', fontSize: 9.2, color: 'rgba(242,247,248,0.62)', lineHeight: 1.55 }}&gt;✓ 复现链接&lt;/Text&gt;&#13;&#10;            &lt;Text style={{ height: 17, fontFamily: 'Microsoft YaHei', fontSize: 9.2, color: 'rgba(242,247,248,0.62)', lineHeight: 1.55 }}&gt;✓ 场景 JSON 导出&lt;/Text&gt;&#13;&#10;            &lt;Text style={{ height: 17, fontFamily: 'Microsoft YaHei', fontSize: 9.2, color: 'rgba(242,247,248,0.62)', lineHeight: 1.55 }}&gt;✓ 场景 JSON 导入&lt;/Text&gt;&#13;&#10;            &lt;Text style={{ height: 17, fontFamily: 'Microsoft YaHei', fontSize: 9.2, color: 'rgba(242,247,248,0.62)', lineHeight: 1.55 }}&gt;✓ 恢复默认&lt;/Text&gt;&#13;&#10;            &lt;Text style={{ height: 17, fontFamily: 'Microsoft YaHei', fontSize: 9.2, color: 'rgba(242,247,248,0.62)', lineHeight: 1.55 }}&gt;✓ 结果指纹失效&lt;/Text&gt;&#13;&#10;            &lt;Text style={{ height: 17, fontFamily: 'Microsoft YaHei', fontSize: 9.2, color: 'rgba(242,247,248,0.62)', lineHeight: 1.55 }}&gt;✓ 演示模式&lt;/Text&gt;&#13;&#10;        &lt;/Box&gt;&#13;&#10;    &lt;/Box&gt;&#13;&#10;&#13;&#10;    &lt;Box style={{ position: 'absolute', left: 56, top: 640, flexDirection: 'row', alignItems: 'center', gap: 10 }}&gt;&#13;&#10;        &lt;Box style={{ width: 18, height: 1, background: 'rgba(107,200,209,0.45)' }} /&gt;&#13;&#10;        &lt;Text style={{ fontFamily: 'Microsoft YaHei', fontSize: 9, color: 'rgba(242,247,248,0.38)' }}&gt;按真实可操作项统计；不包含真实漏洞利用、恶意代码执行等能力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2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4004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六个工作面，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60+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0553700" y="72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FULL FUNCTION MATRIX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33400" y="1343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84810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3340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核心实验入口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3340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扩展场景矩阵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三维实时预览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3340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难度与时长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3340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实验初始条件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53340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知识来源入口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533400" y="26574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实验室</a:t>
            </a:r>
            <a:r>
              <a:rPr lang="en-US" sz="9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3848100" y="26860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33400" y="2838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场景切换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33400" y="3009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旋转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缩放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点选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33400" y="3181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节点拖拽布局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视野适配与聚焦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33400" y="3524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节点属性面板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33400" y="3695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接口与路由详情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33400" y="38671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改名与区域修改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533400" y="40386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节点隔离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533400" y="42957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实验室</a:t>
            </a:r>
            <a:r>
              <a:rPr lang="en-US" sz="9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3848100" y="43243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533400" y="44767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终端防护开关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533400" y="46482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服务加固开关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533400" y="48196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数据访问控制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533400" y="49911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关键资产标记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533400" y="51625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规则新增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规则排序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启停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533400" y="550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ANY / ZONE / NODE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33400" y="567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Default DENY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4095750" y="13430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事件与判定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41045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409575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事件结果与原因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409575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实际路径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409575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命中规则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409575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阻断位置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409575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状态前后值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09575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五项前置条件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4095750" y="2552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完整判定过程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095750" y="28194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回放与挑战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410450" y="284797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4095750" y="30003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T0–Tn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4095750" y="31718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单步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4095750" y="33432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倍速与重新播放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4095750" y="35147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时间线定位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095750" y="36861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关键目标保护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4095750" y="38576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095750" y="40290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失败原因与建议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095750" y="42957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对比与分析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410450" y="43243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095750" y="44767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A/B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4095750" y="46482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指标差异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4095750" y="48196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代表链并排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095750" y="49911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实验结论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4095750" y="51625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状态分布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4095750" y="533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影响趋势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4095750" y="550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业务路径结果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095750" y="567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报告导出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658100" y="13430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097280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09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65810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6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个知识模块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65810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学习进度概览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65810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20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题随堂练习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65810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作答即时解析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65810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静态示意图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65810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关联实验跳转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658100" y="2552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模拟考试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658100" y="27241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答题卡与评分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658100" y="28956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错题回看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最佳分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658100" y="31432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场景与模式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972800" y="317182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658100" y="33242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7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658100" y="34956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3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58100" y="36671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2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658100" y="3838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ATTACK_STATE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658100" y="40100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TEACHING_PROPAGATION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658100" y="41814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场景文献来源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658100" y="44577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通用与交付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0972800" y="448627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658100" y="46386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纯前端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零后端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7658100" y="48101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本地进度存储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658100" y="4981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复现链接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7658100" y="51530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658100" y="53244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导入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658100" y="5495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恢复默认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658100" y="56673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结果指纹失效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658100" y="58388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533400" y="6143625"/>
            <a:ext cx="171450" cy="9525"/>
          </a:xfrm>
          <a:prstGeom prst="rect">
            <a:avLst/>
          </a:pr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800100" y="6096000"/>
            <a:ext cx="2571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按真实可操作项统计；不包含真实漏洞利用、恶意代码执行等能力。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22 / 35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6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2 / 功能图集&lt;/Text&gt;&#13;&#10;    &lt;/Box&gt;&#13;&#10;    &lt;Text style={{ position: 'absolute', left: 56, top: 62, fontFamily: 'Microsoft YaHei', fontSize: 31, fontWeight: 'bold', color: '#F2F7F8', letterSpacing: 0.5 }}&gt;策略与判定：每个结果都能追到规则&lt;/Text&gt;&#13;&#10;    &lt;Text style={{ position: 'absolute', right: 56, top: 76, fontFamily: 'Consolas', fontSize: 10.5, color: 'rgba(242,247,248,0.42)' }}&gt;POLICY → DECISION → EVIDENCE&lt;/Text&gt;&#13;&#10;&#13;&#10;    &lt;Box style={{ position: 'absolute', left: 56, top: 142, width: 300 }}&gt;&#13;&#10;        &lt;Image src=&quot;assets/appendix_policy.png&quot; style={{ width: 300, height: 407, objectFit: 'cover', borderRadius: 8, border: '1px solid rgba(107,200,209,0.20)' }} /&gt;&#13;&#10;        &lt;Text style={{ marginTop: 9, fontFamily: 'Microsoft YaHei', fontSize: 10.5, color: 'rgba(242,247,248,0.46)' }}&gt;策略管理：12 启用 · 4 拒绝 · 8 允许&lt;/Text&gt;&#13;&#10;    &lt;/Box&gt;&#13;&#10;&#13;&#10;    &lt;Box style={{ position: 'absolute', left: 392, top: 142, width: 380 }}&gt;&#13;&#10;        &lt;Image src=&quot;assets/appendix_decision.png&quot; style={{ width: 380, height: 445, objectFit: 'cover', borderRadius: 8, border: '1px solid rgba(107,200,209,0.20)' }} /&gt;&#13;&#10;        &lt;Text style={{ marginTop: 9, fontFamily: 'Microsoft YaHei', fontSize: 10.5, color: 'rgba(242,247,248,0.46)' }}&gt;判定过程：5 项前置条件逐条打勾&lt;/Text&gt;&#13;&#10;    &lt;/Box&gt;&#13;&#10;&#13;&#10;    &lt;Box style={{ position: 'absolute', left: 812, top: 146, width: 412 }}&gt;&#13;&#10;        &lt;Box style={{ height: 90, borderTop: '1px solid rgba(242,247,248,0.10)' }}&gt;&#13;&#10;            &lt;Text style={{ marginTop: 12, fontFamily: 'Consolas', fontSize: 9.5, color: '#6BC8D1' }}&gt;01 / EDIT&lt;/Text&gt;&#13;&#10;            &lt;Text style={{ marginTop: 5, fontFamily: 'Microsoft YaHei', fontSize: 13.5, fontWeight: 'bold', color: '#F2F7F8' }}&gt;规则可编辑&lt;/Text&gt;&#13;&#10;            &lt;Text style={{ marginTop: 4, fontFamily: 'Microsoft YaHei', fontSize: 10.2, color: 'rgba(242,247,248,0.54)', lineHeight: 1.65 }}&gt;新增、删除、上移、下移、启停；来源与目标支持 ANY / ZONE / NODE。&lt;/Text&gt;&#13;&#10;        &lt;/Box&gt;&#13;&#10;        &lt;Box style={{ height: 90, borderTop: '1px solid rgba(242,247,248,0.10)' }}&gt;&#13;&#10;            &lt;Text style={{ marginTop: 12, fontFamily: 'Consolas', fontSize: 9.5, color: '#6BC8D1' }}&gt;02 / ORDER&lt;/Text&gt;&#13;&#10;            &lt;Text style={{ marginTop: 5, fontFamily: 'Microsoft YaHei', fontSize: 13.5, fontWeight: 'bold', color: '#F2F7F8' }}&gt;顺序可解释&lt;/Text&gt;&#13;&#10;            &lt;Text style={{ marginTop: 4, fontFamily: 'Microsoft YaHei', fontSize: 10.2, color: 'rgba(242,247,248,0.54)', lineHeight: 1.65 }}&gt;First Match：按 order 升序，第一条命中即生效；无命中时走 Default DENY。&lt;/Text&gt;&#13;&#10;        &lt;/Box&gt;&#13;&#10;        &lt;Box style={{ height: 90, borderTop: '1px solid rgba(242,247,248,0.10)' }}&gt;&#13;&#10;            &lt;Text style={{ marginTop: 12, fontFamily: 'Consolas', fontSize: 9.5, color: '#6BC8D1' }}&gt;03 / TRACE&lt;/Text&gt;&#13;&#10;            &lt;Text style={{ marginTop: 5, fontFamily: 'Microsoft YaHei', fontSize: 13.5, fontWeight: 'bold', color: '#F2F7F8' }}&gt;判定可追溯&lt;/Text&gt;&#13;&#10;            &lt;Text style={{ marginTop: 4, fontFamily: 'Microsoft YaHei', fontSize: 10.2, color: 'rgba(242,247,248,0.54)', lineHeight: 1.65 }}&gt;通信 → Firewall → 规则 → 结果；命中规则和阻断位置写进事件。&lt;/Text&gt;&#13;&#10;        &lt;/Box&gt;&#13;&#10;        &lt;Box style={{ height: 90, borderTop: '1px solid rgba(242,247,248,0.10)', borderBottom: '1px solid rgba(242,247,248,0.10)' }}&gt;&#13;&#10;            &lt;Text style={{ marginTop: 12, fontFamily: 'Consolas', fontSize: 9.5, color: '#E78172' }}&gt;04 / CHECK&lt;/Text&gt;&#13;&#10;            &lt;Text style={{ marginTop: 5, fontFamily: 'Microsoft YaHei', fontSize: 13.5, fontWeight: 'bold', color: '#F2F7F8' }}&gt;条件可核对&lt;/Text&gt;&#13;&#10;            &lt;Text style={{ marginTop: 4, fontFamily: 'Microsoft YaHei', fontSize: 10.2, color: 'rgba(242,247,248,0.54)', lineHeight: 1.65 }}&gt;行为、判定、源权限、8/8 前置条件、目标结果，五项逐条通过。&lt;/Text&gt;&#13;&#10;        &lt;/Box&gt;&#13;&#10;&#13;&#10;        &lt;Box style={{ marginTop: 24, paddingLeft: 12, borderLeft: '2px solid #6BC8D1' }}&gt;&#13;&#10;            &lt;Text style={{ fontFamily: 'Microsoft YaHei', fontSize: 14.5, fontWeight: 'bold', color: 'rgba(242,247,248,0.88)', lineHeight: 1.7 }}&gt;&#13;&#10;                不是“黑盒拦截”，&lt;br /&gt;而是一条可以逐项复核的证据链。&#13;&#10;            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3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策略与判定：每个结果都能追到规则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0115550" y="723900"/>
            <a:ext cx="1543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POLICY → DECISION → EVIDENCE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533400" y="1352550"/>
            <a:ext cx="2857500" cy="387667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73" name=""/>
          <p:cNvPicPr>
            <a:picLocks noChangeAspect="1"/>
          </p:cNvPicPr>
          <p:nvPr/>
        </p:nvPicPr>
        <p:blipFill>
          <a:blip r:embed="rId2"/>
          <a:srcRect l="0" t="17" r="0" b="17"/>
          <a:stretch>
            <a:fillRect/>
          </a:stretch>
        </p:blipFill>
        <p:spPr>
          <a:xfrm rot="0" flipH="0" flipV="0">
            <a:off x="533400" y="1352550"/>
            <a:ext cx="2857500" cy="387667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33400" y="5314950"/>
            <a:ext cx="2857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策略管理：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启用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4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拒绝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8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允许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3733800" y="1352550"/>
            <a:ext cx="3619500" cy="42386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76" name=""/>
          <p:cNvPicPr>
            <a:picLocks noChangeAspect="1"/>
          </p:cNvPicPr>
          <p:nvPr/>
        </p:nvPicPr>
        <p:blipFill>
          <a:blip r:embed="rId3"/>
          <a:srcRect l="13" t="0" r="13" b="0"/>
          <a:stretch>
            <a:fillRect/>
          </a:stretch>
        </p:blipFill>
        <p:spPr>
          <a:xfrm rot="0" flipH="0" flipV="0">
            <a:off x="3733800" y="1352550"/>
            <a:ext cx="3619500" cy="4238625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3733800" y="5676900"/>
            <a:ext cx="3619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判定过程：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5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项前置条件逐条打勾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7734300" y="139065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734300" y="151447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01 / EDIT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734300" y="167640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734300" y="187642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7734300" y="224790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734300" y="237172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02 / ORDER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7734300" y="253365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顺序可解释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7734300" y="27336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First Match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：按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order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升序，第一条命中即生效；无命中时走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DENY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7734300" y="310515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734300" y="322897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03 / TRACE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7734300" y="339090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734300" y="359092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结果；命中规则和阻断位置写进事件。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734300" y="396240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734300" y="3962400"/>
            <a:ext cx="3924300" cy="857250"/>
          </a:xfrm>
          <a:custGeom>
            <a:pathLst>
              <a:path w="412" h="90">
                <a:moveTo>
                  <a:pt x="0" y="89"/>
                </a:moveTo>
                <a:lnTo>
                  <a:pt x="412" y="89"/>
                </a:lnTo>
                <a:lnTo>
                  <a:pt x="412" y="90"/>
                </a:lnTo>
                <a:lnTo>
                  <a:pt x="0" y="9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7734300" y="408622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04 / CHECK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734300" y="424815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条件可核对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77343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行为、判定、源权限、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8/8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前置条件、目标结果，五项逐条通过。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7734300" y="5048250"/>
            <a:ext cx="3943350" cy="571500"/>
          </a:xfrm>
          <a:custGeom>
            <a:pathLst>
              <a:path w="414" h="60">
                <a:moveTo>
                  <a:pt x="0" y="0"/>
                </a:moveTo>
                <a:lnTo>
                  <a:pt x="2" y="0"/>
                </a:lnTo>
                <a:lnTo>
                  <a:pt x="2" y="60"/>
                </a:lnTo>
                <a:lnTo>
                  <a:pt x="0" y="60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867650" y="5048250"/>
            <a:ext cx="3790950" cy="571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不是“黑盒拦截”，</a:t>
            </a:r>
            <a:endParaRPr/>
          </a:p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而是一条可以逐项复核的证据链。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23 / 35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0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3 / 功能图集&lt;/Text&gt;&#13;&#10;    &lt;/Box&gt;&#13;&#10;    &lt;Text style={{ position: 'absolute', left: 56, top: 62, fontFamily: 'Microsoft YaHei', fontSize: 31, fontWeight: 'bold', color: '#F2F7F8', letterSpacing: 0.5 }}&gt;状态空间：16 个状态、40 条转移&lt;/Text&gt;&#13;&#10;    &lt;Text style={{ position: 'absolute', right: 56, top: 76, fontFamily: 'Consolas', fontSize: 10.5, color: 'rgba(242,247,248,0.42)' }}&gt;BOUNDED STATE SEARCH&lt;/Text&gt;&#13;&#10;&#13;&#10;    &lt;Box style={{ position: 'absolute', left: 56, top: 140, width: 760 }}&gt;&#13;&#10;        &lt;Image src=&quot;assets/appendix_attack_graph.png&quot; style={{ width: 760, height: 402, objectFit: 'cover', borderRadius: 8, border: '1px solid rgba(107,200,209,0.20)' }} /&gt;&#13;&#10;        &lt;Text style={{ marginTop: 9, fontFamily: 'Microsoft YaHei', fontSize: 10.5, color: 'rgba(242,247,248,0.46)' }}&gt;攻击状态空间：按权限与数据访问能力合并后的可达状态&lt;/Text&gt;&#13;&#10;    &lt;/Box&gt;&#13;&#10;&#13;&#10;    &lt;Box style={{ position: 'absolute', left: 850, top: 146, width: 374 }}&gt;&#13;&#10;        &lt;Box style={{ height: 74, borderTop: '1px solid rgba(242,247,248,0.10)' }}&gt;&#13;&#10;            &lt;Text style={{ marginTop: 8, fontFamily: 'Consolas', fontSize: 32, fontWeight: 'bold', color: '#F2F7F8', lineHeight: 1 }}&gt;16&lt;/Text&gt;&#13;&#10;            &lt;Text style={{ marginTop: 2, fontFamily: 'Microsoft YaHei', fontSize: 10, color: 'rgba(242,247,248,0.46)' }}&gt;个可达安全状态&lt;/Text&gt;&#13;&#10;        &lt;/Box&gt;&#13;&#10;        &lt;Box style={{ height: 74, borderTop: '1px solid rgba(242,247,248,0.10)' }}&gt;&#13;&#10;            &lt;Text style={{ marginTop: 8, fontFamily: 'Consolas', fontSize: 32, fontWeight: 'bold', color: '#6BC8D1', lineHeight: 1 }}&gt;40&lt;/Text&gt;&#13;&#10;            &lt;Text style={{ marginTop: 2, fontFamily: 'Microsoft YaHei', fontSize: 10, color: 'rgba(242,247,248,0.46)' }}&gt;条状态转移&lt;/Text&gt;&#13;&#10;        &lt;/Box&gt;&#13;&#10;        &lt;Box style={{ height: 74, borderTop: '1px solid rgba(242,247,248,0.10)' }}&gt;&#13;&#10;            &lt;Text style={{ marginTop: 8, fontFamily: 'Consolas', fontSize: 32, fontWeight: 'bold', color: '#F2F7F8', lineHeight: 1 }}&gt;0&lt;/Text&gt;&#13;&#10;            &lt;Text style={{ marginTop: 2, fontFamily: 'Microsoft YaHei', fontSize: 10, color: 'rgba(242,247,248,0.46)' }}&gt;原始配置下的阻断尝试&lt;/Text&gt;&#13;&#10;        &lt;/Box&gt;&#13;&#10;        &lt;Box style={{ height: 74, borderTop: '1px solid rgba(242,247,248,0.10)' }}&gt;&#13;&#10;            &lt;Text style={{ marginTop: 8, fontFamily: 'Consolas', fontSize: 32, fontWeight: 'bold', color: '#E78172', lineHeight: 1 }}&gt;05&lt;/Text&gt;&#13;&#10;            &lt;Text style={{ marginTop: 2, fontFamily: 'Microsoft YaHei', fontSize: 10, color: 'rgba(242,247,248,0.46)' }}&gt;本次搜索最大深度&lt;/Text&gt;&#13;&#10;        &lt;/Box&gt;&#13;&#10;        &lt;Box style={{ marginTop: 12, paddingTop: 10, borderTop: '1px solid rgba(107,200,209,0.22)' }}&gt;&#13;&#10;            &lt;Text style={{ fontFamily: 'Consolas', fontSize: 9.5, color: '#6BC8D1' }}&gt;搜索完整 · 未触及边界&lt;/Text&gt;&#13;&#10;        &lt;/Box&gt;&#13;&#10;    &lt;/Box&gt;&#13;&#10;&#13;&#10;    &lt;Box style={{ position: 'absolute', left: 56, top: 578, width: 1168 }}&gt;&#13;&#10;        &lt;Box style={{ flexDirection: 'row', gap: 24 }}&gt;&#13;&#10;            &lt;Box style={{ width: 370, paddingLeft: 12, borderLeft: '2px solid rgba(107,200,209,0.45)' }}&gt;&#13;&#10;                &lt;Text style={{ fontFamily: 'Microsoft YaHei', fontSize: 12, fontWeight: 'bold', color: '#F2F7F8' }}&gt;状态签名去重&lt;/Text&gt;&#13;&#10;                &lt;Text style={{ marginTop: 4, fontFamily: 'Microsoft YaHei', fontSize: 9.8, color: 'rgba(242,247,248,0.46)', lineHeight: 1.6 }}&gt;只保留权限与数据访问能力，历史路径不参与签名，等价状态自动合并。&lt;/Text&gt;&#13;&#10;            &lt;/Box&gt;&#13;&#10;            &lt;Box style={{ width: 370, paddingLeft: 12, borderLeft: '2px solid rgba(107,200,209,0.45)' }}&gt;&#13;&#10;                &lt;Text style={{ fontFamily: 'Microsoft YaHei', fontSize: 12, fontWeight: 'bold', color: '#F2F7F8' }}&gt;边界明确&lt;/Text&gt;&#13;&#10;                &lt;Text style={{ marginTop: 4, fontFamily: 'Microsoft YaHei', fontSize: 9.8, color: 'rgba(242,247,248,0.46)', lineHeight: 1.6 }}&gt;深度 8 / 160 状态上限；触边会标注“未完整”，不把没搜到当成安全。&lt;/Text&gt;&#13;&#10;            &lt;/Box&gt;&#13;&#10;            &lt;Box style={{ width: 370, paddingLeft: 12, borderLeft: '2px solid rgba(231,129,114,0.45)' }}&gt;&#13;&#10;                &lt;Text style={{ fontFamily: 'Microsoft YaHei', fontSize: 12, fontWeight: 'bold', color: '#F2F7F8' }}&gt;见证链&lt;/Text&gt;&#13;&#10;                &lt;Text style={{ marginTop: 4, fontFamily: 'Microsoft YaHei', fontSize: 9.8, color: 'rgba(242,247,248,0.46)', lineHeight: 1.6 }}&gt;成功给出最短见证链；失败给出最近阻断见证，而不是一句“被拦住了”。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4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5339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状态空间：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16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个状态、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40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条转移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0553700" y="72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BOUNDED STATE SEARCH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533400" y="1333500"/>
            <a:ext cx="7239000" cy="38290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7" name=""/>
          <p:cNvPicPr>
            <a:picLocks noChangeAspect="1"/>
          </p:cNvPicPr>
          <p:nvPr/>
        </p:nvPicPr>
        <p:blipFill>
          <a:blip r:embed="rId2"/>
          <a:srcRect l="0" t="43" r="0" b="43"/>
          <a:stretch>
            <a:fillRect/>
          </a:stretch>
        </p:blipFill>
        <p:spPr>
          <a:xfrm rot="0" flipH="0" flipV="0">
            <a:off x="533400" y="1333500"/>
            <a:ext cx="7239000" cy="3829050"/>
          </a:xfrm>
          <a:prstGeom prst="roundRect">
            <a:avLst>
              <a:gd name="adj" fmla="val 1990"/>
            </a:avLst>
          </a:prstGeom>
          <a:ln/>
        </p:spPr>
      </p:pic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33400" y="5248275"/>
            <a:ext cx="7239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攻击状态空间：按权限与数据访问能力合并后的可达状态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096250" y="13906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096250" y="14763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16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96250" y="18669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个可达安全状态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8096250" y="20955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96250" y="21812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6BC8D1"/>
                </a:solidFill>
                <a:latin typeface="Consolas"/>
                <a:ea typeface="Consolas"/>
              </a:rPr>
              <a:t>40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096250" y="25717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条状态转移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8096250" y="28003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096250" y="28860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096250" y="32766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原始配置下的阻断尝试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8096250" y="35052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096250" y="35909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96250" y="39814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本次搜索最大深度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8096250" y="4324350"/>
            <a:ext cx="3562350" cy="228600"/>
          </a:xfrm>
          <a:custGeom>
            <a:pathLst>
              <a:path w="374" h="2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096250" y="4429125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搜索完整</a:t>
            </a: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未触及边界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5334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667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状态签名去重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667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只保留权限与数据访问能力，历史路径不参与签名，等价状态自动合并。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428625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41960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边界明确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441960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深度</a:t>
            </a:r>
            <a:r>
              <a:rPr lang="en-US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状态上限；触边会标注“未完整”，不把没搜到当成安全。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80391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E78172">
              <a:alpha val="45000"/>
            </a:srgbClr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1724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见证链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81724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成功给出最短见证链；失败给出最近阻断见证，而不是一句“被拦住了”。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24 / 35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3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4 / 功能图集&lt;/Text&gt;&#13;&#10;    &lt;/Box&gt;&#13;&#10;    &lt;Text style={{ position: 'absolute', left: 56, top: 62, fontFamily: 'Microsoft YaHei', fontSize: 31, fontWeight: 'bold', color: '#F2F7F8', letterSpacing: 0.5 }}&gt;学习中心：知识、练习、考试在同一条链路&lt;/Text&gt;&#13;&#10;    &lt;Text style={{ position: 'absolute', right: 56, top: 76, fontFamily: 'Consolas', fontSize: 10.5, color: 'rgba(242,247,248,0.42)' }}&gt;LEARN · PRACTICE · EXAM&lt;/Text&gt;&#13;&#10;&#13;&#10;    &lt;Box style={{ position: 'absolute', left: 56, top: 142, width: 370 }}&gt;&#13;&#10;        &lt;Image src=&quot;assets/appendix_learn.png&quot; style={{ width: 370, height: 208, objectFit: 'cover', borderRadius: 8, border: '1px solid rgba(107,200,209,0.18)' }} /&gt;&#13;&#10;        &lt;Text style={{ marginTop: 8, fontFamily: 'Consolas', fontSize: 9, color: '#6BC8D1' }}&gt;01 / KNOWLEDGE&lt;/Text&gt;&#13;&#10;        &lt;Text style={{ marginTop: 3, fontFamily: 'Microsoft YaHei', fontSize: 11, color: 'rgba(242,247,248,0.58)' }}&gt;6 个知识模块 · 每张卡片直达关联实验&lt;/Text&gt;&#13;&#10;    &lt;/Box&gt;&#13;&#10;&#13;&#10;    &lt;Box style={{ position: 'absolute', left: 446, top: 142, width: 370 }}&gt;&#13;&#10;        &lt;Image src=&quot;assets/appendix_quiz.png&quot; style={{ width: 370, height: 215, objectFit: 'cover', borderRadius: 8, border: '1px solid rgba(107,200,209,0.18)' }} /&gt;&#13;&#10;        &lt;Text style={{ marginTop: 8, fontFamily: 'Consolas', fontSize: 9, color: '#6BC8D1' }}&gt;02 / PRACTICE&lt;/Text&gt;&#13;&#10;        &lt;Text style={{ marginTop: 3, fontFamily: 'Microsoft YaHei', fontSize: 11, color: 'rgba(242,247,248,0.58)' }}&gt;20 题随堂练习 · 作答即解析 + 静态示意图&lt;/Text&gt;&#13;&#10;    &lt;/Box&gt;&#13;&#10;&#13;&#10;    &lt;Box style={{ position: 'absolute', left: 836, top: 142, width: 370 }}&gt;&#13;&#10;        &lt;Image src=&quot;assets/appendix_exam.png&quot; style={{ width: 370, height: 215, objectFit: 'cover', borderRadius: 8, border: '1px solid rgba(107,200,209,0.18)' }} /&gt;&#13;&#10;        &lt;Text style={{ marginTop: 8, fontFamily: 'Consolas', fontSize: 9, color: '#6BC8D1' }}&gt;03 / EXAM&lt;/Text&gt;&#13;&#10;        &lt;Text style={{ marginTop: 3, fontFamily: 'Microsoft YaHei', fontSize: 11, color: 'rgba(242,247,248,0.58)' }}&gt;模拟考试 · 答题卡、评分与错题回看&lt;/Text&gt;&#13;&#10;    &lt;/Box&gt;&#13;&#10;&#13;&#10;    &lt;Box style={{ position: 'absolute', left: 56, top: 412, width: 370, paddingTop: 14, borderTop: '1px solid rgba(242,247,248,0.10)' }}&gt;&#13;&#10;        &lt;Text style={{ fontFamily: 'Microsoft YaHei', fontSize: 14, fontWeight: 'bold', color: '#F2F7F8' }}&gt;学 · 建立概念&lt;/Text&gt;&#13;&#10;        &lt;Text style={{ marginTop: 6, fontFamily: 'Microsoft YaHei', fontSize: 10.2, color: 'rgba(242,247,248,0.52)', lineHeight: 1.7 }}&gt;网络分区、防火墙、终端防护、关键资产、横向传播、最小权限，六个模块各配一个可操作实验。&lt;/Text&gt;&#13;&#10;    &lt;/Box&gt;&#13;&#10;    &lt;Box style={{ position: 'absolute', left: 446, top: 412, width: 370, paddingTop: 14, borderTop: '1px solid rgba(242,247,248,0.10)' }}&gt;&#13;&#10;        &lt;Text style={{ fontFamily: 'Microsoft YaHei', fontSize: 14, fontWeight: 'bold', color: '#F2F7F8' }}&gt;练 · 即时反馈&lt;/Text&gt;&#13;&#10;        &lt;Text style={{ marginTop: 6, fontFamily: 'Microsoft YaHei', fontSize: 10.2, color: 'rgba(242,247,248,0.52)', lineHeight: 1.7 }}&gt;每题作答后立刻显示对错、知识解析和静态示意图，并可跳转到对应实验继续验证。&lt;/Text&gt;&#13;&#10;    &lt;/Box&gt;&#13;&#10;    &lt;Box style={{ position: 'absolute', left: 836, top: 412, width: 370, paddingTop: 14, borderTop: '1px solid rgba(242,247,248,0.10)' }}&gt;&#13;&#10;        &lt;Text style={{ fontFamily: 'Microsoft YaHei', fontSize: 14, fontWeight: 'bold', color: '#F2F7F8' }}&gt;考 · 可回看&lt;/Text&gt;&#13;&#10;        &lt;Text style={{ marginTop: 6, fontFamily: 'Microsoft YaHei', fontSize: 10.2, color: 'rgba(242,247,248,0.52)', lineHeight: 1.7 }}&gt;答题卡定位、交卷评分、逐题回看；每次成绩与最佳分都记录在本地，不需要账号。&lt;/Text&gt;&#13;&#10;    &lt;/Box&gt;&#13;&#10;&#13;&#10;    &lt;Box style={{ position: 'absolute', left: 56, top: 558, width: 1168, height: 56, paddingLeft: 16, paddingRight: 16, flexDirection: 'row', alignItems: 'center', justifyContent: 'space-between', background: 'rgba(107,200,209,0.055)', borderLeft: '2px solid #6BC8D1' }}&gt;&#13;&#10;        &lt;Text style={{ fontFamily: 'Consolas', fontSize: 10, color: '#6BC8D1', letterSpacing: 1 }}&gt;LEARNING LOOP · 20 QUESTIONS · 6 MODULES&lt;/Text&gt;&#13;&#10;        &lt;Text style={{ fontFamily: 'Microsoft YaHei', fontSize: 11, color: 'rgba(242,247,248,0.56)' }}&gt;知识卡 → 随堂练习 → 模拟考试 → 实验室验证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5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学习中心：知识、练习、考试在同一条链路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5334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42" name=""/>
          <p:cNvPicPr>
            <a:picLocks noChangeAspect="1"/>
          </p:cNvPicPr>
          <p:nvPr/>
        </p:nvPicPr>
        <p:blipFill>
          <a:blip r:embed="rId2"/>
          <a:srcRect l="0" t="30" r="0" b="30"/>
          <a:stretch>
            <a:fillRect/>
          </a:stretch>
        </p:blipFill>
        <p:spPr>
          <a:xfrm rot="0" flipH="0" flipV="0">
            <a:off x="5334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5334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01 / KNOWLEDGE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个知识模块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每张卡片直达关联实验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424815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46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24815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24815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02 / PRACTICE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24815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题随堂练习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作答即解析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静态示意图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96290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50" name=""/>
          <p:cNvPicPr>
            <a:picLocks noChangeAspect="1"/>
          </p:cNvPicPr>
          <p:nvPr/>
        </p:nvPicPr>
        <p:blipFill>
          <a:blip r:embed="rId4"/>
          <a:srcRect l="0" t="1136" r="0" b="1136"/>
          <a:stretch>
            <a:fillRect/>
          </a:stretch>
        </p:blipFill>
        <p:spPr>
          <a:xfrm rot="0" flipH="0" flipV="0">
            <a:off x="796290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796290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03 / EXAM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96290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答题卡、评分与错题回看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5334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5334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网络分区、防火墙、终端防护、关键资产、横向传播、最小权限，六个模块各配一个可操作实验。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424815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424815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每题作答后立刻显示对错、知识解析和静态示意图，并可跳转到对应实验继续验证。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79629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79629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79629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答题卡定位、交卷评分、逐题回看；每次成绩与最佳分都记录在本地，不需要账号。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552450" y="531495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863" name=""/>
          <p:cNvSpPr/>
          <p:nvPr/>
        </p:nvSpPr>
        <p:spPr>
          <a:xfrm rot="0" flipH="0" flipV="0">
            <a:off x="533400" y="531495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704850" y="5524500"/>
            <a:ext cx="2476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LEARNING LOOP · 20 QUESTIONS · 6 MODULES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9324975" y="5514975"/>
            <a:ext cx="2181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知识卡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随堂练习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实验室验证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25 / 35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6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5 / 功能图集&lt;/Text&gt;&#13;&#10;    &lt;/Box&gt;&#13;&#10;    &lt;Text style={{ position: 'absolute', left: 56, top: 62, fontFamily: 'Microsoft YaHei', fontSize: 31, fontWeight: 'bold', color: '#F2F7F8', letterSpacing: 0.5 }}&gt;七个场景，七种网络结构&lt;/Text&gt;&#13;&#10;    &lt;Text style={{ position: 'absolute', right: 56, top: 76, fontFamily: 'Consolas', fontSize: 10.5, color: 'rgba(242,247,248,0.42)' }}&gt;SEVEN SCENARIOS · ONE ENGINE&lt;/Text&gt;&#13;&#10;&#13;&#10;    &lt;Box style={{ position: 'absolute', left: 56, top: 142, width: 350 }}&gt;&#13;&#10;        &lt;Image src=&quot;assets/scenario_lateral.png&quot; style={{ width: 350, height: 197, objectFit: 'cover', borderRadius: 7, border: '1px solid rgba(231,129,114,0.28)' }} /&gt;&#13;&#10;        &lt;Text style={{ marginTop: 7, fontFamily: 'Microsoft YaHei', fontSize: 10.5, color: '#F2F7F8' }}&gt;01 终端失陷与横向传播&lt;/Text&gt;&#13;&#10;        &lt;Text style={{ marginTop: 2, fontFamily: 'Consolas', fontSize: 8.5, color: '#E78172' }}&gt;ATTACK_STATE · 核心实验&lt;/Text&gt;&#13;&#10;    &lt;/Box&gt;&#13;&#10;&#13;&#10;    &lt;Box style={{ position: 'absolute', left: 426, top: 142, width: 350 }}&gt;&#13;&#10;        &lt;Image src=&quot;assets/scenario_zerotrust.png&quot; style={{ width: 350, height: 197, objectFit: 'cover', borderRadius: 7, border: '1px solid rgba(107,200,209,0.20)' }} /&gt;&#13;&#10;        &lt;Text style={{ marginTop: 7, fontFamily: 'Microsoft YaHei', fontSize: 10.5, color: '#F2F7F8' }}&gt;06 零信任微隔离：主机对主机&lt;/Text&gt;&#13;&#10;        &lt;Text style={{ marginTop: 2, fontFamily: 'Consolas', fontSize: 8.5, color: '#6BC8D1' }}&gt;TEACHING · 挑战&lt;/Text&gt;&#13;&#10;    &lt;/Box&gt;&#13;&#10;&#13;&#10;    &lt;Box style={{ position: 'absolute', left: 56, top: 382, width: 350 }}&gt;&#13;&#10;        &lt;Image src=&quot;assets/scenario_supplychain.png&quot; style={{ width: 350, height: 197, objectFit: 'cover', borderRadius: 7, border: '1px solid rgba(107,200,209,0.20)' }} /&gt;&#13;&#10;        &lt;Text style={{ marginTop: 7, fontFamily: 'Microsoft YaHei', fontSize: 10.5, color: '#F2F7F8' }}&gt;04 供应链入口传播路径&lt;/Text&gt;&#13;&#10;        &lt;Text style={{ marginTop: 2, fontFamily: 'Consolas', fontSize: 8.5, color: '#6BC8D1' }}&gt;TEACHING · 挑战&lt;/Text&gt;&#13;&#10;    &lt;/Box&gt;&#13;&#10;&#13;&#10;    &lt;Box style={{ position: 'absolute', left: 426, top: 382, width: 350 }}&gt;&#13;&#10;        &lt;Image src=&quot;assets/scenario_industrial.png&quot; style={{ width: 350, height: 197, objectFit: 'cover', borderRadius: 7, border: '1px solid rgba(107,200,209,0.20)' }} /&gt;&#13;&#10;        &lt;Text style={{ marginTop: 7, fontFamily: 'Microsoft YaHei', fontSize: 10.5, color: '#F2F7F8' }}&gt;07 工业控制网：SCADA / PLC&lt;/Text&gt;&#13;&#10;        &lt;Text style={{ marginTop: 2, fontFamily: 'Consolas', fontSize: 8.5, color: '#6BC8D1' }}&gt;TEACHING · 挑战&lt;/Text&gt;&#13;&#10;    &lt;/Box&gt;&#13;&#10;&#13;&#10;    &lt;Box style={{ position: 'absolute', left: 820, top: 142, width: 404 }}&gt;&#13;&#10;        &lt;Text style={{ fontFamily: 'Consolas', fontSize: 9.5, color: '#6BC8D1', letterSpacing: 1.2 }}&gt;THE OTHER THREE&lt;/Text&gt;&#13;&#10;        &lt;Box style={{ marginTop: 10, height: 78, borderTop: '1px solid rgba(242,247,248,0.10)' }}&gt;&#13;&#10;            &lt;Text style={{ marginTop: 10, fontFamily: 'Microsoft YaHei', fontSize: 12.5, fontWeight: 'bold', color: '#F2F7F8' }}&gt;02 外部访问与防火墙拦截&lt;/Text&gt;&#13;&#10;            &lt;Text style={{ marginTop: 3, fontFamily: 'Microsoft YaHei', fontSize: 9.8, color: 'rgba(242,247,248,0.48)', lineHeight: 1.55 }}&gt;入门 · 5 min · 边界显式放行与默认拒绝&lt;/Text&gt;&#13;&#10;        &lt;/Box&gt;&#13;&#10;        &lt;Box style={{ height: 78, borderTop: '1px solid rgba(242,247,248,0.10)' }}&gt;&#13;&#10;            &lt;Text style={{ marginTop: 10, fontFamily: 'Microsoft YaHei', fontSize: 12.5, fontWeight: 'bold', color: '#F2F7F8' }}&gt;03 网络分区防御实验&lt;/Text&gt;&#13;&#10;            &lt;Text style={{ marginTop: 3, fontFamily: 'Microsoft YaHei', fontSize: 9.8, color: 'rgba(242,247,248,0.48)', lineHeight: 1.55 }}&gt;进阶 · 6 min · VLAN 与区域边界&lt;/Text&gt;&#13;&#10;        &lt;/Box&gt;&#13;&#10;        &lt;Box style={{ height: 78, borderTop: '1px solid rgba(242,247,248,0.10)', borderBottom: '1px solid rgba(242,247,248,0.10)' }}&gt;&#13;&#10;            &lt;Text style={{ marginTop: 10, fontFamily: 'Microsoft YaHei', fontSize: 12.5, fontWeight: 'bold', color: '#F2F7F8' }}&gt;05 勒索风险与文件服务保护&lt;/Text&gt;&#13;&#10;            &lt;Text style={{ marginTop: 3, fontFamily: 'Microsoft YaHei', fontSize: 9.8, color: 'rgba(242,247,248,0.48)', lineHeight: 1.55 }}&gt;进阶 · 9 min · 终端防护与业务连续性&lt;/Text&gt;&#13;&#10;        &lt;/Box&gt;&#13;&#10;&#13;&#10;        &lt;Box style={{ marginTop: 22, flexDirection: 'row', justifyContent: 'space-between' }}&gt;&#13;&#10;            &lt;Box&gt;&#13;&#10;                &lt;Text style={{ fontFamily: 'Consolas', fontSize: 26, fontWeight: 'bold', color: '#F2F7F8' }}&gt;07&lt;/Text&gt;&#13;&#10;                &lt;Text style={{ marginTop: 2, fontFamily: 'Consolas', fontSize: 8, color: 'rgba(242,247,248,0.38)' }}&gt;SCENARIOS&lt;/Text&gt;&#13;&#10;            &lt;/Box&gt;&#13;&#10;            &lt;Box&gt;&#13;&#10;                &lt;Text style={{ fontFamily: 'Consolas', fontSize: 26, fontWeight: 'bold', color: '#F2F7F8' }}&gt;03&lt;/Text&gt;&#13;&#10;                &lt;Text style={{ marginTop: 2, fontFamily: 'Consolas', fontSize: 8, color: 'rgba(242,247,248,0.38)' }}&gt;LEVELS&lt;/Text&gt;&#13;&#10;            &lt;/Box&gt;&#13;&#10;            &lt;Box&gt;&#13;&#10;                &lt;Text style={{ fontFamily: 'Consolas', fontSize: 26, fontWeight: 'bold', color: '#6BC8D1' }}&gt;02&lt;/Text&gt;&#13;&#10;                &lt;Text style={{ marginTop: 2, fontFamily: 'Consolas', fontSize: 8, color: 'rgba(242,247,248,0.38)' }}&gt;MODES&lt;/Text&gt;&#13;&#10;            &lt;/Box&gt;&#13;&#10;        &lt;/Box&gt;&#13;&#10;&#13;&#10;        &lt;Box style={{ marginTop: 22, paddingTop: 12, borderTop: '1px solid rgba(242,247,248,0.10)' }}&gt;&#13;&#10;            &lt;Text style={{ fontFamily: 'Consolas', fontSize: 9, color: '#6BC8D1', letterSpacing: 1.2 }}&gt;COMMON BASE&lt;/Text&gt;&#13;&#10;            &lt;Text style={{ marginTop: 7, fontFamily: 'Microsoft YaHei', fontSize: 10.2, color: 'rgba(242,247,248,0.50)', lineHeight: 1.8 }}&gt;同一套拓扑与接口模型&lt;br /&gt;同一套路由与 First Match&lt;br /&gt;同一套事件、指标与挑战判定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0.5, color: 'rgba(242,247,248,0.46)' }}&gt;七个场景共用同一套拓扑、路由与策略引擎；差异来自配置，而不是七套写死的脚本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6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3051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七个场景，七种网络结构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0115550" y="723900"/>
            <a:ext cx="1543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SEVEN SCENARIOS · ONE ENGINE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533400" y="1352550"/>
            <a:ext cx="3333750" cy="1876425"/>
          </a:xfrm>
          <a:prstGeom prst="rect">
            <a:avLst/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76" name=""/>
          <p:cNvPicPr>
            <a:picLocks noChangeAspect="1"/>
          </p:cNvPicPr>
          <p:nvPr/>
        </p:nvPicPr>
        <p:blipFill>
          <a:blip r:embed="rId2"/>
          <a:srcRect l="0" t="2797" r="0" b="2797"/>
          <a:stretch>
            <a:fillRect/>
          </a:stretch>
        </p:blipFill>
        <p:spPr>
          <a:xfrm rot="0" flipH="0" flipV="0">
            <a:off x="533400" y="1352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533400" y="3295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01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533400" y="3438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ATTACK_STATE · </a:t>
            </a:r>
            <a:r>
              <a:rPr lang="zh-CN" sz="638">
                <a:solidFill>
                  <a:srgbClr val="E78172"/>
                </a:solidFill>
                <a:latin typeface="Consolas"/>
                <a:ea typeface="Consolas"/>
              </a:rPr>
              <a:t>核心实验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4057650" y="1352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0" name=""/>
          <p:cNvPicPr>
            <a:picLocks noChangeAspect="1"/>
          </p:cNvPicPr>
          <p:nvPr/>
        </p:nvPicPr>
        <p:blipFill>
          <a:blip r:embed="rId3"/>
          <a:srcRect l="0" t="2797" r="0" b="2797"/>
          <a:stretch>
            <a:fillRect/>
          </a:stretch>
        </p:blipFill>
        <p:spPr>
          <a:xfrm rot="0" flipH="0" flipV="0">
            <a:off x="4057650" y="1352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4057650" y="3295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06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4057650" y="3438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533400" y="3638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4" name=""/>
          <p:cNvPicPr>
            <a:picLocks noChangeAspect="1"/>
          </p:cNvPicPr>
          <p:nvPr/>
        </p:nvPicPr>
        <p:blipFill>
          <a:blip r:embed="rId4"/>
          <a:srcRect l="0" t="2797" r="0" b="2797"/>
          <a:stretch>
            <a:fillRect/>
          </a:stretch>
        </p:blipFill>
        <p:spPr>
          <a:xfrm rot="0" flipH="0" flipV="0">
            <a:off x="533400" y="3638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533400" y="5581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04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533400" y="5724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4057650" y="3638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8" name=""/>
          <p:cNvPicPr>
            <a:picLocks noChangeAspect="1"/>
          </p:cNvPicPr>
          <p:nvPr/>
        </p:nvPicPr>
        <p:blipFill>
          <a:blip r:embed="rId5"/>
          <a:srcRect l="0" t="2797" r="0" b="2797"/>
          <a:stretch>
            <a:fillRect/>
          </a:stretch>
        </p:blipFill>
        <p:spPr>
          <a:xfrm rot="0" flipH="0" flipV="0">
            <a:off x="4057650" y="3638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4057650" y="5581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07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057650" y="5724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7810500" y="1352550"/>
            <a:ext cx="3848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THE OTHER THREE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7810500" y="156210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810500" y="16668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02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7810500" y="183832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入门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5 min ·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边界显式放行与默认拒绝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7810500" y="230505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7810500" y="240982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03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7810500" y="258127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进阶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6 min · VLAN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与区域边界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7810500" y="304800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7810500" y="3048000"/>
            <a:ext cx="3848100" cy="742950"/>
          </a:xfrm>
          <a:custGeom>
            <a:pathLst>
              <a:path w="404" h="78">
                <a:moveTo>
                  <a:pt x="0" y="77"/>
                </a:moveTo>
                <a:lnTo>
                  <a:pt x="404" y="77"/>
                </a:lnTo>
                <a:lnTo>
                  <a:pt x="40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810500" y="31527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05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810500" y="332422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进阶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9 min ·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终端防护与业务连续性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810500" y="400050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810500" y="4324350"/>
            <a:ext cx="3810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9648825" y="400050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9648825" y="4324350"/>
            <a:ext cx="2762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LEVELS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1382375" y="400050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1382375" y="4324350"/>
            <a:ext cx="2762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MODES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7810500" y="4629150"/>
            <a:ext cx="3848100" cy="942975"/>
          </a:xfrm>
          <a:custGeom>
            <a:pathLst>
              <a:path w="404" h="99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810500" y="4752975"/>
            <a:ext cx="3848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COMMON BASE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810500" y="4924425"/>
            <a:ext cx="3848100" cy="638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同一套拓扑与接口模型</a:t>
            </a:r>
            <a:endParaRPr/>
          </a:p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同一套路由与</a:t>
            </a:r>
            <a:r>
              <a:rPr lang="en-US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First Match</a:t>
            </a:r>
            <a:endParaRPr/>
          </a:p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同一套事件、指标与挑战判定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533400" y="596265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8004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七个场景共用同一套拓扑、路由与策略引擎；差异来自配置，而不是七套写死的脚本。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26 / 35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1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1 / 场景图集&lt;/Text&gt;&#13;&#10;    &lt;/Box&gt;&#13;&#10;    &lt;Text style={{ position: 'absolute', left: 56, top: 62, fontFamily: 'Microsoft YaHei', fontSize: 31, fontWeight: 'bold', color: '#F2F7F8', letterSpacing: 0.5 }}&gt;终端失陷与横向传播&lt;/Text&gt;&#13;&#10;    &lt;Text style={{ position: 'absolute', right: 56, top: 76, fontFamily: 'Consolas', fontSize: 10.5, color: '#E78172' }}&gt;ATTACK_STATE · CORE&lt;/Text&gt;&#13;&#10;&#13;&#10;    &lt;Box style={{ position: 'absolute', left: 56, top: 140, width: 620 }}&gt;&#13;&#10;        &lt;Image src=&quot;assets/scenario_lateral.png&quot; style={{ width: 620, height: 370, objectFit: 'cover', borderRadius: 8, border: '1px solid rgba(231,129,114,0.28)' }} /&gt;&#13;&#10;        &lt;Text style={{ marginTop: 9, fontFamily: 'Microsoft YaHei', fontSize: 10, color: 'rgba(242,247,248,0.42)' }}&gt;真实界面 · 核心实验：PC-01 → 应用服务 → 客户数据库&lt;/Text&gt;&#13;&#10;    &lt;/Box&gt;&#13;&#10;&#13;&#10;    &lt;Box style={{ position: 'absolute', left: 712, top: 140, width: 512 }}&gt;&#13;&#10;        &lt;Box style={{ flexDirection: 'row', alignItems: 'flex-end', gap: 10 }}&gt;&#13;&#10;            &lt;Text style={{ fontFamily: 'Consolas', fontSize: 50, fontWeight: 'bold', color: 'rgba(231,129,114,0.65)', lineHeight: 1 }}&gt;01&lt;/Text&gt;&#13;&#10;            &lt;Text style={{ marginBottom: 5, fontFamily: 'Consolas', fontSize: 9, color: 'rgba(242,247,248,0.38)', letterSpacing: 1.2 }}&gt;CORE SCENARIO&lt;/Text&gt;&#13;&#10;        &lt;/Box&gt;&#13;&#10;        &lt;Text style={{ marginTop: 14, fontFamily: 'Microsoft YaHei', fontSize: 23, fontWeight: 'bold', color: '#F2F7F8', lineHeight: 1.35 }}&gt;从已受影响的办公终端出发，验证关键数据是否可达&lt;/Text&gt;&#13;&#10;        &lt;Box style={{ marginTop: 12, flexDirection: 'row', gap: 8 }}&gt;&#13;&#10;            &lt;Box style={{ paddingLeft: 9, paddingRight: 9, paddingTop: 4, paddingBottom: 4, border: '1px solid rgba(242,247,248,0.14)', borderRadius: 3 }}&gt;&#13;&#10;                &lt;Text style={{ fontFamily: 'Microsoft YaHei', fontSize: 9.5, color: 'rgba(242,247,248,0.60)' }}&gt;进阶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8 MIN&lt;/Text&gt;&#13;&#10;            &lt;/Box&gt;&#13;&#10;            &lt;Box style={{ paddingLeft: 9, paddingRight: 9, paddingTop: 4, paddingBottom: 4, border: '1px solid rgba(231,129,114,0.30)', borderRadius: 3 }}&gt;&#13;&#10;                &lt;Text style={{ fontFamily: 'Consolas', fontSize: 9, color: '#E78172' }}&gt;ATTACK_STATE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区分网络通信路径与攻击状态路径&lt;/Text&gt;&#13;&#10;        &lt;Text style={{ fontFamily: 'Microsoft YaHei', fontSize: 10.3, color: 'rgba(242,247,248,0.58)', lineHeight: 1.7 }}&gt;· 观察权限、教学条件与安全控制如何共同判定&lt;/Text&gt;&#13;&#10;        &lt;Text style={{ fontFamily: 'Microsoft YaHei', fontSize: 10.3, color: 'rgba(242,247,248,0.58)', lineHeight: 1.7 }}&gt;· 验证通信允许不会自动改变目标状态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T0 USER → T1 USER → T2 ADMIN → T3 DATA_ACCESS；每一跳都要重新过条件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保护 Customer Database，同时保持办公 Web 与应用数据库业务可达。&lt;/Text&gt;&#13;&#10;&#13;&#10;        &lt;Box style={{ marginTop: 12, flexDirection: 'row', gap: 7 }}&gt;&#13;&#10;            &lt;Text style={{ fontFamily: 'Consolas', fontSize: 8.5, color: 'rgba(242,247,248,0.36)' }}&gt;权限&lt;/Text&gt;&#13;&#10;            &lt;Text style={{ fontFamily: 'Consolas', fontSize: 8.5, color: 'rgba(242,247,248,0.20)' }}&gt;/&lt;/Text&gt;&#13;&#10;            &lt;Text style={{ fontFamily: 'Consolas', fontSize: 8.5, color: 'rgba(242,247,248,0.36)' }}&gt;前置条件&lt;/Text&gt;&#13;&#10;            &lt;Text style={{ fontFamily: 'Consolas', fontSize: 8.5, color: 'rgba(242,247,248,0.20)' }}&gt;/&lt;/Text&gt;&#13;&#10;            &lt;Text style={{ fontFamily: 'Consolas', fontSize: 8.5, color: 'rgba(242,247,248,0.36)' }}&gt;数据访问&lt;/Text&gt;&#13;&#10;        &lt;/Box&gt;&#13;&#10;    &lt;/Box&gt;&#13;&#10;&#13;&#10;    &lt;Box style={{ position: 'absolute', left: 712, top: 54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来源范围 → 源权限 → 通信许可 → 目标条件 → 安全控制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7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27051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0610850" y="723900"/>
            <a:ext cx="1047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78172"/>
                </a:solidFill>
                <a:latin typeface="Consolas"/>
                <a:ea typeface="Consolas"/>
              </a:rPr>
              <a:t>ATTACK_STATE · CORE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533400" y="1333500"/>
            <a:ext cx="5905500" cy="3524250"/>
          </a:xfrm>
          <a:prstGeom prst="rect">
            <a:avLst/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3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334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5334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核心实验：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PC-01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应用服务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7818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E78172">
                    <a:alpha val="65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400925" y="1752600"/>
            <a:ext cx="762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CORE SCENARIO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781800" y="2038350"/>
            <a:ext cx="48768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从已受影响的办公终端出发，验证关键数据是否可达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781800" y="2867025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6867525" y="290512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7210425" y="2867025"/>
            <a:ext cx="40957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7296150" y="2905125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7696200" y="2867025"/>
            <a:ext cx="7429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7781925" y="2905125"/>
            <a:ext cx="571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781800" y="322897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781800" y="34004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区分网络通信路径与攻击状态路径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6781800" y="36099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观察权限、教学条件与安全控制如何共同判定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6781800" y="38195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验证通信允许不会自动改变目标状态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6781800" y="41624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6781800" y="43338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T0 USER → T1 USER → T2 ADMIN → T3 DATA_ACCESS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；每一跳都要重新过条件。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781800" y="467677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781800" y="48482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保护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Customer Database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，同时保持办公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与应用数据库业务可达。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781800" y="51720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172325" y="5172075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7286625" y="5172075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前置条件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8001000" y="5172075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8115300" y="5172075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数据访问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6781800" y="51435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6781800" y="52673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6781800" y="54292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来源范围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源权限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通信许可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目标条件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安全控制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27 / 35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2 / 场景图集&lt;/Text&gt;&#13;&#10;    &lt;/Box&gt;&#13;&#10;    &lt;Text style={{ position: 'absolute', left: 56, top: 62, fontFamily: 'Microsoft YaHei', fontSize: 31, fontWeight: 'bold', color: '#F2F7F8', letterSpacing: 0.5 }}&gt;外部访问与防火墙拦截&lt;/Text&gt;&#13;&#10;    &lt;Text style={{ position: 'absolute', right: 56, top: 76, fontFamily: 'Consolas', fontSize: 10.5, color: '#6BC8D1' }}&gt;TEACHING · ENTRY&lt;/Text&gt;&#13;&#10;&#13;&#10;    &lt;Box style={{ position: 'absolute', left: 56, top: 140, width: 512 }}&gt;&#13;&#10;        &lt;Box style={{ flexDirection: 'row', alignItems: 'flex-end', gap: 10 }}&gt;&#13;&#10;            &lt;Text style={{ fontFamily: 'Consolas', fontSize: 50, fontWeight: 'bold', color: 'rgba(107,200,209,0.55)', lineHeight: 1 }}&gt;02&lt;/Text&gt;&#13;&#10;            &lt;Text style={{ marginBottom: 5, fontFamily: 'Consolas', fontSize: 9, color: 'rgba(242,247,248,0.38)', letterSpacing: 1.2 }}&gt;ENTRY SCENARIO&lt;/Text&gt;&#13;&#10;        &lt;/Box&gt;&#13;&#10;        &lt;Text style={{ marginTop: 14, fontFamily: 'Microsoft YaHei', fontSize: 23, fontWeight: 'bold', color: '#F2F7F8', lineHeight: 1.35 }}&gt;外部请求能到边界，不代表能进内网&lt;/Text&gt;&#13;&#10;        &lt;Box style={{ marginTop: 12, flexDirection: 'row', gap: 8 }}&gt;&#13;&#10;            &lt;Box style={{ paddingLeft: 9, paddingRight: 9, paddingTop: 4, paddingBottom: 4, border: '1px solid rgba(242,247,248,0.14)', borderRadius: 3 }}&gt;&#13;&#10;                &lt;Text style={{ fontFamily: 'Microsoft YaHei', fontSize: 9.5, color: 'rgba(242,247,248,0.60)' }}&gt;入门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5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观察外部请求沿真实路由到达边界&lt;/Text&gt;&#13;&#10;        &lt;Text style={{ fontFamily: 'Microsoft YaHei', fontSize: 10.3, color: 'rgba(242,247,248,0.58)', lineHeight: 1.7 }}&gt;· 验证公开 Web 与邮件服务的显式放行&lt;/Text&gt;&#13;&#10;        &lt;Text style={{ fontFamily: 'Microsoft YaHei', fontSize: 10.3, color: 'rgba(242,247,248,0.58)', lineHeight: 1.7 }}&gt;· 区分允许的公开服务与默认拒绝的数据库请求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同一台 Edge Firewall，三条规则决定 Web / Mail 通过、DB 拒绝；“能到边界”不等于“能进内网”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让 Web / Mail 可达，同时确认外部数据库请求被 Default DENY 拦截。&lt;/Text&gt;&#13;&#10;&#13;&#10;        &lt;Box style={{ marginTop: 12, flexDirection: 'row', gap: 7 }}&gt;&#13;&#10;            &lt;Text style={{ fontFamily: 'Consolas', fontSize: 8.5, color: 'rgba(242,247,248,0.36)' }}&gt;路由&lt;/Text&gt;&#13;&#10;            &lt;Text style={{ fontFamily: 'Consolas', fontSize: 8.5, color: 'rgba(242,247,248,0.20)' }}&gt;/&lt;/Text&gt;&#13;&#10;            &lt;Text style={{ fontFamily: 'Consolas', fontSize: 8.5, color: 'rgba(242,247,248,0.36)' }}&gt;First Match&lt;/Text&gt;&#13;&#10;            &lt;Text style={{ fontFamily: 'Consolas', fontSize: 8.5, color: 'rgba(242,247,248,0.20)' }}&gt;/&lt;/Text&gt;&#13;&#10;            &lt;Text style={{ fontFamily: 'Consolas', fontSize: 8.5, color: 'rgba(242,247,248,0.36)' }}&gt;Default DENY&lt;/Text&gt;&#13;&#10;        &lt;/Box&gt;&#13;&#10;    &lt;/Box&gt;&#13;&#10;&#13;&#10;    &lt;Box style={{ position: 'absolute', left: 604, top: 140, width: 620 }}&gt;&#13;&#10;        &lt;Image src=&quot;assets/scenario_firewall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入门场景：外部请求沿路由到达边界&lt;/Text&gt;&#13;&#10;    &lt;/Box&gt;&#13;&#10;&#13;&#10;    &lt;Box style={{ position: 'absolute', left: 56, top: 52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路由可达 → Edge Firewall → First Match → Default DENY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8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0003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ENTRY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1152525" y="1752600"/>
            <a:ext cx="8286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ENTRY SCENARIO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5334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外部请求能到边界，不代表能进内网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5334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191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962025" y="2514600"/>
            <a:ext cx="40957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1047750" y="25527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5 MIN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1447800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1533525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5334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5334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观察外部请求沿真实路由到达边界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334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验证公开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与邮件服务的显式放行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5334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区分允许的公开服务与默认拒绝的数据库请求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5334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533400" y="39814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同一台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Edge Firewall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，三条规则决定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/ Mail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通过、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DB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拒绝；“能到边界”不等于“能进内网”。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533400" y="43243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533400" y="4495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让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/ Mail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可达，同时确认外部数据库请求被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Default DENY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拦截。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533400" y="4819650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路由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923925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1038225" y="4819650"/>
            <a:ext cx="4953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First Match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1600200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1714500" y="481965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Default DENY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57531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82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7531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57531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入门场景：外部请求沿路由到达边界</a:t>
            </a:r>
            <a:endParaRPr/>
          </a:p>
        </p:txBody>
      </p:sp>
      <p:sp>
        <p:nvSpPr>
          <p:cNvPr id="984" name=""/>
          <p:cNvSpPr/>
          <p:nvPr/>
        </p:nvSpPr>
        <p:spPr>
          <a:xfrm rot="0" flipH="0" flipV="0">
            <a:off x="533400" y="49530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533400" y="50768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533400" y="52387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路由可达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Edge Firewall → First Match → Default DENY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28 / 35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9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3 / 场景图集&lt;/Text&gt;&#13;&#10;    &lt;/Box&gt;&#13;&#10;    &lt;Text style={{ position: 'absolute', left: 56, top: 62, fontFamily: 'Microsoft YaHei', fontSize: 31, fontWeight: 'bold', color: '#F2F7F8', letterSpacing: 0.5 }}&gt;网络分区防御实验&lt;/Text&gt;&#13;&#10;    &lt;Text style={{ position: 'absolute', right: 56, top: 76, fontFamily: 'Consolas', fontSize: 10.5, color: '#6BC8D1' }}&gt;TEACHING · SEGMENTATION&lt;/Text&gt;&#13;&#10;&#13;&#10;    &lt;Box style={{ position: 'absolute', left: 56, top: 140, width: 620 }}&gt;&#13;&#10;        &lt;Image src=&quot;assets/scenario_segmentation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关闭错误放行后，办公区到数据库默认拒绝&lt;/Text&gt;&#13;&#10;    &lt;/Box&gt;&#13;&#10;&#13;&#10;    &lt;Box style={{ position: 'absolute', left: 712, top: 140, width: 512 }}&gt;&#13;&#10;        &lt;Box style={{ flexDirection: 'row', alignItems: 'flex-end', gap: 10 }}&gt;&#13;&#10;            &lt;Text style={{ fontFamily: 'Consolas', fontSize: 50, fontWeight: 'bold', color: 'rgba(107,200,209,0.55)', lineHeight: 1 }}&gt;03&lt;/Text&gt;&#13;&#10;            &lt;Text style={{ marginBottom: 5, fontFamily: 'Consolas', fontSize: 9, color: 'rgba(242,247,248,0.38)', letterSpacing: 1.2 }}&gt;SEGMENTATION&lt;/Text&gt;&#13;&#10;        &lt;/Box&gt;&#13;&#10;        &lt;Text style={{ marginTop: 14, fontFamily: 'Microsoft YaHei', fontSize: 23, fontWeight: 'bold', color: '#F2F7F8', lineHeight: 1.35 }}&gt;分区不是“断开”，而是只留下必要路径&lt;/Text&gt;&#13;&#10;        &lt;Box style={{ marginTop: 12, flexDirection: 'row', gap: 8 }}&gt;&#13;&#10;            &lt;Box style={{ paddingLeft: 9, paddingRight: 9, paddingTop: 4, paddingBottom: 4, border: '1px solid rgba(242,247,248,0.14)', borderRadius: 3 }}&gt;&#13;&#10;                &lt;Text style={{ fontFamily: 'Microsoft YaHei', fontSize: 9.5, color: 'rgba(242,247,248,0.60)' }}&gt;进阶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6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理解 VLAN 与区域边界如何限制跨区通信&lt;/Text&gt;&#13;&#10;        &lt;Text style={{ fontFamily: 'Microsoft YaHei', fontSize: 10.3, color: 'rgba(242,247,248,0.58)', lineHeight: 1.7 }}&gt;· 验证办公区到数据库的默认拒绝规则&lt;/Text&gt;&#13;&#10;        &lt;Text style={{ fontFamily: 'Microsoft YaHei', fontSize: 10.3, color: 'rgba(242,247,248,0.58)', lineHeight: 1.7 }}&gt;· 确认必要 Web 与应用数据库业务仍可达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关闭“办公区错误放行数据库”后，Office → DB 被第 30 条拒绝；App → DB 仍走第 10 条放行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保护 Customer Database，同时保持办公 Web 与应用数据库两条业务可达。&lt;/Text&gt;&#13;&#10;&#13;&#10;        &lt;Box style={{ marginTop: 12, flexDirection: 'row', gap: 7 }}&gt;&#13;&#10;            &lt;Text style={{ fontFamily: 'Consolas', fontSize: 8.5, color: 'rgba(242,247,248,0.36)' }}&gt;VLAN&lt;/Text&gt;&#13;&#10;            &lt;Text style={{ fontFamily: 'Consolas', fontSize: 8.5, color: 'rgba(242,247,248,0.20)' }}&gt;/&lt;/Text&gt;&#13;&#10;            &lt;Text style={{ fontFamily: 'Consolas', fontSize: 8.5, color: 'rgba(242,247,248,0.36)' }}&gt;区域边界&lt;/Text&gt;&#13;&#10;            &lt;Text style={{ fontFamily: 'Consolas', fontSize: 8.5, color: 'rgba(242,247,248,0.20)' }}&gt;/&lt;/Text&gt;&#13;&#10;            &lt;Text style={{ fontFamily: 'Consolas', fontSize: 8.5, color: 'rgba(242,247,248,0.36)' }}&gt;必要业务&lt;/Text&gt;&#13;&#10;        &lt;/Box&gt;&#13;&#10;    &lt;/Box&gt;&#13;&#10;&#13;&#10;    &lt;Box style={{ position: 'absolute', left: 712, top: 54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VLAN → 三层网关 → 区域策略 → 业务路径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9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24003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SEGMENTATION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5334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97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334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5334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关闭错误放行后，办公区到数据库默认拒绝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67818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7400925" y="1752600"/>
            <a:ext cx="704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SEGMENTATION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67818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分区不是“断开”，而是只留下必要路径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67818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68675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7210425" y="2514600"/>
            <a:ext cx="40957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6 MIN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7696200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7781925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67818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7818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理解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VLAN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与区域边界如何限制跨区通信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7818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验证办公区到数据库的默认拒绝规则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7818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确认必要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与应用数据库业务仍可达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67818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781800" y="39814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关闭“办公区错误放行数据库”后，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Office → DB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被第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条拒绝；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App → DB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仍走第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10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条放行。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781800" y="43243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6781800" y="4495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保护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Customer Database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，同时保持办公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与应用数据库两条业务可达。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6781800" y="4819650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VLAN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029450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7143750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区域边界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7858125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7972425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必要业务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6781800" y="51435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6781800" y="52673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6781800" y="54292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三层网关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区域策略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业务路径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29 / 35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5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4 / 场景图集&lt;/Text&gt;&#13;&#10;    &lt;/Box&gt;&#13;&#10;    &lt;Text style={{ position: 'absolute', left: 56, top: 62, fontFamily: 'Microsoft YaHei', fontSize: 31, fontWeight: 'bold', color: '#F2F7F8', letterSpacing: 0.5 }}&gt;供应链入口传播路径&lt;/Text&gt;&#13;&#10;    &lt;Text style={{ position: 'absolute', right: 56, top: 76, fontFamily: 'Consolas', fontSize: 10.5, color: '#6BC8D1' }}&gt;TEACHING · SUPPLY CHAIN&lt;/Text&gt;&#13;&#10;&#13;&#10;    &lt;Box style={{ position: 'absolute', left: 56, top: 140, width: 512 }}&gt;&#13;&#10;        &lt;Box style={{ flexDirection: 'row', alignItems: 'flex-end', gap: 10 }}&gt;&#13;&#10;            &lt;Text style={{ fontFamily: 'Consolas', fontSize: 50, fontWeight: 'bold', color: 'rgba(107,200,209,0.55)', lineHeight: 1 }}&gt;04&lt;/Text&gt;&#13;&#10;            &lt;Text style={{ marginBottom: 5, fontFamily: 'Consolas', fontSize: 9, color: 'rgba(242,247,248,0.38)', letterSpacing: 1.2 }}&gt;SUPPLY CHAIN&lt;/Text&gt;&#13;&#10;        &lt;/Box&gt;&#13;&#10;        &lt;Text style={{ marginTop: 14, fontFamily: 'Microsoft YaHei', fontSize: 23, fontWeight: 'bold', color: '#F2F7F8', lineHeight: 1.35 }}&gt;入口已经受影响，跨区仍要逐跳命中规则&lt;/Text&gt;&#13;&#10;        &lt;Box style={{ marginTop: 12, flexDirection: 'row', gap: 8 }}&gt;&#13;&#10;            &lt;Box style={{ paddingLeft: 9, paddingRight: 9, paddingTop: 4, paddingBottom: 4, border: '1px solid rgba(231,129,114,0.28)', borderRadius: 3 }}&gt;&#13;&#10;                &lt;Text style={{ fontFamily: 'Microsoft YaHei', fontSize: 9.5, color: '#E78172' }}&gt;挑战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10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区分 DMZ 内 MAIL 路径与跨区 Web → App 路径&lt;/Text&gt;&#13;&#10;        &lt;Text style={{ fontFamily: 'Microsoft YaHei', fontSize: 10.3, color: 'rgba(242,247,248,0.58)', lineHeight: 1.7 }}&gt;· 验证跨区必须逐跳命中 Edge 与 Internal 规则&lt;/Text&gt;&#13;&#10;        &lt;Text style={{ fontFamily: 'Microsoft YaHei', fontSize: 10.3, color: 'rgba(242,247,248,0.58)', lineHeight: 1.7 }}&gt;· 观察应用服务器之后的 FILE / DATABASE 服务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Web 入口是预设受影响节点；DMZ 内可到 Mail；跨区到 App 必须两台防火墙同时显式放行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限制受影响 Web 入口经应用服务影响数据库，同时保持两条必要业务可达。&lt;/Text&gt;&#13;&#10;&#13;&#10;        &lt;Box style={{ marginTop: 12, flexDirection: 'row', gap: 7 }}&gt;&#13;&#10;            &lt;Text style={{ fontFamily: 'Consolas', fontSize: 8.5, color: 'rgba(242,247,248,0.36)' }}&gt;供应链入口&lt;/Text&gt;&#13;&#10;            &lt;Text style={{ fontFamily: 'Consolas', fontSize: 8.5, color: 'rgba(242,247,248,0.20)' }}&gt;/&lt;/Text&gt;&#13;&#10;            &lt;Text style={{ fontFamily: 'Consolas', fontSize: 8.5, color: 'rgba(242,247,248,0.36)' }}&gt;逐跳放行&lt;/Text&gt;&#13;&#10;            &lt;Text style={{ fontFamily: 'Consolas', fontSize: 8.5, color: 'rgba(242,247,248,0.20)' }}&gt;/&lt;/Text&gt;&#13;&#10;            &lt;Text style={{ fontFamily: 'Consolas', fontSize: 8.5, color: 'rgba(242,247,248,0.36)' }}&gt;跨区&lt;/Text&gt;&#13;&#10;        &lt;/Box&gt;&#13;&#10;    &lt;/Box&gt;&#13;&#10;&#13;&#10;    &lt;Box style={{ position: 'absolute', left: 604, top: 140, width: 620 }}&gt;&#13;&#10;        &lt;Image src=&quot;assets/scenario_supplychain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挑战场景：Web 入口为预设受影响节点&lt;/Text&gt;&#13;&#10;    &lt;/Box&gt;&#13;&#10;&#13;&#10;    &lt;Box style={{ position: 'absolute', left: 56, top: 52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入口 → DMZ 内路径 → Edge → Internal → 应用服务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30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27051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SUPPLY CHAIN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1152525" y="1752600"/>
            <a:ext cx="704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SUPPLY CHAIN</a:t>
            </a:r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5334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入口已经受影响，跨区仍要逐跳命中规则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5334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6191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962025" y="2514600"/>
            <a:ext cx="457200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047750" y="2552700"/>
            <a:ext cx="285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1495425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581150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5334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5334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区分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DMZ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内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MAIL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路径与跨区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→ App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5334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验证跨区必须逐跳命中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Edge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Internal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规则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5334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观察应用服务器之后的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FILE / DATABASE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5334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533400" y="39814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入口是预设受影响节点；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DMZ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内可到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Mail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；跨区到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App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必须两台防火墙同时显式放行。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533400" y="43243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533400" y="4495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限制受影响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入口经应用服务影响数据库，同时保持两条必要业务可达。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533400" y="4819650"/>
            <a:ext cx="809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供应链入口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1409700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1524000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逐跳放行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2352675" y="4819650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跨区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57531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79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7531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57531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挑战场景：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入口为预设受影响节点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533400" y="49530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533400" y="50768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533400" y="52387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入口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DMZ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内路径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Edge → Internal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应用服务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30 / 35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8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5 / 场景图集&lt;/Text&gt;&#13;&#10;    &lt;/Box&gt;&#13;&#10;    &lt;Text style={{ position: 'absolute', left: 56, top: 62, fontFamily: 'Microsoft YaHei', fontSize: 31, fontWeight: 'bold', color: '#F2F7F8', letterSpacing: 0.5 }}&gt;勒索风险与文件服务保护&lt;/Text&gt;&#13;&#10;    &lt;Text style={{ position: 'absolute', right: 56, top: 76, fontFamily: 'Consolas', fontSize: 10.5, color: '#6BC8D1' }}&gt;TEACHING · RANSOMWARE&lt;/Text&gt;&#13;&#10;&#13;&#10;    &lt;Box style={{ position: 'absolute', left: 56, top: 140, width: 620 }}&gt;&#13;&#10;        &lt;Image src=&quot;assets/scenario_ransomware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进阶场景：PC-02 为 seed，文件服务为保护目标&lt;/Text&gt;&#13;&#10;    &lt;/Box&gt;&#13;&#10;&#13;&#10;    &lt;Box style={{ position: 'absolute', left: 712, top: 140, width: 512 }}&gt;&#13;&#10;        &lt;Box style={{ flexDirection: 'row', alignItems: 'flex-end', gap: 10 }}&gt;&#13;&#10;            &lt;Text style={{ fontFamily: 'Consolas', fontSize: 50, fontWeight: 'bold', color: 'rgba(107,200,209,0.55)', lineHeight: 1 }}&gt;05&lt;/Text&gt;&#13;&#10;            &lt;Text style={{ marginBottom: 5, fontFamily: 'Consolas', fontSize: 9, color: 'rgba(242,247,248,0.38)', letterSpacing: 1.2 }}&gt;RANSOMWARE&lt;/Text&gt;&#13;&#10;        &lt;/Box&gt;&#13;&#10;        &lt;Text style={{ marginTop: 14, fontFamily: 'Microsoft YaHei', fontSize: 23, fontWeight: 'bold', color: '#F2F7F8', lineHeight: 1.35 }}&gt;通信仍然可达，状态可以被终端防护阻断&lt;/Text&gt;&#13;&#10;        &lt;Box style={{ marginTop: 12, flexDirection: 'row', gap: 8 }}&gt;&#13;&#10;            &lt;Box style={{ paddingLeft: 9, paddingRight: 9, paddingTop: 4, paddingBottom: 4, border: '1px solid rgba(242,247,248,0.14)', borderRadius: 3 }}&gt;&#13;&#10;                &lt;Text style={{ fontFamily: 'Microsoft YaHei', fontSize: 9.5, color: 'rgba(242,247,248,0.60)' }}&gt;进阶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9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观察受影响状态沿同区与允许跨区服务扩散&lt;/Text&gt;&#13;&#10;        &lt;Text style={{ fontFamily: 'Microsoft YaHei', fontSize: 10.3, color: 'rgba(242,247,248,0.58)', lineHeight: 1.7 }}&gt;· 验证终端防护如何阻止目标进入受影响状态&lt;/Text&gt;&#13;&#10;        &lt;Text style={{ fontFamily: 'Microsoft YaHei', fontSize: 10.3, color: 'rgba(242,247,248,0.58)', lineHeight: 1.7 }}&gt;· 在保护文件服务与业务连续性之间权衡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PC-02 是 seed；Office → File 的 FILE 业务默认可达；启用 File 终端防护后，通信仍通但状态不再改变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保护 File Server，同时保持办公 Web、办公文件、应用数据库三条业务可达。&lt;/Text&gt;&#13;&#10;&#13;&#10;        &lt;Box style={{ marginTop: 12, flexDirection: 'row', gap: 7 }}&gt;&#13;&#10;            &lt;Text style={{ fontFamily: 'Consolas', fontSize: 8.5, color: 'rgba(242,247,248,0.36)' }}&gt;终端防护&lt;/Text&gt;&#13;&#10;            &lt;Text style={{ fontFamily: 'Consolas', fontSize: 8.5, color: 'rgba(242,247,248,0.20)' }}&gt;/&lt;/Text&gt;&#13;&#10;            &lt;Text style={{ fontFamily: 'Consolas', fontSize: 8.5, color: 'rgba(242,247,248,0.36)' }}&gt;状态扩散&lt;/Text&gt;&#13;&#10;            &lt;Text style={{ fontFamily: 'Consolas', fontSize: 8.5, color: 'rgba(242,247,248,0.20)' }}&gt;/&lt;/Text&gt;&#13;&#10;            &lt;Text style={{ fontFamily: 'Consolas', fontSize: 8.5, color: 'rgba(242,247,248,0.36)' }}&gt;业务连续性&lt;/Text&gt;&#13;&#10;        &lt;/Box&gt;&#13;&#10;    &lt;/Box&gt;&#13;&#10;&#13;&#10;    &lt;Box style={{ position: 'absolute', left: 712, top: 54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同区传播 → 允许跨区服务 → 终端防护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31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3051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RANSOMWARE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5334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94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334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5334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进阶场景：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PC-02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为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seed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，文件服务为保护目标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67818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7400925" y="1752600"/>
            <a:ext cx="5905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RANSOMWARE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7818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通信仍然可达，状态可以被终端防护阻断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67818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68675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7210425" y="2514600"/>
            <a:ext cx="40957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9 MIN</a:t>
            </a:r>
            <a:endParaRPr/>
          </a:p>
        </p:txBody>
      </p:sp>
      <p:sp>
        <p:nvSpPr>
          <p:cNvPr id="1103" name=""/>
          <p:cNvSpPr/>
          <p:nvPr/>
        </p:nvSpPr>
        <p:spPr>
          <a:xfrm rot="0" flipH="0" flipV="0">
            <a:off x="7696200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7781925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67818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67818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观察受影响状态沿同区与允许跨区服务扩散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67818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验证终端防护如何阻止目标进入受影响状态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67818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在保护文件服务与业务连续性之间权衡</a:t>
            </a:r>
            <a:endParaRPr/>
          </a:p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67818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6781800" y="39814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PC-02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是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seed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；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Office → File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FILE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业务默认可达；启用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File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终端防护后，通信仍通但状态不再改变。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6781800" y="43243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6781800" y="4495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保护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File Server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，同时保持办公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Web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、办公文件、应用数据库三条业务可达。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6781800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终端防护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7496175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7610475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状态扩散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324850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8439150" y="4819650"/>
            <a:ext cx="809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业务连续性</a:t>
            </a:r>
            <a:endParaRPr/>
          </a:p>
        </p:txBody>
      </p:sp>
      <p:sp>
        <p:nvSpPr>
          <p:cNvPr id="1118" name=""/>
          <p:cNvSpPr/>
          <p:nvPr/>
        </p:nvSpPr>
        <p:spPr>
          <a:xfrm rot="0" flipH="0" flipV="0">
            <a:off x="6781800" y="51435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6781800" y="52673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6781800" y="54292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同区传播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允许跨区服务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终端防护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31 / 35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2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6 / 场景图集&lt;/Text&gt;&#13;&#10;    &lt;/Box&gt;&#13;&#10;    &lt;Text style={{ position: 'absolute', left: 56, top: 62, fontFamily: 'Microsoft YaHei', fontSize: 31, fontWeight: 'bold', color: '#F2F7F8', letterSpacing: 0.5 }}&gt;零信任微隔离：主机对主机&lt;/Text&gt;&#13;&#10;    &lt;Text style={{ position: 'absolute', right: 56, top: 76, fontFamily: 'Consolas', fontSize: 10.5, color: '#6BC8D1' }}&gt;TEACHING · ZERO TRUST&lt;/Text&gt;&#13;&#10;&#13;&#10;    &lt;Box style={{ position: 'absolute', left: 56, top: 140, width: 512 }}&gt;&#13;&#10;        &lt;Box style={{ flexDirection: 'row', alignItems: 'flex-end', gap: 10 }}&gt;&#13;&#10;            &lt;Text style={{ fontFamily: 'Consolas', fontSize: 50, fontWeight: 'bold', color: 'rgba(107,200,209,0.55)', lineHeight: 1 }}&gt;06&lt;/Text&gt;&#13;&#10;            &lt;Text style={{ marginBottom: 5, fontFamily: 'Consolas', fontSize: 9, color: 'rgba(242,247,248,0.38)', letterSpacing: 1.2 }}&gt;ZERO TRUST&lt;/Text&gt;&#13;&#10;        &lt;/Box&gt;&#13;&#10;        &lt;Text style={{ marginTop: 14, fontFamily: 'Microsoft YaHei', fontSize: 23, fontWeight: 'bold', color: '#F2F7F8', lineHeight: 1.35 }}&gt;取消“同区域即可信”，只保留必要的主机级放行&lt;/Text&gt;&#13;&#10;        &lt;Box style={{ marginTop: 12, flexDirection: 'row', gap: 8 }}&gt;&#13;&#10;            &lt;Box style={{ paddingLeft: 9, paddingRight: 9, paddingTop: 4, paddingBottom: 4, border: '1px solid rgba(231,129,114,0.28)', borderRadius: 3 }}&gt;&#13;&#10;                &lt;Text style={{ fontFamily: 'Microsoft YaHei', fontSize: 9.5, color: '#E78172' }}&gt;挑战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8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对比区域级放行与主机对主机放行的粒度&lt;/Text&gt;&#13;&#10;        &lt;Text style={{ fontFamily: 'Microsoft YaHei', fontSize: 10.3, color: 'rgba(242,247,248,0.58)', lineHeight: 1.7 }}&gt;· 验证 Default DENY 下未显式允许一律不可达&lt;/Text&gt;&#13;&#10;        &lt;Text style={{ fontFamily: 'Microsoft YaHei', fontSize: 10.3, color: 'rgba(242,247,248,0.58)', lineHeight: 1.7 }}&gt;· 在不破坏必要业务的前提下收紧过宽放行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没有任何 Zone 级放行；pc01 → app 有一条过宽主机放行，攻击状态可沿它到达应用服务并获得数据访问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收紧 pc01 → app 的过宽放行，保护 Customer Database，同时保持两条必要业务可达。&lt;/Text&gt;&#13;&#10;&#13;&#10;        &lt;Box style={{ marginTop: 12, flexDirection: 'row', gap: 7 }}&gt;&#13;&#10;            &lt;Text style={{ fontFamily: 'Consolas', fontSize: 8.5, color: 'rgba(242,247,248,0.36)' }}&gt;微隔离&lt;/Text&gt;&#13;&#10;            &lt;Text style={{ fontFamily: 'Consolas', fontSize: 8.5, color: 'rgba(242,247,248,0.20)' }}&gt;/&lt;/Text&gt;&#13;&#10;            &lt;Text style={{ fontFamily: 'Consolas', fontSize: 8.5, color: 'rgba(242,247,248,0.36)' }}&gt;最小权限&lt;/Text&gt;&#13;&#10;            &lt;Text style={{ fontFamily: 'Consolas', fontSize: 8.5, color: 'rgba(242,247,248,0.20)' }}&gt;/&lt;/Text&gt;&#13;&#10;            &lt;Text style={{ fontFamily: 'Consolas', fontSize: 8.5, color: 'rgba(242,247,248,0.36)' }}&gt;主机级&lt;/Text&gt;&#13;&#10;        &lt;/Box&gt;&#13;&#10;    &lt;/Box&gt;&#13;&#10;&#13;&#10;    &lt;Box style={{ position: 'absolute', left: 604, top: 140, width: 620 }}&gt;&#13;&#10;        &lt;Image src=&quot;assets/scenario_zerotrust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挑战场景：无区域级放行，跨区必须命中主机级规则&lt;/Text&gt;&#13;&#10;    &lt;/Box&gt;&#13;&#10;&#13;&#10;    &lt;Box style={{ position: 'absolute', left: 56, top: 52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主机级放行 → Default DENY → 必要业务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32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06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6004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ZERO TRUST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1152525" y="1752600"/>
            <a:ext cx="5905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ZERO TRUST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5334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取消“同区域即可信”，只保留必要的主机级放行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5334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6191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962025" y="2514600"/>
            <a:ext cx="409575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1047750" y="25527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1447800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1533525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5334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5334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对比区域级放行与主机对主机放行的粒度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5334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验证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Default DENY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下未显式允许一律不可达</a:t>
            </a:r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5334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在不破坏必要业务的前提下收紧过宽放行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5334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533400" y="39814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没有任何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Zone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级放行；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pc01 → app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有一条过宽主机放行，攻击状态可沿它到达应用服务并获得数据访问。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533400" y="43243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533400" y="4495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收紧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pc01 → app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的过宽放行，保护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Customer Database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，同时保持两条必要业务可达。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533400" y="4819650"/>
            <a:ext cx="4857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微隔离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1085850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1200150" y="48196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最小权限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1914525" y="4819650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2028825" y="4819650"/>
            <a:ext cx="4857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主机级</a:t>
            </a:r>
            <a:endParaRPr/>
          </a:p>
        </p:txBody>
      </p:sp>
      <p:sp>
        <p:nvSpPr>
          <p:cNvPr id="1152" name=""/>
          <p:cNvSpPr/>
          <p:nvPr/>
        </p:nvSpPr>
        <p:spPr>
          <a:xfrm rot="0" flipH="0" flipV="0">
            <a:off x="57531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53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7531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57531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挑战场景：无区域级放行，跨区必须命中主机级规则</a:t>
            </a:r>
            <a:endParaRPr/>
          </a:p>
        </p:txBody>
      </p:sp>
      <p:sp>
        <p:nvSpPr>
          <p:cNvPr id="1155" name=""/>
          <p:cNvSpPr/>
          <p:nvPr/>
        </p:nvSpPr>
        <p:spPr>
          <a:xfrm rot="0" flipH="0" flipV="0">
            <a:off x="533400" y="49530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533400" y="50768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533400" y="52387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主机级放行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Default DENY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</a:t>
            </a:r>
            <a:endParaRPr/>
          </a:p>
        </p:txBody>
      </p:sp>
      <p:sp>
        <p:nvSpPr>
          <p:cNvPr id="115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32 / 35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6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SCENARIO 07 / 场景图集&lt;/Text&gt;&#13;&#10;    &lt;/Box&gt;&#13;&#10;    &lt;Text style={{ position: 'absolute', left: 56, top: 62, fontFamily: 'Microsoft YaHei', fontSize: 31, fontWeight: 'bold', color: '#F2F7F8', letterSpacing: 0.5 }}&gt;工业控制网：SCADA / PLC&lt;/Text&gt;&#13;&#10;    &lt;Text style={{ position: 'absolute', right: 56, top: 76, fontFamily: 'Consolas', fontSize: 10.5, color: '#6BC8D1' }}&gt;TEACHING · INDUSTRIAL&lt;/Text&gt;&#13;&#10;&#13;&#10;    &lt;Box style={{ position: 'absolute', left: 56, top: 140, width: 620 }}&gt;&#13;&#10;        &lt;Image src=&quot;assets/scenario_industrial.png&quot; style={{ width: 620, height: 370, objectFit: 'cover', borderRadius: 8, border: '1px solid rgba(107,200,209,0.20)' }} /&gt;&#13;&#10;        &lt;Text style={{ marginTop: 9, fontFamily: 'Microsoft YaHei', fontSize: 10, color: 'rgba(242,247,248,0.42)' }}&gt;真实界面 · 挑战场景：控制中心、监控区、现场区与历史数据区&lt;/Text&gt;&#13;&#10;    &lt;/Box&gt;&#13;&#10;&#13;&#10;    &lt;Box style={{ position: 'absolute', left: 712, top: 140, width: 512 }}&gt;&#13;&#10;        &lt;Box style={{ flexDirection: 'row', alignItems: 'flex-end', gap: 10 }}&gt;&#13;&#10;            &lt;Text style={{ fontFamily: 'Consolas', fontSize: 50, fontWeight: 'bold', color: 'rgba(107,200,209,0.55)', lineHeight: 1 }}&gt;07&lt;/Text&gt;&#13;&#10;            &lt;Text style={{ marginBottom: 5, fontFamily: 'Consolas', fontSize: 9, color: 'rgba(242,247,248,0.38)', letterSpacing: 1.2 }}&gt;INDUSTRIAL&lt;/Text&gt;&#13;&#10;        &lt;/Box&gt;&#13;&#10;        &lt;Text style={{ marginTop: 14, fontFamily: 'Microsoft YaHei', fontSize: 23, fontWeight: 'bold', color: '#F2F7F8', lineHeight: 1.35 }}&gt;从控制中心到现场设备，四层区域各有边界&lt;/Text&gt;&#13;&#10;        &lt;Box style={{ marginTop: 12, flexDirection: 'row', gap: 8 }}&gt;&#13;&#10;            &lt;Box style={{ paddingLeft: 9, paddingRight: 9, paddingTop: 4, paddingBottom: 4, border: '1px solid rgba(231,129,114,0.28)', borderRadius: 3 }}&gt;&#13;&#10;                &lt;Text style={{ fontFamily: 'Microsoft YaHei', fontSize: 9.5, color: '#E78172' }}&gt;挑战&lt;/Text&gt;&#13;&#10;            &lt;/Box&gt;&#13;&#10;            &lt;Box style={{ paddingLeft: 9, paddingRight: 9, paddingTop: 4, paddingBottom: 4, border: '1px solid rgba(242,247,248,0.14)', borderRadius: 3 }}&gt;&#13;&#10;                &lt;Text style={{ fontFamily: 'Consolas', fontSize: 9, color: 'rgba(242,247,248,0.60)' }}&gt;10 MIN&lt;/Text&gt;&#13;&#10;            &lt;/Box&gt;&#13;&#10;            &lt;Box style={{ paddingLeft: 9, paddingRight: 9, paddingTop: 4, paddingBottom: 4, border: '1px solid rgba(107,200,209,0.28)', borderRadius: 3 }}&gt;&#13;&#10;                &lt;Text style={{ fontFamily: 'Consolas', fontSize: 9, color: '#6BC8D1' }}&gt;TEACHING&lt;/Text&gt;&#13;&#10;            &lt;/Box&gt;&#13;&#10;        &lt;/Box&gt;&#13;&#10;&#13;&#10;        &lt;Text style={{ marginTop: 18, fontFamily: 'Consolas', fontSize: 9, color: '#6BC8D1', letterSpacing: 1.2 }}&gt;LEARNING OBJECTIVES&lt;/Text&gt;&#13;&#10;        &lt;Text style={{ marginTop: 7, fontFamily: 'Microsoft YaHei', fontSize: 10.3, color: 'rgba(242,247,248,0.58)', lineHeight: 1.7 }}&gt;· 理解控制中心、监控层、现场层与历史数据区的边界&lt;/Text&gt;&#13;&#10;        &lt;Text style={{ fontFamily: 'Microsoft YaHei', fontSize: 10.3, color: 'rgba(242,247,248,0.58)', lineHeight: 1.7 }}&gt;· 识别 SCADA → Historian 主机级放行的影响&lt;/Text&gt;&#13;&#10;        &lt;Text style={{ fontFamily: 'Microsoft YaHei', fontSize: 10.3, color: 'rgba(242,247,248,0.58)', lineHeight: 1.7 }}&gt;· 关闭直连并保持 HMI 监控与 SCADA 控制业务&lt;/Text&gt;&#13;&#10;&#13;&#10;        &lt;Text style={{ marginTop: 14, fontFamily: 'Consolas', fontSize: 9, color: '#6BC8D1', letterSpacing: 1.2 }}&gt;WATCH FOR&lt;/Text&gt;&#13;&#10;        &lt;Text style={{ marginTop: 7, fontFamily: 'Microsoft YaHei', fontSize: 10.3, color: 'rgba(242,247,248,0.58)', lineHeight: 1.7 }}&gt;HMI 是 seed；SCADA → Historian 的主机级规则显式放行；关闭后走 Default DENY，Historian 不再进入受影响状态。&lt;/Text&gt;&#13;&#10;&#13;&#10;        &lt;Text style={{ marginTop: 14, fontFamily: 'Consolas', fontSize: 9, color: '#E78172', letterSpacing: 1.2 }}&gt;TASK&lt;/Text&gt;&#13;&#10;        &lt;Text style={{ marginTop: 7, fontFamily: 'Microsoft YaHei', fontSize: 10.3, color: 'rgba(242,247,248,0.58)', lineHeight: 1.7 }}&gt;保护 Historian 历史数据库，同时保持 HMI 监控画面与 SCADA 控制指令两条业务可达。&lt;/Text&gt;&#13;&#10;&#13;&#10;        &lt;Box style={{ marginTop: 12, flexDirection: 'row', gap: 7 }}&gt;&#13;&#10;            &lt;Text style={{ fontFamily: 'Consolas', fontSize: 8.5, color: 'rgba(242,247,248,0.36)' }}&gt;区域&lt;/Text&gt;&#13;&#10;            &lt;Text style={{ fontFamily: 'Consolas', fontSize: 8.5, color: 'rgba(242,247,248,0.20)' }}&gt;/&lt;/Text&gt;&#13;&#10;            &lt;Text style={{ fontFamily: 'Consolas', fontSize: 8.5, color: 'rgba(242,247,248,0.36)' }}&gt;管道&lt;/Text&gt;&#13;&#10;            &lt;Text style={{ fontFamily: 'Consolas', fontSize: 8.5, color: 'rgba(242,247,248,0.20)' }}&gt;/&lt;/Text&gt;&#13;&#10;            &lt;Text style={{ fontFamily: 'Consolas', fontSize: 8.5, color: 'rgba(242,247,248,0.36)' }}&gt;历史数据&lt;/Text&gt;&#13;&#10;        &lt;/Box&gt;&#13;&#10;    &lt;/Box&gt;&#13;&#10;&#13;&#10;    &lt;Box style={{ position: 'absolute', left: 712, top: 540, width: 512, paddingTop: 12, borderTop: '1px solid rgba(107,200,209,0.22)' }}&gt;&#13;&#10;        &lt;Text style={{ fontFamily: 'Consolas', fontSize: 9, color: '#6BC8D1', letterSpacing: 1.2 }}&gt;DECISION PATH&lt;/Text&gt;&#13;&#10;        &lt;Text style={{ marginTop: 6, fontFamily: 'Microsoft YaHei', fontSize: 10.2, color: 'rgba(242,247,248,0.54)', lineHeight: 1.7 }}&gt;控制区 → 工业防火墙 → 现场区 / 历史数据区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33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SCENARIO 07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场景图集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814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C8D1"/>
                </a:solidFill>
                <a:latin typeface="Consolas"/>
                <a:ea typeface="Consolas"/>
              </a:rPr>
              <a:t>TEACHING · INDUSTRIAL</a:t>
            </a:r>
            <a:endParaRPr/>
          </a:p>
        </p:txBody>
      </p:sp>
      <p:sp>
        <p:nvSpPr>
          <p:cNvPr id="1167" name=""/>
          <p:cNvSpPr/>
          <p:nvPr/>
        </p:nvSpPr>
        <p:spPr>
          <a:xfrm rot="0" flipH="0" flipV="0">
            <a:off x="533400" y="1333500"/>
            <a:ext cx="5905500" cy="35242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68" name=""/>
          <p:cNvPicPr>
            <a:picLocks noChangeAspect="1"/>
          </p:cNvPicPr>
          <p:nvPr/>
        </p:nvPicPr>
        <p:blipFill>
          <a:blip r:embed="rId2"/>
          <a:srcRect l="46" t="0" r="46" b="0"/>
          <a:stretch>
            <a:fillRect/>
          </a:stretch>
        </p:blipFill>
        <p:spPr>
          <a:xfrm rot="0" flipH="0" flipV="0">
            <a:off x="533400" y="1333500"/>
            <a:ext cx="5905500" cy="3524250"/>
          </a:xfrm>
          <a:prstGeom prst="roundRect">
            <a:avLst>
              <a:gd name="adj" fmla="val 2162"/>
            </a:avLst>
          </a:prstGeom>
          <a:ln/>
        </p:spPr>
      </p:pic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533400" y="4943475"/>
            <a:ext cx="5905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真实界面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挑战场景：控制中心、监控区、现场区与历史数据区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6781800" y="1333500"/>
            <a:ext cx="5238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400925" y="1752600"/>
            <a:ext cx="5905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INDUSTRIAL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6781800" y="2038350"/>
            <a:ext cx="4876800" cy="361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725" b="1">
                <a:solidFill>
                  <a:srgbClr val="F2F7F8"/>
                </a:solidFill>
                <a:latin typeface="Microsoft YaHei"/>
                <a:ea typeface="Microsoft YaHei"/>
              </a:rPr>
              <a:t>从控制中心到现场设备，四层区域各有边界</a:t>
            </a:r>
            <a:endParaRPr/>
          </a:p>
        </p:txBody>
      </p:sp>
      <p:sp>
        <p:nvSpPr>
          <p:cNvPr id="1173" name=""/>
          <p:cNvSpPr/>
          <p:nvPr/>
        </p:nvSpPr>
        <p:spPr>
          <a:xfrm rot="0" flipH="0" flipV="0">
            <a:off x="6781800" y="2514600"/>
            <a:ext cx="352425" cy="190500"/>
          </a:xfrm>
          <a:prstGeom prst="roundRect">
            <a:avLst>
              <a:gd name="adj" fmla="val 15000"/>
            </a:avLst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6867525" y="25527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175" name=""/>
          <p:cNvSpPr/>
          <p:nvPr/>
        </p:nvSpPr>
        <p:spPr>
          <a:xfrm rot="0" flipH="0" flipV="0">
            <a:off x="7210425" y="2514600"/>
            <a:ext cx="457200" cy="190500"/>
          </a:xfrm>
          <a:prstGeom prst="roundRect">
            <a:avLst>
              <a:gd name="adj" fmla="val 15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285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60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1177" name=""/>
          <p:cNvSpPr/>
          <p:nvPr/>
        </p:nvSpPr>
        <p:spPr>
          <a:xfrm rot="0" flipH="0" flipV="0">
            <a:off x="7743825" y="2514600"/>
            <a:ext cx="552450" cy="190500"/>
          </a:xfrm>
          <a:prstGeom prst="roundRect">
            <a:avLst>
              <a:gd name="adj" fmla="val 15000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7829550" y="2552700"/>
            <a:ext cx="3810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6781800" y="287655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LEARNING OBJECTIVES</a:t>
            </a:r>
            <a:endParaRPr/>
          </a:p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6781800" y="3048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理解控制中心、监控层、现场层与历史数据区的边界</a:t>
            </a:r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6781800" y="32575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识别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SCADA → Historian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主机级放行的影响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6781800" y="34671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关闭直连并保持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HMI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监控与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SCADA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控制业务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6781800" y="3810000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WATCH FOR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6781800" y="3981450"/>
            <a:ext cx="48768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HMI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是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seed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；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SCADA → Historian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的主机级规则显式放行；关闭后走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Default DENY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Historian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不再进入受影响状态。</a:t>
            </a:r>
            <a:endParaRPr/>
          </a:p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6781800" y="452437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E78172"/>
                </a:solidFill>
                <a:latin typeface="Consolas"/>
                <a:ea typeface="Consolas"/>
              </a:rPr>
              <a:t>TASK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6781800" y="46958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保护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Historian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历史数据库，同时保持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HMI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监控画面与</a:t>
            </a:r>
            <a:r>
              <a:rPr lang="en-US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SCADA </a:t>
            </a:r>
            <a:r>
              <a:rPr lang="zh-CN" sz="77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控制指令两条业务可达。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6781800" y="50196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区域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7172325" y="5019675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7286625" y="50196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管道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7677150" y="5019675"/>
            <a:ext cx="476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20000"/>
                  </a:srgbClr>
                </a:solidFill>
                <a:latin typeface="Consolas"/>
                <a:ea typeface="Consolas"/>
              </a:rPr>
              <a:t>/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7791450" y="5019675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8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历史数据</a:t>
            </a:r>
            <a:endParaRPr/>
          </a:p>
        </p:txBody>
      </p:sp>
      <p:sp>
        <p:nvSpPr>
          <p:cNvPr id="1192" name=""/>
          <p:cNvSpPr/>
          <p:nvPr/>
        </p:nvSpPr>
        <p:spPr>
          <a:xfrm rot="0" flipH="0" flipV="0">
            <a:off x="6781800" y="5143500"/>
            <a:ext cx="4876800" cy="495300"/>
          </a:xfrm>
          <a:custGeom>
            <a:pathLst>
              <a:path w="512" h="52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6781800" y="5267325"/>
            <a:ext cx="48768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DECISION PATH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6781800" y="54292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控制区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工业防火墙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现场区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历史数据区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33 / 35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9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6 / 功能图集&lt;/Text&gt;&#13;&#10;    &lt;/Box&gt;&#13;&#10;    &lt;Text style={{ position: 'absolute', left: 56, top: 62, fontFamily: 'Microsoft YaHei', fontSize: 31, fontWeight: 'bold', color: '#F2F7F8', letterSpacing: 0.5 }}&gt;演示、分析与复现：结果不只留在实验室&lt;/Text&gt;&#13;&#10;    &lt;Text style={{ position: 'absolute', right: 56, top: 76, fontFamily: 'Consolas', fontSize: 10.5, color: 'rgba(242,247,248,0.42)' }}&gt;PRESENT · ANALYZE · REPRODUCE&lt;/Text&gt;&#13;&#10;&#13;&#10;    &lt;Box style={{ position: 'absolute', left: 56, top: 142, width: 370 }}&gt;&#13;&#10;        &lt;Image src=&quot;assets/appendix_presentation.png&quot; style={{ width: 370, height: 208, objectFit: 'cover', borderRadius: 8, border: '1px solid rgba(107,200,209,0.18)' }} /&gt;&#13;&#10;        &lt;Text style={{ marginTop: 8, fontFamily: 'Consolas', fontSize: 9, color: '#6BC8D1' }}&gt;01 / PRESENTATION&lt;/Text&gt;&#13;&#10;        &lt;Text style={{ marginTop: 3, fontFamily: 'Microsoft YaHei', fontSize: 11, color: 'rgba(242,247,248,0.58)' }}&gt;演示模式 · 收起编辑控件，放大拓扑&lt;/Text&gt;&#13;&#10;    &lt;/Box&gt;&#13;&#10;&#13;&#10;    &lt;Box style={{ position: 'absolute', left: 446, top: 142, width: 370 }}&gt;&#13;&#10;        &lt;Image src=&quot;assets/appendix_analysis.png&quot; style={{ width: 370, height: 208, objectFit: 'cover', borderRadius: 8, border: '1px solid rgba(107,200,209,0.18)' }} /&gt;&#13;&#10;        &lt;Text style={{ marginTop: 8, fontFamily: 'Consolas', fontSize: 9, color: '#6BC8D1' }}&gt;02 / ANALYSIS&lt;/Text&gt;&#13;&#10;        &lt;Text style={{ marginTop: 3, fontFamily: 'Microsoft YaHei', fontSize: 11, color: 'rgba(242,247,248,0.58)' }}&gt;实验分析 · 结论、图表、关键事件&lt;/Text&gt;&#13;&#10;    &lt;/Box&gt;&#13;&#10;&#13;&#10;    &lt;Box style={{ position: 'absolute', left: 836, top: 142, width: 370 }}&gt;&#13;&#10;        &lt;Image src=&quot;assets/appendix_compare.png&quot; style={{ width: 370, height: 208, objectFit: 'cover', borderRadius: 8, border: '1px solid rgba(107,200,209,0.18)' }} /&gt;&#13;&#10;        &lt;Text style={{ marginTop: 8, fontFamily: 'Consolas', fontSize: 9, color: '#6BC8D1' }}&gt;03 / A-B COMPARE&lt;/Text&gt;&#13;&#10;        &lt;Text style={{ marginTop: 3, fontFamily: 'Microsoft YaHei', fontSize: 11, color: 'rgba(242,247,248,0.58)' }}&gt;方案对比 · 同一初始条件，两种配置&lt;/Text&gt;&#13;&#10;    &lt;/Box&gt;&#13;&#10;&#13;&#10;    &lt;Box style={{ position: 'absolute', left: 56, top: 412, width: 370, paddingTop: 14, borderTop: '1px solid rgba(242,247,248,0.10)' }}&gt;&#13;&#10;        &lt;Text style={{ fontFamily: 'Microsoft YaHei', fontSize: 14, fontWeight: 'bold', color: '#F2F7F8' }}&gt;课堂投屏&lt;/Text&gt;&#13;&#10;        &lt;Text style={{ marginTop: 6, fontFamily: 'Microsoft YaHei', fontSize: 10.2, color: 'rgba(242,247,248,0.52)', lineHeight: 1.7 }}&gt;演示模式隐藏编辑入口、放大拓扑；讲解时只保留场景、事件和结果。&lt;/Text&gt;&#13;&#10;    &lt;/Box&gt;&#13;&#10;    &lt;Box style={{ position: 'absolute', left: 446, top: 412, width: 370, paddingTop: 14, borderTop: '1px solid rgba(242,247,248,0.10)' }}&gt;&#13;&#10;        &lt;Text style={{ fontFamily: 'Microsoft YaHei', fontSize: 14, fontWeight: 'bold', color: '#F2F7F8' }}&gt;结果回看&lt;/Text&gt;&#13;&#10;        &lt;Text style={{ marginTop: 6, fontFamily: 'Microsoft YaHei', fontSize: 10.2, color: 'rgba(242,247,248,0.52)', lineHeight: 1.7 }}&gt;关键目标、业务可达、代表链与事件记录同页呈现；报告一键打开打印。&lt;/Text&gt;&#13;&#10;    &lt;/Box&gt;&#13;&#10;    &lt;Box style={{ position: 'absolute', left: 836, top: 412, width: 370, paddingTop: 14, borderTop: '1px solid rgba(242,247,248,0.10)' }}&gt;&#13;&#10;        &lt;Text style={{ fontFamily: 'Microsoft YaHei', fontSize: 14, fontWeight: 'bold', color: '#F2F7F8' }}&gt;带走结果&lt;/Text&gt;&#13;&#10;        &lt;Text style={{ marginTop: 6, fontFamily: 'Microsoft YaHei', fontSize: 10.2, color: 'rgba(242,247,248,0.52)', lineHeight: 1.7 }}&gt;复制复现链接、导出场景 JSON；对方打开后仍是可交互、可重算的沙盘。&lt;/Text&gt;&#13;&#10;    &lt;/Box&gt;&#13;&#10;&#13;&#10;    &lt;Box style={{ position: 'absolute', left: 56, top: 560, width: 1168, flexDirection: 'row', gap: 10 }}&gt;&#13;&#10;        &lt;Box style={{ paddingLeft: 12, paddingRight: 12, paddingTop: 7, paddingBottom: 7, border: '1px solid rgba(107,200,209,0.24)', borderRadius: 4 }}&gt;&#13;&#10;            &lt;Text style={{ fontFamily: 'Microsoft YaHei', fontSize: 10.5, color: '#6BC8D1' }}&gt;演示模式&lt;/Text&gt;&#13;&#10;        &lt;/Box&gt;&#13;&#10;        &lt;Box style={{ paddingLeft: 12, paddingRight: 12, paddingTop: 7, paddingBottom: 7, border: '1px solid rgba(242,247,248,0.12)', borderRadius: 4 }}&gt;&#13;&#10;            &lt;Text style={{ fontFamily: 'Microsoft YaHei', fontSize: 10.5, color: 'rgba(242,247,248,0.58)' }}&gt;实验报告&lt;/Text&gt;&#13;&#10;        &lt;/Box&gt;&#13;&#10;        &lt;Box style={{ paddingLeft: 12, paddingRight: 12, paddingTop: 7, paddingBottom: 7, border: '1px solid rgba(242,247,248,0.12)', borderRadius: 4 }}&gt;&#13;&#10;            &lt;Text style={{ fontFamily: 'Microsoft YaHei', fontSize: 10.5, color: 'rgba(242,247,248,0.58)' }}&gt;复现链接&lt;/Text&gt;&#13;&#10;        &lt;/Box&gt;&#13;&#10;        &lt;Box style={{ paddingLeft: 12, paddingRight: 12, paddingTop: 7, paddingBottom: 7, border: '1px solid rgba(242,247,248,0.12)', borderRadius: 4 }}&gt;&#13;&#10;            &lt;Text style={{ fontFamily: 'Microsoft YaHei', fontSize: 10.5, color: 'rgba(242,247,248,0.58)' }}&gt;场景 JSON 导入 / 导出&lt;/Text&gt;&#13;&#10;        &lt;/Box&gt;&#13;&#10;        &lt;Box style={{ paddingLeft: 12, paddingRight: 12, paddingTop: 7, paddingBottom: 7, border: '1px solid rgba(242,247,248,0.12)', borderRadius: 4 }}&gt;&#13;&#10;            &lt;Text style={{ fontFamily: 'Microsoft YaHei', fontSize: 10.5, color: 'rgba(242,247,248,0.58)' }}&gt;恢复默认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0.5, color: 'rgba(242,247,248,0.44)' }}&gt;分享的是配置，不是截图；对方打开链接后仍能改策略、重新验证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34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06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4006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演示、分析与复现：结果不只留在实验室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PRESENT · ANALYZE · REPRODUCE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5334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05" name=""/>
          <p:cNvPicPr>
            <a:picLocks noChangeAspect="1"/>
          </p:cNvPicPr>
          <p:nvPr/>
        </p:nvPicPr>
        <p:blipFill>
          <a:blip r:embed="rId2"/>
          <a:srcRect l="0" t="30" r="0" b="30"/>
          <a:stretch>
            <a:fillRect/>
          </a:stretch>
        </p:blipFill>
        <p:spPr>
          <a:xfrm rot="0" flipH="0" flipV="0">
            <a:off x="5334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5334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01 / PRESENTATION</a:t>
            </a:r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演示模式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收起编辑控件，放大拓扑</a:t>
            </a:r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424815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09" name=""/>
          <p:cNvPicPr>
            <a:picLocks noChangeAspect="1"/>
          </p:cNvPicPr>
          <p:nvPr/>
        </p:nvPicPr>
        <p:blipFill>
          <a:blip r:embed="rId3"/>
          <a:srcRect l="0" t="30" r="0" b="30"/>
          <a:stretch>
            <a:fillRect/>
          </a:stretch>
        </p:blipFill>
        <p:spPr>
          <a:xfrm rot="0" flipH="0" flipV="0">
            <a:off x="424815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424815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02 / ANALYSIS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424815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实验分析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结论、图表、关键事件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79629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13" name=""/>
          <p:cNvPicPr>
            <a:picLocks noChangeAspect="1"/>
          </p:cNvPicPr>
          <p:nvPr/>
        </p:nvPicPr>
        <p:blipFill>
          <a:blip r:embed="rId4"/>
          <a:srcRect l="0" t="30" r="0" b="30"/>
          <a:stretch>
            <a:fillRect/>
          </a:stretch>
        </p:blipFill>
        <p:spPr>
          <a:xfrm rot="0" flipH="0" flipV="0">
            <a:off x="79629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79629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03 / A-B COMPARE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79629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方案对比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同一初始条件，两种配置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53340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5334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课堂投屏</a:t>
            </a:r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演示模式隐藏编辑入口、放大拓扑；讲解时只保留场景、事件和结果。</a:t>
            </a:r>
            <a:endParaRPr/>
          </a:p>
        </p:txBody>
      </p:sp>
      <p:sp>
        <p:nvSpPr>
          <p:cNvPr id="1219" name=""/>
          <p:cNvSpPr/>
          <p:nvPr/>
        </p:nvSpPr>
        <p:spPr>
          <a:xfrm rot="0" flipH="0" flipV="0">
            <a:off x="424815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424815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关键目标、业务可达、代表链与事件记录同页呈现；报告一键打开打印。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796290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79629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带走结果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796290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复制复现链接、导出场景</a:t>
            </a:r>
            <a:r>
              <a:rPr lang="en-US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；对方打开后仍是可交互、可重算的沙盘。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5334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6477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6BC8D1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12573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13716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实验报告</a:t>
            </a:r>
            <a:endParaRPr/>
          </a:p>
        </p:txBody>
      </p:sp>
      <p:sp>
        <p:nvSpPr>
          <p:cNvPr id="1229" name=""/>
          <p:cNvSpPr/>
          <p:nvPr/>
        </p:nvSpPr>
        <p:spPr>
          <a:xfrm rot="0" flipH="0" flipV="0">
            <a:off x="19812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20955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复现链接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2705100" y="5334000"/>
            <a:ext cx="125730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2819400" y="5400675"/>
            <a:ext cx="1028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导入</a:t>
            </a:r>
            <a:r>
              <a:rPr lang="en-US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1233" name=""/>
          <p:cNvSpPr/>
          <p:nvPr/>
        </p:nvSpPr>
        <p:spPr>
          <a:xfrm rot="0" flipH="0" flipV="0">
            <a:off x="405765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417195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恢复默认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533400" y="596265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000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分享的是配置，不是截图；对方打开链接后仍能改策略、重新验证。</a:t>
            </a:r>
            <a:endParaRPr/>
          </a:p>
        </p:txBody>
      </p:sp>
      <p:sp>
        <p:nvSpPr>
          <p:cNvPr id="123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34 / 35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40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38 }} /&gt;&#13;&#10;    &lt;Box style={{ position: 'absolute', left: 0, top: 0, width: 1280, height: 720, background: 'linear-gradient(90deg, #07111B 0%, rgba(7,17,27,0.97) 40%, rgba(7,17,27,0.76) 70%, rgba(7,17,27,0.60) 100%)' }} /&gt;&#13;&#10;    &lt;Box style={{ position: 'absolute', left: 0, top: 0, width: 1280, height: 720, background: 'linear-gradient(180deg, rgba(7,17,27,0.35) 0%, rgba(7,17,27,0) 35%, rgba(7,17,27,0.55) 100%)' }} /&gt;&#13;&#10;    &lt;Box style={{ position: 'absolute', left: 0, top: 0, width: 5, height: 720, background: '#6BC8D1', opacity: 0.6 }} /&gt;&#13;&#10;&#13;&#10;    &lt;Box style={{ position: 'absolute', left: 92, top: 150, width: 760 }}&gt;&#13;&#10;        &lt;Box style={{ flexDirection: 'row', alignItems: 'center', gap: 10 }}&gt;&#13;&#10;            &lt;Box style={{ width: 18, height: 1, background: '#6BC8D1' }} /&gt;&#13;&#10;            &lt;Text style={{ fontFamily: 'Consolas', fontSize: 10.5, color: '#6BC8D1', letterSpacing: 2 }}&gt;THANK YOU FOR LISTENING&lt;/Text&gt;&#13;&#10;        &lt;/Box&gt;&#13;&#10;        &lt;Text style={{ marginTop: 34, fontFamily: 'Microsoft YaHei', fontSize: 52, fontWeight: 'bold', color: '#F2F7F8', lineHeight: 1.45, letterSpacing: 1 }}&gt;&#13;&#10;            让每一条安全策略，&lt;br /&gt;都能&lt;span style={{ color: '#6BC8D1' }}&gt;被看见&lt;/span&gt;、&lt;span style={{ color: '#6BC8D1' }}&gt;被验证&lt;/span&gt;。&#13;&#10;        &lt;/Text&gt;&#13;&#10;        &lt;Box style={{ marginTop: 24, width: 52, height: 3, background: '#6BC8D1' }} /&gt;&#13;&#10;        &lt;Text style={{ marginTop: 20, fontFamily: 'Microsoft YaHei', fontSize: 17, color: 'rgba(242,247,248,0.66)', letterSpacing: 0.8 }}&gt;智御网络 · 三维网络安全策略交互验证平台&lt;/Text&gt;&#13;&#10;        &lt;Box style={{ marginTop: 26, flexDirection: 'row', gap: 10 }}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观察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干预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解释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复现&lt;/Text&gt;&#13;&#10;            &lt;/Box&gt;&#13;&#10;        &lt;/Box&gt;&#13;&#10;    &lt;/Box&gt;&#13;&#10;&#13;&#10;    &lt;Box style={{ position: 'absolute', left: 92, bottom: 62, flexDirection: 'row', alignItems: 'center', gap: 14 }}&gt;&#13;&#10;        &lt;Text style={{ fontFamily: 'Microsoft YaHei', fontSize: 12, color: 'rgba(242,247,248,0.50)' }}&gt;谢谢聆听 · 欢迎批评指正&lt;/Text&gt;&#13;&#10;        &lt;Box style={{ width: 26, height: 1, background: 'rgba(242,247,248,0.22)' }} /&gt;&#13;&#10;        &lt;Text style={{ fontFamily: 'Consolas', fontSize: 9.5, color: 'rgba(242,247,248,0.34)', letterSpacing: 0.8 }}&gt;2026 全国大学生数字媒体科技作品及创意竞赛&lt;/Text&gt;&#13;&#10;    &lt;/Box&gt;&#13;&#10;&#13;&#10;    &lt;Box style={{ position: 'absolute', right: 62, top: 54, flexDirection: 'row', alignItems: 'center', gap: 8 }}&gt;&#13;&#10;        &lt;Box style={{ width: 6, height: 6, borderRadius: 3, background: '#6BC8D1' }} /&gt;&#13;&#10;        &lt;Text style={{ fontFamily: 'Consolas', fontSize: 9.5, color: 'rgba(242,247,248,0.46)', letterSpacing: 1.4 }}&gt;ZHIYU NETWORK LAB&lt;/Text&gt;&#13;&#10;    &lt;/Box&gt;&#13;&#10;    &lt;Text style={{ position: 'absolute', right: 56, top: 678, fontFamily: 'Consolas', fontSize: 10.5, color: 'rgba(242,247,248,0.40)' }}&gt;35 / 35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242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40000">
                <a:srgbClr val="07111B">
                  <a:alpha val="97000"/>
                </a:srgbClr>
              </a:gs>
              <a:gs pos="70000">
                <a:srgbClr val="07111B">
                  <a:alpha val="76000"/>
                </a:srgbClr>
              </a:gs>
              <a:gs pos="100000">
                <a:srgbClr val="07111B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5000"/>
                </a:srgbClr>
              </a:gs>
              <a:gs pos="35000">
                <a:srgbClr val="07111B">
                  <a:alpha val="0"/>
                </a:srgbClr>
              </a:gs>
              <a:gs pos="100000">
                <a:srgbClr val="07111B">
                  <a:alpha val="5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45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1246" name=""/>
          <p:cNvSpPr/>
          <p:nvPr/>
        </p:nvSpPr>
        <p:spPr>
          <a:xfrm rot="0" flipH="0" flipV="0">
            <a:off x="876300" y="1485900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1704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150">
                <a:solidFill>
                  <a:srgbClr val="6BC8D1"/>
                </a:solidFill>
                <a:latin typeface="Consolas"/>
                <a:ea typeface="Consolas"/>
              </a:rPr>
              <a:t>THANK YOU FOR LISTENING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876300" y="1876425"/>
            <a:ext cx="7239000" cy="1724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让每一条安全策略，</a:t>
            </a:r>
            <a:endParaRPr/>
          </a:p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都能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被看见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、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被验证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49" name=""/>
          <p:cNvSpPr/>
          <p:nvPr/>
        </p:nvSpPr>
        <p:spPr>
          <a:xfrm rot="0" flipH="0" flipV="0">
            <a:off x="876300" y="382905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876300" y="40481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智御网络</a:t>
            </a:r>
            <a:r>
              <a:rPr lang="en-US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1251" name=""/>
          <p:cNvSpPr/>
          <p:nvPr/>
        </p:nvSpPr>
        <p:spPr>
          <a:xfrm rot="0" flipH="0" flipV="0">
            <a:off x="87630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可观察</a:t>
            </a:r>
            <a:endParaRPr/>
          </a:p>
        </p:txBody>
      </p:sp>
      <p:sp>
        <p:nvSpPr>
          <p:cNvPr id="1253" name=""/>
          <p:cNvSpPr/>
          <p:nvPr/>
        </p:nvSpPr>
        <p:spPr>
          <a:xfrm rot="0" flipH="0" flipV="0">
            <a:off x="168592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180022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可干预</a:t>
            </a:r>
            <a:endParaRPr/>
          </a:p>
        </p:txBody>
      </p:sp>
      <p:sp>
        <p:nvSpPr>
          <p:cNvPr id="1255" name=""/>
          <p:cNvSpPr/>
          <p:nvPr/>
        </p:nvSpPr>
        <p:spPr>
          <a:xfrm rot="0" flipH="0" flipV="0">
            <a:off x="249555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260985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330517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341947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可复现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876300" y="61245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谢谢聆听</a:t>
            </a:r>
            <a:r>
              <a:rPr lang="en-US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欢迎批评指正</a:t>
            </a:r>
            <a:endParaRPr/>
          </a:p>
        </p:txBody>
      </p:sp>
      <p:sp>
        <p:nvSpPr>
          <p:cNvPr id="1260" name=""/>
          <p:cNvSpPr/>
          <p:nvPr/>
        </p:nvSpPr>
        <p:spPr>
          <a:xfrm rot="0" flipH="0" flipV="0">
            <a:off x="2247900" y="6191250"/>
            <a:ext cx="247650" cy="9525"/>
          </a:xfrm>
          <a:prstGeom prst="rect">
            <a:avLst/>
          </a:prstGeom>
          <a:solidFill>
            <a:srgbClr val="F2F7F8">
              <a:alpha val="22000"/>
            </a:srgbClr>
          </a:solidFill>
          <a:ln/>
        </p:spPr>
        <p:txBody>
          <a:bodyPr/>
          <a:p/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2628900" y="6143625"/>
            <a:ext cx="3343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2026 </a:t>
            </a:r>
            <a:r>
              <a:rPr lang="zh-CN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1262" name=""/>
          <p:cNvSpPr/>
          <p:nvPr/>
        </p:nvSpPr>
        <p:spPr>
          <a:xfrm rot="0" flipH="0" flipV="0">
            <a:off x="10391775" y="542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10525125" y="514350"/>
            <a:ext cx="1076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10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ZHIYU NETWORK LAB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35 / 35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2026-10-20T10:14:53Z</dcterms:created>
  <dcterms:modified xsi:type="dcterms:W3CDTF">2026-10-20T10:14:53Z</dcterms:modified>
</cp:coreProperties>
</file>