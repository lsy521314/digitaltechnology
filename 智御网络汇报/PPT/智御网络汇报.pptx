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png" ContentType="image/png"/>
  <Default Extension="svg" ContentType="image/svg+xml"/>
  <Override PartName="/ppt/slides/slide1.xml" ContentType="application/vnd.openxmlformats-officedocument.presentationml.slide+xml"/>
  <Override PartName="/ppt/slides/slide21.xml" ContentType="application/vnd.openxmlformats-officedocument.presentationml.slide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docProps/core.xml" ContentType="application/vnd.openxmlformats-package.core-properties+xml"/>
  <Override PartName="/ppt/slides/slide4.xml" ContentType="application/vnd.openxmlformats-officedocument.presentationml.slide+xml"/>
  <Override PartName="/ppt/theme/theme1.xml" ContentType="application/vnd.openxmlformats-officedocument.theme+xml"/>
  <Override PartName="/ppt/slides/slide13.xml" ContentType="application/vnd.openxmlformats-officedocument.presentationml.slide+xml"/>
  <Override PartName="/ppt/slides/slide11.xml" ContentType="application/vnd.openxmlformats-officedocument.presentationml.slide+xml"/>
  <Override PartName="/ppt/slides/slide10.xml" ContentType="application/vnd.openxmlformats-officedocument.presentationml.slide+xml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slides/slide15.xml" ContentType="application/vnd.openxmlformats-officedocument.presentationml.slide+xml"/>
  <Override PartName="/ppt/slides/slide9.xml" ContentType="application/vnd.openxmlformats-officedocument.presentationml.slide+xml"/>
  <Override PartName="/ppt/slides/slide12.xml" ContentType="application/vnd.openxmlformats-officedocument.presentationml.slide+xml"/>
  <Override PartName="/ppt/slides/slide14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2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tableStyles.xml" ContentType="application/vnd.openxmlformats-officedocument.presentationml.tableStyles+xml"/>
  <Override PartName="/ppt/slides/slide7.xml" ContentType="application/vnd.openxmlformats-officedocument.presentationml.slide+xml"/>
  <Override PartName="/ppt/viewProps.xml" ContentType="application/vnd.openxmlformats-officedocument.presentationml.viewProps+xml"/>
  <Override PartName="/ppt/slides/slide3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8.xml" ContentType="application/vnd.openxmlformats-officedocument.presentationml.slide+xml"/>
  <Override PartName="/ppt/theme/theme2.xml" ContentType="application/vnd.openxmlformats-officedocument.theme+xml"/>
</Types>
</file>

<file path=_rels/.rels><?xml version="1.0" encoding="UTF-8" standalone="yes"?><Relationships xmlns="http://schemas.openxmlformats.org/package/2006/relationships"><Relationship Id="rId0" Type="http://schemas.openxmlformats.org/officeDocument/2006/relationships/officeDocument" Target="ppt/presentation.xml" /><Relationship Id="rId1" Type="http://schemas.openxmlformats.org/package/2006/relationships/metadata/core-properties" Target="docProps/core.xml" /><Relationship Id="rId2" Type="http://schemas.openxmlformats.org/officeDocument/2006/relationships/extended-properties" Target="docProps/app.xml" /></Relationships>
</file>

<file path=ppt/presentation.xml><?xml version="1.0" encoding="utf-8"?>
<p:presentation xmlns:p="http://schemas.openxmlformats.org/presentationml/2006/main" xmlns:r="http://schemas.openxmlformats.org/officeDocument/2006/relationships" xmlns:a="http://schemas.openxmlformats.org/drawingml/2006/main" firstSlideNum="1">
  <p:sldMasterIdLst>
    <p:sldMasterId id="2147483648" r:id="rId0"/>
  </p:sldMasterIdLst>
  <p:notesMasterIdLst>
    <p:notesMasterId r:id="rId23"/>
  </p:notesMasterIdLst>
  <p:sldIdLst>
    <p:sldId id="256" r:id="rId1"/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  <p:sldId id="271" r:id="rId16"/>
    <p:sldId id="272" r:id="rId17"/>
    <p:sldId id="273" r:id="rId18"/>
    <p:sldId id="274" r:id="rId19"/>
    <p:sldId id="275" r:id="rId20"/>
    <p:sldId id="276" r:id="rId21"/>
    <p:sldId id="277" r:id="rId22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uri="{E76CE94A-603C-4142-B9EB-6D1370010A27}"/>
    <p:ext uri="{D31A062A-798A-4329-ABDD-BBA856620510}"/>
    <p:ext uri="{FD5EFAAD-0ECE-453E-9831-46B23BE46B34}"/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 xmlns:a="http://schemas.openxmlformats.org/drawing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27" d="100"/>
          <a:sy n="127" d="100"/>
        </p:scale>
        <p:origin x="536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4" Type="http://schemas.openxmlformats.org/officeDocument/2006/relationships/slide" Target="slides/slide4.xml" /><Relationship Id="rId13" Type="http://schemas.openxmlformats.org/officeDocument/2006/relationships/slide" Target="slides/slide13.xml" /><Relationship Id="rId21" Type="http://schemas.openxmlformats.org/officeDocument/2006/relationships/slide" Target="slides/slide21.xml" /><Relationship Id="rId11" Type="http://schemas.openxmlformats.org/officeDocument/2006/relationships/slide" Target="slides/slide11.xml" /><Relationship Id="rId10" Type="http://schemas.openxmlformats.org/officeDocument/2006/relationships/slide" Target="slides/slide10.xml" /><Relationship Id="rId0" Type="http://schemas.openxmlformats.org/officeDocument/2006/relationships/slideMaster" Target="slideMasters/slideMaster1.xml" /><Relationship Id="rId15" Type="http://schemas.openxmlformats.org/officeDocument/2006/relationships/slide" Target="slides/slide15.xml" /><Relationship Id="rId9" Type="http://schemas.openxmlformats.org/officeDocument/2006/relationships/slide" Target="slides/slide9.xml" /><Relationship Id="rId1" Type="http://schemas.openxmlformats.org/officeDocument/2006/relationships/slide" Target="slides/slide1.xml" /><Relationship Id="rId12" Type="http://schemas.openxmlformats.org/officeDocument/2006/relationships/slide" Target="slides/slide12.xml" /><Relationship Id="rId14" Type="http://schemas.openxmlformats.org/officeDocument/2006/relationships/slide" Target="slides/slide14.xml" /><Relationship Id="rId16" Type="http://schemas.openxmlformats.org/officeDocument/2006/relationships/slide" Target="slides/slide16.xml" /><Relationship Id="rId17" Type="http://schemas.openxmlformats.org/officeDocument/2006/relationships/slide" Target="slides/slide17.xml" /><Relationship Id="rId18" Type="http://schemas.openxmlformats.org/officeDocument/2006/relationships/slide" Target="slides/slide18.xml" /><Relationship Id="rId19" Type="http://schemas.openxmlformats.org/officeDocument/2006/relationships/slide" Target="slides/slide19.xml" /><Relationship Id="rId2" Type="http://schemas.openxmlformats.org/officeDocument/2006/relationships/slide" Target="slides/slide2.xml" /><Relationship Id="rId20" Type="http://schemas.openxmlformats.org/officeDocument/2006/relationships/slide" Target="slides/slide20.xml" /><Relationship Id="rId22" Type="http://schemas.openxmlformats.org/officeDocument/2006/relationships/slide" Target="slides/slide22.xml" /><Relationship Id="rId23" Type="http://schemas.openxmlformats.org/officeDocument/2006/relationships/notesMaster" Target="notesMasters/notesMaster1.xml" /><Relationship Id="rId24" Type="http://schemas.openxmlformats.org/officeDocument/2006/relationships/presProps" Target="presProps.xml" /><Relationship Id="rId25" Type="http://schemas.openxmlformats.org/officeDocument/2006/relationships/tableStyles" Target="tableStyles.xml" /><Relationship Id="rId26" Type="http://schemas.openxmlformats.org/officeDocument/2006/relationships/viewProps" Target="viewProps.xml" /><Relationship Id="rId3" Type="http://schemas.openxmlformats.org/officeDocument/2006/relationships/slide" Target="slides/slide3.xml" /><Relationship Id="rId5" Type="http://schemas.openxmlformats.org/officeDocument/2006/relationships/slide" Target="slides/slide5.xml" /><Relationship Id="rId6" Type="http://schemas.openxmlformats.org/officeDocument/2006/relationships/slide" Target="slides/slide6.xml" /><Relationship Id="rId7" Type="http://schemas.openxmlformats.org/officeDocument/2006/relationships/slide" Target="slides/slide7.xml" /><Relationship Id="rId8" Type="http://schemas.openxmlformats.org/officeDocument/2006/relationships/slide" Target="slides/slide8.xml" /></Relationships>
</file>

<file path=ppt/notesMasters/_rels/notesMaster1.xml.rels><?xml version="1.0" encoding="UTF-8" standalone="yes"?><Relationships xmlns="http://schemas.openxmlformats.org/package/2006/relationships"><Relationship Id="rId0" Type="http://schemas.openxmlformats.org/officeDocument/2006/relationships/theme" Target="../theme/theme2.xml" /></Relationships>
</file>

<file path=ppt/notesMasters/notesMaster1.xml><?xml version="1.0" encoding="utf-8"?>
<p:notesMaster xmlns:p="http://schemas.openxmlformats.org/presentationml/2006/main" xmlns:a="http://schemas.openxmlformats.org/drawing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slideLayout1.xml><?xml version="1.0" encoding="utf-8"?>
<p:sldLayout xmlns:p="http://schemas.openxmlformats.org/presentationml/2006/main" xmlns:a="http://schemas.openxmlformats.org/drawing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1" Type="http://schemas.openxmlformats.org/officeDocument/2006/relationships/theme" Target="../theme/theme1.xml" /></Relationships>
</file>

<file path=ppt/slideMasters/slideMaster1.xml><?xml version="1.0" encoding="utf-8"?>
<p:sldMaster xmlns:p="http://schemas.openxmlformats.org/presentationml/2006/main" xmlns:r="http://schemas.openxmlformats.org/officeDocument/2006/relationships" xmlns:a="http://schemas.openxmlformats.org/drawing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0"/>
  </p:sldLayoutIdLst>
  <p:hf sldNum="0" hdr="0" ftr="0" dt="0"/>
  <p:txStyles>
    <p:titleStyle>
      <a:lvl1pPr algn="ctr" defTabSz="914400" rtl="0" eaLnBrk="1" latinLnBrk="0" hangingPunct="1">
        <a:spcBef>
          <a:spcPct val="1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1" Type="http://schemas.openxmlformats.org/officeDocument/2006/relationships/image" Target="media/image1.png" /></Relationships>
</file>

<file path=ppt/slides/_rels/slide2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1" Type="http://schemas.openxmlformats.org/officeDocument/2006/relationships/image" Target="media/image14.svg" /></Relationships>
</file>

<file path=ppt/slides/_rels/slide3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1" Type="http://schemas.openxmlformats.org/officeDocument/2006/relationships/image" Target="media/image17.svg" /></Relationships>
</file>

<file path=ppt/slides/_rels/slide4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1" Type="http://schemas.openxmlformats.org/officeDocument/2006/relationships/image" Target="media/image18.svg" /></Relationships>
</file>

<file path=ppt/slides/_rels/slide5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1" Type="http://schemas.openxmlformats.org/officeDocument/2006/relationships/image" Target="media/image19.svg" /></Relationships>
</file>

<file path=ppt/slides/_rels/slide6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1" Type="http://schemas.openxmlformats.org/officeDocument/2006/relationships/image" Target="media/image20.svg" /><Relationship Id="rId2" Type="http://schemas.openxmlformats.org/officeDocument/2006/relationships/image" Target="media/image21.png" /></Relationships>
</file>

<file path=ppt/slides/_rels/slide7.xml.rels><?xml version="1.0" encoding="UTF-8" standalone="yes"?><Relationships xmlns="http://schemas.openxmlformats.org/package/2006/relationships"><Relationship Id="rId1" Type="http://schemas.openxmlformats.org/officeDocument/2006/relationships/image" Target="media/image4.svg" /><Relationship Id="rId0" Type="http://schemas.openxmlformats.org/officeDocument/2006/relationships/slideLayout" Target="../slideLayouts/slideLayout1.xml" /></Relationships>
</file>

<file path=ppt/slides/_rels/slide8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1" Type="http://schemas.openxmlformats.org/officeDocument/2006/relationships/image" Target="media/image4.svg" /><Relationship Id="rId2" Type="http://schemas.openxmlformats.org/officeDocument/2006/relationships/image" Target="media/image22.png" /></Relationships>
</file>

<file path=ppt/slides/_rels/slide9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1" Type="http://schemas.openxmlformats.org/officeDocument/2006/relationships/image" Target="media/image23.svg" /></Relationships>
</file>

<file path=ppt/slides/_rels/slide10.xml.rels><?xml version="1.0" encoding="UTF-8" standalone="yes"?><Relationships xmlns="http://schemas.openxmlformats.org/package/2006/relationships"><Relationship Id="rId2" Type="http://schemas.openxmlformats.org/officeDocument/2006/relationships/image" Target="media/image3.svg" /><Relationship Id="rId0" Type="http://schemas.openxmlformats.org/officeDocument/2006/relationships/slideLayout" Target="../slideLayouts/slideLayout1.xml" /><Relationship Id="rId1" Type="http://schemas.openxmlformats.org/officeDocument/2006/relationships/image" Target="media/image2.svg" /></Relationships>
</file>

<file path=ppt/slides/_rels/slide11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1" Type="http://schemas.openxmlformats.org/officeDocument/2006/relationships/image" Target="media/image4.svg" /><Relationship Id="rId2" Type="http://schemas.openxmlformats.org/officeDocument/2006/relationships/image" Target="media/image5.png" /></Relationships>
</file>

<file path=ppt/slides/_rels/slide12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1" Type="http://schemas.openxmlformats.org/officeDocument/2006/relationships/image" Target="media/image4.svg" /></Relationships>
</file>

<file path=ppt/slides/_rels/slide13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1" Type="http://schemas.openxmlformats.org/officeDocument/2006/relationships/image" Target="media/image6.svg" /><Relationship Id="rId2" Type="http://schemas.openxmlformats.org/officeDocument/2006/relationships/image" Target="media/image7.svg" /></Relationships>
</file>

<file path=ppt/slides/_rels/slide14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1" Type="http://schemas.openxmlformats.org/officeDocument/2006/relationships/image" Target="media/image4.svg" /><Relationship Id="rId2" Type="http://schemas.openxmlformats.org/officeDocument/2006/relationships/image" Target="media/image8.png" /></Relationships>
</file>

<file path=ppt/slides/_rels/slide15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1" Type="http://schemas.openxmlformats.org/officeDocument/2006/relationships/image" Target="media/image9.svg" /></Relationships>
</file>

<file path=ppt/slides/_rels/slide16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1" Type="http://schemas.openxmlformats.org/officeDocument/2006/relationships/image" Target="media/image10.svg" /></Relationships>
</file>

<file path=ppt/slides/_rels/slide17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1" Type="http://schemas.openxmlformats.org/officeDocument/2006/relationships/image" Target="media/image11.svg" /></Relationships>
</file>

<file path=ppt/slides/_rels/slide18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1" Type="http://schemas.openxmlformats.org/officeDocument/2006/relationships/image" Target="media/image4.svg" /><Relationship Id="rId2" Type="http://schemas.openxmlformats.org/officeDocument/2006/relationships/image" Target="media/image12.svg" /></Relationships>
</file>

<file path=ppt/slides/_rels/slide19.xml.rels><?xml version="1.0" encoding="UTF-8" standalone="yes"?><Relationships xmlns="http://schemas.openxmlformats.org/package/2006/relationships"><Relationship Id="rId1" Type="http://schemas.openxmlformats.org/officeDocument/2006/relationships/image" Target="media/image13.svg" /><Relationship Id="rId0" Type="http://schemas.openxmlformats.org/officeDocument/2006/relationships/slideLayout" Target="../slideLayouts/slideLayout1.xml" /></Relationships>
</file>

<file path=ppt/slides/_rels/slide20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1" Type="http://schemas.openxmlformats.org/officeDocument/2006/relationships/image" Target="media/image15.svg" /></Relationships>
</file>

<file path=ppt/slides/_rels/slide21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1" Type="http://schemas.openxmlformats.org/officeDocument/2006/relationships/image" Target="media/image16.svg" /></Relationships>
</file>

<file path=ppt/slides/_rels/slide22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1" Type="http://schemas.openxmlformats.org/officeDocument/2006/relationships/image" Target="media/image1.png" /></Relationships>
</file>

<file path=ppt/slides/slide1.xml><?xml version="1.0" encoding="utf-8"?>
<p:sld xmlns:p="http://schemas.openxmlformats.org/presentationml/2006/main" xmlns:r="http://schemas.openxmlformats.org/officeDocument/2006/relationships" xmlns:a="http://schemas.openxmlformats.org/drawingml/2006/main">
  <p:cSld>
    <p:spTree>
      <p:nvGrpSpPr>
        <p:cNvPr id="1" name="" descr="&lt;Slide style={{ width: 1280, height: 720, background: '#07111B', padding: 0, position: 'relative', overflow: 'hidden' }}&gt;&#10;    &lt;Image src=&quot;assets/cover_topology.png&quot; style={{ position: 'absolute', left: 0, top: 0, width: 1280, height: 720, objectFit: 'cover', opacity: 0.62 }} /&gt;&#10;    &lt;Box style={{ position: 'absolute', left: 0, top: 0, width: 1280, height: 720, background: 'linear-gradient(90deg, #07111B 0%, rgba(7,17,27,0.98) 34%, rgba(7,17,27,0.78) 56%, rgba(7,17,27,0.38) 100%)' }} /&gt;&#10;    &lt;Box style={{ position: 'absolute', left: 0, top: 0, width: 1280, height: 720, background: 'linear-gradient(180deg, rgba(7,17,27,0.30) 0%, rgba(7,17,27,0) 30%, rgba(7,17,27,0) 70%, rgba(7,17,27,0.72) 100%)' }} /&gt;&#10;    &lt;Box style={{ position: 'absolute', left: 0, top: 0, width: 5, height: 720, background: '#6BC8D1', opacity: 0.6 }} /&gt;&#10;&#10;    &lt;Box style={{ position: 'absolute', left: 72, top: 88, width: 560 }}&gt;&#10;        &lt;Box style={{ flexDirection: 'row', alignItems: 'center', gap: 10 }}&gt;&#10;            &lt;Box style={{ width: 18, height: 1, background: '#6BC8D1' }} /&gt;&#10;            &lt;Text style={{ fontFamily: 'Consolas', fontSize: 11, color: '#6BC8D1', letterSpacing: 1.5 }}&gt;2026 全国大学生数字媒体科技作品及创意竞赛&lt;/Text&gt;&#10;        &lt;/Box&gt;&#10;        &lt;Text style={{ marginTop: 24, fontFamily: 'Microsoft YaHei', fontSize: 82, fontWeight: 'bold', color: '#F2F7F8', letterSpacing: 4, lineHeight: 1.05 }}&gt;智御网络&lt;/Text&gt;&#10;        &lt;Box style={{ marginTop: 14, width: 48, height: 3, background: '#6BC8D1' }} /&gt;&#10;        &lt;Text style={{ marginTop: 18, fontFamily: 'Microsoft YaHei', fontSize: 24, color: '#F2F7F8', letterSpacing: 1.2 }}&gt;三维网络安全策略交互验证平台&lt;/Text&gt;&#10;        &lt;Text style={{ marginTop: 18, fontFamily: 'Microsoft YaHei', fontSize: 14.5, color: 'rgba(242,247,248,0.68)', lineHeight: 1.8, width: 450 }}&gt;&#10;            在企业网络沙盘中调整拓扑与防御策略，观察事件路径、攻击状态、业务可达性，并用 A/B 对照验证每一次改动。&#10;        &lt;/Text&gt;&#10;        &lt;Box style={{ marginTop: 26, flexDirection: 'row', gap: 10 }}&gt;&#10;            &lt;Box style={{ paddingLeft: 12, paddingRight: 12, paddingTop: 6, paddingBottom: 6, border: '1px solid rgba(107,200,209,0.30)', borderRadius: 4 }}&gt;&#10;                &lt;Text style={{ fontFamily: 'Consolas', fontSize: 10.5, color: '#6BC8D1', letterSpacing: 0.8 }}&gt;三维交互&lt;/Text&gt;&#10;            &lt;/Box&gt;&#10;            &lt;Box style={{ paddingLeft: 12, paddingRight: 12, paddingTop: 6, paddingBottom: 6, border: '1px solid rgba(107,200,209,0.30)', borderRadius: 4 }}&gt;&#10;                &lt;Text style={{ fontFamily: 'Consolas', fontSize: 10.5, color: '#6BC8D1', letterSpacing: 0.8 }}&gt;状态推演&lt;/Text&gt;&#10;            &lt;/Box&gt;&#10;            &lt;Box style={{ paddingLeft: 12, paddingRight: 12, paddingTop: 6, paddingBottom: 6, border: '1px solid rgba(107,200,209,0.30)', borderRadius: 4 }}&gt;&#10;                &lt;Text style={{ fontFamily: 'Consolas', fontSize: 10.5, color: '#6BC8D1', letterSpacing: 0.8 }}&gt;A/B 验证&lt;/Text&gt;&#10;            &lt;/Box&gt;&#10;        &lt;/Box&gt;&#10;    &lt;/Box&gt;&#10;&#10;    &lt;Box style={{ position: 'absolute', left: 72, bottom: 50, flexDirection: 'row', alignItems: 'center', gap: 14 }}&gt;&#10;        &lt;Text style={{ fontFamily: 'Consolas', fontSize: 11, color: 'rgba(242,247,248,0.48)', letterSpacing: 1.4 }}&gt;参赛作品汇报&lt;/Text&gt;&#10;        &lt;Box style={{ width: 26, height: 1, background: 'rgba(242,247,248,0.24)' }} /&gt;&#10;        &lt;Text style={{ fontFamily: 'Consolas', fontSize: 11, color: 'rgba(242,247,248,0.48)', letterSpacing: 1.4 }}&gt;2026.10&lt;/Text&gt;&#10;    &lt;/Box&gt;&#10;&#10;    &lt;Box style={{ position: 'absolute', right: 56, top: 44, flexDirection: 'row', alignItems: 'center', gap: 8 }}&gt;&#10;        &lt;Box style={{ width: 6, height: 6, borderRadius: 3, background: '#6BC8D1' }} /&gt;&#10;        &lt;Text style={{ fontFamily: 'Consolas', fontSize: 10, color: 'rgba(242,247,248,0.52)', letterSpacing: 1.6 }}&gt;INTERACTIVE SECURITY SANDBOX&lt;/Text&gt;&#10;    &lt;/Box&gt;&#10;&#10;    &lt;Box style={{ position: 'absolute', right: 56, bottom: 50, flexDirection: 'row', alignItems: 'center', gap: 10 }}&gt;&#10;        &lt;Text style={{ fontFamily: 'Consolas', fontSize: 10, color: 'rgba(242,247,248,0.46)', letterSpacing: 1 }}&gt;核心实验 · 终端失陷与横向传播&lt;/Text&gt;&#10;        &lt;Box style={{ width: 22, height: 1, background: 'rgba(107,200,209,0.46)' }} /&gt;&#10;  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07111B"/>
          </a:solidFill>
          <a:ln/>
        </p:spPr>
        <p:txBody>
          <a:bodyPr/>
          <a:p/>
        </p:txBody>
      </p:sp>
      <p:pic>
        <p:nvPicPr>
          <p:cNvPr id="3" name=""/>
          <p:cNvPicPr>
            <a:picLocks noChangeAspect="1"/>
          </p:cNvPicPr>
          <p:nvPr/>
        </p:nvPicPr>
        <p:blipFill>
          <a:blip r:embed="rId1">
            <a:alphaModFix amt="62000"/>
          </a:blip>
          <a:srcRect l="43" t="0" r="43" b="0"/>
          <a:stretch>
            <a:fillRect/>
          </a:stretch>
        </p:blipFill>
        <p:spPr>
          <a:xfrm rot="0" flipH="0" flipV="0">
            <a:off x="0" y="0"/>
            <a:ext cx="12192000" cy="6858000"/>
          </a:xfrm>
          <a:prstGeom prst="rect">
            <a:avLst/>
          </a:prstGeom>
          <a:ln/>
        </p:spPr>
      </p:pic>
      <p:sp>
        <p:nvSpPr>
          <p:cNvPr id="4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07111B"/>
              </a:gs>
              <a:gs pos="34000">
                <a:srgbClr val="07111B">
                  <a:alpha val="98000"/>
                </a:srgbClr>
              </a:gs>
              <a:gs pos="56000">
                <a:srgbClr val="07111B">
                  <a:alpha val="78000"/>
                </a:srgbClr>
              </a:gs>
              <a:gs pos="100000">
                <a:srgbClr val="07111B">
                  <a:alpha val="38000"/>
                </a:srgbClr>
              </a:gs>
            </a:gsLst>
            <a:lin ang="0" scaled="1"/>
          </a:gradFill>
          <a:ln/>
        </p:spPr>
        <p:txBody>
          <a:bodyPr/>
          <a:p/>
        </p:txBody>
      </p:sp>
      <p:sp>
        <p:nvSpPr>
          <p:cNvPr id="5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07111B">
                  <a:alpha val="30000"/>
                </a:srgbClr>
              </a:gs>
              <a:gs pos="30000">
                <a:srgbClr val="07111B">
                  <a:alpha val="0"/>
                </a:srgbClr>
              </a:gs>
              <a:gs pos="70000">
                <a:srgbClr val="07111B">
                  <a:alpha val="0"/>
                </a:srgbClr>
              </a:gs>
              <a:gs pos="100000">
                <a:srgbClr val="07111B">
                  <a:alpha val="72000"/>
                </a:srgbClr>
              </a:gs>
            </a:gsLst>
            <a:lin ang="5400000" scaled="1"/>
          </a:gradFill>
          <a:ln/>
        </p:spPr>
        <p:txBody>
          <a:bodyPr/>
          <a:p/>
        </p:txBody>
      </p:sp>
      <p:sp>
        <p:nvSpPr>
          <p:cNvPr id="6" name=""/>
          <p:cNvSpPr/>
          <p:nvPr/>
        </p:nvSpPr>
        <p:spPr>
          <a:xfrm rot="0" flipH="0" flipV="0">
            <a:off x="0" y="0"/>
            <a:ext cx="47625" cy="6858000"/>
          </a:xfrm>
          <a:prstGeom prst="rect">
            <a:avLst/>
          </a:prstGeom>
          <a:solidFill>
            <a:srgbClr val="6BC8D1">
              <a:alpha val="60000"/>
            </a:srgbClr>
          </a:solidFill>
          <a:ln/>
        </p:spPr>
        <p:txBody>
          <a:bodyPr/>
          <a:p/>
        </p:txBody>
      </p:sp>
      <p:sp>
        <p:nvSpPr>
          <p:cNvPr id="7" name=""/>
          <p:cNvSpPr/>
          <p:nvPr/>
        </p:nvSpPr>
        <p:spPr>
          <a:xfrm rot="0" flipH="0" flipV="0">
            <a:off x="685800" y="904875"/>
            <a:ext cx="171450" cy="9525"/>
          </a:xfrm>
          <a:prstGeom prst="rect">
            <a:avLst/>
          </a:prstGeom>
          <a:solidFill>
            <a:srgbClr val="6BC8D1"/>
          </a:solidFill>
          <a:ln/>
        </p:spPr>
        <p:txBody>
          <a:bodyPr/>
          <a:p/>
        </p:txBody>
      </p:sp>
      <p:sp>
        <p:nvSpPr>
          <p:cNvPr id="8" name="" descr="{&quot;isTemplate&quot;:true,&quot;type&quot;:&quot;text&quot;}"/>
          <p:cNvSpPr txBox="1"/>
          <p:nvPr/>
        </p:nvSpPr>
        <p:spPr>
          <a:xfrm rot="0" flipH="0" flipV="0">
            <a:off x="952500" y="838200"/>
            <a:ext cx="3533775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825" spc="113">
                <a:solidFill>
                  <a:srgbClr val="6BC8D1"/>
                </a:solidFill>
                <a:latin typeface="Consolas"/>
                <a:ea typeface="Consolas"/>
              </a:rPr>
              <a:t>2026 </a:t>
            </a:r>
            <a:r>
              <a:rPr lang="zh-CN" sz="825" spc="113">
                <a:solidFill>
                  <a:srgbClr val="6BC8D1"/>
                </a:solidFill>
                <a:latin typeface="Consolas"/>
                <a:ea typeface="Consolas"/>
              </a:rPr>
              <a:t>全国大学生数字媒体科技作品及创意竞赛</a:t>
            </a:r>
            <a:endParaRPr/>
          </a:p>
        </p:txBody>
      </p:sp>
      <p:sp>
        <p:nvSpPr>
          <p:cNvPr id="9" name="" descr="{&quot;isTemplate&quot;:true,&quot;type&quot;:&quot;text&quot;}"/>
          <p:cNvSpPr txBox="1"/>
          <p:nvPr/>
        </p:nvSpPr>
        <p:spPr>
          <a:xfrm rot="0" flipH="0" flipV="0">
            <a:off x="685800" y="1200150"/>
            <a:ext cx="5334000" cy="990600"/>
          </a:xfrm>
          <a:prstGeom prst="rect"/>
        </p:spPr>
        <p:txBody>
          <a:bodyPr wrap="none" lIns="0" tIns="0" rIns="0" bIns="0"/>
          <a:p>
            <a:pPr>
              <a:lnSpc>
                <a:spcPct val="105000"/>
              </a:lnSpc>
            </a:pPr>
            <a:r>
              <a:rPr lang="zh-CN" sz="6150" b="1" spc="300">
                <a:solidFill>
                  <a:srgbClr val="F2F7F8"/>
                </a:solidFill>
                <a:latin typeface="Microsoft YaHei"/>
                <a:ea typeface="Microsoft YaHei"/>
              </a:rPr>
              <a:t>智御网络</a:t>
            </a:r>
            <a:endParaRPr/>
          </a:p>
        </p:txBody>
      </p:sp>
      <p:sp>
        <p:nvSpPr>
          <p:cNvPr id="10" name=""/>
          <p:cNvSpPr/>
          <p:nvPr/>
        </p:nvSpPr>
        <p:spPr>
          <a:xfrm rot="0" flipH="0" flipV="0">
            <a:off x="685800" y="2324100"/>
            <a:ext cx="457200" cy="28575"/>
          </a:xfrm>
          <a:prstGeom prst="rect">
            <a:avLst/>
          </a:prstGeom>
          <a:solidFill>
            <a:srgbClr val="6BC8D1"/>
          </a:solidFill>
          <a:ln/>
        </p:spPr>
        <p:txBody>
          <a:bodyPr/>
          <a:p/>
        </p:txBody>
      </p:sp>
      <p:sp>
        <p:nvSpPr>
          <p:cNvPr id="11" name="" descr="{&quot;isTemplate&quot;:true,&quot;type&quot;:&quot;text&quot;}"/>
          <p:cNvSpPr txBox="1"/>
          <p:nvPr/>
        </p:nvSpPr>
        <p:spPr>
          <a:xfrm rot="0" flipH="0" flipV="0">
            <a:off x="685800" y="2524125"/>
            <a:ext cx="5334000" cy="2762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800" spc="90">
                <a:solidFill>
                  <a:srgbClr val="F2F7F8"/>
                </a:solidFill>
                <a:latin typeface="Microsoft YaHei"/>
                <a:ea typeface="Microsoft YaHei"/>
              </a:rPr>
              <a:t>三维网络安全策略交互验证平台</a:t>
            </a:r>
            <a:endParaRPr/>
          </a:p>
        </p:txBody>
      </p:sp>
      <p:sp>
        <p:nvSpPr>
          <p:cNvPr id="12" name="" descr="{&quot;isTemplate&quot;:true,&quot;type&quot;:&quot;text&quot;}"/>
          <p:cNvSpPr txBox="1"/>
          <p:nvPr/>
        </p:nvSpPr>
        <p:spPr>
          <a:xfrm rot="0" flipH="0" flipV="0">
            <a:off x="685800" y="2971800"/>
            <a:ext cx="4286250" cy="60007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80000"/>
              </a:lnSpc>
            </a:pPr>
            <a:r>
              <a:rPr lang="zh-CN" sz="1088">
                <a:solidFill>
                  <a:srgbClr val="F2F7F8">
                    <a:alpha val="68000"/>
                  </a:srgbClr>
                </a:solidFill>
                <a:latin typeface="Microsoft YaHei"/>
                <a:ea typeface="Microsoft YaHei"/>
              </a:rPr>
              <a:t>在企业网络沙盘中调整拓扑与防御策略，观察事件路径、攻击状态、业务可达性，并用</a:t>
            </a:r>
            <a:r>
              <a:rPr lang="en-US" sz="1088">
                <a:solidFill>
                  <a:srgbClr val="F2F7F8">
                    <a:alpha val="68000"/>
                  </a:srgbClr>
                </a:solidFill>
                <a:latin typeface="Microsoft YaHei"/>
                <a:ea typeface="Microsoft YaHei"/>
              </a:rPr>
              <a:t> A/B </a:t>
            </a:r>
            <a:r>
              <a:rPr lang="zh-CN" sz="1088">
                <a:solidFill>
                  <a:srgbClr val="F2F7F8">
                    <a:alpha val="68000"/>
                  </a:srgbClr>
                </a:solidFill>
                <a:latin typeface="Microsoft YaHei"/>
                <a:ea typeface="Microsoft YaHei"/>
              </a:rPr>
              <a:t>对照验证每一次改动。</a:t>
            </a:r>
            <a:endParaRPr/>
          </a:p>
        </p:txBody>
      </p:sp>
      <p:sp>
        <p:nvSpPr>
          <p:cNvPr id="13" name=""/>
          <p:cNvSpPr/>
          <p:nvPr/>
        </p:nvSpPr>
        <p:spPr>
          <a:xfrm rot="0" flipH="0" flipV="0">
            <a:off x="685800" y="3819525"/>
            <a:ext cx="914400" cy="238125"/>
          </a:xfrm>
          <a:prstGeom prst="roundRect">
            <a:avLst>
              <a:gd name="adj" fmla="val 16000"/>
            </a:avLst>
          </a:prstGeom>
          <a:ln w="12700">
            <a:solidFill>
              <a:srgbClr val="6BC8D1">
                <a:alpha val="30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4" name="" descr="{&quot;isTemplate&quot;:true,&quot;type&quot;:&quot;text&quot;}"/>
          <p:cNvSpPr txBox="1"/>
          <p:nvPr/>
        </p:nvSpPr>
        <p:spPr>
          <a:xfrm rot="0" flipH="0" flipV="0">
            <a:off x="800100" y="3876675"/>
            <a:ext cx="685800" cy="1238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788" spc="60">
                <a:solidFill>
                  <a:srgbClr val="6BC8D1"/>
                </a:solidFill>
                <a:latin typeface="Consolas"/>
                <a:ea typeface="Consolas"/>
              </a:rPr>
              <a:t>三维交互</a:t>
            </a:r>
            <a:endParaRPr/>
          </a:p>
        </p:txBody>
      </p:sp>
      <p:sp>
        <p:nvSpPr>
          <p:cNvPr id="15" name=""/>
          <p:cNvSpPr/>
          <p:nvPr/>
        </p:nvSpPr>
        <p:spPr>
          <a:xfrm rot="0" flipH="0" flipV="0">
            <a:off x="1695450" y="3819525"/>
            <a:ext cx="914400" cy="238125"/>
          </a:xfrm>
          <a:prstGeom prst="roundRect">
            <a:avLst>
              <a:gd name="adj" fmla="val 16000"/>
            </a:avLst>
          </a:prstGeom>
          <a:ln w="12700">
            <a:solidFill>
              <a:srgbClr val="6BC8D1">
                <a:alpha val="30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6" name="" descr="{&quot;isTemplate&quot;:true,&quot;type&quot;:&quot;text&quot;}"/>
          <p:cNvSpPr txBox="1"/>
          <p:nvPr/>
        </p:nvSpPr>
        <p:spPr>
          <a:xfrm rot="0" flipH="0" flipV="0">
            <a:off x="1809750" y="3876675"/>
            <a:ext cx="685800" cy="1238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788" spc="60">
                <a:solidFill>
                  <a:srgbClr val="6BC8D1"/>
                </a:solidFill>
                <a:latin typeface="Consolas"/>
                <a:ea typeface="Consolas"/>
              </a:rPr>
              <a:t>状态推演</a:t>
            </a:r>
            <a:endParaRPr/>
          </a:p>
        </p:txBody>
      </p:sp>
      <p:sp>
        <p:nvSpPr>
          <p:cNvPr id="17" name=""/>
          <p:cNvSpPr/>
          <p:nvPr/>
        </p:nvSpPr>
        <p:spPr>
          <a:xfrm rot="0" flipH="0" flipV="0">
            <a:off x="2705100" y="3819525"/>
            <a:ext cx="819150" cy="238125"/>
          </a:xfrm>
          <a:prstGeom prst="roundRect">
            <a:avLst>
              <a:gd name="adj" fmla="val 16000"/>
            </a:avLst>
          </a:prstGeom>
          <a:ln w="12700">
            <a:solidFill>
              <a:srgbClr val="6BC8D1">
                <a:alpha val="30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8" name="" descr="{&quot;isTemplate&quot;:true,&quot;type&quot;:&quot;text&quot;}"/>
          <p:cNvSpPr txBox="1"/>
          <p:nvPr/>
        </p:nvSpPr>
        <p:spPr>
          <a:xfrm rot="0" flipH="0" flipV="0">
            <a:off x="2819400" y="3876675"/>
            <a:ext cx="590550" cy="1238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788" spc="60">
                <a:solidFill>
                  <a:srgbClr val="6BC8D1"/>
                </a:solidFill>
                <a:latin typeface="Consolas"/>
                <a:ea typeface="Consolas"/>
              </a:rPr>
              <a:t>A/B </a:t>
            </a:r>
            <a:r>
              <a:rPr lang="zh-CN" sz="788" spc="60">
                <a:solidFill>
                  <a:srgbClr val="6BC8D1"/>
                </a:solidFill>
                <a:latin typeface="Consolas"/>
                <a:ea typeface="Consolas"/>
              </a:rPr>
              <a:t>验证</a:t>
            </a:r>
            <a:endParaRPr/>
          </a:p>
        </p:txBody>
      </p:sp>
      <p:sp>
        <p:nvSpPr>
          <p:cNvPr id="19" name="" descr="{&quot;isTemplate&quot;:true,&quot;type&quot;:&quot;text&quot;}"/>
          <p:cNvSpPr txBox="1"/>
          <p:nvPr/>
        </p:nvSpPr>
        <p:spPr>
          <a:xfrm rot="0" flipH="0" flipV="0">
            <a:off x="685800" y="6248400"/>
            <a:ext cx="1057275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825" spc="105">
                <a:solidFill>
                  <a:srgbClr val="F2F7F8">
                    <a:alpha val="48000"/>
                  </a:srgbClr>
                </a:solidFill>
                <a:latin typeface="Consolas"/>
                <a:ea typeface="Consolas"/>
              </a:rPr>
              <a:t>参赛作品汇报</a:t>
            </a:r>
            <a:endParaRPr/>
          </a:p>
        </p:txBody>
      </p:sp>
      <p:sp>
        <p:nvSpPr>
          <p:cNvPr id="20" name=""/>
          <p:cNvSpPr/>
          <p:nvPr/>
        </p:nvSpPr>
        <p:spPr>
          <a:xfrm rot="0" flipH="0" flipV="0">
            <a:off x="1876425" y="6315075"/>
            <a:ext cx="247650" cy="9525"/>
          </a:xfrm>
          <a:prstGeom prst="rect">
            <a:avLst/>
          </a:prstGeom>
          <a:solidFill>
            <a:srgbClr val="F2F7F8">
              <a:alpha val="24000"/>
            </a:srgbClr>
          </a:solidFill>
          <a:ln/>
        </p:spPr>
        <p:txBody>
          <a:bodyPr/>
          <a:p/>
        </p:txBody>
      </p:sp>
      <p:sp>
        <p:nvSpPr>
          <p:cNvPr id="21" name="" descr="{&quot;isTemplate&quot;:true,&quot;type&quot;:&quot;text&quot;}"/>
          <p:cNvSpPr txBox="1"/>
          <p:nvPr/>
        </p:nvSpPr>
        <p:spPr>
          <a:xfrm rot="0" flipH="0" flipV="0">
            <a:off x="2257425" y="6248400"/>
            <a:ext cx="504825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825" spc="105">
                <a:solidFill>
                  <a:srgbClr val="F2F7F8">
                    <a:alpha val="48000"/>
                  </a:srgbClr>
                </a:solidFill>
                <a:latin typeface="Consolas"/>
                <a:ea typeface="Consolas"/>
              </a:rPr>
              <a:t>2026.10</a:t>
            </a:r>
            <a:endParaRPr/>
          </a:p>
        </p:txBody>
      </p:sp>
      <p:sp>
        <p:nvSpPr>
          <p:cNvPr id="22" name=""/>
          <p:cNvSpPr/>
          <p:nvPr/>
        </p:nvSpPr>
        <p:spPr>
          <a:xfrm rot="0" flipH="0" flipV="0">
            <a:off x="9629775" y="447675"/>
            <a:ext cx="57150" cy="57150"/>
          </a:xfrm>
          <a:prstGeom prst="roundRect">
            <a:avLst>
              <a:gd name="adj" fmla="val 50000"/>
            </a:avLst>
          </a:prstGeom>
          <a:solidFill>
            <a:srgbClr val="6BC8D1"/>
          </a:solidFill>
          <a:ln/>
        </p:spPr>
        <p:txBody>
          <a:bodyPr/>
          <a:p/>
        </p:txBody>
      </p:sp>
      <p:sp>
        <p:nvSpPr>
          <p:cNvPr id="23" name="" descr="{&quot;isTemplate&quot;:true,&quot;type&quot;:&quot;text&quot;}"/>
          <p:cNvSpPr txBox="1"/>
          <p:nvPr/>
        </p:nvSpPr>
        <p:spPr>
          <a:xfrm rot="0" flipH="0" flipV="0">
            <a:off x="9763125" y="419100"/>
            <a:ext cx="1895475" cy="1143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750" spc="120">
                <a:solidFill>
                  <a:srgbClr val="F2F7F8">
                    <a:alpha val="52000"/>
                  </a:srgbClr>
                </a:solidFill>
                <a:latin typeface="Consolas"/>
                <a:ea typeface="Consolas"/>
              </a:rPr>
              <a:t>INTERACTIVE SECURITY SANDBOX</a:t>
            </a:r>
            <a:endParaRPr/>
          </a:p>
        </p:txBody>
      </p:sp>
      <p:sp>
        <p:nvSpPr>
          <p:cNvPr id="24" name="" descr="{&quot;isTemplate&quot;:true,&quot;type&quot;:&quot;text&quot;}"/>
          <p:cNvSpPr txBox="1"/>
          <p:nvPr/>
        </p:nvSpPr>
        <p:spPr>
          <a:xfrm rot="0" flipH="0" flipV="0">
            <a:off x="8934450" y="6267450"/>
            <a:ext cx="2419350" cy="1143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750" spc="75">
                <a:solidFill>
                  <a:srgbClr val="F2F7F8">
                    <a:alpha val="46000"/>
                  </a:srgbClr>
                </a:solidFill>
                <a:latin typeface="Consolas"/>
                <a:ea typeface="Consolas"/>
              </a:rPr>
              <a:t>核心实验</a:t>
            </a:r>
            <a:r>
              <a:rPr lang="en-US" sz="750" spc="75">
                <a:solidFill>
                  <a:srgbClr val="F2F7F8">
                    <a:alpha val="46000"/>
                  </a:srgbClr>
                </a:solidFill>
                <a:latin typeface="Consolas"/>
                <a:ea typeface="Consolas"/>
              </a:rPr>
              <a:t> · </a:t>
            </a:r>
            <a:r>
              <a:rPr lang="zh-CN" sz="750" spc="75">
                <a:solidFill>
                  <a:srgbClr val="F2F7F8">
                    <a:alpha val="46000"/>
                  </a:srgbClr>
                </a:solidFill>
                <a:latin typeface="Consolas"/>
                <a:ea typeface="Consolas"/>
              </a:rPr>
              <a:t>终端失陷与横向传播</a:t>
            </a:r>
            <a:endParaRPr/>
          </a:p>
        </p:txBody>
      </p:sp>
      <p:sp>
        <p:nvSpPr>
          <p:cNvPr id="25" name=""/>
          <p:cNvSpPr/>
          <p:nvPr/>
        </p:nvSpPr>
        <p:spPr>
          <a:xfrm rot="0" flipH="0" flipV="0">
            <a:off x="11449050" y="6324600"/>
            <a:ext cx="209550" cy="9525"/>
          </a:xfrm>
          <a:prstGeom prst="rect">
            <a:avLst/>
          </a:prstGeom>
          <a:solidFill>
            <a:srgbClr val="6BC8D1">
              <a:alpha val="46000"/>
            </a:srgbClr>
          </a:solidFill>
          <a:ln/>
        </p:spPr>
        <p:txBody>
          <a:bodyPr/>
          <a:p/>
        </p:txBody>
      </p:sp>
    </p:spTree>
  </p:cSld>
</p:sld>
</file>

<file path=ppt/slides/slide2.xml><?xml version="1.0" encoding="utf-8"?>
<p:sld xmlns:p="http://schemas.openxmlformats.org/presentationml/2006/main" xmlns:r="http://schemas.openxmlformats.org/officeDocument/2006/relationships" xmlns:a="http://schemas.openxmlformats.org/drawingml/2006/main" xmlns:asvg="http://schemas.microsoft.com/office/drawing/2016/SVG/main" xmlns:mc="http://schemas.openxmlformats.org/markup-compatibility/2006" mc:Ignorable="asvg">
  <p:cSld>
    <p:spTree>
      <p:nvGrpSpPr>
        <p:cNvPr id="566" name="" descr="&lt;Slide style={{ width: 1280, height: 720, background: '#07111B', padding: 0, position: 'relative', overflow: 'hidden' }}&gt;&#10;    &lt;svg width={1280} height={720} viewBox='0 0 1280 720' style={{ position: 'absolute', left: 0, top: 0 }}&gt;&#10;        &lt;g stroke='rgba(242,247,248,0.028)' strokeWidth='1'&gt;&#10;            &lt;path d='M0 64H1280M0 128H1280M0 192H1280M0 256H1280M0 320H1280M0 384H1280M0 448H1280M0 512H1280M0 576H1280M0 640H1280' /&gt;&#10;            &lt;path d='M64 0V720M128 0V720M192 0V720M256 0V720M320 0V720M384 0V720M448 0V720M512 0V720M576 0V720M640 0V720M704 0V720M768 0V720M832 0V720M896 0V720M960 0V720M1024 0V720M1088 0V720M1152 0V720M1216 0V720' /&gt;&#10;        &lt;/g&gt;&#10;        &lt;circle cx='1120' cy='60' r='260' fill='rgba(107,200,209,0.05)' /&gt;&#10;    &lt;/svg&gt;&#10;    &lt;Box style={{ position: 'absolute', left: 0, top: 0, width: 4, height: 720, background: '#6BC8D1', opacity: 0.5 }} /&gt;&#10;&#10;    &lt;Box style={{ position: 'absolute', left: 56, top: 38 }}&gt;&#10;        &lt;Text style={{ fontFamily: 'Consolas', fontSize: 11, color: '#6BC8D1', letterSpacing: 2 }}&gt;CONTENTS&lt;/Text&gt;&#10;    &lt;/Box&gt;&#10;&#10;    &lt;Box style={{ position: 'absolute', left: 56, top: 94, width: 268 }}&gt;&#10;        &lt;Text style={{ fontFamily: 'Microsoft YaHei', fontSize: 54, fontWeight: 'bold', color: '#F2F7F8', letterSpacing: 2 }}&gt;目录&lt;/Text&gt;&#10;        &lt;Box style={{ marginTop: 18, width: 34, height: 2, background: '#6BC8D1' }} /&gt;&#10;        &lt;Text style={{ marginTop: 22, fontFamily: 'Microsoft YaHei', fontSize: 13, color: 'rgba(242,247,248,0.58)', lineHeight: 1.9 }}&gt;&#10;            五章，回答五个问题：&lt;br /&gt;为什么做、做了什么、&lt;br /&gt;怎么做到、怎么验证、&lt;br /&gt;价值在哪里。&#10;        &lt;/Text&gt;&#10;        &lt;Box style={{ marginTop: 30, paddingTop: 12, borderTop: '1px solid rgba(242,247,248,0.12)', flexDirection: 'row', gap: 20 }}&gt;&#10;            &lt;Box&gt;&#10;                &lt;Text style={{ fontFamily: 'Consolas', fontSize: 26, fontWeight: 'bold', color: '#F2F7F8' }}&gt;05&lt;/Text&gt;&#10;                &lt;Text style={{ marginTop: 2, fontFamily: 'Consolas', fontSize: 9.5, color: 'rgba(242,247,248,0.40)', letterSpacing: 1 }}&gt;CHAPTERS&lt;/Text&gt;&#10;            &lt;/Box&gt;&#10;            &lt;Box&gt;&#10;                &lt;Text style={{ fontFamily: 'Consolas', fontSize: 26, fontWeight: 'bold', color: '#F2F7F8' }}&gt;22&lt;/Text&gt;&#10;                &lt;Text style={{ marginTop: 2, fontFamily: 'Consolas', fontSize: 9.5, color: 'rgba(242,247,248,0.40)', letterSpacing: 1 }}&gt;PAGES&lt;/Text&gt;&#10;            &lt;/Box&gt;&#10;        &lt;/Box&gt;&#10;    &lt;/Box&gt;&#10;&#10;    &lt;Box style={{ position: 'absolute', left: 366, top: 84, width: 2, height: 566, background: 'rgba(242,247,248,0.10)' }} /&gt;&#10;&#10;    &lt;Box style={{ position: 'absolute', left: 410, top: 72, width: 814 }}&gt;&#10;        &lt;Box style={{ flexDirection: 'row', alignItems: 'center', height: 100, borderBottom: '1px solid rgba(242,247,248,0.10)' }}&gt;&#10;            &lt;Text style={{ width: 58, fontFamily: 'Consolas', fontSize: 13, color: '#6BC8D1', letterSpacing: 1 }}&gt;01&lt;/Text&gt;&#10;            &lt;Box style={{ width: 620 }}&gt;&#10;                &lt;Text style={{ fontFamily: 'Microsoft YaHei', fontSize: 23, fontWeight: 'bold', color: '#F2F7F8', letterSpacing: 0.5 }}&gt;背景与问题&lt;/Text&gt;&#10;                &lt;Text style={{ marginTop: 5, fontFamily: 'Microsoft YaHei', fontSize: 12, color: 'rgba(242,247,248,0.55)' }}&gt;安全策略教学，为什么“讲了”却“不会用”？&lt;/Text&gt;&#10;            &lt;/Box&gt;&#10;            &lt;Text style={{ width: 84, textAlign: 'right', fontFamily: 'Consolas', fontSize: 11, color: 'rgba(242,247,248,0.40)' }}&gt;P.03&lt;/Text&gt;&#10;        &lt;/Box&gt;&#10;        &lt;Box style={{ flexDirection: 'row', alignItems: 'center', height: 100, borderBottom: '1px solid rgba(242,247,248,0.10)' }}&gt;&#10;            &lt;Text style={{ width: 58, fontFamily: 'Consolas', fontSize: 13, color: '#6BC8D1', letterSpacing: 1 }}&gt;02&lt;/Text&gt;&#10;            &lt;Box style={{ width: 620 }}&gt;&#10;                &lt;Text style={{ fontFamily: 'Microsoft YaHei', fontSize: 23, fontWeight: 'bold', color: '#F2F7F8', letterSpacing: 0.5 }}&gt;作品概览&lt;/Text&gt;&#10;                &lt;Text style={{ marginTop: 5, fontFamily: 'Microsoft YaHei', fontSize: 12, color: 'rgba(242,247,248,0.55)' }}&gt;一个平台、六个工作面、七个实验场景。&lt;/Text&gt;&#10;            &lt;/Box&gt;&#10;            &lt;Text style={{ width: 84, textAlign: 'right', fontFamily: 'Consolas', fontSize: 11, color: 'rgba(242,247,248,0.40)' }}&gt;P.05&lt;/Text&gt;&#10;        &lt;/Box&gt;&#10;        &lt;Box style={{ flexDirection: 'row', alignItems: 'center', height: 100, borderBottom: '1px solid rgba(242,247,248,0.10)' }}&gt;&#10;            &lt;Text style={{ width: 58, fontFamily: 'Consolas', fontSize: 13, color: '#6BC8D1', letterSpacing: 1 }}&gt;03&lt;/Text&gt;&#10;            &lt;Box style={{ width: 620 }}&gt;&#10;                &lt;Text style={{ fontFamily: 'Microsoft YaHei', fontSize: 23, fontWeight: 'bold', color: '#F2F7F8', letterSpacing: 0.5 }}&gt;核心机制&lt;/Text&gt;&#10;                &lt;Text style={{ marginTop: 5, fontFamily: 'Microsoft YaHei', fontSize: 12, color: 'rgba(242,247,248,0.55)' }}&gt;双引擎、三维沙盘、策略判定与状态链。&lt;/Text&gt;&#10;            &lt;/Box&gt;&#10;            &lt;Text style={{ width: 84, textAlign: 'right', fontFamily: 'Consolas', fontSize: 11, color: 'rgba(242,247,248,0.40)' }}&gt;P.09&lt;/Text&gt;&#10;        &lt;/Box&gt;&#10;        &lt;Box style={{ flexDirection: 'row', alignItems: 'center', height: 100, borderBottom: '1px solid rgba(242,247,248,0.10)' }}&gt;&#10;            &lt;Text style={{ width: 58, fontFamily: 'Consolas', fontSize: 13, color: '#6BC8D1', letterSpacing: 1 }}&gt;04&lt;/Text&gt;&#10;            &lt;Box style={{ width: 620 }}&gt;&#10;                &lt;Text style={{ fontFamily: 'Microsoft YaHei', fontSize: 23, fontWeight: 'bold', color: '#F2F7F8', letterSpacing: 0.5 }}&gt;实验与验证&lt;/Text&gt;&#10;                &lt;Text style={{ marginTop: 5, fontFamily: 'Microsoft YaHei', fontSize: 12, color: 'rgba(242,247,248,0.55)' }}&gt;七个场景、一条教学闭环、清晰的模型边界。&lt;/Text&gt;&#10;            &lt;/Box&gt;&#10;            &lt;Text style={{ width: 84, textAlign: 'right', fontFamily: 'Consolas', fontSize: 11, color: 'rgba(242,247,248,0.40)' }}&gt;P.16&lt;/Text&gt;&#10;        &lt;/Box&gt;&#10;        &lt;Box style={{ flexDirection: 'row', alignItems: 'center', height: 100 }}&gt;&#10;            &lt;Text style={{ width: 58, fontFamily: 'Consolas', fontSize: 13, color: '#6BC8D1', letterSpacing: 1 }}&gt;05&lt;/Text&gt;&#10;            &lt;Box style={{ width: 620 }}&gt;&#10;                &lt;Text style={{ fontFamily: 'Microsoft YaHei', fontSize: 23, fontWeight: 'bold', color: '#F2F7F8', letterSpacing: 0.5 }}&gt;价值与展望&lt;/Text&gt;&#10;                &lt;Text style={{ marginTop: 5, fontFamily: 'Microsoft YaHei', fontSize: 12, color: 'rgba(242,247,248,0.55)' }}&gt;三个创新点，最终都指向“可验证”。&lt;/Text&gt;&#10;            &lt;/Box&gt;&#10;            &lt;Text style={{ width: 84, textAlign: 'right', fontFamily: 'Consolas', fontSize: 11, color: 'rgba(242,247,248,0.40)' }}&gt;P.20&lt;/Text&gt;&#10;        &lt;/Box&gt;&#10;    &lt;/Box&gt;&#10;&#10;    &lt;Box style={{ position: 'absolute', left: 56, top: 664, width: 1168, height: 1, background: 'rgba(242,247,248,0.10)' }} /&gt;&#10;    &lt;Text style={{ position: 'absolute', left: 56, top: 678, fontFamily: 'Consolas', fontSize: 10.5, color: 'rgba(242,247,248,0.40)', letterSpacing: 0.8 }}&gt;智御网络 · 三维网络安全策略交互验证平台&lt;/Text&gt;&#10;    &lt;Text style={{ position: 'absolute', right: 56, top: 678, fontFamily: 'Consolas', fontSize: 10.5, color: 'rgba(242,247,248,0.40)' }}&gt;02 / 22&lt;/Text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7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07111B"/>
          </a:solidFill>
          <a:ln/>
        </p:spPr>
        <p:txBody>
          <a:bodyPr/>
          <a:p/>
        </p:txBody>
      </p:sp>
      <p:pic>
        <p:nvPicPr>
          <p:cNvPr id="568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1"/>
              </a:ext>
            </a:extLst>
          </a:blip>
          <a:stretch>
            <a:fillRect/>
          </a:stretch>
        </p:blipFill>
        <p:spPr>
          <a:xfrm rot="0" flipH="0" flipV="0">
            <a:off x="0" y="0"/>
            <a:ext cx="12192000" cy="6858000"/>
          </a:xfrm>
          <a:prstGeom prst="rect">
            <a:avLst/>
          </a:prstGeom>
          <a:ln/>
        </p:spPr>
      </p:pic>
      <p:sp>
        <p:nvSpPr>
          <p:cNvPr id="569" name=""/>
          <p:cNvSpPr/>
          <p:nvPr/>
        </p:nvSpPr>
        <p:spPr>
          <a:xfrm rot="0" flipH="0" flipV="0">
            <a:off x="0" y="0"/>
            <a:ext cx="38100" cy="6858000"/>
          </a:xfrm>
          <a:prstGeom prst="rect">
            <a:avLst/>
          </a:prstGeom>
          <a:solidFill>
            <a:srgbClr val="6BC8D1">
              <a:alpha val="50000"/>
            </a:srgbClr>
          </a:solidFill>
          <a:ln/>
        </p:spPr>
        <p:txBody>
          <a:bodyPr/>
          <a:p/>
        </p:txBody>
      </p:sp>
      <p:sp>
        <p:nvSpPr>
          <p:cNvPr id="570" name="" descr="{&quot;isTemplate&quot;:true,&quot;type&quot;:&quot;text&quot;}"/>
          <p:cNvSpPr txBox="1"/>
          <p:nvPr/>
        </p:nvSpPr>
        <p:spPr>
          <a:xfrm rot="0" flipH="0" flipV="0">
            <a:off x="533400" y="361950"/>
            <a:ext cx="619125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825" spc="150">
                <a:solidFill>
                  <a:srgbClr val="6BC8D1"/>
                </a:solidFill>
                <a:latin typeface="Consolas"/>
                <a:ea typeface="Consolas"/>
              </a:rPr>
              <a:t>CONTENTS</a:t>
            </a:r>
            <a:endParaRPr/>
          </a:p>
        </p:txBody>
      </p:sp>
      <p:sp>
        <p:nvSpPr>
          <p:cNvPr id="571" name="" descr="{&quot;isTemplate&quot;:true,&quot;type&quot;:&quot;text&quot;}"/>
          <p:cNvSpPr txBox="1"/>
          <p:nvPr/>
        </p:nvSpPr>
        <p:spPr>
          <a:xfrm rot="0" flipH="0" flipV="0">
            <a:off x="533400" y="895350"/>
            <a:ext cx="2552700" cy="6191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4050" b="1" spc="150">
                <a:solidFill>
                  <a:srgbClr val="F2F7F8"/>
                </a:solidFill>
                <a:latin typeface="Microsoft YaHei"/>
                <a:ea typeface="Microsoft YaHei"/>
              </a:rPr>
              <a:t>目录</a:t>
            </a:r>
            <a:endParaRPr/>
          </a:p>
        </p:txBody>
      </p:sp>
      <p:sp>
        <p:nvSpPr>
          <p:cNvPr id="572" name=""/>
          <p:cNvSpPr/>
          <p:nvPr/>
        </p:nvSpPr>
        <p:spPr>
          <a:xfrm rot="0" flipH="0" flipV="0">
            <a:off x="533400" y="1685925"/>
            <a:ext cx="323850" cy="19050"/>
          </a:xfrm>
          <a:prstGeom prst="rect">
            <a:avLst/>
          </a:prstGeom>
          <a:solidFill>
            <a:srgbClr val="6BC8D1"/>
          </a:solidFill>
          <a:ln/>
        </p:spPr>
        <p:txBody>
          <a:bodyPr/>
          <a:p/>
        </p:txBody>
      </p:sp>
      <p:sp>
        <p:nvSpPr>
          <p:cNvPr id="573" name="" descr="{&quot;isTemplate&quot;:true,&quot;type&quot;:&quot;text&quot;}"/>
          <p:cNvSpPr txBox="1"/>
          <p:nvPr/>
        </p:nvSpPr>
        <p:spPr>
          <a:xfrm rot="0" flipH="0" flipV="0">
            <a:off x="533400" y="1914525"/>
            <a:ext cx="2552700" cy="1133475"/>
          </a:xfrm>
          <a:prstGeom prst="rect"/>
        </p:spPr>
        <p:txBody>
          <a:bodyPr wrap="none" lIns="0" tIns="0" rIns="0" bIns="0"/>
          <a:p>
            <a:pPr>
              <a:lnSpc>
                <a:spcPct val="190000"/>
              </a:lnSpc>
            </a:pPr>
            <a:r>
              <a:rPr lang="zh-CN" sz="975">
                <a:solidFill>
                  <a:srgbClr val="F2F7F8">
                    <a:alpha val="58000"/>
                  </a:srgbClr>
                </a:solidFill>
                <a:latin typeface="Microsoft YaHei"/>
                <a:ea typeface="Microsoft YaHei"/>
              </a:rPr>
              <a:t>五章，回答五个问题：</a:t>
            </a:r>
            <a:endParaRPr/>
          </a:p>
          <a:p>
            <a:pPr>
              <a:lnSpc>
                <a:spcPct val="190000"/>
              </a:lnSpc>
            </a:pPr>
            <a:r>
              <a:rPr lang="zh-CN" sz="975">
                <a:solidFill>
                  <a:srgbClr val="F2F7F8">
                    <a:alpha val="58000"/>
                  </a:srgbClr>
                </a:solidFill>
                <a:latin typeface="Microsoft YaHei"/>
                <a:ea typeface="Microsoft YaHei"/>
              </a:rPr>
              <a:t>为什么做、做了什么、</a:t>
            </a:r>
            <a:endParaRPr/>
          </a:p>
          <a:p>
            <a:pPr>
              <a:lnSpc>
                <a:spcPct val="190000"/>
              </a:lnSpc>
            </a:pPr>
            <a:r>
              <a:rPr lang="zh-CN" sz="975">
                <a:solidFill>
                  <a:srgbClr val="F2F7F8">
                    <a:alpha val="58000"/>
                  </a:srgbClr>
                </a:solidFill>
                <a:latin typeface="Microsoft YaHei"/>
                <a:ea typeface="Microsoft YaHei"/>
              </a:rPr>
              <a:t>怎么做到、怎么验证、</a:t>
            </a:r>
            <a:endParaRPr/>
          </a:p>
          <a:p>
            <a:pPr>
              <a:lnSpc>
                <a:spcPct val="190000"/>
              </a:lnSpc>
            </a:pPr>
            <a:r>
              <a:rPr lang="zh-CN" sz="975">
                <a:solidFill>
                  <a:srgbClr val="F2F7F8">
                    <a:alpha val="58000"/>
                  </a:srgbClr>
                </a:solidFill>
                <a:latin typeface="Microsoft YaHei"/>
                <a:ea typeface="Microsoft YaHei"/>
              </a:rPr>
              <a:t>价值在哪里。</a:t>
            </a:r>
            <a:endParaRPr/>
          </a:p>
        </p:txBody>
      </p:sp>
      <p:sp>
        <p:nvSpPr>
          <p:cNvPr id="574" name=""/>
          <p:cNvSpPr/>
          <p:nvPr/>
        </p:nvSpPr>
        <p:spPr>
          <a:xfrm rot="0" flipH="0" flipV="0">
            <a:off x="533400" y="3333750"/>
            <a:ext cx="2552700" cy="571500"/>
          </a:xfrm>
          <a:custGeom>
            <a:pathLst>
              <a:path w="268" h="60">
                <a:moveTo>
                  <a:pt x="0" y="0"/>
                </a:moveTo>
                <a:lnTo>
                  <a:pt x="268" y="0"/>
                </a:lnTo>
                <a:lnTo>
                  <a:pt x="268" y="1"/>
                </a:lnTo>
                <a:lnTo>
                  <a:pt x="0" y="1"/>
                </a:lnTo>
                <a:close/>
              </a:path>
            </a:pathLst>
          </a:custGeom>
          <a:solidFill>
            <a:srgbClr val="F2F7F8">
              <a:alpha val="12000"/>
            </a:srgbClr>
          </a:solidFill>
          <a:ln/>
        </p:spPr>
        <p:txBody>
          <a:bodyPr/>
          <a:p/>
        </p:txBody>
      </p:sp>
      <p:sp>
        <p:nvSpPr>
          <p:cNvPr id="575" name="" descr="{&quot;isTemplate&quot;:true,&quot;type&quot;:&quot;text&quot;}"/>
          <p:cNvSpPr txBox="1"/>
          <p:nvPr/>
        </p:nvSpPr>
        <p:spPr>
          <a:xfrm rot="0" flipH="0" flipV="0">
            <a:off x="533400" y="3457575"/>
            <a:ext cx="476250" cy="3048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950" b="1">
                <a:solidFill>
                  <a:srgbClr val="F2F7F8"/>
                </a:solidFill>
                <a:latin typeface="Consolas"/>
                <a:ea typeface="Consolas"/>
              </a:rPr>
              <a:t>05</a:t>
            </a:r>
            <a:endParaRPr/>
          </a:p>
        </p:txBody>
      </p:sp>
      <p:sp>
        <p:nvSpPr>
          <p:cNvPr id="576" name="" descr="{&quot;isTemplate&quot;:true,&quot;type&quot;:&quot;text&quot;}"/>
          <p:cNvSpPr txBox="1"/>
          <p:nvPr/>
        </p:nvSpPr>
        <p:spPr>
          <a:xfrm rot="0" flipH="0" flipV="0">
            <a:off x="533400" y="3781425"/>
            <a:ext cx="476250" cy="1143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713" spc="75">
                <a:solidFill>
                  <a:srgbClr val="F2F7F8">
                    <a:alpha val="40000"/>
                  </a:srgbClr>
                </a:solidFill>
                <a:latin typeface="Consolas"/>
                <a:ea typeface="Consolas"/>
              </a:rPr>
              <a:t>CHAPTERS</a:t>
            </a:r>
            <a:endParaRPr/>
          </a:p>
        </p:txBody>
      </p:sp>
      <p:sp>
        <p:nvSpPr>
          <p:cNvPr id="577" name="" descr="{&quot;isTemplate&quot;:true,&quot;type&quot;:&quot;text&quot;}"/>
          <p:cNvSpPr txBox="1"/>
          <p:nvPr/>
        </p:nvSpPr>
        <p:spPr>
          <a:xfrm rot="0" flipH="0" flipV="0">
            <a:off x="1200150" y="3457575"/>
            <a:ext cx="304800" cy="3048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950" b="1">
                <a:solidFill>
                  <a:srgbClr val="F2F7F8"/>
                </a:solidFill>
                <a:latin typeface="Consolas"/>
                <a:ea typeface="Consolas"/>
              </a:rPr>
              <a:t>22</a:t>
            </a:r>
            <a:endParaRPr/>
          </a:p>
        </p:txBody>
      </p:sp>
      <p:sp>
        <p:nvSpPr>
          <p:cNvPr id="578" name="" descr="{&quot;isTemplate&quot;:true,&quot;type&quot;:&quot;text&quot;}"/>
          <p:cNvSpPr txBox="1"/>
          <p:nvPr/>
        </p:nvSpPr>
        <p:spPr>
          <a:xfrm rot="0" flipH="0" flipV="0">
            <a:off x="1200150" y="3781425"/>
            <a:ext cx="304800" cy="1143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713" spc="75">
                <a:solidFill>
                  <a:srgbClr val="F2F7F8">
                    <a:alpha val="40000"/>
                  </a:srgbClr>
                </a:solidFill>
                <a:latin typeface="Consolas"/>
                <a:ea typeface="Consolas"/>
              </a:rPr>
              <a:t>PAGES</a:t>
            </a:r>
            <a:endParaRPr/>
          </a:p>
        </p:txBody>
      </p:sp>
      <p:sp>
        <p:nvSpPr>
          <p:cNvPr id="579" name=""/>
          <p:cNvSpPr/>
          <p:nvPr/>
        </p:nvSpPr>
        <p:spPr>
          <a:xfrm rot="0" flipH="0" flipV="0">
            <a:off x="3486150" y="800100"/>
            <a:ext cx="19050" cy="5391150"/>
          </a:xfrm>
          <a:prstGeom prst="rect">
            <a:avLst/>
          </a:prstGeom>
          <a:solidFill>
            <a:srgbClr val="F2F7F8">
              <a:alpha val="10000"/>
            </a:srgbClr>
          </a:solidFill>
          <a:ln/>
        </p:spPr>
        <p:txBody>
          <a:bodyPr/>
          <a:p/>
        </p:txBody>
      </p:sp>
      <p:sp>
        <p:nvSpPr>
          <p:cNvPr id="580" name=""/>
          <p:cNvSpPr/>
          <p:nvPr/>
        </p:nvSpPr>
        <p:spPr>
          <a:xfrm rot="0" flipH="0" flipV="0">
            <a:off x="3905250" y="685800"/>
            <a:ext cx="7753350" cy="952500"/>
          </a:xfrm>
          <a:custGeom>
            <a:pathLst>
              <a:path w="814" h="100">
                <a:moveTo>
                  <a:pt x="0" y="99"/>
                </a:moveTo>
                <a:lnTo>
                  <a:pt x="814" y="99"/>
                </a:lnTo>
                <a:lnTo>
                  <a:pt x="814" y="100"/>
                </a:lnTo>
                <a:lnTo>
                  <a:pt x="0" y="100"/>
                </a:lnTo>
                <a:close/>
              </a:path>
            </a:pathLst>
          </a:custGeom>
          <a:solidFill>
            <a:srgbClr val="F2F7F8">
              <a:alpha val="10000"/>
            </a:srgbClr>
          </a:solidFill>
          <a:ln/>
        </p:spPr>
        <p:txBody>
          <a:bodyPr/>
          <a:p/>
        </p:txBody>
      </p:sp>
      <p:sp>
        <p:nvSpPr>
          <p:cNvPr id="581" name="" descr="{&quot;isTemplate&quot;:true,&quot;type&quot;:&quot;text&quot;}"/>
          <p:cNvSpPr txBox="1"/>
          <p:nvPr/>
        </p:nvSpPr>
        <p:spPr>
          <a:xfrm rot="0" flipH="0" flipV="0">
            <a:off x="3905250" y="1085850"/>
            <a:ext cx="55245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 spc="75">
                <a:solidFill>
                  <a:srgbClr val="6BC8D1"/>
                </a:solidFill>
                <a:latin typeface="Consolas"/>
                <a:ea typeface="Consolas"/>
              </a:rPr>
              <a:t>01</a:t>
            </a:r>
            <a:endParaRPr/>
          </a:p>
        </p:txBody>
      </p:sp>
      <p:sp>
        <p:nvSpPr>
          <p:cNvPr id="582" name="" descr="{&quot;isTemplate&quot;:true,&quot;type&quot;:&quot;text&quot;}"/>
          <p:cNvSpPr txBox="1"/>
          <p:nvPr/>
        </p:nvSpPr>
        <p:spPr>
          <a:xfrm rot="0" flipH="0" flipV="0">
            <a:off x="4457700" y="933450"/>
            <a:ext cx="5905500" cy="2667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725" b="1" spc="38">
                <a:solidFill>
                  <a:srgbClr val="F2F7F8"/>
                </a:solidFill>
                <a:latin typeface="Microsoft YaHei"/>
                <a:ea typeface="Microsoft YaHei"/>
              </a:rPr>
              <a:t>背景与问题</a:t>
            </a:r>
            <a:endParaRPr/>
          </a:p>
        </p:txBody>
      </p:sp>
      <p:sp>
        <p:nvSpPr>
          <p:cNvPr id="583" name="" descr="{&quot;isTemplate&quot;:true,&quot;type&quot;:&quot;text&quot;}"/>
          <p:cNvSpPr txBox="1"/>
          <p:nvPr/>
        </p:nvSpPr>
        <p:spPr>
          <a:xfrm rot="0" flipH="0" flipV="0">
            <a:off x="4457700" y="1247775"/>
            <a:ext cx="590550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00">
                <a:solidFill>
                  <a:srgbClr val="F2F7F8">
                    <a:alpha val="55000"/>
                  </a:srgbClr>
                </a:solidFill>
                <a:latin typeface="Microsoft YaHei"/>
                <a:ea typeface="Microsoft YaHei"/>
              </a:rPr>
              <a:t>安全策略教学，为什么“讲了”却“不会用”？</a:t>
            </a:r>
            <a:endParaRPr/>
          </a:p>
        </p:txBody>
      </p:sp>
      <p:sp>
        <p:nvSpPr>
          <p:cNvPr id="584" name="" descr="{&quot;isTemplate&quot;:true,&quot;type&quot;:&quot;text&quot;}"/>
          <p:cNvSpPr txBox="1"/>
          <p:nvPr/>
        </p:nvSpPr>
        <p:spPr>
          <a:xfrm rot="0" flipH="0" flipV="0">
            <a:off x="10363200" y="1095375"/>
            <a:ext cx="800100" cy="133350"/>
          </a:xfrm>
          <a:prstGeom prst="rect"/>
        </p:spPr>
        <p:txBody>
          <a:bodyPr wrap="none" lIns="0" tIns="0" rIns="0" bIns="0"/>
          <a:p>
            <a:pPr algn="r">
              <a:lnSpc>
                <a:spcPct val="100000"/>
              </a:lnSpc>
            </a:pPr>
            <a:r>
              <a:rPr lang="en-US" sz="825">
                <a:solidFill>
                  <a:srgbClr val="F2F7F8">
                    <a:alpha val="40000"/>
                  </a:srgbClr>
                </a:solidFill>
                <a:latin typeface="Consolas"/>
                <a:ea typeface="Consolas"/>
              </a:rPr>
              <a:t>P.03</a:t>
            </a:r>
            <a:endParaRPr/>
          </a:p>
        </p:txBody>
      </p:sp>
      <p:sp>
        <p:nvSpPr>
          <p:cNvPr id="585" name=""/>
          <p:cNvSpPr/>
          <p:nvPr/>
        </p:nvSpPr>
        <p:spPr>
          <a:xfrm rot="0" flipH="0" flipV="0">
            <a:off x="3905250" y="1638300"/>
            <a:ext cx="7753350" cy="952500"/>
          </a:xfrm>
          <a:custGeom>
            <a:pathLst>
              <a:path w="814" h="100">
                <a:moveTo>
                  <a:pt x="0" y="99"/>
                </a:moveTo>
                <a:lnTo>
                  <a:pt x="814" y="99"/>
                </a:lnTo>
                <a:lnTo>
                  <a:pt x="814" y="100"/>
                </a:lnTo>
                <a:lnTo>
                  <a:pt x="0" y="100"/>
                </a:lnTo>
                <a:close/>
              </a:path>
            </a:pathLst>
          </a:custGeom>
          <a:solidFill>
            <a:srgbClr val="F2F7F8">
              <a:alpha val="10000"/>
            </a:srgbClr>
          </a:solidFill>
          <a:ln/>
        </p:spPr>
        <p:txBody>
          <a:bodyPr/>
          <a:p/>
        </p:txBody>
      </p:sp>
      <p:sp>
        <p:nvSpPr>
          <p:cNvPr id="586" name="" descr="{&quot;isTemplate&quot;:true,&quot;type&quot;:&quot;text&quot;}"/>
          <p:cNvSpPr txBox="1"/>
          <p:nvPr/>
        </p:nvSpPr>
        <p:spPr>
          <a:xfrm rot="0" flipH="0" flipV="0">
            <a:off x="3905250" y="2038350"/>
            <a:ext cx="55245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 spc="75">
                <a:solidFill>
                  <a:srgbClr val="6BC8D1"/>
                </a:solidFill>
                <a:latin typeface="Consolas"/>
                <a:ea typeface="Consolas"/>
              </a:rPr>
              <a:t>02</a:t>
            </a:r>
            <a:endParaRPr/>
          </a:p>
        </p:txBody>
      </p:sp>
      <p:sp>
        <p:nvSpPr>
          <p:cNvPr id="587" name="" descr="{&quot;isTemplate&quot;:true,&quot;type&quot;:&quot;text&quot;}"/>
          <p:cNvSpPr txBox="1"/>
          <p:nvPr/>
        </p:nvSpPr>
        <p:spPr>
          <a:xfrm rot="0" flipH="0" flipV="0">
            <a:off x="4457700" y="1885950"/>
            <a:ext cx="5905500" cy="2667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725" b="1" spc="38">
                <a:solidFill>
                  <a:srgbClr val="F2F7F8"/>
                </a:solidFill>
                <a:latin typeface="Microsoft YaHei"/>
                <a:ea typeface="Microsoft YaHei"/>
              </a:rPr>
              <a:t>作品概览</a:t>
            </a:r>
            <a:endParaRPr/>
          </a:p>
        </p:txBody>
      </p:sp>
      <p:sp>
        <p:nvSpPr>
          <p:cNvPr id="588" name="" descr="{&quot;isTemplate&quot;:true,&quot;type&quot;:&quot;text&quot;}"/>
          <p:cNvSpPr txBox="1"/>
          <p:nvPr/>
        </p:nvSpPr>
        <p:spPr>
          <a:xfrm rot="0" flipH="0" flipV="0">
            <a:off x="4457700" y="2200275"/>
            <a:ext cx="590550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00">
                <a:solidFill>
                  <a:srgbClr val="F2F7F8">
                    <a:alpha val="55000"/>
                  </a:srgbClr>
                </a:solidFill>
                <a:latin typeface="Microsoft YaHei"/>
                <a:ea typeface="Microsoft YaHei"/>
              </a:rPr>
              <a:t>一个平台、六个工作面、七个实验场景。</a:t>
            </a:r>
            <a:endParaRPr/>
          </a:p>
        </p:txBody>
      </p:sp>
      <p:sp>
        <p:nvSpPr>
          <p:cNvPr id="589" name="" descr="{&quot;isTemplate&quot;:true,&quot;type&quot;:&quot;text&quot;}"/>
          <p:cNvSpPr txBox="1"/>
          <p:nvPr/>
        </p:nvSpPr>
        <p:spPr>
          <a:xfrm rot="0" flipH="0" flipV="0">
            <a:off x="10363200" y="2047875"/>
            <a:ext cx="800100" cy="133350"/>
          </a:xfrm>
          <a:prstGeom prst="rect"/>
        </p:spPr>
        <p:txBody>
          <a:bodyPr wrap="none" lIns="0" tIns="0" rIns="0" bIns="0"/>
          <a:p>
            <a:pPr algn="r">
              <a:lnSpc>
                <a:spcPct val="100000"/>
              </a:lnSpc>
            </a:pPr>
            <a:r>
              <a:rPr lang="en-US" sz="825">
                <a:solidFill>
                  <a:srgbClr val="F2F7F8">
                    <a:alpha val="40000"/>
                  </a:srgbClr>
                </a:solidFill>
                <a:latin typeface="Consolas"/>
                <a:ea typeface="Consolas"/>
              </a:rPr>
              <a:t>P.05</a:t>
            </a:r>
            <a:endParaRPr/>
          </a:p>
        </p:txBody>
      </p:sp>
      <p:sp>
        <p:nvSpPr>
          <p:cNvPr id="590" name=""/>
          <p:cNvSpPr/>
          <p:nvPr/>
        </p:nvSpPr>
        <p:spPr>
          <a:xfrm rot="0" flipH="0" flipV="0">
            <a:off x="3905250" y="2590800"/>
            <a:ext cx="7753350" cy="952500"/>
          </a:xfrm>
          <a:custGeom>
            <a:pathLst>
              <a:path w="814" h="100">
                <a:moveTo>
                  <a:pt x="0" y="99"/>
                </a:moveTo>
                <a:lnTo>
                  <a:pt x="814" y="99"/>
                </a:lnTo>
                <a:lnTo>
                  <a:pt x="814" y="100"/>
                </a:lnTo>
                <a:lnTo>
                  <a:pt x="0" y="100"/>
                </a:lnTo>
                <a:close/>
              </a:path>
            </a:pathLst>
          </a:custGeom>
          <a:solidFill>
            <a:srgbClr val="F2F7F8">
              <a:alpha val="10000"/>
            </a:srgbClr>
          </a:solidFill>
          <a:ln/>
        </p:spPr>
        <p:txBody>
          <a:bodyPr/>
          <a:p/>
        </p:txBody>
      </p:sp>
      <p:sp>
        <p:nvSpPr>
          <p:cNvPr id="591" name="" descr="{&quot;isTemplate&quot;:true,&quot;type&quot;:&quot;text&quot;}"/>
          <p:cNvSpPr txBox="1"/>
          <p:nvPr/>
        </p:nvSpPr>
        <p:spPr>
          <a:xfrm rot="0" flipH="0" flipV="0">
            <a:off x="3905250" y="2990850"/>
            <a:ext cx="55245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 spc="75">
                <a:solidFill>
                  <a:srgbClr val="6BC8D1"/>
                </a:solidFill>
                <a:latin typeface="Consolas"/>
                <a:ea typeface="Consolas"/>
              </a:rPr>
              <a:t>03</a:t>
            </a:r>
            <a:endParaRPr/>
          </a:p>
        </p:txBody>
      </p:sp>
      <p:sp>
        <p:nvSpPr>
          <p:cNvPr id="592" name="" descr="{&quot;isTemplate&quot;:true,&quot;type&quot;:&quot;text&quot;}"/>
          <p:cNvSpPr txBox="1"/>
          <p:nvPr/>
        </p:nvSpPr>
        <p:spPr>
          <a:xfrm rot="0" flipH="0" flipV="0">
            <a:off x="4457700" y="2838450"/>
            <a:ext cx="5905500" cy="2667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725" b="1" spc="38">
                <a:solidFill>
                  <a:srgbClr val="F2F7F8"/>
                </a:solidFill>
                <a:latin typeface="Microsoft YaHei"/>
                <a:ea typeface="Microsoft YaHei"/>
              </a:rPr>
              <a:t>核心机制</a:t>
            </a:r>
            <a:endParaRPr/>
          </a:p>
        </p:txBody>
      </p:sp>
      <p:sp>
        <p:nvSpPr>
          <p:cNvPr id="593" name="" descr="{&quot;isTemplate&quot;:true,&quot;type&quot;:&quot;text&quot;}"/>
          <p:cNvSpPr txBox="1"/>
          <p:nvPr/>
        </p:nvSpPr>
        <p:spPr>
          <a:xfrm rot="0" flipH="0" flipV="0">
            <a:off x="4457700" y="3152775"/>
            <a:ext cx="590550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00">
                <a:solidFill>
                  <a:srgbClr val="F2F7F8">
                    <a:alpha val="55000"/>
                  </a:srgbClr>
                </a:solidFill>
                <a:latin typeface="Microsoft YaHei"/>
                <a:ea typeface="Microsoft YaHei"/>
              </a:rPr>
              <a:t>双引擎、三维沙盘、策略判定与状态链。</a:t>
            </a:r>
            <a:endParaRPr/>
          </a:p>
        </p:txBody>
      </p:sp>
      <p:sp>
        <p:nvSpPr>
          <p:cNvPr id="594" name="" descr="{&quot;isTemplate&quot;:true,&quot;type&quot;:&quot;text&quot;}"/>
          <p:cNvSpPr txBox="1"/>
          <p:nvPr/>
        </p:nvSpPr>
        <p:spPr>
          <a:xfrm rot="0" flipH="0" flipV="0">
            <a:off x="10363200" y="3000375"/>
            <a:ext cx="800100" cy="133350"/>
          </a:xfrm>
          <a:prstGeom prst="rect"/>
        </p:spPr>
        <p:txBody>
          <a:bodyPr wrap="none" lIns="0" tIns="0" rIns="0" bIns="0"/>
          <a:p>
            <a:pPr algn="r">
              <a:lnSpc>
                <a:spcPct val="100000"/>
              </a:lnSpc>
            </a:pPr>
            <a:r>
              <a:rPr lang="en-US" sz="825">
                <a:solidFill>
                  <a:srgbClr val="F2F7F8">
                    <a:alpha val="40000"/>
                  </a:srgbClr>
                </a:solidFill>
                <a:latin typeface="Consolas"/>
                <a:ea typeface="Consolas"/>
              </a:rPr>
              <a:t>P.09</a:t>
            </a:r>
            <a:endParaRPr/>
          </a:p>
        </p:txBody>
      </p:sp>
      <p:sp>
        <p:nvSpPr>
          <p:cNvPr id="595" name=""/>
          <p:cNvSpPr/>
          <p:nvPr/>
        </p:nvSpPr>
        <p:spPr>
          <a:xfrm rot="0" flipH="0" flipV="0">
            <a:off x="3905250" y="3543300"/>
            <a:ext cx="7753350" cy="952500"/>
          </a:xfrm>
          <a:custGeom>
            <a:pathLst>
              <a:path w="814" h="100">
                <a:moveTo>
                  <a:pt x="0" y="99"/>
                </a:moveTo>
                <a:lnTo>
                  <a:pt x="814" y="99"/>
                </a:lnTo>
                <a:lnTo>
                  <a:pt x="814" y="100"/>
                </a:lnTo>
                <a:lnTo>
                  <a:pt x="0" y="100"/>
                </a:lnTo>
                <a:close/>
              </a:path>
            </a:pathLst>
          </a:custGeom>
          <a:solidFill>
            <a:srgbClr val="F2F7F8">
              <a:alpha val="10000"/>
            </a:srgbClr>
          </a:solidFill>
          <a:ln/>
        </p:spPr>
        <p:txBody>
          <a:bodyPr/>
          <a:p/>
        </p:txBody>
      </p:sp>
      <p:sp>
        <p:nvSpPr>
          <p:cNvPr id="596" name="" descr="{&quot;isTemplate&quot;:true,&quot;type&quot;:&quot;text&quot;}"/>
          <p:cNvSpPr txBox="1"/>
          <p:nvPr/>
        </p:nvSpPr>
        <p:spPr>
          <a:xfrm rot="0" flipH="0" flipV="0">
            <a:off x="3905250" y="3943350"/>
            <a:ext cx="55245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 spc="75">
                <a:solidFill>
                  <a:srgbClr val="6BC8D1"/>
                </a:solidFill>
                <a:latin typeface="Consolas"/>
                <a:ea typeface="Consolas"/>
              </a:rPr>
              <a:t>04</a:t>
            </a:r>
            <a:endParaRPr/>
          </a:p>
        </p:txBody>
      </p:sp>
      <p:sp>
        <p:nvSpPr>
          <p:cNvPr id="597" name="" descr="{&quot;isTemplate&quot;:true,&quot;type&quot;:&quot;text&quot;}"/>
          <p:cNvSpPr txBox="1"/>
          <p:nvPr/>
        </p:nvSpPr>
        <p:spPr>
          <a:xfrm rot="0" flipH="0" flipV="0">
            <a:off x="4457700" y="3790950"/>
            <a:ext cx="5905500" cy="2667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725" b="1" spc="38">
                <a:solidFill>
                  <a:srgbClr val="F2F7F8"/>
                </a:solidFill>
                <a:latin typeface="Microsoft YaHei"/>
                <a:ea typeface="Microsoft YaHei"/>
              </a:rPr>
              <a:t>实验与验证</a:t>
            </a:r>
            <a:endParaRPr/>
          </a:p>
        </p:txBody>
      </p:sp>
      <p:sp>
        <p:nvSpPr>
          <p:cNvPr id="598" name="" descr="{&quot;isTemplate&quot;:true,&quot;type&quot;:&quot;text&quot;}"/>
          <p:cNvSpPr txBox="1"/>
          <p:nvPr/>
        </p:nvSpPr>
        <p:spPr>
          <a:xfrm rot="0" flipH="0" flipV="0">
            <a:off x="4457700" y="4105275"/>
            <a:ext cx="590550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00">
                <a:solidFill>
                  <a:srgbClr val="F2F7F8">
                    <a:alpha val="55000"/>
                  </a:srgbClr>
                </a:solidFill>
                <a:latin typeface="Microsoft YaHei"/>
                <a:ea typeface="Microsoft YaHei"/>
              </a:rPr>
              <a:t>七个场景、一条教学闭环、清晰的模型边界。</a:t>
            </a:r>
            <a:endParaRPr/>
          </a:p>
        </p:txBody>
      </p:sp>
      <p:sp>
        <p:nvSpPr>
          <p:cNvPr id="599" name="" descr="{&quot;isTemplate&quot;:true,&quot;type&quot;:&quot;text&quot;}"/>
          <p:cNvSpPr txBox="1"/>
          <p:nvPr/>
        </p:nvSpPr>
        <p:spPr>
          <a:xfrm rot="0" flipH="0" flipV="0">
            <a:off x="10363200" y="3952875"/>
            <a:ext cx="800100" cy="133350"/>
          </a:xfrm>
          <a:prstGeom prst="rect"/>
        </p:spPr>
        <p:txBody>
          <a:bodyPr wrap="none" lIns="0" tIns="0" rIns="0" bIns="0"/>
          <a:p>
            <a:pPr algn="r">
              <a:lnSpc>
                <a:spcPct val="100000"/>
              </a:lnSpc>
            </a:pPr>
            <a:r>
              <a:rPr lang="en-US" sz="825">
                <a:solidFill>
                  <a:srgbClr val="F2F7F8">
                    <a:alpha val="40000"/>
                  </a:srgbClr>
                </a:solidFill>
                <a:latin typeface="Consolas"/>
                <a:ea typeface="Consolas"/>
              </a:rPr>
              <a:t>P.16</a:t>
            </a:r>
            <a:endParaRPr/>
          </a:p>
        </p:txBody>
      </p:sp>
      <p:sp>
        <p:nvSpPr>
          <p:cNvPr id="600" name="" descr="{&quot;isTemplate&quot;:true,&quot;type&quot;:&quot;text&quot;}"/>
          <p:cNvSpPr txBox="1"/>
          <p:nvPr/>
        </p:nvSpPr>
        <p:spPr>
          <a:xfrm rot="0" flipH="0" flipV="0">
            <a:off x="3905250" y="4895850"/>
            <a:ext cx="55245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 spc="75">
                <a:solidFill>
                  <a:srgbClr val="6BC8D1"/>
                </a:solidFill>
                <a:latin typeface="Consolas"/>
                <a:ea typeface="Consolas"/>
              </a:rPr>
              <a:t>05</a:t>
            </a:r>
            <a:endParaRPr/>
          </a:p>
        </p:txBody>
      </p:sp>
      <p:sp>
        <p:nvSpPr>
          <p:cNvPr id="601" name="" descr="{&quot;isTemplate&quot;:true,&quot;type&quot;:&quot;text&quot;}"/>
          <p:cNvSpPr txBox="1"/>
          <p:nvPr/>
        </p:nvSpPr>
        <p:spPr>
          <a:xfrm rot="0" flipH="0" flipV="0">
            <a:off x="4457700" y="4743450"/>
            <a:ext cx="5905500" cy="2667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725" b="1" spc="38">
                <a:solidFill>
                  <a:srgbClr val="F2F7F8"/>
                </a:solidFill>
                <a:latin typeface="Microsoft YaHei"/>
                <a:ea typeface="Microsoft YaHei"/>
              </a:rPr>
              <a:t>价值与展望</a:t>
            </a:r>
            <a:endParaRPr/>
          </a:p>
        </p:txBody>
      </p:sp>
      <p:sp>
        <p:nvSpPr>
          <p:cNvPr id="602" name="" descr="{&quot;isTemplate&quot;:true,&quot;type&quot;:&quot;text&quot;}"/>
          <p:cNvSpPr txBox="1"/>
          <p:nvPr/>
        </p:nvSpPr>
        <p:spPr>
          <a:xfrm rot="0" flipH="0" flipV="0">
            <a:off x="4457700" y="5057775"/>
            <a:ext cx="590550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00">
                <a:solidFill>
                  <a:srgbClr val="F2F7F8">
                    <a:alpha val="55000"/>
                  </a:srgbClr>
                </a:solidFill>
                <a:latin typeface="Microsoft YaHei"/>
                <a:ea typeface="Microsoft YaHei"/>
              </a:rPr>
              <a:t>三个创新点，最终都指向“可验证”。</a:t>
            </a:r>
            <a:endParaRPr/>
          </a:p>
        </p:txBody>
      </p:sp>
      <p:sp>
        <p:nvSpPr>
          <p:cNvPr id="603" name="" descr="{&quot;isTemplate&quot;:true,&quot;type&quot;:&quot;text&quot;}"/>
          <p:cNvSpPr txBox="1"/>
          <p:nvPr/>
        </p:nvSpPr>
        <p:spPr>
          <a:xfrm rot="0" flipH="0" flipV="0">
            <a:off x="10363200" y="4905375"/>
            <a:ext cx="800100" cy="133350"/>
          </a:xfrm>
          <a:prstGeom prst="rect"/>
        </p:spPr>
        <p:txBody>
          <a:bodyPr wrap="none" lIns="0" tIns="0" rIns="0" bIns="0"/>
          <a:p>
            <a:pPr algn="r">
              <a:lnSpc>
                <a:spcPct val="100000"/>
              </a:lnSpc>
            </a:pPr>
            <a:r>
              <a:rPr lang="en-US" sz="825">
                <a:solidFill>
                  <a:srgbClr val="F2F7F8">
                    <a:alpha val="40000"/>
                  </a:srgbClr>
                </a:solidFill>
                <a:latin typeface="Consolas"/>
                <a:ea typeface="Consolas"/>
              </a:rPr>
              <a:t>P.20</a:t>
            </a:r>
            <a:endParaRPr/>
          </a:p>
        </p:txBody>
      </p:sp>
      <p:sp>
        <p:nvSpPr>
          <p:cNvPr id="604" name=""/>
          <p:cNvSpPr/>
          <p:nvPr/>
        </p:nvSpPr>
        <p:spPr>
          <a:xfrm rot="0" flipH="0" flipV="0">
            <a:off x="533400" y="6324600"/>
            <a:ext cx="11125200" cy="9525"/>
          </a:xfrm>
          <a:prstGeom prst="rect">
            <a:avLst/>
          </a:prstGeom>
          <a:solidFill>
            <a:srgbClr val="F2F7F8">
              <a:alpha val="10000"/>
            </a:srgbClr>
          </a:solidFill>
          <a:ln/>
        </p:spPr>
        <p:txBody>
          <a:bodyPr/>
          <a:p/>
        </p:txBody>
      </p:sp>
      <p:sp>
        <p:nvSpPr>
          <p:cNvPr id="605" name="" descr="{&quot;isTemplate&quot;:true,&quot;type&quot;:&quot;text&quot;}"/>
          <p:cNvSpPr txBox="1"/>
          <p:nvPr/>
        </p:nvSpPr>
        <p:spPr>
          <a:xfrm rot="0" flipH="0" flipV="0">
            <a:off x="533400" y="6457950"/>
            <a:ext cx="3248025" cy="1238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788" spc="60">
                <a:solidFill>
                  <a:srgbClr val="F2F7F8">
                    <a:alpha val="40000"/>
                  </a:srgbClr>
                </a:solidFill>
                <a:latin typeface="Consolas"/>
                <a:ea typeface="Consolas"/>
              </a:rPr>
              <a:t>智御网络</a:t>
            </a:r>
            <a:r>
              <a:rPr lang="en-US" sz="788" spc="60">
                <a:solidFill>
                  <a:srgbClr val="F2F7F8">
                    <a:alpha val="40000"/>
                  </a:srgbClr>
                </a:solidFill>
                <a:latin typeface="Consolas"/>
                <a:ea typeface="Consolas"/>
              </a:rPr>
              <a:t> · </a:t>
            </a:r>
            <a:r>
              <a:rPr lang="zh-CN" sz="788" spc="60">
                <a:solidFill>
                  <a:srgbClr val="F2F7F8">
                    <a:alpha val="40000"/>
                  </a:srgbClr>
                </a:solidFill>
                <a:latin typeface="Consolas"/>
                <a:ea typeface="Consolas"/>
              </a:rPr>
              <a:t>三维网络安全策略交互验证平台</a:t>
            </a:r>
            <a:endParaRPr/>
          </a:p>
        </p:txBody>
      </p:sp>
      <p:sp>
        <p:nvSpPr>
          <p:cNvPr id="606" name="" descr="{&quot;isTemplate&quot;:true,&quot;type&quot;:&quot;text&quot;}"/>
          <p:cNvSpPr txBox="1"/>
          <p:nvPr/>
        </p:nvSpPr>
        <p:spPr>
          <a:xfrm rot="0" flipH="0" flipV="0">
            <a:off x="11268075" y="6457950"/>
            <a:ext cx="390525" cy="1238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788">
                <a:solidFill>
                  <a:srgbClr val="F2F7F8">
                    <a:alpha val="40000"/>
                  </a:srgbClr>
                </a:solidFill>
                <a:latin typeface="Consolas"/>
                <a:ea typeface="Consolas"/>
              </a:rPr>
              <a:t>02 / 22</a:t>
            </a:r>
            <a:endParaRPr/>
          </a:p>
        </p:txBody>
      </p:sp>
    </p:spTree>
  </p:cSld>
</p:sld>
</file>

<file path=ppt/slides/slide3.xml><?xml version="1.0" encoding="utf-8"?>
<p:sld xmlns:p="http://schemas.openxmlformats.org/presentationml/2006/main" xmlns:r="http://schemas.openxmlformats.org/officeDocument/2006/relationships" xmlns:a="http://schemas.openxmlformats.org/drawingml/2006/main" xmlns:asvg="http://schemas.microsoft.com/office/drawing/2016/SVG/main" xmlns:mc="http://schemas.openxmlformats.org/markup-compatibility/2006" mc:Ignorable="asvg">
  <p:cSld>
    <p:spTree>
      <p:nvGrpSpPr>
        <p:cNvPr id="692" name="" descr="&lt;Slide style={{ width: 1280, height: 720, background: '#07111B', padding: 0, position: 'relative', overflow: 'hidden' }}&gt;&#10;    &lt;svg width={1280} height={720} viewBox='0 0 1280 720' style={{ position: 'absolute', left: 0, top: 0 }}&gt;&#10;        &lt;g stroke='rgba(242,247,248,0.03)' strokeWidth='1'&gt;&#10;            &lt;path d='M0 80H1280M0 160H1280M0 240H1280M0 320H1280M0 400H1280M0 480H1280M0 560H1280M0 640H1280' /&gt;&#10;            &lt;path d='M80 0V720M160 0V720M240 0V720M320 0V720M400 0V720M480 0V720M560 0V720M640 0V720M720 0V720M800 0V720M880 0V720M960 0V720M1040 0V720M1120 0V720M1200 0V720' /&gt;&#10;        &lt;/g&gt;&#10;        &lt;g stroke='rgba(107,200,209,0.22)' strokeWidth='1' fill='none'&gt;&#10;            &lt;path d='M760 450L850 340L980 400L1090 280L1180 340' /&gt;&#10;            &lt;path d='M850 340L900 480L1010 520L1090 280' /&gt;&#10;        &lt;/g&gt;&#10;        &lt;g fill='#6BC8D1'&gt;&#10;            &lt;circle cx='760' cy='450' r='4' opacity='0.6' /&gt;&#10;            &lt;circle cx='850' cy='340' r='5' opacity='0.8' /&gt;&#10;            &lt;circle cx='980' cy='400' r='4' opacity='0.55' /&gt;&#10;            &lt;circle cx='1090' cy='280' r='6' opacity='0.9' /&gt;&#10;            &lt;circle cx='1180' cy='340' r='3.5' opacity='0.5' /&gt;&#10;            &lt;circle cx='900' cy='480' r='4' opacity='0.55' /&gt;&#10;            &lt;circle cx='1010' cy='520' r='5' opacity='0.65' /&gt;&#10;        &lt;/g&gt;&#10;    &lt;/svg&gt;&#10;    &lt;Text style={{ position: 'absolute', right: 56, top: 154, width: 520, textAlign: 'right', fontFamily: 'Consolas', fontSize: 290, fontWeight: 'bold', color: '#F2F7F8', opacity: 0.055, lineHeight: 1 }}&gt;01&lt;/Text&gt;&#10;    &lt;Box style={{ position: 'absolute', left: 0, top: 0, width: 5, height: 720, background: '#6BC8D1', opacity: 0.55 }} /&gt;&#10;&#10;    &lt;Box style={{ position: 'absolute', left: 72, top: 46 }}&gt;&#10;        &lt;Text style={{ fontFamily: 'Consolas', fontSize: 11, color: '#6BC8D1', letterSpacing: 2 }}&gt;CHAPTER 01 / 05&lt;/Text&gt;&#10;    &lt;/Box&gt;&#10;    &lt;Box style={{ position: 'absolute', left: 72, top: 176, width: 620 }}&gt;&#10;        &lt;Text style={{ fontFamily: 'Microsoft YaHei', fontSize: 58, fontWeight: 'bold', color: '#F2F7F8', letterSpacing: 2 }}&gt;背景与问题&lt;/Text&gt;&#10;        &lt;Box style={{ marginTop: 22, width: 52, height: 3, background: '#6BC8D1' }} /&gt;&#10;        &lt;Text style={{ marginTop: 24, fontFamily: 'Microsoft YaHei', fontSize: 19, color: 'rgba(242,247,248,0.68)', lineHeight: 1.7, width: 560 }}&gt;&#10;            安全策略教学，缺的不是知识，而是一次可重复的验证。&#10;        &lt;/Text&gt;&#10;    &lt;/Box&gt;&#10;&#10;    &lt;Box style={{ position: 'absolute', left: 72, top: 420, width: 560 }}&gt;&#10;        &lt;Box style={{ flexDirection: 'row', alignItems: 'center', height: 48, borderTop: '1px solid rgba(242,247,248,0.12)' }}&gt;&#10;            &lt;Text style={{ width: 54, fontFamily: 'Consolas', fontSize: 10, color: '#6BC8D1' }}&gt;01.1&lt;/Text&gt;&#10;            &lt;Text style={{ fontFamily: 'Microsoft YaHei', fontSize: 14, color: 'rgba(242,247,248,0.72)' }}&gt;三个教学困境：看不见、不敢动、难验证&lt;/Text&gt;&#10;        &lt;/Box&gt;&#10;        &lt;Box style={{ flexDirection: 'row', alignItems: 'center', height: 48, borderTop: '1px solid rgba(242,247,248,0.12)' }}&gt;&#10;            &lt;Text style={{ width: 54, fontFamily: 'Consolas', fontSize: 10, color: '#6BC8D1' }}&gt;01.2&lt;/Text&gt;&#10;            &lt;Text style={{ fontFamily: 'Microsoft YaHei', fontSize: 14, color: 'rgba(242,247,248,0.72)' }}&gt;一个核心矛盾：效果必须可观察，网络不允许试错&lt;/Text&gt;&#10;        &lt;/Box&gt;&#10;        &lt;Box style={{ flexDirection: 'row', alignItems: 'center', height: 48, borderTop: '1px solid rgba(242,247,248,0.12)', borderBottom: '1px solid rgba(242,247,248,0.12)' }}&gt;&#10;            &lt;Text style={{ width: 54, fontFamily: 'Consolas', fontSize: 10, color: '#6BC8D1' }}&gt;01.3&lt;/Text&gt;&#10;            &lt;Text style={{ fontFamily: 'Microsoft YaHei', fontSize: 14, color: 'rgba(242,247,248,0.72)' }}&gt;从“记住规则”走向“看见后果”&lt;/Text&gt;&#10;        &lt;/Box&gt;&#10;    &lt;/Box&gt;&#10;&#10;    &lt;Box style={{ position: 'absolute', left: 72, top: 664, flexDirection: 'row', alignItems: 'center', gap: 8 }}&gt;&#10;        &lt;Text style={{ fontFamily: 'Consolas', fontSize: 10.5, color: 'rgba(242,247,248,0.40)' }}&gt;智御网络&lt;/Text&gt;&#10;        &lt;Box style={{ width: 16, height: 1, background: 'rgba(242,247,248,0.20)' }} /&gt;&#10;        &lt;Text style={{ fontFamily: 'Consolas', fontSize: 10.5, color: 'rgba(242,247,248,0.40)' }}&gt;BACKGROUND&lt;/Text&gt;&#10;    &lt;/Box&gt;&#10;    &lt;Text style={{ position: 'absolute', right: 56, top: 664, fontFamily: 'Consolas', fontSize: 10.5, color: 'rgba(242,247,248,0.40)' }}&gt;03 / 22&lt;/Text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3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07111B"/>
          </a:solidFill>
          <a:ln/>
        </p:spPr>
        <p:txBody>
          <a:bodyPr/>
          <a:p/>
        </p:txBody>
      </p:sp>
      <p:pic>
        <p:nvPicPr>
          <p:cNvPr id="694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1"/>
              </a:ext>
            </a:extLst>
          </a:blip>
          <a:stretch>
            <a:fillRect/>
          </a:stretch>
        </p:blipFill>
        <p:spPr>
          <a:xfrm rot="0" flipH="0" flipV="0">
            <a:off x="0" y="0"/>
            <a:ext cx="12192000" cy="6858000"/>
          </a:xfrm>
          <a:prstGeom prst="rect">
            <a:avLst/>
          </a:prstGeom>
          <a:ln/>
        </p:spPr>
      </p:pic>
      <p:sp>
        <p:nvSpPr>
          <p:cNvPr id="695" name="" descr="{&quot;isTemplate&quot;:true,&quot;type&quot;:&quot;text&quot;}"/>
          <p:cNvSpPr txBox="1"/>
          <p:nvPr/>
        </p:nvSpPr>
        <p:spPr>
          <a:xfrm rot="0" flipH="0" flipV="0">
            <a:off x="6705600" y="1466850"/>
            <a:ext cx="4953000" cy="3314700"/>
          </a:xfrm>
          <a:prstGeom prst="rect"/>
        </p:spPr>
        <p:txBody>
          <a:bodyPr wrap="none" lIns="0" tIns="0" rIns="0" bIns="0"/>
          <a:p>
            <a:pPr algn="r">
              <a:lnSpc>
                <a:spcPct val="100000"/>
              </a:lnSpc>
            </a:pPr>
            <a:r>
              <a:rPr lang="en-US" sz="21750" b="1">
                <a:solidFill>
                  <a:srgbClr val="F2F7F8">
                    <a:alpha val="5500"/>
                  </a:srgbClr>
                </a:solidFill>
                <a:latin typeface="Consolas"/>
                <a:ea typeface="Consolas"/>
              </a:rPr>
              <a:t>01</a:t>
            </a:r>
            <a:endParaRPr/>
          </a:p>
        </p:txBody>
      </p:sp>
      <p:sp>
        <p:nvSpPr>
          <p:cNvPr id="696" name=""/>
          <p:cNvSpPr/>
          <p:nvPr/>
        </p:nvSpPr>
        <p:spPr>
          <a:xfrm rot="0" flipH="0" flipV="0">
            <a:off x="0" y="0"/>
            <a:ext cx="47625" cy="6858000"/>
          </a:xfrm>
          <a:prstGeom prst="rect">
            <a:avLst/>
          </a:prstGeom>
          <a:solidFill>
            <a:srgbClr val="6BC8D1">
              <a:alpha val="55000"/>
            </a:srgbClr>
          </a:solidFill>
          <a:ln/>
        </p:spPr>
        <p:txBody>
          <a:bodyPr/>
          <a:p/>
        </p:txBody>
      </p:sp>
      <p:sp>
        <p:nvSpPr>
          <p:cNvPr id="697" name="" descr="{&quot;isTemplate&quot;:true,&quot;type&quot;:&quot;text&quot;}"/>
          <p:cNvSpPr txBox="1"/>
          <p:nvPr/>
        </p:nvSpPr>
        <p:spPr>
          <a:xfrm rot="0" flipH="0" flipV="0">
            <a:off x="685800" y="438150"/>
            <a:ext cx="1152525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825" spc="150">
                <a:solidFill>
                  <a:srgbClr val="6BC8D1"/>
                </a:solidFill>
                <a:latin typeface="Consolas"/>
                <a:ea typeface="Consolas"/>
              </a:rPr>
              <a:t>CHAPTER 01 / 05</a:t>
            </a:r>
            <a:endParaRPr/>
          </a:p>
        </p:txBody>
      </p:sp>
      <p:sp>
        <p:nvSpPr>
          <p:cNvPr id="698" name="" descr="{&quot;isTemplate&quot;:true,&quot;type&quot;:&quot;text&quot;}"/>
          <p:cNvSpPr txBox="1"/>
          <p:nvPr/>
        </p:nvSpPr>
        <p:spPr>
          <a:xfrm rot="0" flipH="0" flipV="0">
            <a:off x="685800" y="1676400"/>
            <a:ext cx="5905500" cy="6667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4350" b="1" spc="150">
                <a:solidFill>
                  <a:srgbClr val="F2F7F8"/>
                </a:solidFill>
                <a:latin typeface="Microsoft YaHei"/>
                <a:ea typeface="Microsoft YaHei"/>
              </a:rPr>
              <a:t>背景与问题</a:t>
            </a:r>
            <a:endParaRPr/>
          </a:p>
        </p:txBody>
      </p:sp>
      <p:sp>
        <p:nvSpPr>
          <p:cNvPr id="699" name=""/>
          <p:cNvSpPr/>
          <p:nvPr/>
        </p:nvSpPr>
        <p:spPr>
          <a:xfrm rot="0" flipH="0" flipV="0">
            <a:off x="685800" y="2552700"/>
            <a:ext cx="495300" cy="28575"/>
          </a:xfrm>
          <a:prstGeom prst="rect">
            <a:avLst/>
          </a:prstGeom>
          <a:solidFill>
            <a:srgbClr val="6BC8D1"/>
          </a:solidFill>
          <a:ln/>
        </p:spPr>
        <p:txBody>
          <a:bodyPr/>
          <a:p/>
        </p:txBody>
      </p:sp>
      <p:sp>
        <p:nvSpPr>
          <p:cNvPr id="700" name="" descr="{&quot;isTemplate&quot;:true,&quot;type&quot;:&quot;text&quot;}"/>
          <p:cNvSpPr txBox="1"/>
          <p:nvPr/>
        </p:nvSpPr>
        <p:spPr>
          <a:xfrm rot="0" flipH="0" flipV="0">
            <a:off x="685800" y="2809875"/>
            <a:ext cx="5334000" cy="371475"/>
          </a:xfrm>
          <a:prstGeom prst="rect"/>
        </p:spPr>
        <p:txBody>
          <a:bodyPr wrap="none" lIns="0" tIns="0" rIns="0" bIns="0"/>
          <a:p>
            <a:pPr>
              <a:lnSpc>
                <a:spcPct val="170000"/>
              </a:lnSpc>
            </a:pPr>
            <a:r>
              <a:rPr lang="zh-CN" sz="1425">
                <a:solidFill>
                  <a:srgbClr val="F2F7F8">
                    <a:alpha val="68000"/>
                  </a:srgbClr>
                </a:solidFill>
                <a:latin typeface="Microsoft YaHei"/>
                <a:ea typeface="Microsoft YaHei"/>
              </a:rPr>
              <a:t>安全策略教学，缺的不是知识，而是一次可重复的验证。</a:t>
            </a:r>
            <a:endParaRPr/>
          </a:p>
        </p:txBody>
      </p:sp>
      <p:sp>
        <p:nvSpPr>
          <p:cNvPr id="701" name=""/>
          <p:cNvSpPr/>
          <p:nvPr/>
        </p:nvSpPr>
        <p:spPr>
          <a:xfrm rot="0" flipH="0" flipV="0">
            <a:off x="685800" y="4000500"/>
            <a:ext cx="5334000" cy="457200"/>
          </a:xfrm>
          <a:custGeom>
            <a:pathLst>
              <a:path w="560" h="48">
                <a:moveTo>
                  <a:pt x="0" y="0"/>
                </a:moveTo>
                <a:lnTo>
                  <a:pt x="560" y="0"/>
                </a:lnTo>
                <a:lnTo>
                  <a:pt x="560" y="1"/>
                </a:lnTo>
                <a:lnTo>
                  <a:pt x="0" y="1"/>
                </a:lnTo>
                <a:close/>
              </a:path>
            </a:pathLst>
          </a:custGeom>
          <a:solidFill>
            <a:srgbClr val="F2F7F8">
              <a:alpha val="12000"/>
            </a:srgbClr>
          </a:solidFill>
          <a:ln/>
        </p:spPr>
        <p:txBody>
          <a:bodyPr/>
          <a:p/>
        </p:txBody>
      </p:sp>
      <p:sp>
        <p:nvSpPr>
          <p:cNvPr id="702" name="" descr="{&quot;isTemplate&quot;:true,&quot;type&quot;:&quot;text&quot;}"/>
          <p:cNvSpPr txBox="1"/>
          <p:nvPr/>
        </p:nvSpPr>
        <p:spPr>
          <a:xfrm rot="0" flipH="0" flipV="0">
            <a:off x="685800" y="4181475"/>
            <a:ext cx="514350" cy="1143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750">
                <a:solidFill>
                  <a:srgbClr val="6BC8D1"/>
                </a:solidFill>
                <a:latin typeface="Consolas"/>
                <a:ea typeface="Consolas"/>
              </a:rPr>
              <a:t>01.1</a:t>
            </a:r>
            <a:endParaRPr/>
          </a:p>
        </p:txBody>
      </p:sp>
      <p:sp>
        <p:nvSpPr>
          <p:cNvPr id="703" name="" descr="{&quot;isTemplate&quot;:true,&quot;type&quot;:&quot;text&quot;}"/>
          <p:cNvSpPr txBox="1"/>
          <p:nvPr/>
        </p:nvSpPr>
        <p:spPr>
          <a:xfrm rot="0" flipH="0" flipV="0">
            <a:off x="1200150" y="4152900"/>
            <a:ext cx="24003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F2F7F8">
                    <a:alpha val="72000"/>
                  </a:srgbClr>
                </a:solidFill>
                <a:latin typeface="Microsoft YaHei"/>
                <a:ea typeface="Microsoft YaHei"/>
              </a:rPr>
              <a:t>三个教学困境：看不见、不敢动、难验证</a:t>
            </a:r>
            <a:endParaRPr/>
          </a:p>
        </p:txBody>
      </p:sp>
      <p:sp>
        <p:nvSpPr>
          <p:cNvPr id="704" name=""/>
          <p:cNvSpPr/>
          <p:nvPr/>
        </p:nvSpPr>
        <p:spPr>
          <a:xfrm rot="0" flipH="0" flipV="0">
            <a:off x="685800" y="4457700"/>
            <a:ext cx="5334000" cy="457200"/>
          </a:xfrm>
          <a:custGeom>
            <a:pathLst>
              <a:path w="560" h="48">
                <a:moveTo>
                  <a:pt x="0" y="0"/>
                </a:moveTo>
                <a:lnTo>
                  <a:pt x="560" y="0"/>
                </a:lnTo>
                <a:lnTo>
                  <a:pt x="560" y="1"/>
                </a:lnTo>
                <a:lnTo>
                  <a:pt x="0" y="1"/>
                </a:lnTo>
                <a:close/>
              </a:path>
            </a:pathLst>
          </a:custGeom>
          <a:solidFill>
            <a:srgbClr val="F2F7F8">
              <a:alpha val="12000"/>
            </a:srgbClr>
          </a:solidFill>
          <a:ln/>
        </p:spPr>
        <p:txBody>
          <a:bodyPr/>
          <a:p/>
        </p:txBody>
      </p:sp>
      <p:sp>
        <p:nvSpPr>
          <p:cNvPr id="705" name="" descr="{&quot;isTemplate&quot;:true,&quot;type&quot;:&quot;text&quot;}"/>
          <p:cNvSpPr txBox="1"/>
          <p:nvPr/>
        </p:nvSpPr>
        <p:spPr>
          <a:xfrm rot="0" flipH="0" flipV="0">
            <a:off x="685800" y="4638675"/>
            <a:ext cx="514350" cy="1143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750">
                <a:solidFill>
                  <a:srgbClr val="6BC8D1"/>
                </a:solidFill>
                <a:latin typeface="Consolas"/>
                <a:ea typeface="Consolas"/>
              </a:rPr>
              <a:t>01.2</a:t>
            </a:r>
            <a:endParaRPr/>
          </a:p>
        </p:txBody>
      </p:sp>
      <p:sp>
        <p:nvSpPr>
          <p:cNvPr id="706" name="" descr="{&quot;isTemplate&quot;:true,&quot;type&quot;:&quot;text&quot;}"/>
          <p:cNvSpPr txBox="1"/>
          <p:nvPr/>
        </p:nvSpPr>
        <p:spPr>
          <a:xfrm rot="0" flipH="0" flipV="0">
            <a:off x="1200150" y="4610100"/>
            <a:ext cx="29337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F2F7F8">
                    <a:alpha val="72000"/>
                  </a:srgbClr>
                </a:solidFill>
                <a:latin typeface="Microsoft YaHei"/>
                <a:ea typeface="Microsoft YaHei"/>
              </a:rPr>
              <a:t>一个核心矛盾：效果必须可观察，网络不允许试错</a:t>
            </a:r>
            <a:endParaRPr/>
          </a:p>
        </p:txBody>
      </p:sp>
      <p:sp>
        <p:nvSpPr>
          <p:cNvPr id="707" name=""/>
          <p:cNvSpPr/>
          <p:nvPr/>
        </p:nvSpPr>
        <p:spPr>
          <a:xfrm rot="0" flipH="0" flipV="0">
            <a:off x="685800" y="4914900"/>
            <a:ext cx="5334000" cy="457200"/>
          </a:xfrm>
          <a:custGeom>
            <a:pathLst>
              <a:path w="560" h="48">
                <a:moveTo>
                  <a:pt x="0" y="0"/>
                </a:moveTo>
                <a:lnTo>
                  <a:pt x="560" y="0"/>
                </a:lnTo>
                <a:lnTo>
                  <a:pt x="560" y="1"/>
                </a:lnTo>
                <a:lnTo>
                  <a:pt x="0" y="1"/>
                </a:lnTo>
                <a:close/>
              </a:path>
            </a:pathLst>
          </a:custGeom>
          <a:solidFill>
            <a:srgbClr val="F2F7F8">
              <a:alpha val="12000"/>
            </a:srgbClr>
          </a:solidFill>
          <a:ln/>
        </p:spPr>
        <p:txBody>
          <a:bodyPr/>
          <a:p/>
        </p:txBody>
      </p:sp>
      <p:sp>
        <p:nvSpPr>
          <p:cNvPr id="708" name=""/>
          <p:cNvSpPr/>
          <p:nvPr/>
        </p:nvSpPr>
        <p:spPr>
          <a:xfrm rot="0" flipH="0" flipV="0">
            <a:off x="685800" y="4914900"/>
            <a:ext cx="5334000" cy="457200"/>
          </a:xfrm>
          <a:custGeom>
            <a:pathLst>
              <a:path w="560" h="48">
                <a:moveTo>
                  <a:pt x="0" y="47"/>
                </a:moveTo>
                <a:lnTo>
                  <a:pt x="560" y="47"/>
                </a:lnTo>
                <a:lnTo>
                  <a:pt x="560" y="48"/>
                </a:lnTo>
                <a:lnTo>
                  <a:pt x="0" y="48"/>
                </a:lnTo>
                <a:close/>
              </a:path>
            </a:pathLst>
          </a:custGeom>
          <a:solidFill>
            <a:srgbClr val="F2F7F8">
              <a:alpha val="12000"/>
            </a:srgbClr>
          </a:solidFill>
          <a:ln/>
        </p:spPr>
        <p:txBody>
          <a:bodyPr/>
          <a:p/>
        </p:txBody>
      </p:sp>
      <p:sp>
        <p:nvSpPr>
          <p:cNvPr id="709" name="" descr="{&quot;isTemplate&quot;:true,&quot;type&quot;:&quot;text&quot;}"/>
          <p:cNvSpPr txBox="1"/>
          <p:nvPr/>
        </p:nvSpPr>
        <p:spPr>
          <a:xfrm rot="0" flipH="0" flipV="0">
            <a:off x="685800" y="5086350"/>
            <a:ext cx="514350" cy="1143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750">
                <a:solidFill>
                  <a:srgbClr val="6BC8D1"/>
                </a:solidFill>
                <a:latin typeface="Consolas"/>
                <a:ea typeface="Consolas"/>
              </a:rPr>
              <a:t>01.3</a:t>
            </a:r>
            <a:endParaRPr/>
          </a:p>
        </p:txBody>
      </p:sp>
      <p:sp>
        <p:nvSpPr>
          <p:cNvPr id="710" name="" descr="{&quot;isTemplate&quot;:true,&quot;type&quot;:&quot;text&quot;}"/>
          <p:cNvSpPr txBox="1"/>
          <p:nvPr/>
        </p:nvSpPr>
        <p:spPr>
          <a:xfrm rot="0" flipH="0" flipV="0">
            <a:off x="1200150" y="5067300"/>
            <a:ext cx="20002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F2F7F8">
                    <a:alpha val="72000"/>
                  </a:srgbClr>
                </a:solidFill>
                <a:latin typeface="Microsoft YaHei"/>
                <a:ea typeface="Microsoft YaHei"/>
              </a:rPr>
              <a:t>从“记住规则”走向“看见后果”</a:t>
            </a:r>
            <a:endParaRPr/>
          </a:p>
        </p:txBody>
      </p:sp>
      <p:sp>
        <p:nvSpPr>
          <p:cNvPr id="711" name="" descr="{&quot;isTemplate&quot;:true,&quot;type&quot;:&quot;text&quot;}"/>
          <p:cNvSpPr txBox="1"/>
          <p:nvPr/>
        </p:nvSpPr>
        <p:spPr>
          <a:xfrm rot="0" flipH="0" flipV="0">
            <a:off x="685800" y="6324600"/>
            <a:ext cx="647700" cy="1238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788">
                <a:solidFill>
                  <a:srgbClr val="F2F7F8">
                    <a:alpha val="40000"/>
                  </a:srgbClr>
                </a:solidFill>
                <a:latin typeface="Consolas"/>
                <a:ea typeface="Consolas"/>
              </a:rPr>
              <a:t>智御网络</a:t>
            </a:r>
            <a:endParaRPr/>
          </a:p>
        </p:txBody>
      </p:sp>
      <p:sp>
        <p:nvSpPr>
          <p:cNvPr id="712" name=""/>
          <p:cNvSpPr/>
          <p:nvPr/>
        </p:nvSpPr>
        <p:spPr>
          <a:xfrm rot="0" flipH="0" flipV="0">
            <a:off x="1409700" y="6381750"/>
            <a:ext cx="152400" cy="9525"/>
          </a:xfrm>
          <a:prstGeom prst="rect">
            <a:avLst/>
          </a:prstGeom>
          <a:solidFill>
            <a:srgbClr val="F2F7F8">
              <a:alpha val="20000"/>
            </a:srgbClr>
          </a:solidFill>
          <a:ln/>
        </p:spPr>
        <p:txBody>
          <a:bodyPr/>
          <a:p/>
        </p:txBody>
      </p:sp>
      <p:sp>
        <p:nvSpPr>
          <p:cNvPr id="713" name="" descr="{&quot;isTemplate&quot;:true,&quot;type&quot;:&quot;text&quot;}"/>
          <p:cNvSpPr txBox="1"/>
          <p:nvPr/>
        </p:nvSpPr>
        <p:spPr>
          <a:xfrm rot="0" flipH="0" flipV="0">
            <a:off x="1638300" y="6324600"/>
            <a:ext cx="552450" cy="1238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788">
                <a:solidFill>
                  <a:srgbClr val="F2F7F8">
                    <a:alpha val="40000"/>
                  </a:srgbClr>
                </a:solidFill>
                <a:latin typeface="Consolas"/>
                <a:ea typeface="Consolas"/>
              </a:rPr>
              <a:t>BACKGROUND</a:t>
            </a:r>
            <a:endParaRPr/>
          </a:p>
        </p:txBody>
      </p:sp>
      <p:sp>
        <p:nvSpPr>
          <p:cNvPr id="714" name="" descr="{&quot;isTemplate&quot;:true,&quot;type&quot;:&quot;text&quot;}"/>
          <p:cNvSpPr txBox="1"/>
          <p:nvPr/>
        </p:nvSpPr>
        <p:spPr>
          <a:xfrm rot="0" flipH="0" flipV="0">
            <a:off x="11268075" y="6324600"/>
            <a:ext cx="390525" cy="1238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788">
                <a:solidFill>
                  <a:srgbClr val="F2F7F8">
                    <a:alpha val="40000"/>
                  </a:srgbClr>
                </a:solidFill>
                <a:latin typeface="Consolas"/>
                <a:ea typeface="Consolas"/>
              </a:rPr>
              <a:t>03 / 22</a:t>
            </a:r>
            <a:endParaRPr/>
          </a:p>
        </p:txBody>
      </p:sp>
    </p:spTree>
  </p:cSld>
</p:sld>
</file>

<file path=ppt/slides/slide4.xml><?xml version="1.0" encoding="utf-8"?>
<p:sld xmlns:p="http://schemas.openxmlformats.org/presentationml/2006/main" xmlns:r="http://schemas.openxmlformats.org/officeDocument/2006/relationships" xmlns:a="http://schemas.openxmlformats.org/drawingml/2006/main" xmlns:asvg="http://schemas.microsoft.com/office/drawing/2016/SVG/main" xmlns:mc="http://schemas.openxmlformats.org/markup-compatibility/2006" mc:Ignorable="asvg">
  <p:cSld>
    <p:spTree>
      <p:nvGrpSpPr>
        <p:cNvPr id="715" name="" descr="&lt;Slide style={{ width: 1280, height: 720, background: '#07111B', padding: 0, position: 'relative', overflow: 'hidden' }}&gt;&#10;    &lt;svg width={1280} height={720} viewBox='0 0 1280 720' style={{ position: 'absolute', left: 0, top: 0 }}&gt;&#10;        &lt;g stroke='rgba(242,247,248,0.025)' strokeWidth='1'&gt;&#10;            &lt;path d='M0 96H1280M0 192H1280M0 288H1280M0 384H1280M0 480H1280M0 576H1280M0 672H1280' /&gt;&#10;        &lt;/g&gt;&#10;        &lt;circle cx='1180' cy='120' r='220' fill='rgba(107,200,209,0.035)' /&gt;&#10;    &lt;/svg&gt;&#10;&#10;    &lt;Box style={{ position: 'absolute', left: 56, top: 38 }}&gt;&#10;        &lt;Text style={{ fontFamily: 'Consolas', fontSize: 11, color: '#6BC8D1', letterSpacing: 1.8 }}&gt;01 / 背景与问题&lt;/Text&gt;&#10;    &lt;/Box&gt;&#10;    &lt;Text style={{ position: 'absolute', left: 56, top: 62, fontFamily: 'Microsoft YaHei', fontSize: 32, fontWeight: 'bold', color: '#F2F7F8', letterSpacing: 0.5 }}&gt;为什么“讲了”却“不会用”？&lt;/Text&gt;&#10;    &lt;Text style={{ position: 'absolute', right: 56, top: 76, fontFamily: 'Consolas', fontSize: 10.5, color: 'rgba(242,247,248,0.42)' }}&gt;THREE GAPS · ONE CONTRADICTION&lt;/Text&gt;&#10;&#10;    &lt;Box style={{ position: 'absolute', left: 56, top: 140, width: 650 }}&gt;&#10;        &lt;Box style={{ flexDirection: 'row', alignItems: 'flex-start', height: 118, borderTop: '1px solid rgba(242,247,248,0.12)' }}&gt;&#10;            &lt;Text style={{ width: 62, marginTop: 18, fontFamily: 'Consolas', fontSize: 13, color: '#6BC8D1' }}&gt;01&lt;/Text&gt;&#10;            &lt;Box style={{ width: 560 }}&gt;&#10;                &lt;Text style={{ marginTop: 16, fontFamily: 'Microsoft YaHei', fontSize: 19, fontWeight: 'bold', color: '#F2F7F8' }}&gt;看不见&lt;/Text&gt;&#10;                &lt;Text style={{ marginTop: 8, fontFamily: 'Microsoft YaHei', fontSize: 13.5, color: 'rgba(242,247,248,0.64)', lineHeight: 1.75 }}&gt;&#10;                    拓扑、VLAN、路由和规则顺序都藏在配置里。学生只能靠想象还原一条路径，更看不见它在哪一跳被拒绝。&#10;                &lt;/Text&gt;&#10;            &lt;/Box&gt;&#10;        &lt;/Box&gt;&#10;        &lt;Box style={{ flexDirection: 'row', alignItems: 'flex-start', height: 118, borderTop: '1px solid rgba(242,247,248,0.12)' }}&gt;&#10;            &lt;Text style={{ width: 62, marginTop: 18, fontFamily: 'Consolas', fontSize: 13, color: '#6BC8D1' }}&gt;02&lt;/Text&gt;&#10;            &lt;Box style={{ width: 560 }}&gt;&#10;                &lt;Text style={{ marginTop: 16, fontFamily: 'Microsoft YaHei', fontSize: 19, fontWeight: 'bold', color: '#F2F7F8' }}&gt;不敢动&lt;/Text&gt;&#10;                &lt;Text style={{ marginTop: 8, fontFamily: 'Microsoft YaHei', fontSize: 13.5, color: 'rgba(242,247,248,0.64)', lineHeight: 1.75 }}&gt;&#10;                    真实设备不能反复试错。一次错误的放行、一条位置不当的规则，都可能直接中断业务。&#10;                &lt;/Text&gt;&#10;            &lt;/Box&gt;&#10;        &lt;/Box&gt;&#10;        &lt;Box style={{ flexDirection: 'row', alignItems: 'flex-start', height: 118, borderTop: '1px solid rgba(242,247,248,0.12)' }}&gt;&#10;            &lt;Text style={{ width: 62, marginTop: 18, fontFamily: 'Consolas', fontSize: 13, color: '#E78172' }}&gt;03&lt;/Text&gt;&#10;            &lt;Box style={{ width: 560 }}&gt;&#10;                &lt;Text style={{ marginTop: 16, fontFamily: 'Microsoft YaHei', fontSize: 19, fontWeight: 'bold', color: '#F2F7F8' }}&gt;难验证&lt;/Text&gt;&#10;                &lt;Text style={{ marginTop: 8, fontFamily: 'Microsoft YaHei', fontSize: 13.5, color: 'rgba(242,247,248,0.64)', lineHeight: 1.75 }}&gt;&#10;                    改完规则只知道“好像更安全”，却说不清是挡住了风险，还是把必要业务一起切断了。&#10;                &lt;/Text&gt;&#10;            &lt;/Box&gt;&#10;        &lt;/Box&gt;&#10;        &lt;Text style={{ marginTop: 18, width: 620, fontFamily: 'Microsoft YaHei', fontSize: 14.5, color: 'rgba(242,247,248,0.58)', lineHeight: 1.8 }}&gt;&#10;            所以问题不是“再讲一遍规则”，而是让学生在一个允许犯错的网络里，看见每一次改动的后果。&#10;        &lt;/Text&gt;&#10;    &lt;/Box&gt;&#10;&#10;    &lt;Box style={{ position: 'absolute', left: 742, top: 140, width: 482, height: 392, padding: 22, background: 'linear-gradient(145deg, rgba(242,247,248,0.055) 0%, rgba(242,247,248,0.022) 100%)', border: '1px solid rgba(107,200,209,0.16)', borderRadius: 10 }}&gt;&#10;        &lt;Text style={{ fontFamily: 'Consolas', fontSize: 10, color: 'rgba(242,247,248,0.42)', letterSpacing: 1.5 }}&gt;THE GAP&lt;/Text&gt;&#10;        &lt;Text style={{ marginTop: 8, fontFamily: 'Microsoft YaHei', fontSize: 15, fontWeight: 'bold', color: '#F2F7F8' }}&gt;同一组规则，顺序不同，结果相反&lt;/Text&gt;&#10;        &lt;Box style={{ marginTop: 16, padding: 12, background: 'rgba(7,17,27,0.55)', border: '1px solid rgba(242,247,248,0.08)', borderRadius: 6 }}&gt;&#10;            &lt;Text style={{ fontFamily: 'Consolas', fontSize: 10.5, color: 'rgba(242,247,248,0.62)', lineHeight: 1.9 }}&gt;&#10;                10  ALLOW  Office → DB  DATABASE&lt;br /&gt;&#10;                20  DENY   Office → Database  ANY&#10;            &lt;/Text&gt;&#10;        &lt;/Box&gt;&#10;        &lt;Box style={{ marginTop: 14, flexDirection: 'row', alignItems: 'center', gap: 12 }}&gt;&#10;            &lt;Box style={{ flex: 1, height: 1, background: 'rgba(242,247,248,0.12)' }} /&gt;&#10;            &lt;Text style={{ fontFamily: 'Consolas', fontSize: 10, color: 'rgba(242,247,248,0.38)', letterSpacing: 1 }}&gt;CONFIG TEXT&lt;/Text&gt;&#10;            &lt;Box style={{ flex: 1, height: 1, background: 'rgba(242,247,248,0.12)' }} /&gt;&#10;        &lt;/Box&gt;&#10;        &lt;Text style={{ marginTop: 8, textAlign: 'center', fontFamily: 'Consolas', fontSize: 64, fontWeight: 'bold', color: '#6BC8D1', lineHeight: 1 }}&gt;?&lt;/Text&gt;&#10;        &lt;Box style={{ marginTop: 4, flexDirection: 'row', gap: 8 }}&gt;&#10;            &lt;Box style={{ flex: 1, padding: 10, border: '1px solid rgba(231,129,114,0.26)', borderRadius: 6, background: 'rgba(231,129,114,0.06)' }}&gt;&#10;                &lt;Text style={{ fontFamily: 'Microsoft YaHei', fontSize: 11.5, color: '#E78172', fontWeight: 'bold' }}&gt;风险被阻断？&lt;/Text&gt;&#10;                &lt;Text style={{ marginTop: 4, fontFamily: 'Microsoft YaHei', fontSize: 10.5, color: 'rgba(242,247,248,0.48)', lineHeight: 1.6 }}&gt;还是只是路径没走到&lt;/Text&gt;&#10;            &lt;/Box&gt;&#10;            &lt;Box style={{ flex: 1, padding: 10, border: '1px solid rgba(107,200,209,0.24)', borderRadius: 6, background: 'rgba(107,200,209,0.05)' }}&gt;&#10;                &lt;Text style={{ fontFamily: 'Microsoft YaHei', fontSize: 11.5, color: '#6BC8D1', fontWeight: 'bold' }}&gt;业务仍可达？&lt;/Text&gt;&#10;                &lt;Text style={{ marginTop: 4, fontFamily: 'Microsoft YaHei', fontSize: 10.5, color: 'rgba(242,247,248,0.48)', lineHeight: 1.6 }}&gt;还是被一起切断&lt;/Text&gt;&#10;            &lt;/Box&gt;&#10;        &lt;/Box&gt;&#10;        &lt;Text style={{ marginTop: 12, fontFamily: 'Microsoft YaHei', fontSize: 10.5, color: 'rgba(242,247,248,0.38)', lineHeight: 1.6 }}&gt;没有可观察的结果，规则就只是一段文本。&lt;/Text&gt;&#10;    &lt;/Box&gt;&#10;&#10;    &lt;Box style={{ position: 'absolute', left: 56, top: 580, width: 1168, height: 56, paddingLeft: 18, paddingRight: 18, flexDirection: 'row', alignItems: 'center', background: 'rgba(107,200,209,0.055)', borderLeft: '2px solid #6BC8D1' }}&gt;&#10;        &lt;Text style={{ fontFamily: 'Consolas', fontSize: 10, color: '#6BC8D1', letterSpacing: 1.2, width: 92 }}&gt;核心矛盾&lt;/Text&gt;&#10;        &lt;Text style={{ fontFamily: 'Microsoft YaHei', fontSize: 15, color: 'rgba(242,247,248,0.82)' }}&gt;&#10;            策略效果必须可观察，但真实网络不允许反复试错——这正是“沙盘”存在的理由。&#10;        &lt;/Text&gt;&#10;    &lt;/Box&gt;&#10;&#10;    &lt;Box style={{ position: 'absolute', left: 56, top: 664, width: 1168, height: 1, background: 'rgba(242,247,248,0.10)' }} /&gt;&#10;    &lt;Text style={{ position: 'absolute', left: 56, top: 678, fontFamily: 'Consolas', fontSize: 10.5, color: 'rgba(242,247,248,0.40)', letterSpacing: 0.8 }}&gt;智御网络 · 三维网络安全策略交互验证平台&lt;/Text&gt;&#10;    &lt;Text style={{ position: 'absolute', right: 56, top: 678, fontFamily: 'Consolas', fontSize: 10.5, color: 'rgba(242,247,248,0.40)' }}&gt;04 / 22&lt;/Text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07111B"/>
          </a:solidFill>
          <a:ln/>
        </p:spPr>
        <p:txBody>
          <a:bodyPr/>
          <a:p/>
        </p:txBody>
      </p:sp>
      <p:pic>
        <p:nvPicPr>
          <p:cNvPr id="717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1"/>
              </a:ext>
            </a:extLst>
          </a:blip>
          <a:stretch>
            <a:fillRect/>
          </a:stretch>
        </p:blipFill>
        <p:spPr>
          <a:xfrm rot="0" flipH="0" flipV="0">
            <a:off x="0" y="0"/>
            <a:ext cx="12192000" cy="6858000"/>
          </a:xfrm>
          <a:prstGeom prst="rect">
            <a:avLst/>
          </a:prstGeom>
          <a:ln/>
        </p:spPr>
      </p:pic>
      <p:sp>
        <p:nvSpPr>
          <p:cNvPr id="718" name="" descr="{&quot;isTemplate&quot;:true,&quot;type&quot;:&quot;text&quot;}"/>
          <p:cNvSpPr txBox="1"/>
          <p:nvPr/>
        </p:nvSpPr>
        <p:spPr>
          <a:xfrm rot="0" flipH="0" flipV="0">
            <a:off x="533400" y="361950"/>
            <a:ext cx="1276350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825" spc="135">
                <a:solidFill>
                  <a:srgbClr val="6BC8D1"/>
                </a:solidFill>
                <a:latin typeface="Consolas"/>
                <a:ea typeface="Consolas"/>
              </a:rPr>
              <a:t>01 / </a:t>
            </a:r>
            <a:r>
              <a:rPr lang="zh-CN" sz="825" spc="135">
                <a:solidFill>
                  <a:srgbClr val="6BC8D1"/>
                </a:solidFill>
                <a:latin typeface="Consolas"/>
                <a:ea typeface="Consolas"/>
              </a:rPr>
              <a:t>背景与问题</a:t>
            </a:r>
            <a:endParaRPr/>
          </a:p>
        </p:txBody>
      </p:sp>
      <p:sp>
        <p:nvSpPr>
          <p:cNvPr id="719" name="" descr="{&quot;isTemplate&quot;:true,&quot;type&quot;:&quot;text&quot;}"/>
          <p:cNvSpPr txBox="1"/>
          <p:nvPr/>
        </p:nvSpPr>
        <p:spPr>
          <a:xfrm rot="0" flipH="0" flipV="0">
            <a:off x="533400" y="590550"/>
            <a:ext cx="4333875" cy="3714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400" b="1" spc="38">
                <a:solidFill>
                  <a:srgbClr val="F2F7F8"/>
                </a:solidFill>
                <a:latin typeface="Microsoft YaHei"/>
                <a:ea typeface="Microsoft YaHei"/>
              </a:rPr>
              <a:t>为什么“讲了”却“不会用”？</a:t>
            </a:r>
            <a:endParaRPr/>
          </a:p>
        </p:txBody>
      </p:sp>
      <p:sp>
        <p:nvSpPr>
          <p:cNvPr id="720" name="" descr="{&quot;isTemplate&quot;:true,&quot;type&quot;:&quot;text&quot;}"/>
          <p:cNvSpPr txBox="1"/>
          <p:nvPr/>
        </p:nvSpPr>
        <p:spPr>
          <a:xfrm rot="0" flipH="0" flipV="0">
            <a:off x="10001250" y="723900"/>
            <a:ext cx="1657350" cy="1238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788">
                <a:solidFill>
                  <a:srgbClr val="F2F7F8">
                    <a:alpha val="42000"/>
                  </a:srgbClr>
                </a:solidFill>
                <a:latin typeface="Consolas"/>
                <a:ea typeface="Consolas"/>
              </a:rPr>
              <a:t>THREE GAPS · ONE CONTRADICTION</a:t>
            </a:r>
            <a:endParaRPr/>
          </a:p>
        </p:txBody>
      </p:sp>
      <p:sp>
        <p:nvSpPr>
          <p:cNvPr id="721" name=""/>
          <p:cNvSpPr/>
          <p:nvPr/>
        </p:nvSpPr>
        <p:spPr>
          <a:xfrm rot="0" flipH="0" flipV="0">
            <a:off x="533400" y="1333500"/>
            <a:ext cx="6191250" cy="1123950"/>
          </a:xfrm>
          <a:custGeom>
            <a:pathLst>
              <a:path w="650" h="118">
                <a:moveTo>
                  <a:pt x="0" y="0"/>
                </a:moveTo>
                <a:lnTo>
                  <a:pt x="650" y="0"/>
                </a:lnTo>
                <a:lnTo>
                  <a:pt x="650" y="1"/>
                </a:lnTo>
                <a:lnTo>
                  <a:pt x="0" y="1"/>
                </a:lnTo>
                <a:close/>
              </a:path>
            </a:pathLst>
          </a:custGeom>
          <a:solidFill>
            <a:srgbClr val="F2F7F8">
              <a:alpha val="12000"/>
            </a:srgbClr>
          </a:solidFill>
          <a:ln/>
        </p:spPr>
        <p:txBody>
          <a:bodyPr/>
          <a:p/>
        </p:txBody>
      </p:sp>
      <p:sp>
        <p:nvSpPr>
          <p:cNvPr id="722" name="" descr="{&quot;isTemplate&quot;:true,&quot;type&quot;:&quot;text&quot;}"/>
          <p:cNvSpPr txBox="1"/>
          <p:nvPr/>
        </p:nvSpPr>
        <p:spPr>
          <a:xfrm rot="0" flipH="0" flipV="0">
            <a:off x="533400" y="1514475"/>
            <a:ext cx="59055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6BC8D1"/>
                </a:solidFill>
                <a:latin typeface="Consolas"/>
                <a:ea typeface="Consolas"/>
              </a:rPr>
              <a:t>01</a:t>
            </a:r>
            <a:endParaRPr/>
          </a:p>
        </p:txBody>
      </p:sp>
      <p:sp>
        <p:nvSpPr>
          <p:cNvPr id="723" name="" descr="{&quot;isTemplate&quot;:true,&quot;type&quot;:&quot;text&quot;}"/>
          <p:cNvSpPr txBox="1"/>
          <p:nvPr/>
        </p:nvSpPr>
        <p:spPr>
          <a:xfrm rot="0" flipH="0" flipV="0">
            <a:off x="1123950" y="1495425"/>
            <a:ext cx="5334000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425" b="1">
                <a:solidFill>
                  <a:srgbClr val="F2F7F8"/>
                </a:solidFill>
                <a:latin typeface="Microsoft YaHei"/>
                <a:ea typeface="Microsoft YaHei"/>
              </a:rPr>
              <a:t>看不见</a:t>
            </a:r>
            <a:endParaRPr/>
          </a:p>
        </p:txBody>
      </p:sp>
      <p:sp>
        <p:nvSpPr>
          <p:cNvPr id="724" name="" descr="{&quot;isTemplate&quot;:true,&quot;type&quot;:&quot;text&quot;}"/>
          <p:cNvSpPr txBox="1"/>
          <p:nvPr/>
        </p:nvSpPr>
        <p:spPr>
          <a:xfrm rot="0" flipH="0" flipV="0">
            <a:off x="1123950" y="1790700"/>
            <a:ext cx="5334000" cy="54292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75000"/>
              </a:lnSpc>
            </a:pPr>
            <a:r>
              <a:rPr lang="zh-CN" sz="1013">
                <a:solidFill>
                  <a:srgbClr val="F2F7F8">
                    <a:alpha val="64000"/>
                  </a:srgbClr>
                </a:solidFill>
                <a:latin typeface="Microsoft YaHei"/>
                <a:ea typeface="Microsoft YaHei"/>
              </a:rPr>
              <a:t>拓扑、</a:t>
            </a:r>
            <a:r>
              <a:rPr lang="en-US" sz="1013">
                <a:solidFill>
                  <a:srgbClr val="F2F7F8">
                    <a:alpha val="64000"/>
                  </a:srgbClr>
                </a:solidFill>
                <a:latin typeface="Microsoft YaHei"/>
                <a:ea typeface="Microsoft YaHei"/>
              </a:rPr>
              <a:t>VLAN</a:t>
            </a:r>
            <a:r>
              <a:rPr lang="zh-CN" sz="1013">
                <a:solidFill>
                  <a:srgbClr val="F2F7F8">
                    <a:alpha val="64000"/>
                  </a:srgbClr>
                </a:solidFill>
                <a:latin typeface="Microsoft YaHei"/>
                <a:ea typeface="Microsoft YaHei"/>
              </a:rPr>
              <a:t>、路由和规则顺序都藏在配置里。学生只能靠想象还原一条路径，更看不见它在哪一跳被拒绝。</a:t>
            </a:r>
            <a:endParaRPr/>
          </a:p>
        </p:txBody>
      </p:sp>
      <p:sp>
        <p:nvSpPr>
          <p:cNvPr id="725" name=""/>
          <p:cNvSpPr/>
          <p:nvPr/>
        </p:nvSpPr>
        <p:spPr>
          <a:xfrm rot="0" flipH="0" flipV="0">
            <a:off x="533400" y="2457450"/>
            <a:ext cx="6191250" cy="1123950"/>
          </a:xfrm>
          <a:custGeom>
            <a:pathLst>
              <a:path w="650" h="118">
                <a:moveTo>
                  <a:pt x="0" y="0"/>
                </a:moveTo>
                <a:lnTo>
                  <a:pt x="650" y="0"/>
                </a:lnTo>
                <a:lnTo>
                  <a:pt x="650" y="1"/>
                </a:lnTo>
                <a:lnTo>
                  <a:pt x="0" y="1"/>
                </a:lnTo>
                <a:close/>
              </a:path>
            </a:pathLst>
          </a:custGeom>
          <a:solidFill>
            <a:srgbClr val="F2F7F8">
              <a:alpha val="12000"/>
            </a:srgbClr>
          </a:solidFill>
          <a:ln/>
        </p:spPr>
        <p:txBody>
          <a:bodyPr/>
          <a:p/>
        </p:txBody>
      </p:sp>
      <p:sp>
        <p:nvSpPr>
          <p:cNvPr id="726" name="" descr="{&quot;isTemplate&quot;:true,&quot;type&quot;:&quot;text&quot;}"/>
          <p:cNvSpPr txBox="1"/>
          <p:nvPr/>
        </p:nvSpPr>
        <p:spPr>
          <a:xfrm rot="0" flipH="0" flipV="0">
            <a:off x="533400" y="2638425"/>
            <a:ext cx="59055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6BC8D1"/>
                </a:solidFill>
                <a:latin typeface="Consolas"/>
                <a:ea typeface="Consolas"/>
              </a:rPr>
              <a:t>02</a:t>
            </a:r>
            <a:endParaRPr/>
          </a:p>
        </p:txBody>
      </p:sp>
      <p:sp>
        <p:nvSpPr>
          <p:cNvPr id="727" name="" descr="{&quot;isTemplate&quot;:true,&quot;type&quot;:&quot;text&quot;}"/>
          <p:cNvSpPr txBox="1"/>
          <p:nvPr/>
        </p:nvSpPr>
        <p:spPr>
          <a:xfrm rot="0" flipH="0" flipV="0">
            <a:off x="1123950" y="2619375"/>
            <a:ext cx="5334000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425" b="1">
                <a:solidFill>
                  <a:srgbClr val="F2F7F8"/>
                </a:solidFill>
                <a:latin typeface="Microsoft YaHei"/>
                <a:ea typeface="Microsoft YaHei"/>
              </a:rPr>
              <a:t>不敢动</a:t>
            </a:r>
            <a:endParaRPr/>
          </a:p>
        </p:txBody>
      </p:sp>
      <p:sp>
        <p:nvSpPr>
          <p:cNvPr id="728" name="" descr="{&quot;isTemplate&quot;:true,&quot;type&quot;:&quot;text&quot;}"/>
          <p:cNvSpPr txBox="1"/>
          <p:nvPr/>
        </p:nvSpPr>
        <p:spPr>
          <a:xfrm rot="0" flipH="0" flipV="0">
            <a:off x="1123950" y="2914650"/>
            <a:ext cx="5334000" cy="276225"/>
          </a:xfrm>
          <a:prstGeom prst="rect"/>
        </p:spPr>
        <p:txBody>
          <a:bodyPr wrap="none" lIns="0" tIns="0" rIns="0" bIns="0"/>
          <a:p>
            <a:pPr>
              <a:lnSpc>
                <a:spcPct val="175000"/>
              </a:lnSpc>
            </a:pPr>
            <a:r>
              <a:rPr lang="zh-CN" sz="1013">
                <a:solidFill>
                  <a:srgbClr val="F2F7F8">
                    <a:alpha val="64000"/>
                  </a:srgbClr>
                </a:solidFill>
                <a:latin typeface="Microsoft YaHei"/>
                <a:ea typeface="Microsoft YaHei"/>
              </a:rPr>
              <a:t>真实设备不能反复试错。一次错误的放行、一条位置不当的规则，都可能直接中断业务。</a:t>
            </a:r>
            <a:endParaRPr/>
          </a:p>
        </p:txBody>
      </p:sp>
      <p:sp>
        <p:nvSpPr>
          <p:cNvPr id="729" name=""/>
          <p:cNvSpPr/>
          <p:nvPr/>
        </p:nvSpPr>
        <p:spPr>
          <a:xfrm rot="0" flipH="0" flipV="0">
            <a:off x="533400" y="3581400"/>
            <a:ext cx="6191250" cy="1123950"/>
          </a:xfrm>
          <a:custGeom>
            <a:pathLst>
              <a:path w="650" h="118">
                <a:moveTo>
                  <a:pt x="0" y="0"/>
                </a:moveTo>
                <a:lnTo>
                  <a:pt x="650" y="0"/>
                </a:lnTo>
                <a:lnTo>
                  <a:pt x="650" y="1"/>
                </a:lnTo>
                <a:lnTo>
                  <a:pt x="0" y="1"/>
                </a:lnTo>
                <a:close/>
              </a:path>
            </a:pathLst>
          </a:custGeom>
          <a:solidFill>
            <a:srgbClr val="F2F7F8">
              <a:alpha val="12000"/>
            </a:srgbClr>
          </a:solidFill>
          <a:ln/>
        </p:spPr>
        <p:txBody>
          <a:bodyPr/>
          <a:p/>
        </p:txBody>
      </p:sp>
      <p:sp>
        <p:nvSpPr>
          <p:cNvPr id="730" name="" descr="{&quot;isTemplate&quot;:true,&quot;type&quot;:&quot;text&quot;}"/>
          <p:cNvSpPr txBox="1"/>
          <p:nvPr/>
        </p:nvSpPr>
        <p:spPr>
          <a:xfrm rot="0" flipH="0" flipV="0">
            <a:off x="533400" y="3762375"/>
            <a:ext cx="59055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E78172"/>
                </a:solidFill>
                <a:latin typeface="Consolas"/>
                <a:ea typeface="Consolas"/>
              </a:rPr>
              <a:t>03</a:t>
            </a:r>
            <a:endParaRPr/>
          </a:p>
        </p:txBody>
      </p:sp>
      <p:sp>
        <p:nvSpPr>
          <p:cNvPr id="731" name="" descr="{&quot;isTemplate&quot;:true,&quot;type&quot;:&quot;text&quot;}"/>
          <p:cNvSpPr txBox="1"/>
          <p:nvPr/>
        </p:nvSpPr>
        <p:spPr>
          <a:xfrm rot="0" flipH="0" flipV="0">
            <a:off x="1123950" y="3743325"/>
            <a:ext cx="5334000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425" b="1">
                <a:solidFill>
                  <a:srgbClr val="F2F7F8"/>
                </a:solidFill>
                <a:latin typeface="Microsoft YaHei"/>
                <a:ea typeface="Microsoft YaHei"/>
              </a:rPr>
              <a:t>难验证</a:t>
            </a:r>
            <a:endParaRPr/>
          </a:p>
        </p:txBody>
      </p:sp>
      <p:sp>
        <p:nvSpPr>
          <p:cNvPr id="732" name="" descr="{&quot;isTemplate&quot;:true,&quot;type&quot;:&quot;text&quot;}"/>
          <p:cNvSpPr txBox="1"/>
          <p:nvPr/>
        </p:nvSpPr>
        <p:spPr>
          <a:xfrm rot="0" flipH="0" flipV="0">
            <a:off x="1123950" y="4038600"/>
            <a:ext cx="5334000" cy="276225"/>
          </a:xfrm>
          <a:prstGeom prst="rect"/>
        </p:spPr>
        <p:txBody>
          <a:bodyPr wrap="none" lIns="0" tIns="0" rIns="0" bIns="0"/>
          <a:p>
            <a:pPr>
              <a:lnSpc>
                <a:spcPct val="175000"/>
              </a:lnSpc>
            </a:pPr>
            <a:r>
              <a:rPr lang="zh-CN" sz="1013">
                <a:solidFill>
                  <a:srgbClr val="F2F7F8">
                    <a:alpha val="64000"/>
                  </a:srgbClr>
                </a:solidFill>
                <a:latin typeface="Microsoft YaHei"/>
                <a:ea typeface="Microsoft YaHei"/>
              </a:rPr>
              <a:t>改完规则只知道“好像更安全”，却说不清是挡住了风险，还是把必要业务一起切断了。</a:t>
            </a:r>
            <a:endParaRPr/>
          </a:p>
        </p:txBody>
      </p:sp>
      <p:sp>
        <p:nvSpPr>
          <p:cNvPr id="733" name="" descr="{&quot;isTemplate&quot;:true,&quot;type&quot;:&quot;text&quot;}"/>
          <p:cNvSpPr txBox="1"/>
          <p:nvPr/>
        </p:nvSpPr>
        <p:spPr>
          <a:xfrm rot="0" flipH="0" flipV="0">
            <a:off x="533400" y="4876800"/>
            <a:ext cx="5905500" cy="60007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80000"/>
              </a:lnSpc>
            </a:pPr>
            <a:r>
              <a:rPr lang="zh-CN" sz="1088">
                <a:solidFill>
                  <a:srgbClr val="F2F7F8">
                    <a:alpha val="58000"/>
                  </a:srgbClr>
                </a:solidFill>
                <a:latin typeface="Microsoft YaHei"/>
                <a:ea typeface="Microsoft YaHei"/>
              </a:rPr>
              <a:t>所以问题不是“再讲一遍规则”，而是让学生在一个允许犯错的网络里，看见每一次改动的后果。</a:t>
            </a:r>
            <a:endParaRPr/>
          </a:p>
        </p:txBody>
      </p:sp>
      <p:sp>
        <p:nvSpPr>
          <p:cNvPr id="734" name=""/>
          <p:cNvSpPr/>
          <p:nvPr/>
        </p:nvSpPr>
        <p:spPr>
          <a:xfrm rot="0" flipH="0" flipV="0">
            <a:off x="7067550" y="1333500"/>
            <a:ext cx="4591050" cy="3733800"/>
          </a:xfrm>
          <a:prstGeom prst="roundRect">
            <a:avLst>
              <a:gd name="adj" fmla="val 2551"/>
            </a:avLst>
          </a:prstGeom>
          <a:gradFill>
            <a:gsLst>
              <a:gs pos="0">
                <a:srgbClr val="F2F7F8">
                  <a:alpha val="5500"/>
                </a:srgbClr>
              </a:gs>
              <a:gs pos="100000">
                <a:srgbClr val="F2F7F8">
                  <a:alpha val="2200"/>
                </a:srgbClr>
              </a:gs>
            </a:gsLst>
            <a:lin ang="3300000" scaled="1"/>
          </a:gradFill>
          <a:ln w="12700">
            <a:solidFill>
              <a:srgbClr val="6BC8D1">
                <a:alpha val="16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735" name="" descr="{&quot;isTemplate&quot;:true,&quot;type&quot;:&quot;text&quot;}"/>
          <p:cNvSpPr txBox="1"/>
          <p:nvPr/>
        </p:nvSpPr>
        <p:spPr>
          <a:xfrm rot="0" flipH="0" flipV="0">
            <a:off x="7277100" y="1543050"/>
            <a:ext cx="4171950" cy="1143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750" spc="113">
                <a:solidFill>
                  <a:srgbClr val="F2F7F8">
                    <a:alpha val="42000"/>
                  </a:srgbClr>
                </a:solidFill>
                <a:latin typeface="Consolas"/>
                <a:ea typeface="Consolas"/>
              </a:rPr>
              <a:t>THE GAP</a:t>
            </a:r>
            <a:endParaRPr/>
          </a:p>
        </p:txBody>
      </p:sp>
      <p:sp>
        <p:nvSpPr>
          <p:cNvPr id="736" name="" descr="{&quot;isTemplate&quot;:true,&quot;type&quot;:&quot;text&quot;}"/>
          <p:cNvSpPr txBox="1"/>
          <p:nvPr/>
        </p:nvSpPr>
        <p:spPr>
          <a:xfrm rot="0" flipH="0" flipV="0">
            <a:off x="7277100" y="1733550"/>
            <a:ext cx="41719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b="1">
                <a:solidFill>
                  <a:srgbClr val="F2F7F8"/>
                </a:solidFill>
                <a:latin typeface="Microsoft YaHei"/>
                <a:ea typeface="Microsoft YaHei"/>
              </a:rPr>
              <a:t>同一组规则，顺序不同，结果相反</a:t>
            </a:r>
            <a:endParaRPr/>
          </a:p>
        </p:txBody>
      </p:sp>
      <p:sp>
        <p:nvSpPr>
          <p:cNvPr id="737" name=""/>
          <p:cNvSpPr/>
          <p:nvPr/>
        </p:nvSpPr>
        <p:spPr>
          <a:xfrm rot="0" flipH="0" flipV="0">
            <a:off x="7277100" y="2057400"/>
            <a:ext cx="4171950" cy="685800"/>
          </a:xfrm>
          <a:prstGeom prst="roundRect">
            <a:avLst>
              <a:gd name="adj" fmla="val 8333"/>
            </a:avLst>
          </a:prstGeom>
          <a:solidFill>
            <a:srgbClr val="07111B">
              <a:alpha val="55000"/>
            </a:srgbClr>
          </a:solidFill>
          <a:ln w="12700">
            <a:solidFill>
              <a:srgbClr val="F2F7F8">
                <a:alpha val="8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738" name="" descr="{&quot;isTemplate&quot;:true,&quot;type&quot;:&quot;text&quot;}"/>
          <p:cNvSpPr txBox="1"/>
          <p:nvPr/>
        </p:nvSpPr>
        <p:spPr>
          <a:xfrm rot="0" flipH="0" flipV="0">
            <a:off x="7391400" y="2171700"/>
            <a:ext cx="3943350" cy="457200"/>
          </a:xfrm>
          <a:prstGeom prst="rect"/>
        </p:spPr>
        <p:txBody>
          <a:bodyPr wrap="none" lIns="0" tIns="0" rIns="0" bIns="0"/>
          <a:p>
            <a:pPr>
              <a:lnSpc>
                <a:spcPct val="190000"/>
              </a:lnSpc>
            </a:pPr>
            <a:r>
              <a:rPr lang="en-US" sz="788">
                <a:solidFill>
                  <a:srgbClr val="F2F7F8">
                    <a:alpha val="62000"/>
                  </a:srgbClr>
                </a:solidFill>
                <a:latin typeface="Consolas"/>
                <a:ea typeface="Consolas"/>
              </a:rPr>
              <a:t>10  ALLOW  Office → DB  DATABASE</a:t>
            </a:r>
            <a:endParaRPr/>
          </a:p>
          <a:p>
            <a:pPr>
              <a:lnSpc>
                <a:spcPct val="190000"/>
              </a:lnSpc>
            </a:pPr>
            <a:r>
              <a:rPr lang="en-US" sz="788">
                <a:solidFill>
                  <a:srgbClr val="F2F7F8">
                    <a:alpha val="62000"/>
                  </a:srgbClr>
                </a:solidFill>
                <a:latin typeface="Consolas"/>
                <a:ea typeface="Consolas"/>
              </a:rPr>
              <a:t>20  DENY   Office → Database  ANY</a:t>
            </a:r>
            <a:endParaRPr/>
          </a:p>
        </p:txBody>
      </p:sp>
      <p:sp>
        <p:nvSpPr>
          <p:cNvPr id="739" name=""/>
          <p:cNvSpPr/>
          <p:nvPr/>
        </p:nvSpPr>
        <p:spPr>
          <a:xfrm rot="0" flipH="0" flipV="0">
            <a:off x="7277100" y="2933700"/>
            <a:ext cx="1628775" cy="9525"/>
          </a:xfrm>
          <a:prstGeom prst="rect">
            <a:avLst/>
          </a:prstGeom>
          <a:solidFill>
            <a:srgbClr val="F2F7F8">
              <a:alpha val="12000"/>
            </a:srgbClr>
          </a:solidFill>
          <a:ln/>
        </p:spPr>
        <p:txBody>
          <a:bodyPr/>
          <a:p/>
        </p:txBody>
      </p:sp>
      <p:sp>
        <p:nvSpPr>
          <p:cNvPr id="740" name="" descr="{&quot;isTemplate&quot;:true,&quot;type&quot;:&quot;text&quot;}"/>
          <p:cNvSpPr txBox="1"/>
          <p:nvPr/>
        </p:nvSpPr>
        <p:spPr>
          <a:xfrm rot="0" flipH="0" flipV="0">
            <a:off x="9020175" y="2876550"/>
            <a:ext cx="685800" cy="1143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750" spc="75">
                <a:solidFill>
                  <a:srgbClr val="F2F7F8">
                    <a:alpha val="38000"/>
                  </a:srgbClr>
                </a:solidFill>
                <a:latin typeface="Consolas"/>
                <a:ea typeface="Consolas"/>
              </a:rPr>
              <a:t>CONFIG TEXT</a:t>
            </a:r>
            <a:endParaRPr/>
          </a:p>
        </p:txBody>
      </p:sp>
      <p:sp>
        <p:nvSpPr>
          <p:cNvPr id="741" name=""/>
          <p:cNvSpPr/>
          <p:nvPr/>
        </p:nvSpPr>
        <p:spPr>
          <a:xfrm rot="0" flipH="0" flipV="0">
            <a:off x="9820275" y="2933700"/>
            <a:ext cx="1628775" cy="9525"/>
          </a:xfrm>
          <a:prstGeom prst="rect">
            <a:avLst/>
          </a:prstGeom>
          <a:solidFill>
            <a:srgbClr val="F2F7F8">
              <a:alpha val="12000"/>
            </a:srgbClr>
          </a:solidFill>
          <a:ln/>
        </p:spPr>
        <p:txBody>
          <a:bodyPr/>
          <a:p/>
        </p:txBody>
      </p:sp>
      <p:sp>
        <p:nvSpPr>
          <p:cNvPr id="742" name="" descr="{&quot;isTemplate&quot;:true,&quot;type&quot;:&quot;text&quot;}"/>
          <p:cNvSpPr txBox="1"/>
          <p:nvPr/>
        </p:nvSpPr>
        <p:spPr>
          <a:xfrm rot="0" flipH="0" flipV="0">
            <a:off x="7277100" y="3067050"/>
            <a:ext cx="4171950" cy="733425"/>
          </a:xfrm>
          <a:prstGeom prst="rect"/>
        </p:spPr>
        <p:txBody>
          <a:bodyPr wrap="none" lIns="0" tIns="0" rIns="0" bIns="0"/>
          <a:p>
            <a:pPr algn="ctr">
              <a:lnSpc>
                <a:spcPct val="100000"/>
              </a:lnSpc>
            </a:pPr>
            <a:r>
              <a:rPr lang="en-US" sz="4800" b="1">
                <a:solidFill>
                  <a:srgbClr val="6BC8D1"/>
                </a:solidFill>
                <a:latin typeface="Consolas"/>
                <a:ea typeface="Consolas"/>
              </a:rPr>
              <a:t>?</a:t>
            </a:r>
            <a:endParaRPr/>
          </a:p>
        </p:txBody>
      </p:sp>
      <p:sp>
        <p:nvSpPr>
          <p:cNvPr id="743" name=""/>
          <p:cNvSpPr/>
          <p:nvPr/>
        </p:nvSpPr>
        <p:spPr>
          <a:xfrm rot="0" flipH="0" flipV="0">
            <a:off x="7277100" y="3838575"/>
            <a:ext cx="2047875" cy="561975"/>
          </a:xfrm>
          <a:prstGeom prst="roundRect">
            <a:avLst>
              <a:gd name="adj" fmla="val 10169"/>
            </a:avLst>
          </a:prstGeom>
          <a:solidFill>
            <a:srgbClr val="E78172">
              <a:alpha val="6000"/>
            </a:srgbClr>
          </a:solidFill>
          <a:ln w="12700">
            <a:solidFill>
              <a:srgbClr val="E78172">
                <a:alpha val="26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744" name="" descr="{&quot;isTemplate&quot;:true,&quot;type&quot;:&quot;text&quot;}"/>
          <p:cNvSpPr txBox="1"/>
          <p:nvPr/>
        </p:nvSpPr>
        <p:spPr>
          <a:xfrm rot="0" flipH="0" flipV="0">
            <a:off x="7372350" y="3933825"/>
            <a:ext cx="1857375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863" b="1">
                <a:solidFill>
                  <a:srgbClr val="E78172"/>
                </a:solidFill>
                <a:latin typeface="Microsoft YaHei"/>
                <a:ea typeface="Microsoft YaHei"/>
              </a:rPr>
              <a:t>风险被阻断？</a:t>
            </a:r>
            <a:endParaRPr/>
          </a:p>
        </p:txBody>
      </p:sp>
      <p:sp>
        <p:nvSpPr>
          <p:cNvPr id="745" name="" descr="{&quot;isTemplate&quot;:true,&quot;type&quot;:&quot;text&quot;}"/>
          <p:cNvSpPr txBox="1"/>
          <p:nvPr/>
        </p:nvSpPr>
        <p:spPr>
          <a:xfrm rot="0" flipH="0" flipV="0">
            <a:off x="7372350" y="4105275"/>
            <a:ext cx="1857375" cy="200025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788">
                <a:solidFill>
                  <a:srgbClr val="F2F7F8">
                    <a:alpha val="48000"/>
                  </a:srgbClr>
                </a:solidFill>
                <a:latin typeface="Microsoft YaHei"/>
                <a:ea typeface="Microsoft YaHei"/>
              </a:rPr>
              <a:t>还是只是路径没走到</a:t>
            </a:r>
            <a:endParaRPr/>
          </a:p>
        </p:txBody>
      </p:sp>
      <p:sp>
        <p:nvSpPr>
          <p:cNvPr id="746" name=""/>
          <p:cNvSpPr/>
          <p:nvPr/>
        </p:nvSpPr>
        <p:spPr>
          <a:xfrm rot="0" flipH="0" flipV="0">
            <a:off x="9401175" y="3838575"/>
            <a:ext cx="2047875" cy="561975"/>
          </a:xfrm>
          <a:prstGeom prst="roundRect">
            <a:avLst>
              <a:gd name="adj" fmla="val 10169"/>
            </a:avLst>
          </a:prstGeom>
          <a:solidFill>
            <a:srgbClr val="6BC8D1">
              <a:alpha val="5000"/>
            </a:srgbClr>
          </a:solidFill>
          <a:ln w="12700">
            <a:solidFill>
              <a:srgbClr val="6BC8D1">
                <a:alpha val="24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747" name="" descr="{&quot;isTemplate&quot;:true,&quot;type&quot;:&quot;text&quot;}"/>
          <p:cNvSpPr txBox="1"/>
          <p:nvPr/>
        </p:nvSpPr>
        <p:spPr>
          <a:xfrm rot="0" flipH="0" flipV="0">
            <a:off x="9496425" y="3933825"/>
            <a:ext cx="1857375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863" b="1">
                <a:solidFill>
                  <a:srgbClr val="6BC8D1"/>
                </a:solidFill>
                <a:latin typeface="Microsoft YaHei"/>
                <a:ea typeface="Microsoft YaHei"/>
              </a:rPr>
              <a:t>业务仍可达？</a:t>
            </a:r>
            <a:endParaRPr/>
          </a:p>
        </p:txBody>
      </p:sp>
      <p:sp>
        <p:nvSpPr>
          <p:cNvPr id="748" name="" descr="{&quot;isTemplate&quot;:true,&quot;type&quot;:&quot;text&quot;}"/>
          <p:cNvSpPr txBox="1"/>
          <p:nvPr/>
        </p:nvSpPr>
        <p:spPr>
          <a:xfrm rot="0" flipH="0" flipV="0">
            <a:off x="9496425" y="4105275"/>
            <a:ext cx="1857375" cy="200025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788">
                <a:solidFill>
                  <a:srgbClr val="F2F7F8">
                    <a:alpha val="48000"/>
                  </a:srgbClr>
                </a:solidFill>
                <a:latin typeface="Microsoft YaHei"/>
                <a:ea typeface="Microsoft YaHei"/>
              </a:rPr>
              <a:t>还是被一起切断</a:t>
            </a:r>
            <a:endParaRPr/>
          </a:p>
        </p:txBody>
      </p:sp>
      <p:sp>
        <p:nvSpPr>
          <p:cNvPr id="749" name="" descr="{&quot;isTemplate&quot;:true,&quot;type&quot;:&quot;text&quot;}"/>
          <p:cNvSpPr txBox="1"/>
          <p:nvPr/>
        </p:nvSpPr>
        <p:spPr>
          <a:xfrm rot="0" flipH="0" flipV="0">
            <a:off x="7277100" y="4514850"/>
            <a:ext cx="4171950" cy="200025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788">
                <a:solidFill>
                  <a:srgbClr val="F2F7F8">
                    <a:alpha val="38000"/>
                  </a:srgbClr>
                </a:solidFill>
                <a:latin typeface="Microsoft YaHei"/>
                <a:ea typeface="Microsoft YaHei"/>
              </a:rPr>
              <a:t>没有可观察的结果，规则就只是一段文本。</a:t>
            </a:r>
            <a:endParaRPr/>
          </a:p>
        </p:txBody>
      </p:sp>
      <p:sp>
        <p:nvSpPr>
          <p:cNvPr id="750" name=""/>
          <p:cNvSpPr/>
          <p:nvPr/>
        </p:nvSpPr>
        <p:spPr>
          <a:xfrm rot="0" flipH="0" flipV="0">
            <a:off x="552450" y="5524500"/>
            <a:ext cx="11106150" cy="533400"/>
          </a:xfrm>
          <a:prstGeom prst="rect">
            <a:avLst/>
          </a:prstGeom>
          <a:solidFill>
            <a:srgbClr val="6BC8D1">
              <a:alpha val="5500"/>
            </a:srgbClr>
          </a:solidFill>
          <a:ln/>
        </p:spPr>
        <p:txBody>
          <a:bodyPr/>
          <a:p/>
        </p:txBody>
      </p:sp>
      <p:sp>
        <p:nvSpPr>
          <p:cNvPr id="751" name=""/>
          <p:cNvSpPr/>
          <p:nvPr/>
        </p:nvSpPr>
        <p:spPr>
          <a:xfrm rot="0" flipH="0" flipV="0">
            <a:off x="533400" y="5524500"/>
            <a:ext cx="11125200" cy="533400"/>
          </a:xfrm>
          <a:custGeom>
            <a:pathLst>
              <a:path w="1168" h="56">
                <a:moveTo>
                  <a:pt x="0" y="0"/>
                </a:moveTo>
                <a:lnTo>
                  <a:pt x="2" y="0"/>
                </a:lnTo>
                <a:lnTo>
                  <a:pt x="2" y="56"/>
                </a:lnTo>
                <a:lnTo>
                  <a:pt x="0" y="56"/>
                </a:lnTo>
                <a:close/>
              </a:path>
            </a:pathLst>
          </a:custGeom>
          <a:solidFill>
            <a:srgbClr val="6BC8D1"/>
          </a:solidFill>
          <a:ln/>
        </p:spPr>
        <p:txBody>
          <a:bodyPr/>
          <a:p/>
        </p:txBody>
      </p:sp>
      <p:sp>
        <p:nvSpPr>
          <p:cNvPr id="752" name="" descr="{&quot;isTemplate&quot;:true,&quot;type&quot;:&quot;text&quot;}"/>
          <p:cNvSpPr txBox="1"/>
          <p:nvPr/>
        </p:nvSpPr>
        <p:spPr>
          <a:xfrm rot="0" flipH="0" flipV="0">
            <a:off x="723900" y="5734050"/>
            <a:ext cx="876300" cy="1143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750" spc="90">
                <a:solidFill>
                  <a:srgbClr val="6BC8D1"/>
                </a:solidFill>
                <a:latin typeface="Consolas"/>
                <a:ea typeface="Consolas"/>
              </a:rPr>
              <a:t>核心矛盾</a:t>
            </a:r>
            <a:endParaRPr/>
          </a:p>
        </p:txBody>
      </p:sp>
      <p:sp>
        <p:nvSpPr>
          <p:cNvPr id="753" name="" descr="{&quot;isTemplate&quot;:true,&quot;type&quot;:&quot;text&quot;}"/>
          <p:cNvSpPr txBox="1"/>
          <p:nvPr/>
        </p:nvSpPr>
        <p:spPr>
          <a:xfrm rot="0" flipH="0" flipV="0">
            <a:off x="1600200" y="5705475"/>
            <a:ext cx="53149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F2F7F8">
                    <a:alpha val="82000"/>
                  </a:srgbClr>
                </a:solidFill>
                <a:latin typeface="Microsoft YaHei"/>
                <a:ea typeface="Microsoft YaHei"/>
              </a:rPr>
              <a:t>策略效果必须可观察，但真实网络不允许反复试错——这正是“沙盘”存在的理由。</a:t>
            </a:r>
            <a:endParaRPr/>
          </a:p>
        </p:txBody>
      </p:sp>
      <p:sp>
        <p:nvSpPr>
          <p:cNvPr id="754" name=""/>
          <p:cNvSpPr/>
          <p:nvPr/>
        </p:nvSpPr>
        <p:spPr>
          <a:xfrm rot="0" flipH="0" flipV="0">
            <a:off x="533400" y="6324600"/>
            <a:ext cx="11125200" cy="9525"/>
          </a:xfrm>
          <a:prstGeom prst="rect">
            <a:avLst/>
          </a:prstGeom>
          <a:solidFill>
            <a:srgbClr val="F2F7F8">
              <a:alpha val="10000"/>
            </a:srgbClr>
          </a:solidFill>
          <a:ln/>
        </p:spPr>
        <p:txBody>
          <a:bodyPr/>
          <a:p/>
        </p:txBody>
      </p:sp>
      <p:sp>
        <p:nvSpPr>
          <p:cNvPr id="755" name="" descr="{&quot;isTemplate&quot;:true,&quot;type&quot;:&quot;text&quot;}"/>
          <p:cNvSpPr txBox="1"/>
          <p:nvPr/>
        </p:nvSpPr>
        <p:spPr>
          <a:xfrm rot="0" flipH="0" flipV="0">
            <a:off x="533400" y="6457950"/>
            <a:ext cx="3248025" cy="1238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788" spc="60">
                <a:solidFill>
                  <a:srgbClr val="F2F7F8">
                    <a:alpha val="40000"/>
                  </a:srgbClr>
                </a:solidFill>
                <a:latin typeface="Consolas"/>
                <a:ea typeface="Consolas"/>
              </a:rPr>
              <a:t>智御网络</a:t>
            </a:r>
            <a:r>
              <a:rPr lang="en-US" sz="788" spc="60">
                <a:solidFill>
                  <a:srgbClr val="F2F7F8">
                    <a:alpha val="40000"/>
                  </a:srgbClr>
                </a:solidFill>
                <a:latin typeface="Consolas"/>
                <a:ea typeface="Consolas"/>
              </a:rPr>
              <a:t> · </a:t>
            </a:r>
            <a:r>
              <a:rPr lang="zh-CN" sz="788" spc="60">
                <a:solidFill>
                  <a:srgbClr val="F2F7F8">
                    <a:alpha val="40000"/>
                  </a:srgbClr>
                </a:solidFill>
                <a:latin typeface="Consolas"/>
                <a:ea typeface="Consolas"/>
              </a:rPr>
              <a:t>三维网络安全策略交互验证平台</a:t>
            </a:r>
            <a:endParaRPr/>
          </a:p>
        </p:txBody>
      </p:sp>
      <p:sp>
        <p:nvSpPr>
          <p:cNvPr id="756" name="" descr="{&quot;isTemplate&quot;:true,&quot;type&quot;:&quot;text&quot;}"/>
          <p:cNvSpPr txBox="1"/>
          <p:nvPr/>
        </p:nvSpPr>
        <p:spPr>
          <a:xfrm rot="0" flipH="0" flipV="0">
            <a:off x="11268075" y="6457950"/>
            <a:ext cx="390525" cy="1238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788">
                <a:solidFill>
                  <a:srgbClr val="F2F7F8">
                    <a:alpha val="40000"/>
                  </a:srgbClr>
                </a:solidFill>
                <a:latin typeface="Consolas"/>
                <a:ea typeface="Consolas"/>
              </a:rPr>
              <a:t>04 / 22</a:t>
            </a:r>
            <a:endParaRPr/>
          </a:p>
        </p:txBody>
      </p:sp>
    </p:spTree>
  </p:cSld>
</p:sld>
</file>

<file path=ppt/slides/slide5.xml><?xml version="1.0" encoding="utf-8"?>
<p:sld xmlns:p="http://schemas.openxmlformats.org/presentationml/2006/main" xmlns:r="http://schemas.openxmlformats.org/officeDocument/2006/relationships" xmlns:a="http://schemas.openxmlformats.org/drawingml/2006/main" xmlns:asvg="http://schemas.microsoft.com/office/drawing/2016/SVG/main" xmlns:mc="http://schemas.openxmlformats.org/markup-compatibility/2006" mc:Ignorable="asvg">
  <p:cSld>
    <p:spTree>
      <p:nvGrpSpPr>
        <p:cNvPr id="757" name="" descr="&lt;Slide style={{ width: 1280, height: 720, background: '#07111B', padding: 0, position: 'relative', overflow: 'hidden' }}&gt;&#10;    &lt;svg width={1280} height={720} viewBox='0 0 1280 720' style={{ position: 'absolute', left: 0, top: 0 }}&gt;&#10;        &lt;g stroke='rgba(242,247,248,0.03)' strokeWidth='1'&gt;&#10;            &lt;path d='M0 80H1280M0 160H1280M0 240H1280M0 320H1280M0 400H1280M0 480H1280M0 560H1280M0 640H1280' /&gt;&#10;            &lt;path d='M80 0V720M160 0V720M240 0V720M320 0V720M400 0V720M480 0V720M560 0V720M640 0V720M720 0V720M800 0V720M880 0V720M960 0V720M1040 0V720M1120 0V720M1200 0V720' /&gt;&#10;        &lt;/g&gt;&#10;        &lt;g stroke='rgba(107,200,209,0.20)' strokeWidth='1' fill='none'&gt;&#10;            &lt;path d='M780 300L880 380L1010 330L1110 430L1200 380' /&gt;&#10;            &lt;path d='M880 380L960 510L1080 480' /&gt;&#10;        &lt;/g&gt;&#10;        &lt;g fill='#6BC8D1'&gt;&#10;            &lt;circle cx='780' cy='300' r='4' opacity='0.55' /&gt;&#10;            &lt;circle cx='880' cy='380' r='6' opacity='0.9' /&gt;&#10;            &lt;circle cx='1010' cy='330' r='5' opacity='0.7' /&gt;&#10;            &lt;circle cx='1110' cy='430' r='4.5' opacity='0.6' /&gt;&#10;            &lt;circle cx='1200' cy='380' r='3.5' opacity='0.45' /&gt;&#10;            &lt;circle cx='960' cy='510' r='5' opacity='0.65' /&gt;&#10;            &lt;circle cx='1080' cy='480' r='4' opacity='0.5' /&gt;&#10;        &lt;/g&gt;&#10;    &lt;/svg&gt;&#10;    &lt;Text style={{ position: 'absolute', right: 56, top: 154, width: 520, textAlign: 'right', fontFamily: 'Consolas', fontSize: 290, fontWeight: 'bold', color: '#F2F7F8', opacity: 0.055, lineHeight: 1 }}&gt;02&lt;/Text&gt;&#10;    &lt;Box style={{ position: 'absolute', left: 0, top: 0, width: 5, height: 720, background: '#6BC8D1', opacity: 0.55 }} /&gt;&#10;&#10;    &lt;Box style={{ position: 'absolute', left: 72, top: 46 }}&gt;&#10;        &lt;Text style={{ fontFamily: 'Consolas', fontSize: 11, color: '#6BC8D1', letterSpacing: 2 }}&gt;CHAPTER 02 / 05&lt;/Text&gt;&#10;    &lt;/Box&gt;&#10;    &lt;Box style={{ position: 'absolute', left: 72, top: 176, width: 620 }}&gt;&#10;        &lt;Text style={{ fontFamily: 'Microsoft YaHei', fontSize: 58, fontWeight: 'bold', color: '#F2F7F8', letterSpacing: 2 }}&gt;作品概览&lt;/Text&gt;&#10;        &lt;Box style={{ marginTop: 22, width: 52, height: 3, background: '#6BC8D1' }} /&gt;&#10;        &lt;Text style={{ marginTop: 24, fontFamily: 'Microsoft YaHei', fontSize: 19, color: 'rgba(242,247,248,0.68)', lineHeight: 1.7, width: 560 }}&gt;&#10;            一个平台，六个工作面，七个可验证的实验场景。&#10;        &lt;/Text&gt;&#10;    &lt;/Box&gt;&#10;&#10;    &lt;Box style={{ position: 'absolute', left: 72, top: 420, width: 560 }}&gt;&#10;        &lt;Box style={{ flexDirection: 'row', alignItems: 'center', height: 48, borderTop: '1px solid rgba(242,247,248,0.12)' }}&gt;&#10;            &lt;Text style={{ width: 54, fontFamily: 'Consolas', fontSize: 10, color: '#6BC8D1' }}&gt;02.1&lt;/Text&gt;&#10;            &lt;Text style={{ fontFamily: 'Microsoft YaHei', fontSize: 14, color: 'rgba(242,247,248,0.72)' }}&gt;产品定位：可观察、可干预、可验证&lt;/Text&gt;&#10;        &lt;/Box&gt;&#10;        &lt;Box style={{ flexDirection: 'row', alignItems: 'center', height: 48, borderTop: '1px solid rgba(242,247,248,0.12)' }}&gt;&#10;            &lt;Text style={{ width: 54, fontFamily: 'Consolas', fontSize: 10, color: '#6BC8D1' }}&gt;02.2&lt;/Text&gt;&#10;            &lt;Text style={{ fontFamily: 'Microsoft YaHei', fontSize: 14, color: 'rgba(242,247,248,0.72)' }}&gt;功能全景：总览、实验、对比、分析、学习&lt;/Text&gt;&#10;        &lt;/Box&gt;&#10;        &lt;Box style={{ flexDirection: 'row', alignItems: 'center', height: 48, borderTop: '1px solid rgba(242,247,248,0.12)', borderBottom: '1px solid rgba(242,247,248,0.12)' }}&gt;&#10;            &lt;Text style={{ width: 54, fontFamily: 'Consolas', fontSize: 10, color: '#6BC8D1' }}&gt;02.3&lt;/Text&gt;&#10;            &lt;Text style={{ fontFamily: 'Microsoft YaHei', fontSize: 14, color: 'rgba(242,247,248,0.72)' }}&gt;实验室：六个工作面串成一次完整实验&lt;/Text&gt;&#10;        &lt;/Box&gt;&#10;    &lt;/Box&gt;&#10;&#10;    &lt;Box style={{ position: 'absolute', left: 72, top: 664, flexDirection: 'row', alignItems: 'center', gap: 8 }}&gt;&#10;        &lt;Text style={{ fontFamily: 'Consolas', fontSize: 10.5, color: 'rgba(242,247,248,0.40)' }}&gt;智御网络&lt;/Text&gt;&#10;        &lt;Box style={{ width: 16, height: 1, background: 'rgba(242,247,248,0.20)' }} /&gt;&#10;        &lt;Text style={{ fontFamily: 'Consolas', fontSize: 10.5, color: 'rgba(242,247,248,0.40)' }}&gt;OVERVIEW&lt;/Text&gt;&#10;    &lt;/Box&gt;&#10;    &lt;Text style={{ position: 'absolute', right: 56, top: 664, fontFamily: 'Consolas', fontSize: 10.5, color: 'rgba(242,247,248,0.40)' }}&gt;05 / 22&lt;/Text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8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07111B"/>
          </a:solidFill>
          <a:ln/>
        </p:spPr>
        <p:txBody>
          <a:bodyPr/>
          <a:p/>
        </p:txBody>
      </p:sp>
      <p:pic>
        <p:nvPicPr>
          <p:cNvPr id="759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1"/>
              </a:ext>
            </a:extLst>
          </a:blip>
          <a:stretch>
            <a:fillRect/>
          </a:stretch>
        </p:blipFill>
        <p:spPr>
          <a:xfrm rot="0" flipH="0" flipV="0">
            <a:off x="0" y="0"/>
            <a:ext cx="12192000" cy="6858000"/>
          </a:xfrm>
          <a:prstGeom prst="rect">
            <a:avLst/>
          </a:prstGeom>
          <a:ln/>
        </p:spPr>
      </p:pic>
      <p:sp>
        <p:nvSpPr>
          <p:cNvPr id="760" name="" descr="{&quot;isTemplate&quot;:true,&quot;type&quot;:&quot;text&quot;}"/>
          <p:cNvSpPr txBox="1"/>
          <p:nvPr/>
        </p:nvSpPr>
        <p:spPr>
          <a:xfrm rot="0" flipH="0" flipV="0">
            <a:off x="6705600" y="1466850"/>
            <a:ext cx="4953000" cy="3314700"/>
          </a:xfrm>
          <a:prstGeom prst="rect"/>
        </p:spPr>
        <p:txBody>
          <a:bodyPr wrap="none" lIns="0" tIns="0" rIns="0" bIns="0"/>
          <a:p>
            <a:pPr algn="r">
              <a:lnSpc>
                <a:spcPct val="100000"/>
              </a:lnSpc>
            </a:pPr>
            <a:r>
              <a:rPr lang="en-US" sz="21750" b="1">
                <a:solidFill>
                  <a:srgbClr val="F2F7F8">
                    <a:alpha val="5500"/>
                  </a:srgbClr>
                </a:solidFill>
                <a:latin typeface="Consolas"/>
                <a:ea typeface="Consolas"/>
              </a:rPr>
              <a:t>02</a:t>
            </a:r>
            <a:endParaRPr/>
          </a:p>
        </p:txBody>
      </p:sp>
      <p:sp>
        <p:nvSpPr>
          <p:cNvPr id="761" name=""/>
          <p:cNvSpPr/>
          <p:nvPr/>
        </p:nvSpPr>
        <p:spPr>
          <a:xfrm rot="0" flipH="0" flipV="0">
            <a:off x="0" y="0"/>
            <a:ext cx="47625" cy="6858000"/>
          </a:xfrm>
          <a:prstGeom prst="rect">
            <a:avLst/>
          </a:prstGeom>
          <a:solidFill>
            <a:srgbClr val="6BC8D1">
              <a:alpha val="55000"/>
            </a:srgbClr>
          </a:solidFill>
          <a:ln/>
        </p:spPr>
        <p:txBody>
          <a:bodyPr/>
          <a:p/>
        </p:txBody>
      </p:sp>
      <p:sp>
        <p:nvSpPr>
          <p:cNvPr id="762" name="" descr="{&quot;isTemplate&quot;:true,&quot;type&quot;:&quot;text&quot;}"/>
          <p:cNvSpPr txBox="1"/>
          <p:nvPr/>
        </p:nvSpPr>
        <p:spPr>
          <a:xfrm rot="0" flipH="0" flipV="0">
            <a:off x="685800" y="438150"/>
            <a:ext cx="1152525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825" spc="150">
                <a:solidFill>
                  <a:srgbClr val="6BC8D1"/>
                </a:solidFill>
                <a:latin typeface="Consolas"/>
                <a:ea typeface="Consolas"/>
              </a:rPr>
              <a:t>CHAPTER 02 / 05</a:t>
            </a:r>
            <a:endParaRPr/>
          </a:p>
        </p:txBody>
      </p:sp>
      <p:sp>
        <p:nvSpPr>
          <p:cNvPr id="763" name="" descr="{&quot;isTemplate&quot;:true,&quot;type&quot;:&quot;text&quot;}"/>
          <p:cNvSpPr txBox="1"/>
          <p:nvPr/>
        </p:nvSpPr>
        <p:spPr>
          <a:xfrm rot="0" flipH="0" flipV="0">
            <a:off x="685800" y="1676400"/>
            <a:ext cx="5905500" cy="6667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4350" b="1" spc="150">
                <a:solidFill>
                  <a:srgbClr val="F2F7F8"/>
                </a:solidFill>
                <a:latin typeface="Microsoft YaHei"/>
                <a:ea typeface="Microsoft YaHei"/>
              </a:rPr>
              <a:t>作品概览</a:t>
            </a:r>
            <a:endParaRPr/>
          </a:p>
        </p:txBody>
      </p:sp>
      <p:sp>
        <p:nvSpPr>
          <p:cNvPr id="764" name=""/>
          <p:cNvSpPr/>
          <p:nvPr/>
        </p:nvSpPr>
        <p:spPr>
          <a:xfrm rot="0" flipH="0" flipV="0">
            <a:off x="685800" y="2552700"/>
            <a:ext cx="495300" cy="28575"/>
          </a:xfrm>
          <a:prstGeom prst="rect">
            <a:avLst/>
          </a:prstGeom>
          <a:solidFill>
            <a:srgbClr val="6BC8D1"/>
          </a:solidFill>
          <a:ln/>
        </p:spPr>
        <p:txBody>
          <a:bodyPr/>
          <a:p/>
        </p:txBody>
      </p:sp>
      <p:sp>
        <p:nvSpPr>
          <p:cNvPr id="765" name="" descr="{&quot;isTemplate&quot;:true,&quot;type&quot;:&quot;text&quot;}"/>
          <p:cNvSpPr txBox="1"/>
          <p:nvPr/>
        </p:nvSpPr>
        <p:spPr>
          <a:xfrm rot="0" flipH="0" flipV="0">
            <a:off x="685800" y="2809875"/>
            <a:ext cx="5334000" cy="371475"/>
          </a:xfrm>
          <a:prstGeom prst="rect"/>
        </p:spPr>
        <p:txBody>
          <a:bodyPr wrap="none" lIns="0" tIns="0" rIns="0" bIns="0"/>
          <a:p>
            <a:pPr>
              <a:lnSpc>
                <a:spcPct val="170000"/>
              </a:lnSpc>
            </a:pPr>
            <a:r>
              <a:rPr lang="zh-CN" sz="1425">
                <a:solidFill>
                  <a:srgbClr val="F2F7F8">
                    <a:alpha val="68000"/>
                  </a:srgbClr>
                </a:solidFill>
                <a:latin typeface="Microsoft YaHei"/>
                <a:ea typeface="Microsoft YaHei"/>
              </a:rPr>
              <a:t>一个平台，六个工作面，七个可验证的实验场景。</a:t>
            </a:r>
            <a:endParaRPr/>
          </a:p>
        </p:txBody>
      </p:sp>
      <p:sp>
        <p:nvSpPr>
          <p:cNvPr id="766" name=""/>
          <p:cNvSpPr/>
          <p:nvPr/>
        </p:nvSpPr>
        <p:spPr>
          <a:xfrm rot="0" flipH="0" flipV="0">
            <a:off x="685800" y="4000500"/>
            <a:ext cx="5334000" cy="457200"/>
          </a:xfrm>
          <a:custGeom>
            <a:pathLst>
              <a:path w="560" h="48">
                <a:moveTo>
                  <a:pt x="0" y="0"/>
                </a:moveTo>
                <a:lnTo>
                  <a:pt x="560" y="0"/>
                </a:lnTo>
                <a:lnTo>
                  <a:pt x="560" y="1"/>
                </a:lnTo>
                <a:lnTo>
                  <a:pt x="0" y="1"/>
                </a:lnTo>
                <a:close/>
              </a:path>
            </a:pathLst>
          </a:custGeom>
          <a:solidFill>
            <a:srgbClr val="F2F7F8">
              <a:alpha val="12000"/>
            </a:srgbClr>
          </a:solidFill>
          <a:ln/>
        </p:spPr>
        <p:txBody>
          <a:bodyPr/>
          <a:p/>
        </p:txBody>
      </p:sp>
      <p:sp>
        <p:nvSpPr>
          <p:cNvPr id="767" name="" descr="{&quot;isTemplate&quot;:true,&quot;type&quot;:&quot;text&quot;}"/>
          <p:cNvSpPr txBox="1"/>
          <p:nvPr/>
        </p:nvSpPr>
        <p:spPr>
          <a:xfrm rot="0" flipH="0" flipV="0">
            <a:off x="685800" y="4181475"/>
            <a:ext cx="514350" cy="1143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750">
                <a:solidFill>
                  <a:srgbClr val="6BC8D1"/>
                </a:solidFill>
                <a:latin typeface="Consolas"/>
                <a:ea typeface="Consolas"/>
              </a:rPr>
              <a:t>02.1</a:t>
            </a:r>
            <a:endParaRPr/>
          </a:p>
        </p:txBody>
      </p:sp>
      <p:sp>
        <p:nvSpPr>
          <p:cNvPr id="768" name="" descr="{&quot;isTemplate&quot;:true,&quot;type&quot;:&quot;text&quot;}"/>
          <p:cNvSpPr txBox="1"/>
          <p:nvPr/>
        </p:nvSpPr>
        <p:spPr>
          <a:xfrm rot="0" flipH="0" flipV="0">
            <a:off x="1200150" y="4152900"/>
            <a:ext cx="21336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F2F7F8">
                    <a:alpha val="72000"/>
                  </a:srgbClr>
                </a:solidFill>
                <a:latin typeface="Microsoft YaHei"/>
                <a:ea typeface="Microsoft YaHei"/>
              </a:rPr>
              <a:t>产品定位：可观察、可干预、可验证</a:t>
            </a:r>
            <a:endParaRPr/>
          </a:p>
        </p:txBody>
      </p:sp>
      <p:sp>
        <p:nvSpPr>
          <p:cNvPr id="769" name=""/>
          <p:cNvSpPr/>
          <p:nvPr/>
        </p:nvSpPr>
        <p:spPr>
          <a:xfrm rot="0" flipH="0" flipV="0">
            <a:off x="685800" y="4457700"/>
            <a:ext cx="5334000" cy="457200"/>
          </a:xfrm>
          <a:custGeom>
            <a:pathLst>
              <a:path w="560" h="48">
                <a:moveTo>
                  <a:pt x="0" y="0"/>
                </a:moveTo>
                <a:lnTo>
                  <a:pt x="560" y="0"/>
                </a:lnTo>
                <a:lnTo>
                  <a:pt x="560" y="1"/>
                </a:lnTo>
                <a:lnTo>
                  <a:pt x="0" y="1"/>
                </a:lnTo>
                <a:close/>
              </a:path>
            </a:pathLst>
          </a:custGeom>
          <a:solidFill>
            <a:srgbClr val="F2F7F8">
              <a:alpha val="12000"/>
            </a:srgbClr>
          </a:solidFill>
          <a:ln/>
        </p:spPr>
        <p:txBody>
          <a:bodyPr/>
          <a:p/>
        </p:txBody>
      </p:sp>
      <p:sp>
        <p:nvSpPr>
          <p:cNvPr id="770" name="" descr="{&quot;isTemplate&quot;:true,&quot;type&quot;:&quot;text&quot;}"/>
          <p:cNvSpPr txBox="1"/>
          <p:nvPr/>
        </p:nvSpPr>
        <p:spPr>
          <a:xfrm rot="0" flipH="0" flipV="0">
            <a:off x="685800" y="4638675"/>
            <a:ext cx="514350" cy="1143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750">
                <a:solidFill>
                  <a:srgbClr val="6BC8D1"/>
                </a:solidFill>
                <a:latin typeface="Consolas"/>
                <a:ea typeface="Consolas"/>
              </a:rPr>
              <a:t>02.2</a:t>
            </a:r>
            <a:endParaRPr/>
          </a:p>
        </p:txBody>
      </p:sp>
      <p:sp>
        <p:nvSpPr>
          <p:cNvPr id="771" name="" descr="{&quot;isTemplate&quot;:true,&quot;type&quot;:&quot;text&quot;}"/>
          <p:cNvSpPr txBox="1"/>
          <p:nvPr/>
        </p:nvSpPr>
        <p:spPr>
          <a:xfrm rot="0" flipH="0" flipV="0">
            <a:off x="1200150" y="4610100"/>
            <a:ext cx="25336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F2F7F8">
                    <a:alpha val="72000"/>
                  </a:srgbClr>
                </a:solidFill>
                <a:latin typeface="Microsoft YaHei"/>
                <a:ea typeface="Microsoft YaHei"/>
              </a:rPr>
              <a:t>功能全景：总览、实验、对比、分析、学习</a:t>
            </a:r>
            <a:endParaRPr/>
          </a:p>
        </p:txBody>
      </p:sp>
      <p:sp>
        <p:nvSpPr>
          <p:cNvPr id="772" name=""/>
          <p:cNvSpPr/>
          <p:nvPr/>
        </p:nvSpPr>
        <p:spPr>
          <a:xfrm rot="0" flipH="0" flipV="0">
            <a:off x="685800" y="4914900"/>
            <a:ext cx="5334000" cy="457200"/>
          </a:xfrm>
          <a:custGeom>
            <a:pathLst>
              <a:path w="560" h="48">
                <a:moveTo>
                  <a:pt x="0" y="0"/>
                </a:moveTo>
                <a:lnTo>
                  <a:pt x="560" y="0"/>
                </a:lnTo>
                <a:lnTo>
                  <a:pt x="560" y="1"/>
                </a:lnTo>
                <a:lnTo>
                  <a:pt x="0" y="1"/>
                </a:lnTo>
                <a:close/>
              </a:path>
            </a:pathLst>
          </a:custGeom>
          <a:solidFill>
            <a:srgbClr val="F2F7F8">
              <a:alpha val="12000"/>
            </a:srgbClr>
          </a:solidFill>
          <a:ln/>
        </p:spPr>
        <p:txBody>
          <a:bodyPr/>
          <a:p/>
        </p:txBody>
      </p:sp>
      <p:sp>
        <p:nvSpPr>
          <p:cNvPr id="773" name=""/>
          <p:cNvSpPr/>
          <p:nvPr/>
        </p:nvSpPr>
        <p:spPr>
          <a:xfrm rot="0" flipH="0" flipV="0">
            <a:off x="685800" y="4914900"/>
            <a:ext cx="5334000" cy="457200"/>
          </a:xfrm>
          <a:custGeom>
            <a:pathLst>
              <a:path w="560" h="48">
                <a:moveTo>
                  <a:pt x="0" y="47"/>
                </a:moveTo>
                <a:lnTo>
                  <a:pt x="560" y="47"/>
                </a:lnTo>
                <a:lnTo>
                  <a:pt x="560" y="48"/>
                </a:lnTo>
                <a:lnTo>
                  <a:pt x="0" y="48"/>
                </a:lnTo>
                <a:close/>
              </a:path>
            </a:pathLst>
          </a:custGeom>
          <a:solidFill>
            <a:srgbClr val="F2F7F8">
              <a:alpha val="12000"/>
            </a:srgbClr>
          </a:solidFill>
          <a:ln/>
        </p:spPr>
        <p:txBody>
          <a:bodyPr/>
          <a:p/>
        </p:txBody>
      </p:sp>
      <p:sp>
        <p:nvSpPr>
          <p:cNvPr id="774" name="" descr="{&quot;isTemplate&quot;:true,&quot;type&quot;:&quot;text&quot;}"/>
          <p:cNvSpPr txBox="1"/>
          <p:nvPr/>
        </p:nvSpPr>
        <p:spPr>
          <a:xfrm rot="0" flipH="0" flipV="0">
            <a:off x="685800" y="5086350"/>
            <a:ext cx="514350" cy="1143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750">
                <a:solidFill>
                  <a:srgbClr val="6BC8D1"/>
                </a:solidFill>
                <a:latin typeface="Consolas"/>
                <a:ea typeface="Consolas"/>
              </a:rPr>
              <a:t>02.3</a:t>
            </a:r>
            <a:endParaRPr/>
          </a:p>
        </p:txBody>
      </p:sp>
      <p:sp>
        <p:nvSpPr>
          <p:cNvPr id="775" name="" descr="{&quot;isTemplate&quot;:true,&quot;type&quot;:&quot;text&quot;}"/>
          <p:cNvSpPr txBox="1"/>
          <p:nvPr/>
        </p:nvSpPr>
        <p:spPr>
          <a:xfrm rot="0" flipH="0" flipV="0">
            <a:off x="1200150" y="5067300"/>
            <a:ext cx="22669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F2F7F8">
                    <a:alpha val="72000"/>
                  </a:srgbClr>
                </a:solidFill>
                <a:latin typeface="Microsoft YaHei"/>
                <a:ea typeface="Microsoft YaHei"/>
              </a:rPr>
              <a:t>实验室：六个工作面串成一次完整实验</a:t>
            </a:r>
            <a:endParaRPr/>
          </a:p>
        </p:txBody>
      </p:sp>
      <p:sp>
        <p:nvSpPr>
          <p:cNvPr id="776" name="" descr="{&quot;isTemplate&quot;:true,&quot;type&quot;:&quot;text&quot;}"/>
          <p:cNvSpPr txBox="1"/>
          <p:nvPr/>
        </p:nvSpPr>
        <p:spPr>
          <a:xfrm rot="0" flipH="0" flipV="0">
            <a:off x="685800" y="6324600"/>
            <a:ext cx="647700" cy="1238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788">
                <a:solidFill>
                  <a:srgbClr val="F2F7F8">
                    <a:alpha val="40000"/>
                  </a:srgbClr>
                </a:solidFill>
                <a:latin typeface="Consolas"/>
                <a:ea typeface="Consolas"/>
              </a:rPr>
              <a:t>智御网络</a:t>
            </a:r>
            <a:endParaRPr/>
          </a:p>
        </p:txBody>
      </p:sp>
      <p:sp>
        <p:nvSpPr>
          <p:cNvPr id="777" name=""/>
          <p:cNvSpPr/>
          <p:nvPr/>
        </p:nvSpPr>
        <p:spPr>
          <a:xfrm rot="0" flipH="0" flipV="0">
            <a:off x="1409700" y="6381750"/>
            <a:ext cx="152400" cy="9525"/>
          </a:xfrm>
          <a:prstGeom prst="rect">
            <a:avLst/>
          </a:prstGeom>
          <a:solidFill>
            <a:srgbClr val="F2F7F8">
              <a:alpha val="20000"/>
            </a:srgbClr>
          </a:solidFill>
          <a:ln/>
        </p:spPr>
        <p:txBody>
          <a:bodyPr/>
          <a:p/>
        </p:txBody>
      </p:sp>
      <p:sp>
        <p:nvSpPr>
          <p:cNvPr id="778" name="" descr="{&quot;isTemplate&quot;:true,&quot;type&quot;:&quot;text&quot;}"/>
          <p:cNvSpPr txBox="1"/>
          <p:nvPr/>
        </p:nvSpPr>
        <p:spPr>
          <a:xfrm rot="0" flipH="0" flipV="0">
            <a:off x="1638300" y="6324600"/>
            <a:ext cx="447675" cy="1238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788">
                <a:solidFill>
                  <a:srgbClr val="F2F7F8">
                    <a:alpha val="40000"/>
                  </a:srgbClr>
                </a:solidFill>
                <a:latin typeface="Consolas"/>
                <a:ea typeface="Consolas"/>
              </a:rPr>
              <a:t>OVERVIEW</a:t>
            </a:r>
            <a:endParaRPr/>
          </a:p>
        </p:txBody>
      </p:sp>
      <p:sp>
        <p:nvSpPr>
          <p:cNvPr id="779" name="" descr="{&quot;isTemplate&quot;:true,&quot;type&quot;:&quot;text&quot;}"/>
          <p:cNvSpPr txBox="1"/>
          <p:nvPr/>
        </p:nvSpPr>
        <p:spPr>
          <a:xfrm rot="0" flipH="0" flipV="0">
            <a:off x="11268075" y="6324600"/>
            <a:ext cx="390525" cy="1238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788">
                <a:solidFill>
                  <a:srgbClr val="F2F7F8">
                    <a:alpha val="40000"/>
                  </a:srgbClr>
                </a:solidFill>
                <a:latin typeface="Consolas"/>
                <a:ea typeface="Consolas"/>
              </a:rPr>
              <a:t>05 / 22</a:t>
            </a:r>
            <a:endParaRPr/>
          </a:p>
        </p:txBody>
      </p:sp>
    </p:spTree>
  </p:cSld>
</p:sld>
</file>

<file path=ppt/slides/slide6.xml><?xml version="1.0" encoding="utf-8"?>
<p:sld xmlns:p="http://schemas.openxmlformats.org/presentationml/2006/main" xmlns:r="http://schemas.openxmlformats.org/officeDocument/2006/relationships" xmlns:a="http://schemas.openxmlformats.org/drawingml/2006/main" xmlns:asvg="http://schemas.microsoft.com/office/drawing/2016/SVG/main" xmlns:mc="http://schemas.openxmlformats.org/markup-compatibility/2006" mc:Ignorable="asvg">
  <p:cSld>
    <p:spTree>
      <p:nvGrpSpPr>
        <p:cNvPr id="780" name="" descr="&lt;Slide style={{ width: 1280, height: 720, background: '#07111B', padding: 0, position: 'relative', overflow: 'hidden' }}&gt;&#13;&#10;    &lt;svg width={1280} height={720} viewBox='0 0 1280 720' style={{ position: 'absolute', left: 0, top: 0 }}&gt;&#13;&#10;        &lt;g stroke='rgba(242,247,248,0.025)' strokeWidth='1'&gt;&#13;&#10;            &lt;path d='M0 96H1280M0 192H1280M0 288H1280M0 384H1280M0 480H1280M0 576H1280M0 672H1280' /&gt;&#13;&#10;        &lt;/g&gt;&#13;&#10;        &lt;circle cx='1200' cy='80' r='240' fill='rgba(107,200,209,0.04)' /&gt;&#13;&#10;    &lt;/svg&gt;&#13;&#10;&#13;&#10;    &lt;Box style={{ position: 'absolute', left: 56, top: 38 }}&gt;&#13;&#10;        &lt;Text style={{ fontFamily: 'Consolas', fontSize: 11, color: '#6BC8D1', letterSpacing: 1.8 }}&gt;02 / 作品概览&lt;/Text&gt;&#13;&#10;    &lt;/Box&gt;&#13;&#10;    &lt;Text style={{ position: 'absolute', left: 56, top: 62, fontFamily: 'Microsoft YaHei', fontSize: 31, fontWeight: 'bold', color: '#F2F7F8', letterSpacing: 0.5 }}&gt;把企业网络，变成可反复试错的沙盘&lt;/Text&gt;&#13;&#10;    &lt;Text style={{ position: 'absolute', right: 56, top: 76, fontFamily: 'Consolas', fontSize: 10.5, color: 'rgba(242,247,248,0.42)' }}&gt;PRODUCT OVERVIEW&lt;/Text&gt;&#13;&#10;&#13;&#10;    &lt;Box style={{ position: 'absolute', left: 56, top: 140, width: 468 }}&gt;&#13;&#10;        &lt;Text style={{ fontFamily: 'Microsoft YaHei', fontSize: 15.5, color: 'rgba(242,247,248,0.72)', lineHeight: 1.8, width: 450 }}&gt;&#13;&#10;            不是一段预设动画，而是一套会重新计算的沙盘：改一条规则，路径、状态与业务可达性都会随之变化。&#13;&#10;        &lt;/Text&gt;&#13;&#10;        &lt;Box style={{ marginTop: 20 }}&gt;&#13;&#10;            &lt;Box style={{ flexDirection: 'row', alignItems: 'flex-start', paddingTop: 10, paddingBottom: 10, borderTop: '1px solid rgba(242,247,248,0.10)' }}&gt;&#13;&#10;                &lt;Text style={{ width: 42, fontFamily: 'Consolas', fontSize: 10, color: '#6BC8D1' }}&gt;01&lt;/Text&gt;&#13;&#10;                &lt;Box style={{ width: 395 }}&gt;&#13;&#10;                    &lt;Text style={{ fontFamily: 'Microsoft YaHei', fontSize: 14.5, fontWeight: 'bold', color: '#F2F7F8' }}&gt;三维路径观察&lt;/Text&gt;&#13;&#10;                    &lt;Text style={{ marginTop: 3, fontFamily: 'Microsoft YaHei', fontSize: 11.5, color: 'rgba(242,247,248,0.54)', lineHeight: 1.6 }}&gt;设备、区域、VLAN 与真实路由路径在同一空间里可见。&lt;/Text&gt;&#13;&#10;                &lt;/Box&gt;&#13;&#10;            &lt;/Box&gt;&#13;&#10;            &lt;Box style={{ flexDirection: 'row', alignItems: 'flex-start', paddingTop: 10, paddingBottom: 10, borderTop: '1px solid rgba(242,247,248,0.10)' }}&gt;&#13;&#10;                &lt;Text style={{ width: 42, fontFamily: 'Consolas', fontSize: 10, color: '#6BC8D1' }}&gt;02&lt;/Text&gt;&#13;&#10;                &lt;Box style={{ width: 395 }}&gt;&#13;&#10;                    &lt;Text style={{ fontFamily: 'Microsoft YaHei', fontSize: 14.5, fontWeight: 'bold', color: '#F2F7F8' }}&gt;攻击状态推演&lt;/Text&gt;&#13;&#10;                    &lt;Text style={{ marginTop: 3, fontFamily: 'Microsoft YaHei', fontSize: 11.5, color: 'rgba(242,247,248,0.54)', lineHeight: 1.6 }}&gt;权限、教学条件与安全控制共同决定状态是否改变。&lt;/Text&gt;&#13;&#10;                &lt;/Box&gt;&#13;&#10;            &lt;/Box&gt;&#13;&#10;            &lt;Box style={{ flexDirection: 'row', alignItems: 'flex-start', paddingTop: 10, paddingBottom: 10, borderTop: '1px solid rgba(242,247,248,0.10)' }}&gt;&#13;&#10;                &lt;Text style={{ width: 42, fontFamily: 'Consolas', fontSize: 10, color: '#6BC8D1' }}&gt;03&lt;/Text&gt;&#13;&#10;                &lt;Box style={{ width: 395 }}&gt;&#13;&#10;                    &lt;Text style={{ fontFamily: 'Microsoft YaHei', fontSize: 14.5, fontWeight: 'bold', color: '#F2F7F8' }}&gt;策略 A/B 验证&lt;/Text&gt;&#13;&#10;                    &lt;Text style={{ marginTop: 3, fontFamily: 'Microsoft YaHei', fontSize: 11.5, color: 'rgba(242,247,248,0.54)', lineHeight: 1.6 }}&gt;原始基线 vs 当前配置，同源重算，指标逐项对照。&lt;/Text&gt;&#13;&#10;                &lt;/Box&gt;&#13;&#10;            &lt;/Box&gt;&#13;&#10;            &lt;Box style={{ flexDirection: 'row', alignItems: 'flex-start', paddingTop: 10, paddingBottom: 10, borderTop: '1px solid rgba(242,247,248,0.10)', borderBottom: '1px solid rgba(242,247,248,0.10)' }}&gt;&#13;&#10;                &lt;Text style={{ width: 42, fontFamily: 'Consolas', fontSize: 10, color: '#6BC8D1' }}&gt;04&lt;/Text&gt;&#13;&#10;                &lt;Box style={{ width: 395 }}&gt;&#13;&#10;                    &lt;Text style={{ fontFamily: 'Microsoft YaHei', fontSize: 14.5, fontWeight: 'bold', color: '#F2F7F8' }}&gt;教学闭环&lt;/Text&gt;&#13;&#10;                    &lt;Text style={{ marginTop: 3, fontFamily: 'Microsoft YaHei', fontSize: 11.5, color: 'rgba(242,247,248,0.54)', lineHeight: 1.6 }}&gt;知识卡片、20 题练习、模拟考试与实验挑战互相直达。&lt;/Text&gt;&#13;&#10;                &lt;/Box&gt;&#13;&#10;            &lt;/Box&gt;&#13;&#10;        &lt;/Box&gt;&#13;&#10;    &lt;/Box&gt;&#13;&#10;&#13;&#10;    &lt;Box style={{ position: 'absolute', left: 574, top: 136, width: 650, height: 345 }}&gt;&#13;&#10;        &lt;Image src=&quot;assets/home_hero.png&quot; style={{ width: 650, height: 345, objectFit: 'cover', borderRadius: 10, border: '1px solid rgba(107,200,209,0.22)' }} /&gt;&#13;&#10;        &lt;Box style={{ position: 'absolute', left: 0, right: 0, bottom: 0, height: 36, paddingLeft: 14, paddingRight: 14, flexDirection: 'row', alignItems: 'center', justifyContent: 'space-between', background: 'rgba(7,17,27,0.82)', borderTop: '1px solid rgba(107,200,209,0.18)' }}&gt;&#13;&#10;            &lt;Text style={{ fontFamily: 'Consolas', fontSize: 10, color: 'rgba(242,247,248,0.62)', letterSpacing: 0.8 }}&gt;真实运行界面 · 首页 / 核心实验入口&lt;/Text&gt;&#13;&#10;            &lt;Text style={{ fontFamily: 'Consolas', fontSize: 10, color: '#6BC8D1' }}&gt;01 CORE LAB&lt;/Text&gt;&#13;&#10;        &lt;/Box&gt;&#13;&#10;        &lt;Box style={{ position: 'absolute', left: 14, top: 14, paddingLeft: 10, paddingRight: 10, paddingTop: 5, paddingBottom: 5, background: 'rgba(7,17,27,0.78)', border: '1px solid rgba(107,200,209,0.28)', borderRadius: 4 }}&gt;&#13;&#10;            &lt;Text style={{ fontFamily: 'Consolas', fontSize: 9.5, color: '#6BC8D1', letterSpacing: 1 }}&gt;LIVE PREVIEW&lt;/Text&gt;&#13;&#10;        &lt;/Box&gt;&#13;&#10;    &lt;/Box&gt;&#13;&#10;&#13;&#10;    &lt;Box style={{ position: 'absolute', left: 574, top: 520, width: 650, flexDirection: 'row', justifyContent: 'space-between', alignItems: 'center' }}&gt;&#13;&#10;        &lt;Box style={{ flexDirection: 'row', alignItems: 'flex-end', gap: 8 }}&gt;&#13;&#10;            &lt;Text style={{ fontFamily: 'Consolas', fontSize: 40, fontWeight: 'bold', color: '#F2F7F8', lineHeight: 1 }}&gt;07&lt;/Text&gt;&#13;&#10;            &lt;Text style={{ fontFamily: 'Microsoft YaHei', fontSize: 11.5, color: 'rgba(242,247,248,0.52)', marginBottom: 4 }}&gt;个实验场景&lt;/Text&gt;&#13;&#10;        &lt;/Box&gt;&#13;&#10;        &lt;Box style={{ width: 1, height: 30, background: 'rgba(242,247,248,0.12)' }} /&gt;&#13;&#10;        &lt;Box style={{ flexDirection: 'row', alignItems: 'flex-end', gap: 8 }}&gt;&#13;&#10;            &lt;Text style={{ fontFamily: 'Consolas', fontSize: 40, fontWeight: 'bold', color: '#F2F7F8', lineHeight: 1 }}&gt;02&lt;/Text&gt;&#13;&#10;            &lt;Text style={{ fontFamily: 'Microsoft YaHei', fontSize: 11.5, color: 'rgba(242,247,248,0.52)', marginBottom: 4 }}&gt;种仿真模式&lt;/Text&gt;&#13;&#10;        &lt;/Box&gt;&#13;&#10;        &lt;Box style={{ width: 1, height: 30, background: 'rgba(242,247,248,0.12)' }} /&gt;&#13;&#10;        &lt;Box style={{ flexDirection: 'row', alignItems: 'flex-end', gap: 8 }}&gt;&#13;&#10;            &lt;Text style={{ fontFamily: 'Consolas', fontSize: 40, fontWeight: 'bold', color: '#6BC8D1', lineHeight: 1 }}&gt;111&lt;/Text&gt;&#13;&#10;            &lt;Text style={{ fontFamily: 'Microsoft YaHei', fontSize: 11.5, color: 'rgba(242,247,248,0.52)', marginBottom: 4 }}&gt;项自动化测试&lt;/Text&gt;&#13;&#10;        &lt;/Box&gt;&#13;&#10;    &lt;/Box&gt;&#13;&#10;&#13;&#10;    &lt;Box style={{ position: 'absolute', left: 56, top: 512, width: 468, paddingLeft: 14, borderLeft: '2px solid rgba(107,200,209,0.50)' }}&gt;&#13;&#10;        &lt;Text style={{ fontFamily: 'Microsoft YaHei', fontSize: 12.5, color: 'rgba(242,247,248,0.52)', lineHeight: 1.8 }}&gt;&#13;&#10;            沙盘的价值，不是演示一次结果，&lt;br /&gt;而是允许学生问：如果改成这样呢？&#13;&#10;        &lt;/Text&gt;&#13;&#10;    &lt;/Box&gt;&#13;&#10;&#13;&#10;    &lt;Box style={{ position: 'absolute', left: 574, top: 600, width: 650, flexDirection: 'row', alignItems: 'center', gap: 10 }}&gt;&#13;&#10;        &lt;Box style={{ width: 18, height: 1, background: 'rgba(107,200,209,0.40)' }} /&gt;&#13;&#10;        &lt;Text style={{ fontFamily: 'Consolas', fontSize: 9.5, color: 'rgba(242,247,248,0.36)', letterSpacing: 0.8 }}&gt;同一份场景状态 · 同一套判定引擎 · 每次改动都会重新计算&lt;/Text&gt;&#13;&#10;    &lt;/Box&gt;&#13;&#10;&#13;&#10;    &lt;Box style={{ position: 'absolute', left: 56, top: 664, width: 1168, height: 1, background: 'rgba(242,247,248,0.10)' }} /&gt;&#13;&#10;    &lt;Text style={{ position: 'absolute', left: 56, top: 678, fontFamily: 'Consolas', fontSize: 10.5, color: 'rgba(242,247,248,0.40)', letterSpacing: 0.8 }}&gt;智御网络 · 三维网络安全策略交互验证平台&lt;/Text&gt;&#13;&#10;    &lt;Text style={{ position: 'absolute', right: 56, top: 678, fontFamily: 'Consolas', fontSize: 10.5, color: 'rgba(242,247,248,0.40)' }}&gt;06 / 22&lt;/Text&gt;&#13;&#10;&lt;/Slide&gt;&#13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1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07111B"/>
          </a:solidFill>
          <a:ln/>
        </p:spPr>
        <p:txBody>
          <a:bodyPr/>
          <a:p/>
        </p:txBody>
      </p:sp>
      <p:pic>
        <p:nvPicPr>
          <p:cNvPr id="782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1"/>
              </a:ext>
            </a:extLst>
          </a:blip>
          <a:stretch>
            <a:fillRect/>
          </a:stretch>
        </p:blipFill>
        <p:spPr>
          <a:xfrm rot="0" flipH="0" flipV="0">
            <a:off x="0" y="0"/>
            <a:ext cx="12192000" cy="6858000"/>
          </a:xfrm>
          <a:prstGeom prst="rect">
            <a:avLst/>
          </a:prstGeom>
          <a:ln/>
        </p:spPr>
      </p:pic>
      <p:sp>
        <p:nvSpPr>
          <p:cNvPr id="783" name="" descr="{&quot;isTemplate&quot;:true,&quot;type&quot;:&quot;text&quot;}"/>
          <p:cNvSpPr txBox="1"/>
          <p:nvPr/>
        </p:nvSpPr>
        <p:spPr>
          <a:xfrm rot="0" flipH="0" flipV="0">
            <a:off x="533400" y="361950"/>
            <a:ext cx="1095375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825" spc="135">
                <a:solidFill>
                  <a:srgbClr val="6BC8D1"/>
                </a:solidFill>
                <a:latin typeface="Consolas"/>
                <a:ea typeface="Consolas"/>
              </a:rPr>
              <a:t>02 / </a:t>
            </a:r>
            <a:r>
              <a:rPr lang="zh-CN" sz="825" spc="135">
                <a:solidFill>
                  <a:srgbClr val="6BC8D1"/>
                </a:solidFill>
                <a:latin typeface="Consolas"/>
                <a:ea typeface="Consolas"/>
              </a:rPr>
              <a:t>作品概览</a:t>
            </a:r>
            <a:endParaRPr/>
          </a:p>
        </p:txBody>
      </p:sp>
      <p:sp>
        <p:nvSpPr>
          <p:cNvPr id="784" name="" descr="{&quot;isTemplate&quot;:true,&quot;type&quot;:&quot;text&quot;}"/>
          <p:cNvSpPr txBox="1"/>
          <p:nvPr/>
        </p:nvSpPr>
        <p:spPr>
          <a:xfrm rot="0" flipH="0" flipV="0">
            <a:off x="533400" y="590550"/>
            <a:ext cx="4800600" cy="3619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325" b="1" spc="38">
                <a:solidFill>
                  <a:srgbClr val="F2F7F8"/>
                </a:solidFill>
                <a:latin typeface="Microsoft YaHei"/>
                <a:ea typeface="Microsoft YaHei"/>
              </a:rPr>
              <a:t>把企业网络，变成可反复试错的沙盘</a:t>
            </a:r>
            <a:endParaRPr/>
          </a:p>
        </p:txBody>
      </p:sp>
      <p:sp>
        <p:nvSpPr>
          <p:cNvPr id="785" name="" descr="{&quot;isTemplate&quot;:true,&quot;type&quot;:&quot;text&quot;}"/>
          <p:cNvSpPr txBox="1"/>
          <p:nvPr/>
        </p:nvSpPr>
        <p:spPr>
          <a:xfrm rot="0" flipH="0" flipV="0">
            <a:off x="10772775" y="723900"/>
            <a:ext cx="885825" cy="1238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788">
                <a:solidFill>
                  <a:srgbClr val="F2F7F8">
                    <a:alpha val="42000"/>
                  </a:srgbClr>
                </a:solidFill>
                <a:latin typeface="Consolas"/>
                <a:ea typeface="Consolas"/>
              </a:rPr>
              <a:t>PRODUCT OVERVIEW</a:t>
            </a:r>
            <a:endParaRPr/>
          </a:p>
        </p:txBody>
      </p:sp>
      <p:sp>
        <p:nvSpPr>
          <p:cNvPr id="786" name="" descr="{&quot;isTemplate&quot;:true,&quot;type&quot;:&quot;text&quot;}"/>
          <p:cNvSpPr txBox="1"/>
          <p:nvPr/>
        </p:nvSpPr>
        <p:spPr>
          <a:xfrm rot="0" flipH="0" flipV="0">
            <a:off x="533400" y="1333500"/>
            <a:ext cx="4286250" cy="63817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80000"/>
              </a:lnSpc>
            </a:pPr>
            <a:r>
              <a:rPr lang="zh-CN" sz="1163">
                <a:solidFill>
                  <a:srgbClr val="F2F7F8">
                    <a:alpha val="72000"/>
                  </a:srgbClr>
                </a:solidFill>
                <a:latin typeface="Microsoft YaHei"/>
                <a:ea typeface="Microsoft YaHei"/>
              </a:rPr>
              <a:t>不是一段预设动画，而是一套会重新计算的沙盘：改一条规则，路径、状态与业务可达性都会随之变化。</a:t>
            </a:r>
            <a:endParaRPr/>
          </a:p>
        </p:txBody>
      </p:sp>
      <p:sp>
        <p:nvSpPr>
          <p:cNvPr id="787" name=""/>
          <p:cNvSpPr/>
          <p:nvPr/>
        </p:nvSpPr>
        <p:spPr>
          <a:xfrm rot="0" flipH="0" flipV="0">
            <a:off x="533400" y="2162175"/>
            <a:ext cx="4457700" cy="628650"/>
          </a:xfrm>
          <a:custGeom>
            <a:pathLst>
              <a:path w="468" h="66">
                <a:moveTo>
                  <a:pt x="0" y="0"/>
                </a:moveTo>
                <a:lnTo>
                  <a:pt x="468" y="0"/>
                </a:lnTo>
                <a:lnTo>
                  <a:pt x="468" y="1"/>
                </a:lnTo>
                <a:lnTo>
                  <a:pt x="0" y="1"/>
                </a:lnTo>
                <a:close/>
              </a:path>
            </a:pathLst>
          </a:custGeom>
          <a:solidFill>
            <a:srgbClr val="F2F7F8">
              <a:alpha val="10000"/>
            </a:srgbClr>
          </a:solidFill>
          <a:ln/>
        </p:spPr>
        <p:txBody>
          <a:bodyPr/>
          <a:p/>
        </p:txBody>
      </p:sp>
      <p:sp>
        <p:nvSpPr>
          <p:cNvPr id="788" name="" descr="{&quot;isTemplate&quot;:true,&quot;type&quot;:&quot;text&quot;}"/>
          <p:cNvSpPr txBox="1"/>
          <p:nvPr/>
        </p:nvSpPr>
        <p:spPr>
          <a:xfrm rot="0" flipH="0" flipV="0">
            <a:off x="533400" y="2266950"/>
            <a:ext cx="400050" cy="1143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750">
                <a:solidFill>
                  <a:srgbClr val="6BC8D1"/>
                </a:solidFill>
                <a:latin typeface="Consolas"/>
                <a:ea typeface="Consolas"/>
              </a:rPr>
              <a:t>01</a:t>
            </a:r>
            <a:endParaRPr/>
          </a:p>
        </p:txBody>
      </p:sp>
      <p:sp>
        <p:nvSpPr>
          <p:cNvPr id="789" name="" descr="{&quot;isTemplate&quot;:true,&quot;type&quot;:&quot;text&quot;}"/>
          <p:cNvSpPr txBox="1"/>
          <p:nvPr/>
        </p:nvSpPr>
        <p:spPr>
          <a:xfrm rot="0" flipH="0" flipV="0">
            <a:off x="933450" y="2266950"/>
            <a:ext cx="376237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88" b="1">
                <a:solidFill>
                  <a:srgbClr val="F2F7F8"/>
                </a:solidFill>
                <a:latin typeface="Microsoft YaHei"/>
                <a:ea typeface="Microsoft YaHei"/>
              </a:rPr>
              <a:t>三维路径观察</a:t>
            </a:r>
            <a:endParaRPr/>
          </a:p>
        </p:txBody>
      </p:sp>
      <p:sp>
        <p:nvSpPr>
          <p:cNvPr id="790" name="" descr="{&quot;isTemplate&quot;:true,&quot;type&quot;:&quot;text&quot;}"/>
          <p:cNvSpPr txBox="1"/>
          <p:nvPr/>
        </p:nvSpPr>
        <p:spPr>
          <a:xfrm rot="0" flipH="0" flipV="0">
            <a:off x="933450" y="2466975"/>
            <a:ext cx="3762375" cy="219075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863">
                <a:solidFill>
                  <a:srgbClr val="F2F7F8">
                    <a:alpha val="54000"/>
                  </a:srgbClr>
                </a:solidFill>
                <a:latin typeface="Microsoft YaHei"/>
                <a:ea typeface="Microsoft YaHei"/>
              </a:rPr>
              <a:t>设备、区域、</a:t>
            </a:r>
            <a:r>
              <a:rPr lang="en-US" sz="863">
                <a:solidFill>
                  <a:srgbClr val="F2F7F8">
                    <a:alpha val="54000"/>
                  </a:srgbClr>
                </a:solidFill>
                <a:latin typeface="Microsoft YaHei"/>
                <a:ea typeface="Microsoft YaHei"/>
              </a:rPr>
              <a:t>VLAN </a:t>
            </a:r>
            <a:r>
              <a:rPr lang="zh-CN" sz="863">
                <a:solidFill>
                  <a:srgbClr val="F2F7F8">
                    <a:alpha val="54000"/>
                  </a:srgbClr>
                </a:solidFill>
                <a:latin typeface="Microsoft YaHei"/>
                <a:ea typeface="Microsoft YaHei"/>
              </a:rPr>
              <a:t>与真实路由路径在同一空间里可见。</a:t>
            </a:r>
            <a:endParaRPr/>
          </a:p>
        </p:txBody>
      </p:sp>
      <p:sp>
        <p:nvSpPr>
          <p:cNvPr id="791" name=""/>
          <p:cNvSpPr/>
          <p:nvPr/>
        </p:nvSpPr>
        <p:spPr>
          <a:xfrm rot="0" flipH="0" flipV="0">
            <a:off x="533400" y="2781300"/>
            <a:ext cx="4457700" cy="628650"/>
          </a:xfrm>
          <a:custGeom>
            <a:pathLst>
              <a:path w="468" h="66">
                <a:moveTo>
                  <a:pt x="0" y="0"/>
                </a:moveTo>
                <a:lnTo>
                  <a:pt x="468" y="0"/>
                </a:lnTo>
                <a:lnTo>
                  <a:pt x="468" y="1"/>
                </a:lnTo>
                <a:lnTo>
                  <a:pt x="0" y="1"/>
                </a:lnTo>
                <a:close/>
              </a:path>
            </a:pathLst>
          </a:custGeom>
          <a:solidFill>
            <a:srgbClr val="F2F7F8">
              <a:alpha val="10000"/>
            </a:srgbClr>
          </a:solidFill>
          <a:ln/>
        </p:spPr>
        <p:txBody>
          <a:bodyPr/>
          <a:p/>
        </p:txBody>
      </p:sp>
      <p:sp>
        <p:nvSpPr>
          <p:cNvPr id="792" name="" descr="{&quot;isTemplate&quot;:true,&quot;type&quot;:&quot;text&quot;}"/>
          <p:cNvSpPr txBox="1"/>
          <p:nvPr/>
        </p:nvSpPr>
        <p:spPr>
          <a:xfrm rot="0" flipH="0" flipV="0">
            <a:off x="533400" y="2886075"/>
            <a:ext cx="400050" cy="1143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750">
                <a:solidFill>
                  <a:srgbClr val="6BC8D1"/>
                </a:solidFill>
                <a:latin typeface="Consolas"/>
                <a:ea typeface="Consolas"/>
              </a:rPr>
              <a:t>02</a:t>
            </a:r>
            <a:endParaRPr/>
          </a:p>
        </p:txBody>
      </p:sp>
      <p:sp>
        <p:nvSpPr>
          <p:cNvPr id="793" name="" descr="{&quot;isTemplate&quot;:true,&quot;type&quot;:&quot;text&quot;}"/>
          <p:cNvSpPr txBox="1"/>
          <p:nvPr/>
        </p:nvSpPr>
        <p:spPr>
          <a:xfrm rot="0" flipH="0" flipV="0">
            <a:off x="933450" y="2886075"/>
            <a:ext cx="376237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88" b="1">
                <a:solidFill>
                  <a:srgbClr val="F2F7F8"/>
                </a:solidFill>
                <a:latin typeface="Microsoft YaHei"/>
                <a:ea typeface="Microsoft YaHei"/>
              </a:rPr>
              <a:t>攻击状态推演</a:t>
            </a:r>
            <a:endParaRPr/>
          </a:p>
        </p:txBody>
      </p:sp>
      <p:sp>
        <p:nvSpPr>
          <p:cNvPr id="794" name="" descr="{&quot;isTemplate&quot;:true,&quot;type&quot;:&quot;text&quot;}"/>
          <p:cNvSpPr txBox="1"/>
          <p:nvPr/>
        </p:nvSpPr>
        <p:spPr>
          <a:xfrm rot="0" flipH="0" flipV="0">
            <a:off x="933450" y="3086100"/>
            <a:ext cx="3762375" cy="219075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863">
                <a:solidFill>
                  <a:srgbClr val="F2F7F8">
                    <a:alpha val="54000"/>
                  </a:srgbClr>
                </a:solidFill>
                <a:latin typeface="Microsoft YaHei"/>
                <a:ea typeface="Microsoft YaHei"/>
              </a:rPr>
              <a:t>权限、教学条件与安全控制共同决定状态是否改变。</a:t>
            </a:r>
            <a:endParaRPr/>
          </a:p>
        </p:txBody>
      </p:sp>
      <p:sp>
        <p:nvSpPr>
          <p:cNvPr id="795" name=""/>
          <p:cNvSpPr/>
          <p:nvPr/>
        </p:nvSpPr>
        <p:spPr>
          <a:xfrm rot="0" flipH="0" flipV="0">
            <a:off x="533400" y="3400425"/>
            <a:ext cx="4457700" cy="628650"/>
          </a:xfrm>
          <a:custGeom>
            <a:pathLst>
              <a:path w="468" h="66">
                <a:moveTo>
                  <a:pt x="0" y="0"/>
                </a:moveTo>
                <a:lnTo>
                  <a:pt x="468" y="0"/>
                </a:lnTo>
                <a:lnTo>
                  <a:pt x="468" y="1"/>
                </a:lnTo>
                <a:lnTo>
                  <a:pt x="0" y="1"/>
                </a:lnTo>
                <a:close/>
              </a:path>
            </a:pathLst>
          </a:custGeom>
          <a:solidFill>
            <a:srgbClr val="F2F7F8">
              <a:alpha val="10000"/>
            </a:srgbClr>
          </a:solidFill>
          <a:ln/>
        </p:spPr>
        <p:txBody>
          <a:bodyPr/>
          <a:p/>
        </p:txBody>
      </p:sp>
      <p:sp>
        <p:nvSpPr>
          <p:cNvPr id="796" name="" descr="{&quot;isTemplate&quot;:true,&quot;type&quot;:&quot;text&quot;}"/>
          <p:cNvSpPr txBox="1"/>
          <p:nvPr/>
        </p:nvSpPr>
        <p:spPr>
          <a:xfrm rot="0" flipH="0" flipV="0">
            <a:off x="533400" y="3505200"/>
            <a:ext cx="400050" cy="1143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750">
                <a:solidFill>
                  <a:srgbClr val="6BC8D1"/>
                </a:solidFill>
                <a:latin typeface="Consolas"/>
                <a:ea typeface="Consolas"/>
              </a:rPr>
              <a:t>03</a:t>
            </a:r>
            <a:endParaRPr/>
          </a:p>
        </p:txBody>
      </p:sp>
      <p:sp>
        <p:nvSpPr>
          <p:cNvPr id="797" name="" descr="{&quot;isTemplate&quot;:true,&quot;type&quot;:&quot;text&quot;}"/>
          <p:cNvSpPr txBox="1"/>
          <p:nvPr/>
        </p:nvSpPr>
        <p:spPr>
          <a:xfrm rot="0" flipH="0" flipV="0">
            <a:off x="933450" y="3505200"/>
            <a:ext cx="376237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88" b="1">
                <a:solidFill>
                  <a:srgbClr val="F2F7F8"/>
                </a:solidFill>
                <a:latin typeface="Microsoft YaHei"/>
                <a:ea typeface="Microsoft YaHei"/>
              </a:rPr>
              <a:t>策略</a:t>
            </a:r>
            <a:r>
              <a:rPr lang="en-US" sz="1088" b="1">
                <a:solidFill>
                  <a:srgbClr val="F2F7F8"/>
                </a:solidFill>
                <a:latin typeface="Microsoft YaHei"/>
                <a:ea typeface="Microsoft YaHei"/>
              </a:rPr>
              <a:t> A/B </a:t>
            </a:r>
            <a:r>
              <a:rPr lang="zh-CN" sz="1088" b="1">
                <a:solidFill>
                  <a:srgbClr val="F2F7F8"/>
                </a:solidFill>
                <a:latin typeface="Microsoft YaHei"/>
                <a:ea typeface="Microsoft YaHei"/>
              </a:rPr>
              <a:t>验证</a:t>
            </a:r>
            <a:endParaRPr/>
          </a:p>
        </p:txBody>
      </p:sp>
      <p:sp>
        <p:nvSpPr>
          <p:cNvPr id="798" name="" descr="{&quot;isTemplate&quot;:true,&quot;type&quot;:&quot;text&quot;}"/>
          <p:cNvSpPr txBox="1"/>
          <p:nvPr/>
        </p:nvSpPr>
        <p:spPr>
          <a:xfrm rot="0" flipH="0" flipV="0">
            <a:off x="933450" y="3705225"/>
            <a:ext cx="3762375" cy="219075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863">
                <a:solidFill>
                  <a:srgbClr val="F2F7F8">
                    <a:alpha val="54000"/>
                  </a:srgbClr>
                </a:solidFill>
                <a:latin typeface="Microsoft YaHei"/>
                <a:ea typeface="Microsoft YaHei"/>
              </a:rPr>
              <a:t>原始基线</a:t>
            </a:r>
            <a:r>
              <a:rPr lang="en-US" sz="863">
                <a:solidFill>
                  <a:srgbClr val="F2F7F8">
                    <a:alpha val="54000"/>
                  </a:srgbClr>
                </a:solidFill>
                <a:latin typeface="Microsoft YaHei"/>
                <a:ea typeface="Microsoft YaHei"/>
              </a:rPr>
              <a:t> vs </a:t>
            </a:r>
            <a:r>
              <a:rPr lang="zh-CN" sz="863">
                <a:solidFill>
                  <a:srgbClr val="F2F7F8">
                    <a:alpha val="54000"/>
                  </a:srgbClr>
                </a:solidFill>
                <a:latin typeface="Microsoft YaHei"/>
                <a:ea typeface="Microsoft YaHei"/>
              </a:rPr>
              <a:t>当前配置，同源重算，指标逐项对照。</a:t>
            </a:r>
            <a:endParaRPr/>
          </a:p>
        </p:txBody>
      </p:sp>
      <p:sp>
        <p:nvSpPr>
          <p:cNvPr id="799" name=""/>
          <p:cNvSpPr/>
          <p:nvPr/>
        </p:nvSpPr>
        <p:spPr>
          <a:xfrm rot="0" flipH="0" flipV="0">
            <a:off x="533400" y="4019550"/>
            <a:ext cx="4457700" cy="647700"/>
          </a:xfrm>
          <a:custGeom>
            <a:pathLst>
              <a:path w="468" h="68">
                <a:moveTo>
                  <a:pt x="0" y="0"/>
                </a:moveTo>
                <a:lnTo>
                  <a:pt x="468" y="0"/>
                </a:lnTo>
                <a:lnTo>
                  <a:pt x="468" y="1"/>
                </a:lnTo>
                <a:lnTo>
                  <a:pt x="0" y="1"/>
                </a:lnTo>
                <a:close/>
              </a:path>
            </a:pathLst>
          </a:custGeom>
          <a:solidFill>
            <a:srgbClr val="F2F7F8">
              <a:alpha val="10000"/>
            </a:srgbClr>
          </a:solidFill>
          <a:ln/>
        </p:spPr>
        <p:txBody>
          <a:bodyPr/>
          <a:p/>
        </p:txBody>
      </p:sp>
      <p:sp>
        <p:nvSpPr>
          <p:cNvPr id="800" name=""/>
          <p:cNvSpPr/>
          <p:nvPr/>
        </p:nvSpPr>
        <p:spPr>
          <a:xfrm rot="0" flipH="0" flipV="0">
            <a:off x="533400" y="4019550"/>
            <a:ext cx="4457700" cy="647700"/>
          </a:xfrm>
          <a:custGeom>
            <a:pathLst>
              <a:path w="468" h="68">
                <a:moveTo>
                  <a:pt x="0" y="67"/>
                </a:moveTo>
                <a:lnTo>
                  <a:pt x="468" y="67"/>
                </a:lnTo>
                <a:lnTo>
                  <a:pt x="468" y="68"/>
                </a:lnTo>
                <a:lnTo>
                  <a:pt x="0" y="68"/>
                </a:lnTo>
                <a:close/>
              </a:path>
            </a:pathLst>
          </a:custGeom>
          <a:solidFill>
            <a:srgbClr val="F2F7F8">
              <a:alpha val="10000"/>
            </a:srgbClr>
          </a:solidFill>
          <a:ln/>
        </p:spPr>
        <p:txBody>
          <a:bodyPr/>
          <a:p/>
        </p:txBody>
      </p:sp>
      <p:sp>
        <p:nvSpPr>
          <p:cNvPr id="801" name="" descr="{&quot;isTemplate&quot;:true,&quot;type&quot;:&quot;text&quot;}"/>
          <p:cNvSpPr txBox="1"/>
          <p:nvPr/>
        </p:nvSpPr>
        <p:spPr>
          <a:xfrm rot="0" flipH="0" flipV="0">
            <a:off x="533400" y="4124325"/>
            <a:ext cx="400050" cy="1143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750">
                <a:solidFill>
                  <a:srgbClr val="6BC8D1"/>
                </a:solidFill>
                <a:latin typeface="Consolas"/>
                <a:ea typeface="Consolas"/>
              </a:rPr>
              <a:t>04</a:t>
            </a:r>
            <a:endParaRPr/>
          </a:p>
        </p:txBody>
      </p:sp>
      <p:sp>
        <p:nvSpPr>
          <p:cNvPr id="802" name="" descr="{&quot;isTemplate&quot;:true,&quot;type&quot;:&quot;text&quot;}"/>
          <p:cNvSpPr txBox="1"/>
          <p:nvPr/>
        </p:nvSpPr>
        <p:spPr>
          <a:xfrm rot="0" flipH="0" flipV="0">
            <a:off x="933450" y="4124325"/>
            <a:ext cx="376237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88" b="1">
                <a:solidFill>
                  <a:srgbClr val="F2F7F8"/>
                </a:solidFill>
                <a:latin typeface="Microsoft YaHei"/>
                <a:ea typeface="Microsoft YaHei"/>
              </a:rPr>
              <a:t>教学闭环</a:t>
            </a:r>
            <a:endParaRPr/>
          </a:p>
        </p:txBody>
      </p:sp>
      <p:sp>
        <p:nvSpPr>
          <p:cNvPr id="803" name="" descr="{&quot;isTemplate&quot;:true,&quot;type&quot;:&quot;text&quot;}"/>
          <p:cNvSpPr txBox="1"/>
          <p:nvPr/>
        </p:nvSpPr>
        <p:spPr>
          <a:xfrm rot="0" flipH="0" flipV="0">
            <a:off x="933450" y="4324350"/>
            <a:ext cx="3762375" cy="219075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863">
                <a:solidFill>
                  <a:srgbClr val="F2F7F8">
                    <a:alpha val="54000"/>
                  </a:srgbClr>
                </a:solidFill>
                <a:latin typeface="Microsoft YaHei"/>
                <a:ea typeface="Microsoft YaHei"/>
              </a:rPr>
              <a:t>知识卡片、</a:t>
            </a:r>
            <a:r>
              <a:rPr lang="en-US" sz="863">
                <a:solidFill>
                  <a:srgbClr val="F2F7F8">
                    <a:alpha val="54000"/>
                  </a:srgbClr>
                </a:solidFill>
                <a:latin typeface="Microsoft YaHei"/>
                <a:ea typeface="Microsoft YaHei"/>
              </a:rPr>
              <a:t>20 </a:t>
            </a:r>
            <a:r>
              <a:rPr lang="zh-CN" sz="863">
                <a:solidFill>
                  <a:srgbClr val="F2F7F8">
                    <a:alpha val="54000"/>
                  </a:srgbClr>
                </a:solidFill>
                <a:latin typeface="Microsoft YaHei"/>
                <a:ea typeface="Microsoft YaHei"/>
              </a:rPr>
              <a:t>题练习、模拟考试与实验挑战互相直达。</a:t>
            </a:r>
            <a:endParaRPr/>
          </a:p>
        </p:txBody>
      </p:sp>
      <p:sp>
        <p:nvSpPr>
          <p:cNvPr id="804" name=""/>
          <p:cNvSpPr/>
          <p:nvPr/>
        </p:nvSpPr>
        <p:spPr>
          <a:xfrm rot="0" flipH="0" flipV="0">
            <a:off x="5467350" y="1295400"/>
            <a:ext cx="6191250" cy="3286125"/>
          </a:xfrm>
          <a:prstGeom prst="rect">
            <a:avLst/>
          </a:prstGeom>
          <a:ln w="12700">
            <a:solidFill>
              <a:srgbClr val="6BC8D1">
                <a:alpha val="22000"/>
              </a:srgbClr>
            </a:solidFill>
            <a:prstDash val="solid"/>
          </a:ln>
        </p:spPr>
        <p:txBody>
          <a:bodyPr/>
          <a:p/>
        </p:txBody>
      </p:sp>
      <p:pic>
        <p:nvPicPr>
          <p:cNvPr id="805" name=""/>
          <p:cNvPicPr>
            <a:picLocks noChangeAspect="1"/>
          </p:cNvPicPr>
          <p:nvPr/>
        </p:nvPicPr>
        <p:blipFill>
          <a:blip r:embed="rId2"/>
          <a:srcRect l="14" t="0" r="14" b="0"/>
          <a:stretch>
            <a:fillRect/>
          </a:stretch>
        </p:blipFill>
        <p:spPr>
          <a:xfrm rot="0" flipH="0" flipV="0">
            <a:off x="5467350" y="1295400"/>
            <a:ext cx="6191250" cy="3286125"/>
          </a:xfrm>
          <a:prstGeom prst="roundRect">
            <a:avLst>
              <a:gd name="adj" fmla="val 2899"/>
            </a:avLst>
          </a:prstGeom>
          <a:ln/>
        </p:spPr>
      </p:pic>
      <p:sp>
        <p:nvSpPr>
          <p:cNvPr id="806" name=""/>
          <p:cNvSpPr/>
          <p:nvPr/>
        </p:nvSpPr>
        <p:spPr>
          <a:xfrm rot="0" flipH="0" flipV="0">
            <a:off x="5467350" y="4248150"/>
            <a:ext cx="6191250" cy="333375"/>
          </a:xfrm>
          <a:prstGeom prst="rect">
            <a:avLst/>
          </a:prstGeom>
          <a:solidFill>
            <a:srgbClr val="07111B">
              <a:alpha val="82000"/>
            </a:srgbClr>
          </a:solidFill>
          <a:ln/>
        </p:spPr>
        <p:txBody>
          <a:bodyPr/>
          <a:p/>
        </p:txBody>
      </p:sp>
      <p:sp>
        <p:nvSpPr>
          <p:cNvPr id="807" name=""/>
          <p:cNvSpPr/>
          <p:nvPr/>
        </p:nvSpPr>
        <p:spPr>
          <a:xfrm rot="0" flipH="0" flipV="0">
            <a:off x="5467350" y="4238625"/>
            <a:ext cx="6191250" cy="342900"/>
          </a:xfrm>
          <a:custGeom>
            <a:pathLst>
              <a:path w="650" h="36">
                <a:moveTo>
                  <a:pt x="0" y="0"/>
                </a:moveTo>
                <a:lnTo>
                  <a:pt x="650" y="0"/>
                </a:lnTo>
                <a:lnTo>
                  <a:pt x="650" y="1"/>
                </a:lnTo>
                <a:lnTo>
                  <a:pt x="0" y="1"/>
                </a:lnTo>
                <a:close/>
              </a:path>
            </a:pathLst>
          </a:custGeom>
          <a:solidFill>
            <a:srgbClr val="6BC8D1">
              <a:alpha val="18000"/>
            </a:srgbClr>
          </a:solidFill>
          <a:ln/>
        </p:spPr>
        <p:txBody>
          <a:bodyPr/>
          <a:p/>
        </p:txBody>
      </p:sp>
      <p:sp>
        <p:nvSpPr>
          <p:cNvPr id="808" name="" descr="{&quot;isTemplate&quot;:true,&quot;type&quot;:&quot;text&quot;}"/>
          <p:cNvSpPr txBox="1"/>
          <p:nvPr/>
        </p:nvSpPr>
        <p:spPr>
          <a:xfrm rot="0" flipH="0" flipV="0">
            <a:off x="5600700" y="4362450"/>
            <a:ext cx="2733675" cy="1143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750" spc="60">
                <a:solidFill>
                  <a:srgbClr val="F2F7F8">
                    <a:alpha val="62000"/>
                  </a:srgbClr>
                </a:solidFill>
                <a:latin typeface="Consolas"/>
                <a:ea typeface="Consolas"/>
              </a:rPr>
              <a:t>真实运行界面</a:t>
            </a:r>
            <a:r>
              <a:rPr lang="en-US" sz="750" spc="60">
                <a:solidFill>
                  <a:srgbClr val="F2F7F8">
                    <a:alpha val="62000"/>
                  </a:srgbClr>
                </a:solidFill>
                <a:latin typeface="Consolas"/>
                <a:ea typeface="Consolas"/>
              </a:rPr>
              <a:t> · </a:t>
            </a:r>
            <a:r>
              <a:rPr lang="zh-CN" sz="750" spc="60">
                <a:solidFill>
                  <a:srgbClr val="F2F7F8">
                    <a:alpha val="62000"/>
                  </a:srgbClr>
                </a:solidFill>
                <a:latin typeface="Consolas"/>
                <a:ea typeface="Consolas"/>
              </a:rPr>
              <a:t>首页</a:t>
            </a:r>
            <a:r>
              <a:rPr lang="en-US" sz="750" spc="60">
                <a:solidFill>
                  <a:srgbClr val="F2F7F8">
                    <a:alpha val="62000"/>
                  </a:srgbClr>
                </a:solidFill>
                <a:latin typeface="Consolas"/>
                <a:ea typeface="Consolas"/>
              </a:rPr>
              <a:t> / </a:t>
            </a:r>
            <a:r>
              <a:rPr lang="zh-CN" sz="750" spc="60">
                <a:solidFill>
                  <a:srgbClr val="F2F7F8">
                    <a:alpha val="62000"/>
                  </a:srgbClr>
                </a:solidFill>
                <a:latin typeface="Consolas"/>
                <a:ea typeface="Consolas"/>
              </a:rPr>
              <a:t>核心实验入口</a:t>
            </a:r>
            <a:endParaRPr/>
          </a:p>
        </p:txBody>
      </p:sp>
      <p:sp>
        <p:nvSpPr>
          <p:cNvPr id="809" name="" descr="{&quot;isTemplate&quot;:true,&quot;type&quot;:&quot;text&quot;}"/>
          <p:cNvSpPr txBox="1"/>
          <p:nvPr/>
        </p:nvSpPr>
        <p:spPr>
          <a:xfrm rot="0" flipH="0" flipV="0">
            <a:off x="10944225" y="4362450"/>
            <a:ext cx="581025" cy="1143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750">
                <a:solidFill>
                  <a:srgbClr val="6BC8D1"/>
                </a:solidFill>
                <a:latin typeface="Consolas"/>
                <a:ea typeface="Consolas"/>
              </a:rPr>
              <a:t>01 CORE LAB</a:t>
            </a:r>
            <a:endParaRPr/>
          </a:p>
        </p:txBody>
      </p:sp>
      <p:sp>
        <p:nvSpPr>
          <p:cNvPr id="810" name=""/>
          <p:cNvSpPr/>
          <p:nvPr/>
        </p:nvSpPr>
        <p:spPr>
          <a:xfrm rot="0" flipH="0" flipV="0">
            <a:off x="5600700" y="1428750"/>
            <a:ext cx="904875" cy="209550"/>
          </a:xfrm>
          <a:prstGeom prst="roundRect">
            <a:avLst>
              <a:gd name="adj" fmla="val 18182"/>
            </a:avLst>
          </a:prstGeom>
          <a:solidFill>
            <a:srgbClr val="07111B">
              <a:alpha val="78000"/>
            </a:srgbClr>
          </a:solidFill>
          <a:ln w="12700">
            <a:solidFill>
              <a:srgbClr val="6BC8D1">
                <a:alpha val="28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811" name="" descr="{&quot;isTemplate&quot;:true,&quot;type&quot;:&quot;text&quot;}"/>
          <p:cNvSpPr txBox="1"/>
          <p:nvPr/>
        </p:nvSpPr>
        <p:spPr>
          <a:xfrm rot="0" flipH="0" flipV="0">
            <a:off x="5695950" y="1476375"/>
            <a:ext cx="714375" cy="1143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713" spc="75">
                <a:solidFill>
                  <a:srgbClr val="6BC8D1"/>
                </a:solidFill>
                <a:latin typeface="Consolas"/>
                <a:ea typeface="Consolas"/>
              </a:rPr>
              <a:t>LIVE PREVIEW</a:t>
            </a:r>
            <a:endParaRPr/>
          </a:p>
        </p:txBody>
      </p:sp>
      <p:sp>
        <p:nvSpPr>
          <p:cNvPr id="812" name="" descr="{&quot;isTemplate&quot;:true,&quot;type&quot;:&quot;text&quot;}"/>
          <p:cNvSpPr txBox="1"/>
          <p:nvPr/>
        </p:nvSpPr>
        <p:spPr>
          <a:xfrm rot="0" flipH="0" flipV="0">
            <a:off x="5467350" y="4953000"/>
            <a:ext cx="419100" cy="4572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3000" b="1">
                <a:solidFill>
                  <a:srgbClr val="F2F7F8"/>
                </a:solidFill>
                <a:latin typeface="Consolas"/>
                <a:ea typeface="Consolas"/>
              </a:rPr>
              <a:t>07</a:t>
            </a:r>
            <a:endParaRPr/>
          </a:p>
        </p:txBody>
      </p:sp>
      <p:sp>
        <p:nvSpPr>
          <p:cNvPr id="813" name="" descr="{&quot;isTemplate&quot;:true,&quot;type&quot;:&quot;text&quot;}"/>
          <p:cNvSpPr txBox="1"/>
          <p:nvPr/>
        </p:nvSpPr>
        <p:spPr>
          <a:xfrm rot="0" flipH="0" flipV="0">
            <a:off x="5962650" y="5238750"/>
            <a:ext cx="552450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863">
                <a:solidFill>
                  <a:srgbClr val="F2F7F8">
                    <a:alpha val="52000"/>
                  </a:srgbClr>
                </a:solidFill>
                <a:latin typeface="Microsoft YaHei"/>
                <a:ea typeface="Microsoft YaHei"/>
              </a:rPr>
              <a:t>个实验场景</a:t>
            </a:r>
            <a:endParaRPr/>
          </a:p>
        </p:txBody>
      </p:sp>
      <p:sp>
        <p:nvSpPr>
          <p:cNvPr id="814" name=""/>
          <p:cNvSpPr/>
          <p:nvPr/>
        </p:nvSpPr>
        <p:spPr>
          <a:xfrm rot="0" flipH="0" flipV="0">
            <a:off x="7191375" y="5038725"/>
            <a:ext cx="9525" cy="285750"/>
          </a:xfrm>
          <a:prstGeom prst="rect">
            <a:avLst/>
          </a:prstGeom>
          <a:solidFill>
            <a:srgbClr val="F2F7F8">
              <a:alpha val="12000"/>
            </a:srgbClr>
          </a:solidFill>
          <a:ln/>
        </p:spPr>
        <p:txBody>
          <a:bodyPr/>
          <a:p/>
        </p:txBody>
      </p:sp>
      <p:sp>
        <p:nvSpPr>
          <p:cNvPr id="815" name="" descr="{&quot;isTemplate&quot;:true,&quot;type&quot;:&quot;text&quot;}"/>
          <p:cNvSpPr txBox="1"/>
          <p:nvPr/>
        </p:nvSpPr>
        <p:spPr>
          <a:xfrm rot="0" flipH="0" flipV="0">
            <a:off x="7886700" y="4953000"/>
            <a:ext cx="419100" cy="4572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3000" b="1">
                <a:solidFill>
                  <a:srgbClr val="F2F7F8"/>
                </a:solidFill>
                <a:latin typeface="Consolas"/>
                <a:ea typeface="Consolas"/>
              </a:rPr>
              <a:t>02</a:t>
            </a:r>
            <a:endParaRPr/>
          </a:p>
        </p:txBody>
      </p:sp>
      <p:sp>
        <p:nvSpPr>
          <p:cNvPr id="816" name="" descr="{&quot;isTemplate&quot;:true,&quot;type&quot;:&quot;text&quot;}"/>
          <p:cNvSpPr txBox="1"/>
          <p:nvPr/>
        </p:nvSpPr>
        <p:spPr>
          <a:xfrm rot="0" flipH="0" flipV="0">
            <a:off x="8382000" y="5238750"/>
            <a:ext cx="552450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863">
                <a:solidFill>
                  <a:srgbClr val="F2F7F8">
                    <a:alpha val="52000"/>
                  </a:srgbClr>
                </a:solidFill>
                <a:latin typeface="Microsoft YaHei"/>
                <a:ea typeface="Microsoft YaHei"/>
              </a:rPr>
              <a:t>种仿真模式</a:t>
            </a:r>
            <a:endParaRPr/>
          </a:p>
        </p:txBody>
      </p:sp>
      <p:sp>
        <p:nvSpPr>
          <p:cNvPr id="817" name=""/>
          <p:cNvSpPr/>
          <p:nvPr/>
        </p:nvSpPr>
        <p:spPr>
          <a:xfrm rot="0" flipH="0" flipV="0">
            <a:off x="9610725" y="5038725"/>
            <a:ext cx="9525" cy="285750"/>
          </a:xfrm>
          <a:prstGeom prst="rect">
            <a:avLst/>
          </a:prstGeom>
          <a:solidFill>
            <a:srgbClr val="F2F7F8">
              <a:alpha val="12000"/>
            </a:srgbClr>
          </a:solidFill>
          <a:ln/>
        </p:spPr>
        <p:txBody>
          <a:bodyPr/>
          <a:p/>
        </p:txBody>
      </p:sp>
      <p:sp>
        <p:nvSpPr>
          <p:cNvPr id="818" name="" descr="{&quot;isTemplate&quot;:true,&quot;type&quot;:&quot;text&quot;}"/>
          <p:cNvSpPr txBox="1"/>
          <p:nvPr/>
        </p:nvSpPr>
        <p:spPr>
          <a:xfrm rot="0" flipH="0" flipV="0">
            <a:off x="10296525" y="4953000"/>
            <a:ext cx="628650" cy="4572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3000" b="1">
                <a:solidFill>
                  <a:srgbClr val="6BC8D1"/>
                </a:solidFill>
                <a:latin typeface="Consolas"/>
                <a:ea typeface="Consolas"/>
              </a:rPr>
              <a:t>111</a:t>
            </a:r>
            <a:endParaRPr/>
          </a:p>
        </p:txBody>
      </p:sp>
      <p:sp>
        <p:nvSpPr>
          <p:cNvPr id="819" name="" descr="{&quot;isTemplate&quot;:true,&quot;type&quot;:&quot;text&quot;}"/>
          <p:cNvSpPr txBox="1"/>
          <p:nvPr/>
        </p:nvSpPr>
        <p:spPr>
          <a:xfrm rot="0" flipH="0" flipV="0">
            <a:off x="11001375" y="5238750"/>
            <a:ext cx="657225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863">
                <a:solidFill>
                  <a:srgbClr val="F2F7F8">
                    <a:alpha val="52000"/>
                  </a:srgbClr>
                </a:solidFill>
                <a:latin typeface="Microsoft YaHei"/>
                <a:ea typeface="Microsoft YaHei"/>
              </a:rPr>
              <a:t>项自动化测试</a:t>
            </a:r>
            <a:endParaRPr/>
          </a:p>
        </p:txBody>
      </p:sp>
      <p:sp>
        <p:nvSpPr>
          <p:cNvPr id="820" name=""/>
          <p:cNvSpPr/>
          <p:nvPr/>
        </p:nvSpPr>
        <p:spPr>
          <a:xfrm rot="0" flipH="0" flipV="0">
            <a:off x="533400" y="4876800"/>
            <a:ext cx="4457700" cy="514350"/>
          </a:xfrm>
          <a:custGeom>
            <a:pathLst>
              <a:path w="468" h="54">
                <a:moveTo>
                  <a:pt x="0" y="0"/>
                </a:moveTo>
                <a:lnTo>
                  <a:pt x="2" y="0"/>
                </a:lnTo>
                <a:lnTo>
                  <a:pt x="2" y="54"/>
                </a:lnTo>
                <a:lnTo>
                  <a:pt x="0" y="54"/>
                </a:lnTo>
                <a:close/>
              </a:path>
            </a:pathLst>
          </a:custGeom>
          <a:solidFill>
            <a:srgbClr val="6BC8D1">
              <a:alpha val="50000"/>
            </a:srgbClr>
          </a:solidFill>
          <a:ln/>
        </p:spPr>
        <p:txBody>
          <a:bodyPr/>
          <a:p/>
        </p:txBody>
      </p:sp>
      <p:sp>
        <p:nvSpPr>
          <p:cNvPr id="821" name="" descr="{&quot;isTemplate&quot;:true,&quot;type&quot;:&quot;text&quot;}"/>
          <p:cNvSpPr txBox="1"/>
          <p:nvPr/>
        </p:nvSpPr>
        <p:spPr>
          <a:xfrm rot="0" flipH="0" flipV="0">
            <a:off x="685800" y="4876800"/>
            <a:ext cx="4305300" cy="514350"/>
          </a:xfrm>
          <a:prstGeom prst="rect"/>
        </p:spPr>
        <p:txBody>
          <a:bodyPr wrap="none" lIns="0" tIns="0" rIns="0" bIns="0"/>
          <a:p>
            <a:pPr>
              <a:lnSpc>
                <a:spcPct val="180000"/>
              </a:lnSpc>
            </a:pPr>
            <a:r>
              <a:rPr lang="zh-CN" sz="938">
                <a:solidFill>
                  <a:srgbClr val="F2F7F8">
                    <a:alpha val="52000"/>
                  </a:srgbClr>
                </a:solidFill>
                <a:latin typeface="Microsoft YaHei"/>
                <a:ea typeface="Microsoft YaHei"/>
              </a:rPr>
              <a:t>沙盘的价值，不是演示一次结果，</a:t>
            </a:r>
            <a:endParaRPr/>
          </a:p>
          <a:p>
            <a:pPr>
              <a:lnSpc>
                <a:spcPct val="180000"/>
              </a:lnSpc>
            </a:pPr>
            <a:r>
              <a:rPr lang="zh-CN" sz="938">
                <a:solidFill>
                  <a:srgbClr val="F2F7F8">
                    <a:alpha val="52000"/>
                  </a:srgbClr>
                </a:solidFill>
                <a:latin typeface="Microsoft YaHei"/>
                <a:ea typeface="Microsoft YaHei"/>
              </a:rPr>
              <a:t>而是允许学生问：如果改成这样呢？</a:t>
            </a:r>
            <a:endParaRPr/>
          </a:p>
        </p:txBody>
      </p:sp>
      <p:sp>
        <p:nvSpPr>
          <p:cNvPr id="822" name=""/>
          <p:cNvSpPr/>
          <p:nvPr/>
        </p:nvSpPr>
        <p:spPr>
          <a:xfrm rot="0" flipH="0" flipV="0">
            <a:off x="5467350" y="5772150"/>
            <a:ext cx="171450" cy="9525"/>
          </a:xfrm>
          <a:prstGeom prst="rect">
            <a:avLst/>
          </a:prstGeom>
          <a:solidFill>
            <a:srgbClr val="6BC8D1">
              <a:alpha val="40000"/>
            </a:srgbClr>
          </a:solidFill>
          <a:ln/>
        </p:spPr>
        <p:txBody>
          <a:bodyPr/>
          <a:p/>
        </p:txBody>
      </p:sp>
      <p:sp>
        <p:nvSpPr>
          <p:cNvPr id="823" name="" descr="{&quot;isTemplate&quot;:true,&quot;type&quot;:&quot;text&quot;}"/>
          <p:cNvSpPr txBox="1"/>
          <p:nvPr/>
        </p:nvSpPr>
        <p:spPr>
          <a:xfrm rot="0" flipH="0" flipV="0">
            <a:off x="5734050" y="5715000"/>
            <a:ext cx="4419600" cy="1143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713" spc="60">
                <a:solidFill>
                  <a:srgbClr val="F2F7F8">
                    <a:alpha val="36000"/>
                  </a:srgbClr>
                </a:solidFill>
                <a:latin typeface="Consolas"/>
                <a:ea typeface="Consolas"/>
              </a:rPr>
              <a:t>同一份场景状态</a:t>
            </a:r>
            <a:r>
              <a:rPr lang="en-US" sz="713" spc="60">
                <a:solidFill>
                  <a:srgbClr val="F2F7F8">
                    <a:alpha val="36000"/>
                  </a:srgbClr>
                </a:solidFill>
                <a:latin typeface="Consolas"/>
                <a:ea typeface="Consolas"/>
              </a:rPr>
              <a:t> · </a:t>
            </a:r>
            <a:r>
              <a:rPr lang="zh-CN" sz="713" spc="60">
                <a:solidFill>
                  <a:srgbClr val="F2F7F8">
                    <a:alpha val="36000"/>
                  </a:srgbClr>
                </a:solidFill>
                <a:latin typeface="Consolas"/>
                <a:ea typeface="Consolas"/>
              </a:rPr>
              <a:t>同一套判定引擎</a:t>
            </a:r>
            <a:r>
              <a:rPr lang="en-US" sz="713" spc="60">
                <a:solidFill>
                  <a:srgbClr val="F2F7F8">
                    <a:alpha val="36000"/>
                  </a:srgbClr>
                </a:solidFill>
                <a:latin typeface="Consolas"/>
                <a:ea typeface="Consolas"/>
              </a:rPr>
              <a:t> · </a:t>
            </a:r>
            <a:r>
              <a:rPr lang="zh-CN" sz="713" spc="60">
                <a:solidFill>
                  <a:srgbClr val="F2F7F8">
                    <a:alpha val="36000"/>
                  </a:srgbClr>
                </a:solidFill>
                <a:latin typeface="Consolas"/>
                <a:ea typeface="Consolas"/>
              </a:rPr>
              <a:t>每次改动都会重新计算</a:t>
            </a:r>
            <a:endParaRPr/>
          </a:p>
        </p:txBody>
      </p:sp>
      <p:sp>
        <p:nvSpPr>
          <p:cNvPr id="824" name=""/>
          <p:cNvSpPr/>
          <p:nvPr/>
        </p:nvSpPr>
        <p:spPr>
          <a:xfrm rot="0" flipH="0" flipV="0">
            <a:off x="533400" y="6324600"/>
            <a:ext cx="11125200" cy="9525"/>
          </a:xfrm>
          <a:prstGeom prst="rect">
            <a:avLst/>
          </a:prstGeom>
          <a:solidFill>
            <a:srgbClr val="F2F7F8">
              <a:alpha val="10000"/>
            </a:srgbClr>
          </a:solidFill>
          <a:ln/>
        </p:spPr>
        <p:txBody>
          <a:bodyPr/>
          <a:p/>
        </p:txBody>
      </p:sp>
      <p:sp>
        <p:nvSpPr>
          <p:cNvPr id="825" name="" descr="{&quot;isTemplate&quot;:true,&quot;type&quot;:&quot;text&quot;}"/>
          <p:cNvSpPr txBox="1"/>
          <p:nvPr/>
        </p:nvSpPr>
        <p:spPr>
          <a:xfrm rot="0" flipH="0" flipV="0">
            <a:off x="533400" y="6457950"/>
            <a:ext cx="3248025" cy="1238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788" spc="60">
                <a:solidFill>
                  <a:srgbClr val="F2F7F8">
                    <a:alpha val="40000"/>
                  </a:srgbClr>
                </a:solidFill>
                <a:latin typeface="Consolas"/>
                <a:ea typeface="Consolas"/>
              </a:rPr>
              <a:t>智御网络</a:t>
            </a:r>
            <a:r>
              <a:rPr lang="en-US" sz="788" spc="60">
                <a:solidFill>
                  <a:srgbClr val="F2F7F8">
                    <a:alpha val="40000"/>
                  </a:srgbClr>
                </a:solidFill>
                <a:latin typeface="Consolas"/>
                <a:ea typeface="Consolas"/>
              </a:rPr>
              <a:t> · </a:t>
            </a:r>
            <a:r>
              <a:rPr lang="zh-CN" sz="788" spc="60">
                <a:solidFill>
                  <a:srgbClr val="F2F7F8">
                    <a:alpha val="40000"/>
                  </a:srgbClr>
                </a:solidFill>
                <a:latin typeface="Consolas"/>
                <a:ea typeface="Consolas"/>
              </a:rPr>
              <a:t>三维网络安全策略交互验证平台</a:t>
            </a:r>
            <a:endParaRPr/>
          </a:p>
        </p:txBody>
      </p:sp>
      <p:sp>
        <p:nvSpPr>
          <p:cNvPr id="826" name="" descr="{&quot;isTemplate&quot;:true,&quot;type&quot;:&quot;text&quot;}"/>
          <p:cNvSpPr txBox="1"/>
          <p:nvPr/>
        </p:nvSpPr>
        <p:spPr>
          <a:xfrm rot="0" flipH="0" flipV="0">
            <a:off x="11268075" y="6457950"/>
            <a:ext cx="390525" cy="1238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788">
                <a:solidFill>
                  <a:srgbClr val="F2F7F8">
                    <a:alpha val="40000"/>
                  </a:srgbClr>
                </a:solidFill>
                <a:latin typeface="Consolas"/>
                <a:ea typeface="Consolas"/>
              </a:rPr>
              <a:t>06 / 22</a:t>
            </a:r>
            <a:endParaRPr/>
          </a:p>
        </p:txBody>
      </p:sp>
    </p:spTree>
  </p:cSld>
</p:sld>
</file>

<file path=ppt/slides/slide7.xml><?xml version="1.0" encoding="utf-8"?>
<p:sld xmlns:p="http://schemas.openxmlformats.org/presentationml/2006/main" xmlns:r="http://schemas.openxmlformats.org/officeDocument/2006/relationships" xmlns:a="http://schemas.openxmlformats.org/drawingml/2006/main" xmlns:asvg="http://schemas.microsoft.com/office/drawing/2016/SVG/main" xmlns:mc="http://schemas.openxmlformats.org/markup-compatibility/2006" mc:Ignorable="asvg">
  <p:cSld>
    <p:spTree>
      <p:nvGrpSpPr>
        <p:cNvPr id="827" name="" descr="&lt;Slide style={{ width: 1280, height: 720, background: '#07111B', padding: 0, position: 'relative', overflow: 'hidden' }}&gt;&#13;&#10;    &lt;svg width={1280} height={720} viewBox='0 0 1280 720' style={{ position: 'absolute', left: 0, top: 0 }}&gt;&#13;&#10;        &lt;g stroke='rgba(242,247,248,0.022)' strokeWidth='1'&gt;&#13;&#10;            &lt;path d='M0 96H1280M0 192H1280M0 288H1280M0 384H1280M0 480H1280M0 576H1280M0 672H1280' /&gt;&#13;&#10;        &lt;/g&gt;&#13;&#10;    &lt;/svg&gt;&#13;&#10;&#13;&#10;    &lt;Box style={{ position: 'absolute', left: 56, top: 38 }}&gt;&#13;&#10;        &lt;Text style={{ fontFamily: 'Consolas', fontSize: 11, color: '#6BC8D1', letterSpacing: 1.8 }}&gt;02 / 作品概览&lt;/Text&gt;&#13;&#10;    &lt;/Box&gt;&#13;&#10;    &lt;Text style={{ position: 'absolute', left: 56, top: 62, fontFamily: 'Microsoft YaHei', fontSize: 32, fontWeight: 'bold', color: '#F2F7F8', letterSpacing: 0.5 }}&gt;一个平台，六个工作面&lt;/Text&gt;&#13;&#10;    &lt;Text style={{ position: 'absolute', right: 56, top: 76, fontFamily: 'Consolas', fontSize: 10.5, color: 'rgba(242,247,248,0.42)' }}&gt;SIX SURFACES · ONE ENGINE&lt;/Text&gt;&#13;&#10;&#13;&#10;    &lt;Box style={{ position: 'absolute', left: 56, top: 138, width: 420, height: 224, padding: 18, background: 'linear-gradient(145deg, rgba(107,200,209,0.10) 0%, rgba(242,247,248,0.025) 100%)', border: '1px solid rgba(107,200,209,0.26)', borderRadius: 10 }}&gt;&#13;&#10;        &lt;Box style={{ flexDirection: 'row', justifyContent: 'space-between', alignItems: 'center' }}&gt;&#13;&#10;            &lt;Text style={{ fontFamily: 'Consolas', fontSize: 10, color: '#6BC8D1', letterSpacing: 1 }}&gt;01 / OVERVIEW&lt;/Text&gt;&#13;&#10;            &lt;Text style={{ fontFamily: 'Consolas', fontSize: 10, color: 'rgba(242,247,248,0.32)' }}&gt;入口&lt;/Text&gt;&#13;&#10;        &lt;/Box&gt;&#13;&#10;        &lt;Text style={{ marginTop: 10, fontFamily: 'Microsoft YaHei', fontSize: 19, fontWeight: 'bold', color: '#F2F7F8' }}&gt;总览&lt;/Text&gt;&#13;&#10;        &lt;Text style={{ marginTop: 8, fontFamily: 'Microsoft YaHei', fontSize: 10.5, color: 'rgba(242,247,248,0.42)' }}&gt;进入实验的第一屏&lt;/Text&gt;&#13;&#10;        &lt;Box style={{ marginTop: 9 }}&gt;&#13;&#10;            &lt;Box style={{ flexDirection: 'row', alignItems: 'center', height: 22, gap: 8 }}&gt;&#13;&#10;                &lt;Box style={{ width: 3, height: 3, borderRadius: 2, background: '#6BC8D1' }} /&gt;&#13;&#10;                &lt;Text style={{ fontFamily: 'Microsoft YaHei', fontSize: 11.5, color: 'rgba(242,247,248,0.66)' }}&gt;核心实验入口与初始条件&lt;/Text&gt;&#13;&#10;            &lt;/Box&gt;&#13;&#10;            &lt;Box style={{ flexDirection: 'row', alignItems: 'center', height: 22, gap: 8 }}&gt;&#13;&#10;                &lt;Box style={{ width: 3, height: 3, borderRadius: 2, background: '#6BC8D1' }} /&gt;&#13;&#10;                &lt;Text style={{ fontFamily: 'Microsoft YaHei', fontSize: 11.5, color: 'rgba(242,247,248,0.66)' }}&gt;六个扩展场景矩阵&lt;/Text&gt;&#13;&#10;            &lt;/Box&gt;&#13;&#10;            &lt;Box style={{ flexDirection: 'row', alignItems: 'center', height: 22, gap: 8 }}&gt;&#13;&#10;                &lt;Box style={{ width: 3, height: 3, borderRadius: 2, background: '#6BC8D1' }} /&gt;&#13;&#10;                &lt;Text style={{ fontFamily: 'Microsoft YaHei', fontSize: 11.5, color: 'rgba(242,247,248,0.66)' }}&gt;三维拓扑实时预览&lt;/Text&gt;&#13;&#10;            &lt;/Box&gt;&#13;&#10;        &lt;/Box&gt;&#13;&#10;        &lt;Box style={{ marginTop: 'auto', flexDirection: 'row', alignItems: 'center', justifyContent: 'space-between' }}&gt;&#13;&#10;            &lt;Text style={{ fontFamily: 'Microsoft YaHei', fontSize: 10.5, color: 'rgba(242,247,248,0.38)' }}&gt;选场景 → 进实验&lt;/Text&gt;&#13;&#10;            &lt;Text style={{ fontFamily: 'Consolas', fontSize: 16, color: '#6BC8D1' }}&gt;→&lt;/Text&gt;&#13;&#10;        &lt;/Box&gt;&#13;&#10;    &lt;/Box&gt;&#13;&#10;&#13;&#10;    &lt;Box style={{ position: 'absolute', left: 492, top: 138, width: 356, height: 224, padding: 18, background: 'linear-gradient(145deg, rgba(242,247,248,0.05) 0%, rgba(242,247,248,0.02) 100%)', border: '1px solid rgba(242,247,248,0.10)', borderRadius: 10 }}&gt;&#13;&#10;        &lt;Text style={{ fontFamily: 'Consolas', fontSize: 10, color: 'rgba(242,247,248,0.42)', letterSpacing: 1 }}&gt;02 / LABORATORY&lt;/Text&gt;&#13;&#10;        &lt;Text style={{ marginTop: 10, fontFamily: 'Microsoft YaHei', fontSize: 19, fontWeight: 'bold', color: '#F2F7F8' }}&gt;三维实验室&lt;/Text&gt;&#13;&#10;        &lt;Text style={{ marginTop: 8, fontFamily: 'Microsoft YaHei', fontSize: 10.5, color: 'rgba(242,247,248,0.42)' }}&gt;核心工作面&lt;/Text&gt;&#13;&#10;        &lt;Box style={{ marginTop: 9 }}&gt;&#13;&#10;            &lt;Box style={{ flexDirection: 'row', alignItems: 'center', height: 22, gap: 8 }}&gt;&#13;&#10;                &lt;Box style={{ width: 3, height: 3, borderRadius: 2, background: '#6BC8D1' }} /&gt;&#13;&#10;                &lt;Text style={{ fontFamily: 'Microsoft YaHei', fontSize: 11.5, color: 'rgba(242,247,248,0.66)' }}&gt;拓扑拖拽、缩放与点选&lt;/Text&gt;&#13;&#10;            &lt;/Box&gt;&#13;&#10;            &lt;Box style={{ flexDirection: 'row', alignItems: 'center', height: 22, gap: 8 }}&gt;&#13;&#10;                &lt;Box style={{ width: 3, height: 3, borderRadius: 2, background: '#6BC8D1' }} /&gt;&#13;&#10;                &lt;Text style={{ fontFamily: 'Microsoft YaHei', fontSize: 11.5, color: 'rgba(242,247,248,0.66)' }}&gt;规则编辑、排序与启停&lt;/Text&gt;&#13;&#10;            &lt;/Box&gt;&#13;&#10;            &lt;Box style={{ flexDirection: 'row', alignItems: 'center', height: 22, gap: 8 }}&gt;&#13;&#10;                &lt;Box style={{ width: 3, height: 3, borderRadius: 2, background: '#6BC8D1' }} /&gt;&#13;&#10;                &lt;Text style={{ fontFamily: 'Microsoft YaHei', fontSize: 11.5, color: 'rgba(242,247,248,0.66)' }}&gt;事件时间线与代表链回放&lt;/Text&gt;&#13;&#10;            &lt;/Box&gt;&#13;&#10;        &lt;/Box&gt;&#13;&#10;        &lt;Box style={{ marginTop: 'auto', flexDirection: 'row', alignItems: 'center', justifyContent: 'space-between' }}&gt;&#13;&#10;            &lt;Text style={{ fontFamily: 'Microsoft YaHei', fontSize: 10.5, color: 'rgba(242,247,248,0.38)' }}&gt;改一处 → 重新验证&lt;/Text&gt;&#13;&#10;            &lt;Text style={{ fontFamily: 'Consolas', fontSize: 16, color: '#6BC8D1' }}&gt;→&lt;/Text&gt;&#13;&#10;        &lt;/Box&gt;&#13;&#10;    &lt;/Box&gt;&#13;&#10;&#13;&#10;    &lt;Box style={{ position: 'absolute', left: 864, top: 138, width: 356, height: 224, padding: 18, background: 'linear-gradient(145deg, rgba(242,247,248,0.05) 0%, rgba(242,247,248,0.02) 100%)', border: '1px solid rgba(242,247,248,0.10)', borderRadius: 10 }}&gt;&#13;&#10;        &lt;Text style={{ fontFamily: 'Consolas', fontSize: 10, color: 'rgba(242,247,248,0.42)', letterSpacing: 1 }}&gt;03 / COMPARE&lt;/Text&gt;&#13;&#10;        &lt;Text style={{ marginTop: 10, fontFamily: 'Microsoft YaHei', fontSize: 19, fontWeight: 'bold', color: '#F2F7F8' }}&gt;方案对比&lt;/Text&gt;&#13;&#10;        &lt;Text style={{ marginTop: 8, fontFamily: 'Microsoft YaHei', fontSize: 10.5, color: 'rgba(242,247,248,0.42)' }}&gt;两次独立计算&lt;/Text&gt;&#13;&#10;        &lt;Box style={{ marginTop: 9 }}&gt;&#13;&#10;            &lt;Box style={{ flexDirection: 'row', alignItems: 'center', height: 22, gap: 8 }}&gt;&#13;&#10;                &lt;Box style={{ width: 3, height: 3, borderRadius: 2, background: '#6BC8D1' }} /&gt;&#13;&#10;                &lt;Text style={{ fontFamily: 'Microsoft YaHei', fontSize: 11.5, color: 'rgba(242,247,248,0.66)' }}&gt;原始基线 vs 当前配置&lt;/Text&gt;&#13;&#10;            &lt;/Box&gt;&#13;&#10;            &lt;Box style={{ flexDirection: 'row', alignItems: 'center', height: 22, gap: 8 }}&gt;&#13;&#10;                &lt;Box style={{ width: 3, height: 3, borderRadius: 2, background: '#6BC8D1' }} /&gt;&#13;&#10;                &lt;Text style={{ fontFamily: 'Microsoft YaHei', fontSize: 11.5, color: 'rgba(242,247,248,0.66)' }}&gt;关键指标差异&lt;/Text&gt;&#13;&#10;            &lt;/Box&gt;&#13;&#10;            &lt;Box style={{ flexDirection: 'row', alignItems: 'center', height: 22, gap: 8 }}&gt;&#13;&#10;                &lt;Box style={{ width: 3, height: 3, borderRadius: 2, background: '#6BC8D1' }} /&gt;&#13;&#10;                &lt;Text style={{ fontFamily: 'Microsoft YaHei', fontSize: 11.5, color: 'rgba(242,247,248,0.66)' }}&gt;代表链并排查看&lt;/Text&gt;&#13;&#10;            &lt;/Box&gt;&#13;&#10;        &lt;/Box&gt;&#13;&#10;        &lt;Box style={{ marginTop: 'auto', flexDirection: 'row', alignItems: 'center', justifyContent: 'space-between' }}&gt;&#13;&#10;            &lt;Text style={{ fontFamily: 'Microsoft YaHei', fontSize: 10.5, color: 'rgba(242,247,248,0.38)' }}&gt;A → B 的净变化&lt;/Text&gt;&#13;&#10;            &lt;Text style={{ fontFamily: 'Consolas', fontSize: 16, color: '#6BC8D1' }}&gt;→&lt;/Text&gt;&#13;&#10;        &lt;/Box&gt;&#13;&#10;    &lt;/Box&gt;&#13;&#10;&#13;&#10;    &lt;Box style={{ position: 'absolute', left: 56, top: 380, width: 356, height: 224, padding: 18, background: 'linear-gradient(145deg, rgba(242,247,248,0.05) 0%, rgba(242,247,248,0.02) 100%)', border: '1px solid rgba(242,247,248,0.10)', borderRadius: 10 }}&gt;&#13;&#10;        &lt;Text style={{ fontFamily: 'Consolas', fontSize: 10, color: 'rgba(242,247,248,0.42)', letterSpacing: 1 }}&gt;04 / ANALYSIS&lt;/Text&gt;&#13;&#10;        &lt;Text style={{ marginTop: 10, fontFamily: 'Microsoft YaHei', fontSize: 19, fontWeight: 'bold', color: '#F2F7F8' }}&gt;实验分析&lt;/Text&gt;&#13;&#10;        &lt;Text style={{ marginTop: 8, fontFamily: 'Microsoft YaHei', fontSize: 10.5, color: 'rgba(242,247,248,0.42)' }}&gt;结果回看&lt;/Text&gt;&#13;&#10;        &lt;Box style={{ marginTop: 9 }}&gt;&#13;&#10;            &lt;Box style={{ flexDirection: 'row', alignItems: 'center', height: 22, gap: 8 }}&gt;&#13;&#10;                &lt;Box style={{ width: 3, height: 3, borderRadius: 2, background: '#6BC8D1' }} /&gt;&#13;&#10;                &lt;Text style={{ fontFamily: 'Microsoft YaHei', fontSize: 11.5, color: 'rgba(242,247,248,0.66)' }}&gt;结论与业务可达率&lt;/Text&gt;&#13;&#10;            &lt;/Box&gt;&#13;&#10;            &lt;Box style={{ flexDirection: 'row', alignItems: 'center', height: 22, gap: 8 }}&gt;&#13;&#10;                &lt;Box style={{ width: 3, height: 3, borderRadius: 2, background: '#6BC8D1' }} /&gt;&#13;&#10;                &lt;Text style={{ fontFamily: 'Microsoft YaHei', fontSize: 11.5, color: 'rgba(242,247,248,0.66)' }}&gt;状态分布与影响趋势&lt;/Text&gt;&#13;&#10;            &lt;/Box&gt;&#13;&#10;            &lt;Box style={{ flexDirection: 'row', alignItems: 'center', height: 22, gap: 8 }}&gt;&#13;&#10;                &lt;Box style={{ width: 3, height: 3, borderRadius: 2, background: '#6BC8D1' }} /&gt;&#13;&#10;                &lt;Text style={{ fontFamily: 'Microsoft YaHei', fontSize: 11.5, color: 'rgba(242,247,248,0.66)' }}&gt;关键事件与报告导出&lt;/Text&gt;&#13;&#10;            &lt;/Box&gt;&#13;&#10;        &lt;/Box&gt;&#13;&#10;        &lt;Box style={{ marginTop: 'auto', flexDirection: 'row', alignItems: 'center', justifyContent: 'space-between' }}&gt;&#13;&#10;            &lt;Text style={{ fontFamily: 'Microsoft YaHei', fontSize: 10.5, color: 'rgba(242,247,248,0.38)' }}&gt;结论 → 证据&lt;/Text&gt;&#13;&#10;            &lt;Text style={{ fontFamily: 'Consolas', fontSize: 16, color: '#6BC8D1' }}&gt;→&lt;/Text&gt;&#13;&#10;        &lt;/Box&gt;&#13;&#10;    &lt;/Box&gt;&#13;&#10;&#13;&#10;    &lt;Box style={{ position: 'absolute', left: 428, top: 380, width: 420, height: 224, padding: 18, background: 'linear-gradient(145deg, rgba(107,200,209,0.10) 0%, rgba(242,247,248,0.025) 100%)', border: '1px solid rgba(107,200,209,0.26)', borderRadius: 10 }}&gt;&#13;&#10;        &lt;Box style={{ flexDirection: 'row', justifyContent: 'space-between', alignItems: 'center' }}&gt;&#13;&#10;            &lt;Text style={{ fontFamily: 'Consolas', fontSize: 10, color: '#6BC8D1', letterSpacing: 1 }}&gt;05 / LEARN&lt;/Text&gt;&#13;&#10;            &lt;Text style={{ fontFamily: 'Consolas', fontSize: 10, color: 'rgba(242,247,248,0.32)' }}&gt;20 题&lt;/Text&gt;&#13;&#10;        &lt;/Box&gt;&#13;&#10;        &lt;Text style={{ marginTop: 10, fontFamily: 'Microsoft YaHei', fontSize: 19, fontWeight: 'bold', color: '#F2F7F8' }}&gt;学习中心&lt;/Text&gt;&#13;&#10;        &lt;Text style={{ marginTop: 8, fontFamily: 'Microsoft YaHei', fontSize: 10.5, color: 'rgba(242,247,248,0.42)' }}&gt;学 · 练 · 考&lt;/Text&gt;&#13;&#10;        &lt;Box style={{ marginTop: 9 }}&gt;&#13;&#10;            &lt;Box style={{ flexDirection: 'row', alignItems: 'center', height: 22, gap: 8 }}&gt;&#13;&#10;                &lt;Box style={{ width: 3, height: 3, borderRadius: 2, background: '#6BC8D1' }} /&gt;&#13;&#10;                &lt;Text style={{ fontFamily: 'Microsoft YaHei', fontSize: 11.5, color: 'rgba(242,247,248,0.66)' }}&gt;六个知识模块，直达实验&lt;/Text&gt;&#13;&#10;            &lt;/Box&gt;&#13;&#10;            &lt;Box style={{ flexDirection: 'row', alignItems: 'center', height: 22, gap: 8 }}&gt;&#13;&#10;                &lt;Box style={{ width: 3, height: 3, borderRadius: 2, background: '#6BC8D1' }} /&gt;&#13;&#10;                &lt;Text style={{ fontFamily: 'Microsoft YaHei', fontSize: 11.5, color: 'rgba(242,247,248,0.66)' }}&gt;20 题随堂练习与解析&lt;/Text&gt;&#13;&#10;            &lt;/Box&gt;&#13;&#10;            &lt;Box style={{ flexDirection: 'row', alignItems: 'center', height: 22, gap: 8 }}&gt;&#13;&#10;                &lt;Box style={{ width: 3, height: 3, borderRadius: 2, background: '#6BC8D1' }} /&gt;&#13;&#10;                &lt;Text style={{ fontFamily: 'Microsoft YaHei', fontSize: 11.5, color: 'rgba(242,247,248,0.66)' }}&gt;模拟考试、评分与错题回看&lt;/Text&gt;&#13;&#10;            &lt;/Box&gt;&#13;&#10;        &lt;/Box&gt;&#13;&#10;        &lt;Box style={{ marginTop: 'auto', flexDirection: 'row', alignItems: 'center', justifyContent: 'space-between' }}&gt;&#13;&#10;            &lt;Text style={{ fontFamily: 'Microsoft YaHei', fontSize: 10.5, color: 'rgba(242,247,248,0.38)' }}&gt;知识 → 操作&lt;/Text&gt;&#13;&#10;            &lt;Text style={{ fontFamily: 'Consolas', fontSize: 16, color: '#6BC8D1' }}&gt;→&lt;/Text&gt;&#13;&#10;        &lt;/Box&gt;&#13;&#10;    &lt;/Box&gt;&#13;&#10;&#13;&#10;    &lt;Box style={{ position: 'absolute', left: 864, top: 380, width: 356, height: 224, padding: 18, background: 'linear-gradient(145deg, rgba(242,247,248,0.05) 0%, rgba(242,247,248,0.02) 100%)', border: '1px solid rgba(242,247,248,0.10)', borderRadius: 10 }}&gt;&#13;&#10;        &lt;Text style={{ fontFamily: 'Consolas', fontSize: 10, color: 'rgba(242,247,248,0.42)', letterSpacing: 1 }}&gt;06 / SCENARIOS&lt;/Text&gt;&#13;&#10;        &lt;Text style={{ marginTop: 10, fontFamily: 'Microsoft YaHei', fontSize: 19, fontWeight: 'bold', color: '#F2F7F8' }}&gt;场景与说明&lt;/Text&gt;&#13;&#10;        &lt;Text style={{ marginTop: 8, fontFamily: 'Microsoft YaHei', fontSize: 10.5, color: 'rgba(242,247,248,0.42)' }}&gt;同一套判定&lt;/Text&gt;&#13;&#10;        &lt;Box style={{ marginTop: 9 }}&gt;&#13;&#10;            &lt;Box style={{ flexDirection: 'row', alignItems: 'center', height: 22, gap: 8 }}&gt;&#13;&#10;                &lt;Box style={{ width: 3, height: 3, borderRadius: 2, background: '#6BC8D1' }} /&gt;&#13;&#10;                &lt;Text style={{ fontFamily: 'Microsoft YaHei', fontSize: 11.5, color: 'rgba(242,247,248,0.66)' }}&gt;7 个场景 / 3 档难度&lt;/Text&gt;&#13;&#10;            &lt;/Box&gt;&#13;&#10;            &lt;Box style={{ flexDirection: 'row', alignItems: 'center', height: 22, gap: 8 }}&gt;&#13;&#10;                &lt;Box style={{ width: 3, height: 3, borderRadius: 2, background: '#6BC8D1' }} /&gt;&#13;&#10;                &lt;Text style={{ fontFamily: 'Microsoft YaHei', fontSize: 11.5, color: 'rgba(242,247,248,0.66)' }}&gt;2 种仿真模式&lt;/Text&gt;&#13;&#10;            &lt;/Box&gt;&#13;&#10;            &lt;Box style={{ flexDirection: 'row', alignItems: 'center', height: 22, gap: 8 }}&gt;&#13;&#10;                &lt;Box style={{ width: 3, height: 3, borderRadius: 2, background: '#6BC8D1' }} /&gt;&#13;&#10;                &lt;Text style={{ fontFamily: 'Microsoft YaHei', fontSize: 11.5, color: 'rgba(242,247,248,0.66)' }}&gt;项目说明与模型边界&lt;/Text&gt;&#13;&#10;            &lt;/Box&gt;&#13;&#10;        &lt;/Box&gt;&#13;&#10;        &lt;Box style={{ marginTop: 'auto', flexDirection: 'row', alignItems: 'center', justifyContent: 'space-between' }}&gt;&#13;&#10;            &lt;Text style={{ fontFamily: 'Microsoft YaHei', fontSize: 10.5, color: 'rgba(242,247,248,0.38)' }}&gt;场景 → 策略&lt;/Text&gt;&#13;&#10;            &lt;Text style={{ fontFamily: 'Consolas', fontSize: 16, color: '#6BC8D1' }}&gt;→&lt;/Text&gt;&#13;&#10;        &lt;/Box&gt;&#13;&#10;    &lt;/Box&gt;&#13;&#10;&#13;&#10;    &lt;Box style={{ position: 'absolute', left: 56, top: 620, flexDirection: 'row', alignItems: 'center', gap: 10 }}&gt;&#13;&#10;        &lt;Box style={{ width: 20, height: 1, background: '#6BC8D1' }} /&gt;&#13;&#10;        &lt;Text style={{ fontFamily: 'Microsoft YaHei', fontSize: 11.5, color: 'rgba(242,247,248,0.48)' }}&gt;六个工作面共享同一套数据模型与确定性引擎；界面只是结果的视图。&lt;/Text&gt;&#13;&#10;    &lt;/Box&gt;&#13;&#10;&#13;&#10;    &lt;Box style={{ position: 'absolute', left: 56, top: 664, width: 1168, height: 1, background: 'rgba(242,247,248,0.10)' }} /&gt;&#13;&#10;    &lt;Text style={{ position: 'absolute', left: 56, top: 678, fontFamily: 'Consolas', fontSize: 10.5, color: 'rgba(242,247,248,0.40)', letterSpacing: 0.8 }}&gt;智御网络 · 三维网络安全策略交互验证平台&lt;/Text&gt;&#13;&#10;    &lt;Text style={{ position: 'absolute', right: 56, top: 678, fontFamily: 'Consolas', fontSize: 10.5, color: 'rgba(242,247,248,0.40)' }}&gt;07 / 22&lt;/Text&gt;&#13;&#10;&lt;/Slide&gt;&#13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8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07111B"/>
          </a:solidFill>
          <a:ln/>
        </p:spPr>
        <p:txBody>
          <a:bodyPr/>
          <a:p/>
        </p:txBody>
      </p:sp>
      <p:pic>
        <p:nvPicPr>
          <p:cNvPr id="829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1"/>
              </a:ext>
            </a:extLst>
          </a:blip>
          <a:stretch>
            <a:fillRect/>
          </a:stretch>
        </p:blipFill>
        <p:spPr>
          <a:xfrm rot="0" flipH="0" flipV="0">
            <a:off x="0" y="0"/>
            <a:ext cx="12192000" cy="6858000"/>
          </a:xfrm>
          <a:prstGeom prst="rect">
            <a:avLst/>
          </a:prstGeom>
          <a:ln/>
        </p:spPr>
      </p:pic>
      <p:sp>
        <p:nvSpPr>
          <p:cNvPr id="830" name="" descr="{&quot;isTemplate&quot;:true,&quot;type&quot;:&quot;text&quot;}"/>
          <p:cNvSpPr txBox="1"/>
          <p:nvPr/>
        </p:nvSpPr>
        <p:spPr>
          <a:xfrm rot="0" flipH="0" flipV="0">
            <a:off x="533400" y="361950"/>
            <a:ext cx="1095375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825" spc="135">
                <a:solidFill>
                  <a:srgbClr val="6BC8D1"/>
                </a:solidFill>
                <a:latin typeface="Consolas"/>
                <a:ea typeface="Consolas"/>
              </a:rPr>
              <a:t>02 / </a:t>
            </a:r>
            <a:r>
              <a:rPr lang="zh-CN" sz="825" spc="135">
                <a:solidFill>
                  <a:srgbClr val="6BC8D1"/>
                </a:solidFill>
                <a:latin typeface="Consolas"/>
                <a:ea typeface="Consolas"/>
              </a:rPr>
              <a:t>作品概览</a:t>
            </a:r>
            <a:endParaRPr/>
          </a:p>
        </p:txBody>
      </p:sp>
      <p:sp>
        <p:nvSpPr>
          <p:cNvPr id="831" name="" descr="{&quot;isTemplate&quot;:true,&quot;type&quot;:&quot;text&quot;}"/>
          <p:cNvSpPr txBox="1"/>
          <p:nvPr/>
        </p:nvSpPr>
        <p:spPr>
          <a:xfrm rot="0" flipH="0" flipV="0">
            <a:off x="533400" y="590550"/>
            <a:ext cx="3095625" cy="3714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400" b="1" spc="38">
                <a:solidFill>
                  <a:srgbClr val="F2F7F8"/>
                </a:solidFill>
                <a:latin typeface="Microsoft YaHei"/>
                <a:ea typeface="Microsoft YaHei"/>
              </a:rPr>
              <a:t>一个平台，六个工作面</a:t>
            </a:r>
            <a:endParaRPr/>
          </a:p>
        </p:txBody>
      </p:sp>
      <p:sp>
        <p:nvSpPr>
          <p:cNvPr id="832" name="" descr="{&quot;isTemplate&quot;:true,&quot;type&quot;:&quot;text&quot;}"/>
          <p:cNvSpPr txBox="1"/>
          <p:nvPr/>
        </p:nvSpPr>
        <p:spPr>
          <a:xfrm rot="0" flipH="0" flipV="0">
            <a:off x="10277475" y="723900"/>
            <a:ext cx="1381125" cy="1238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788">
                <a:solidFill>
                  <a:srgbClr val="F2F7F8">
                    <a:alpha val="42000"/>
                  </a:srgbClr>
                </a:solidFill>
                <a:latin typeface="Consolas"/>
                <a:ea typeface="Consolas"/>
              </a:rPr>
              <a:t>SIX SURFACES · ONE ENGINE</a:t>
            </a:r>
            <a:endParaRPr/>
          </a:p>
        </p:txBody>
      </p:sp>
      <p:sp>
        <p:nvSpPr>
          <p:cNvPr id="833" name=""/>
          <p:cNvSpPr/>
          <p:nvPr/>
        </p:nvSpPr>
        <p:spPr>
          <a:xfrm rot="0" flipH="0" flipV="0">
            <a:off x="533400" y="1314450"/>
            <a:ext cx="4000500" cy="2133600"/>
          </a:xfrm>
          <a:prstGeom prst="roundRect">
            <a:avLst>
              <a:gd name="adj" fmla="val 4464"/>
            </a:avLst>
          </a:prstGeom>
          <a:gradFill>
            <a:gsLst>
              <a:gs pos="0">
                <a:srgbClr val="6BC8D1">
                  <a:alpha val="10000"/>
                </a:srgbClr>
              </a:gs>
              <a:gs pos="100000">
                <a:srgbClr val="F2F7F8">
                  <a:alpha val="2500"/>
                </a:srgbClr>
              </a:gs>
            </a:gsLst>
            <a:lin ang="3300000" scaled="1"/>
          </a:gradFill>
          <a:ln w="12700">
            <a:solidFill>
              <a:srgbClr val="6BC8D1">
                <a:alpha val="26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834" name="" descr="{&quot;isTemplate&quot;:true,&quot;type&quot;:&quot;text&quot;}"/>
          <p:cNvSpPr txBox="1"/>
          <p:nvPr/>
        </p:nvSpPr>
        <p:spPr>
          <a:xfrm rot="0" flipH="0" flipV="0">
            <a:off x="704850" y="1485900"/>
            <a:ext cx="809625" cy="1143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750" spc="75">
                <a:solidFill>
                  <a:srgbClr val="6BC8D1"/>
                </a:solidFill>
                <a:latin typeface="Consolas"/>
                <a:ea typeface="Consolas"/>
              </a:rPr>
              <a:t>01 / OVERVIEW</a:t>
            </a:r>
            <a:endParaRPr/>
          </a:p>
        </p:txBody>
      </p:sp>
      <p:sp>
        <p:nvSpPr>
          <p:cNvPr id="835" name="" descr="{&quot;isTemplate&quot;:true,&quot;type&quot;:&quot;text&quot;}"/>
          <p:cNvSpPr txBox="1"/>
          <p:nvPr/>
        </p:nvSpPr>
        <p:spPr>
          <a:xfrm rot="0" flipH="0" flipV="0">
            <a:off x="4038600" y="1485900"/>
            <a:ext cx="323850" cy="1143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750">
                <a:solidFill>
                  <a:srgbClr val="F2F7F8">
                    <a:alpha val="32000"/>
                  </a:srgbClr>
                </a:solidFill>
                <a:latin typeface="Consolas"/>
                <a:ea typeface="Consolas"/>
              </a:rPr>
              <a:t>入口</a:t>
            </a:r>
            <a:endParaRPr/>
          </a:p>
        </p:txBody>
      </p:sp>
      <p:sp>
        <p:nvSpPr>
          <p:cNvPr id="836" name="" descr="{&quot;isTemplate&quot;:true,&quot;type&quot;:&quot;text&quot;}"/>
          <p:cNvSpPr txBox="1"/>
          <p:nvPr/>
        </p:nvSpPr>
        <p:spPr>
          <a:xfrm rot="0" flipH="0" flipV="0">
            <a:off x="704850" y="1695450"/>
            <a:ext cx="3657600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425" b="1">
                <a:solidFill>
                  <a:srgbClr val="F2F7F8"/>
                </a:solidFill>
                <a:latin typeface="Microsoft YaHei"/>
                <a:ea typeface="Microsoft YaHei"/>
              </a:rPr>
              <a:t>总览</a:t>
            </a:r>
            <a:endParaRPr/>
          </a:p>
        </p:txBody>
      </p:sp>
      <p:sp>
        <p:nvSpPr>
          <p:cNvPr id="837" name="" descr="{&quot;isTemplate&quot;:true,&quot;type&quot;:&quot;text&quot;}"/>
          <p:cNvSpPr txBox="1"/>
          <p:nvPr/>
        </p:nvSpPr>
        <p:spPr>
          <a:xfrm rot="0" flipH="0" flipV="0">
            <a:off x="704850" y="1990725"/>
            <a:ext cx="3657600" cy="1238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788">
                <a:solidFill>
                  <a:srgbClr val="F2F7F8">
                    <a:alpha val="42000"/>
                  </a:srgbClr>
                </a:solidFill>
                <a:latin typeface="Microsoft YaHei"/>
                <a:ea typeface="Microsoft YaHei"/>
              </a:rPr>
              <a:t>进入实验的第一屏</a:t>
            </a:r>
            <a:endParaRPr/>
          </a:p>
        </p:txBody>
      </p:sp>
      <p:sp>
        <p:nvSpPr>
          <p:cNvPr id="838" name=""/>
          <p:cNvSpPr/>
          <p:nvPr/>
        </p:nvSpPr>
        <p:spPr>
          <a:xfrm rot="0" flipH="0" flipV="0">
            <a:off x="704850" y="2295525"/>
            <a:ext cx="28575" cy="28575"/>
          </a:xfrm>
          <a:prstGeom prst="roundRect">
            <a:avLst>
              <a:gd name="adj" fmla="val 66667"/>
            </a:avLst>
          </a:prstGeom>
          <a:solidFill>
            <a:srgbClr val="6BC8D1"/>
          </a:solidFill>
          <a:ln/>
        </p:spPr>
        <p:txBody>
          <a:bodyPr/>
          <a:p/>
        </p:txBody>
      </p:sp>
      <p:sp>
        <p:nvSpPr>
          <p:cNvPr id="839" name="" descr="{&quot;isTemplate&quot;:true,&quot;type&quot;:&quot;text&quot;}"/>
          <p:cNvSpPr txBox="1"/>
          <p:nvPr/>
        </p:nvSpPr>
        <p:spPr>
          <a:xfrm rot="0" flipH="0" flipV="0">
            <a:off x="809625" y="2238375"/>
            <a:ext cx="1209675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863">
                <a:solidFill>
                  <a:srgbClr val="F2F7F8">
                    <a:alpha val="66000"/>
                  </a:srgbClr>
                </a:solidFill>
                <a:latin typeface="Microsoft YaHei"/>
                <a:ea typeface="Microsoft YaHei"/>
              </a:rPr>
              <a:t>核心实验入口与初始条件</a:t>
            </a:r>
            <a:endParaRPr/>
          </a:p>
        </p:txBody>
      </p:sp>
      <p:sp>
        <p:nvSpPr>
          <p:cNvPr id="840" name=""/>
          <p:cNvSpPr/>
          <p:nvPr/>
        </p:nvSpPr>
        <p:spPr>
          <a:xfrm rot="0" flipH="0" flipV="0">
            <a:off x="704850" y="2505075"/>
            <a:ext cx="28575" cy="28575"/>
          </a:xfrm>
          <a:prstGeom prst="roundRect">
            <a:avLst>
              <a:gd name="adj" fmla="val 66667"/>
            </a:avLst>
          </a:prstGeom>
          <a:solidFill>
            <a:srgbClr val="6BC8D1"/>
          </a:solidFill>
          <a:ln/>
        </p:spPr>
        <p:txBody>
          <a:bodyPr/>
          <a:p/>
        </p:txBody>
      </p:sp>
      <p:sp>
        <p:nvSpPr>
          <p:cNvPr id="841" name="" descr="{&quot;isTemplate&quot;:true,&quot;type&quot;:&quot;text&quot;}"/>
          <p:cNvSpPr txBox="1"/>
          <p:nvPr/>
        </p:nvSpPr>
        <p:spPr>
          <a:xfrm rot="0" flipH="0" flipV="0">
            <a:off x="809625" y="2447925"/>
            <a:ext cx="876300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863">
                <a:solidFill>
                  <a:srgbClr val="F2F7F8">
                    <a:alpha val="66000"/>
                  </a:srgbClr>
                </a:solidFill>
                <a:latin typeface="Microsoft YaHei"/>
                <a:ea typeface="Microsoft YaHei"/>
              </a:rPr>
              <a:t>六个扩展场景矩阵</a:t>
            </a:r>
            <a:endParaRPr/>
          </a:p>
        </p:txBody>
      </p:sp>
      <p:sp>
        <p:nvSpPr>
          <p:cNvPr id="842" name=""/>
          <p:cNvSpPr/>
          <p:nvPr/>
        </p:nvSpPr>
        <p:spPr>
          <a:xfrm rot="0" flipH="0" flipV="0">
            <a:off x="704850" y="2714625"/>
            <a:ext cx="28575" cy="28575"/>
          </a:xfrm>
          <a:prstGeom prst="roundRect">
            <a:avLst>
              <a:gd name="adj" fmla="val 66667"/>
            </a:avLst>
          </a:prstGeom>
          <a:solidFill>
            <a:srgbClr val="6BC8D1"/>
          </a:solidFill>
          <a:ln/>
        </p:spPr>
        <p:txBody>
          <a:bodyPr/>
          <a:p/>
        </p:txBody>
      </p:sp>
      <p:sp>
        <p:nvSpPr>
          <p:cNvPr id="843" name="" descr="{&quot;isTemplate&quot;:true,&quot;type&quot;:&quot;text&quot;}"/>
          <p:cNvSpPr txBox="1"/>
          <p:nvPr/>
        </p:nvSpPr>
        <p:spPr>
          <a:xfrm rot="0" flipH="0" flipV="0">
            <a:off x="809625" y="2657475"/>
            <a:ext cx="876300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863">
                <a:solidFill>
                  <a:srgbClr val="F2F7F8">
                    <a:alpha val="66000"/>
                  </a:srgbClr>
                </a:solidFill>
                <a:latin typeface="Microsoft YaHei"/>
                <a:ea typeface="Microsoft YaHei"/>
              </a:rPr>
              <a:t>三维拓扑实时预览</a:t>
            </a:r>
            <a:endParaRPr/>
          </a:p>
        </p:txBody>
      </p:sp>
      <p:sp>
        <p:nvSpPr>
          <p:cNvPr id="844" name="" descr="{&quot;isTemplate&quot;:true,&quot;type&quot;:&quot;text&quot;}"/>
          <p:cNvSpPr txBox="1"/>
          <p:nvPr/>
        </p:nvSpPr>
        <p:spPr>
          <a:xfrm rot="0" flipH="0" flipV="0">
            <a:off x="704850" y="3124200"/>
            <a:ext cx="762000" cy="1238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788">
                <a:solidFill>
                  <a:srgbClr val="F2F7F8">
                    <a:alpha val="38000"/>
                  </a:srgbClr>
                </a:solidFill>
                <a:latin typeface="Microsoft YaHei"/>
                <a:ea typeface="Microsoft YaHei"/>
              </a:rPr>
              <a:t>选场景</a:t>
            </a:r>
            <a:r>
              <a:rPr lang="en-US" sz="788">
                <a:solidFill>
                  <a:srgbClr val="F2F7F8">
                    <a:alpha val="38000"/>
                  </a:srgbClr>
                </a:solidFill>
                <a:latin typeface="Microsoft YaHei"/>
                <a:ea typeface="Microsoft YaHei"/>
              </a:rPr>
              <a:t> → </a:t>
            </a:r>
            <a:r>
              <a:rPr lang="zh-CN" sz="788">
                <a:solidFill>
                  <a:srgbClr val="F2F7F8">
                    <a:alpha val="38000"/>
                  </a:srgbClr>
                </a:solidFill>
                <a:latin typeface="Microsoft YaHei"/>
                <a:ea typeface="Microsoft YaHei"/>
              </a:rPr>
              <a:t>进实验</a:t>
            </a:r>
            <a:endParaRPr/>
          </a:p>
        </p:txBody>
      </p:sp>
      <p:sp>
        <p:nvSpPr>
          <p:cNvPr id="845" name="" descr="{&quot;isTemplate&quot;:true,&quot;type&quot;:&quot;text&quot;}"/>
          <p:cNvSpPr txBox="1"/>
          <p:nvPr/>
        </p:nvSpPr>
        <p:spPr>
          <a:xfrm rot="0" flipH="0" flipV="0">
            <a:off x="4276725" y="3086100"/>
            <a:ext cx="85725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1200">
                <a:solidFill>
                  <a:srgbClr val="6BC8D1"/>
                </a:solidFill>
                <a:latin typeface="Consolas"/>
                <a:ea typeface="Consolas"/>
              </a:rPr>
              <a:t>→</a:t>
            </a:r>
            <a:endParaRPr/>
          </a:p>
        </p:txBody>
      </p:sp>
      <p:sp>
        <p:nvSpPr>
          <p:cNvPr id="846" name=""/>
          <p:cNvSpPr/>
          <p:nvPr/>
        </p:nvSpPr>
        <p:spPr>
          <a:xfrm rot="0" flipH="0" flipV="0">
            <a:off x="4686300" y="1314450"/>
            <a:ext cx="3390900" cy="2133600"/>
          </a:xfrm>
          <a:prstGeom prst="roundRect">
            <a:avLst>
              <a:gd name="adj" fmla="val 4464"/>
            </a:avLst>
          </a:prstGeom>
          <a:gradFill>
            <a:gsLst>
              <a:gs pos="0">
                <a:srgbClr val="F2F7F8">
                  <a:alpha val="5000"/>
                </a:srgbClr>
              </a:gs>
              <a:gs pos="100000">
                <a:srgbClr val="F2F7F8">
                  <a:alpha val="2000"/>
                </a:srgbClr>
              </a:gs>
            </a:gsLst>
            <a:lin ang="3300000" scaled="1"/>
          </a:gradFill>
          <a:ln w="12700">
            <a:solidFill>
              <a:srgbClr val="F2F7F8">
                <a:alpha val="10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847" name="" descr="{&quot;isTemplate&quot;:true,&quot;type&quot;:&quot;text&quot;}"/>
          <p:cNvSpPr txBox="1"/>
          <p:nvPr/>
        </p:nvSpPr>
        <p:spPr>
          <a:xfrm rot="0" flipH="0" flipV="0">
            <a:off x="4857750" y="1485900"/>
            <a:ext cx="3048000" cy="1143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750" spc="75">
                <a:solidFill>
                  <a:srgbClr val="F2F7F8">
                    <a:alpha val="42000"/>
                  </a:srgbClr>
                </a:solidFill>
                <a:latin typeface="Consolas"/>
                <a:ea typeface="Consolas"/>
              </a:rPr>
              <a:t>02 / LABORATORY</a:t>
            </a:r>
            <a:endParaRPr/>
          </a:p>
        </p:txBody>
      </p:sp>
      <p:sp>
        <p:nvSpPr>
          <p:cNvPr id="848" name="" descr="{&quot;isTemplate&quot;:true,&quot;type&quot;:&quot;text&quot;}"/>
          <p:cNvSpPr txBox="1"/>
          <p:nvPr/>
        </p:nvSpPr>
        <p:spPr>
          <a:xfrm rot="0" flipH="0" flipV="0">
            <a:off x="4857750" y="1695450"/>
            <a:ext cx="3048000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425" b="1">
                <a:solidFill>
                  <a:srgbClr val="F2F7F8"/>
                </a:solidFill>
                <a:latin typeface="Microsoft YaHei"/>
                <a:ea typeface="Microsoft YaHei"/>
              </a:rPr>
              <a:t>三维实验室</a:t>
            </a:r>
            <a:endParaRPr/>
          </a:p>
        </p:txBody>
      </p:sp>
      <p:sp>
        <p:nvSpPr>
          <p:cNvPr id="849" name="" descr="{&quot;isTemplate&quot;:true,&quot;type&quot;:&quot;text&quot;}"/>
          <p:cNvSpPr txBox="1"/>
          <p:nvPr/>
        </p:nvSpPr>
        <p:spPr>
          <a:xfrm rot="0" flipH="0" flipV="0">
            <a:off x="4857750" y="1990725"/>
            <a:ext cx="3048000" cy="1238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788">
                <a:solidFill>
                  <a:srgbClr val="F2F7F8">
                    <a:alpha val="42000"/>
                  </a:srgbClr>
                </a:solidFill>
                <a:latin typeface="Microsoft YaHei"/>
                <a:ea typeface="Microsoft YaHei"/>
              </a:rPr>
              <a:t>核心工作面</a:t>
            </a:r>
            <a:endParaRPr/>
          </a:p>
        </p:txBody>
      </p:sp>
      <p:sp>
        <p:nvSpPr>
          <p:cNvPr id="850" name=""/>
          <p:cNvSpPr/>
          <p:nvPr/>
        </p:nvSpPr>
        <p:spPr>
          <a:xfrm rot="0" flipH="0" flipV="0">
            <a:off x="4857750" y="2295525"/>
            <a:ext cx="28575" cy="28575"/>
          </a:xfrm>
          <a:prstGeom prst="roundRect">
            <a:avLst>
              <a:gd name="adj" fmla="val 66667"/>
            </a:avLst>
          </a:prstGeom>
          <a:solidFill>
            <a:srgbClr val="6BC8D1"/>
          </a:solidFill>
          <a:ln/>
        </p:spPr>
        <p:txBody>
          <a:bodyPr/>
          <a:p/>
        </p:txBody>
      </p:sp>
      <p:sp>
        <p:nvSpPr>
          <p:cNvPr id="851" name="" descr="{&quot;isTemplate&quot;:true,&quot;type&quot;:&quot;text&quot;}"/>
          <p:cNvSpPr txBox="1"/>
          <p:nvPr/>
        </p:nvSpPr>
        <p:spPr>
          <a:xfrm rot="0" flipH="0" flipV="0">
            <a:off x="4962525" y="2238375"/>
            <a:ext cx="1095375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863">
                <a:solidFill>
                  <a:srgbClr val="F2F7F8">
                    <a:alpha val="66000"/>
                  </a:srgbClr>
                </a:solidFill>
                <a:latin typeface="Microsoft YaHei"/>
                <a:ea typeface="Microsoft YaHei"/>
              </a:rPr>
              <a:t>拓扑拖拽、缩放与点选</a:t>
            </a:r>
            <a:endParaRPr/>
          </a:p>
        </p:txBody>
      </p:sp>
      <p:sp>
        <p:nvSpPr>
          <p:cNvPr id="852" name=""/>
          <p:cNvSpPr/>
          <p:nvPr/>
        </p:nvSpPr>
        <p:spPr>
          <a:xfrm rot="0" flipH="0" flipV="0">
            <a:off x="4857750" y="2505075"/>
            <a:ext cx="28575" cy="28575"/>
          </a:xfrm>
          <a:prstGeom prst="roundRect">
            <a:avLst>
              <a:gd name="adj" fmla="val 66667"/>
            </a:avLst>
          </a:prstGeom>
          <a:solidFill>
            <a:srgbClr val="6BC8D1"/>
          </a:solidFill>
          <a:ln/>
        </p:spPr>
        <p:txBody>
          <a:bodyPr/>
          <a:p/>
        </p:txBody>
      </p:sp>
      <p:sp>
        <p:nvSpPr>
          <p:cNvPr id="853" name="" descr="{&quot;isTemplate&quot;:true,&quot;type&quot;:&quot;text&quot;}"/>
          <p:cNvSpPr txBox="1"/>
          <p:nvPr/>
        </p:nvSpPr>
        <p:spPr>
          <a:xfrm rot="0" flipH="0" flipV="0">
            <a:off x="4962525" y="2447925"/>
            <a:ext cx="1095375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863">
                <a:solidFill>
                  <a:srgbClr val="F2F7F8">
                    <a:alpha val="66000"/>
                  </a:srgbClr>
                </a:solidFill>
                <a:latin typeface="Microsoft YaHei"/>
                <a:ea typeface="Microsoft YaHei"/>
              </a:rPr>
              <a:t>规则编辑、排序与启停</a:t>
            </a:r>
            <a:endParaRPr/>
          </a:p>
        </p:txBody>
      </p:sp>
      <p:sp>
        <p:nvSpPr>
          <p:cNvPr id="854" name=""/>
          <p:cNvSpPr/>
          <p:nvPr/>
        </p:nvSpPr>
        <p:spPr>
          <a:xfrm rot="0" flipH="0" flipV="0">
            <a:off x="4857750" y="2714625"/>
            <a:ext cx="28575" cy="28575"/>
          </a:xfrm>
          <a:prstGeom prst="roundRect">
            <a:avLst>
              <a:gd name="adj" fmla="val 66667"/>
            </a:avLst>
          </a:prstGeom>
          <a:solidFill>
            <a:srgbClr val="6BC8D1"/>
          </a:solidFill>
          <a:ln/>
        </p:spPr>
        <p:txBody>
          <a:bodyPr/>
          <a:p/>
        </p:txBody>
      </p:sp>
      <p:sp>
        <p:nvSpPr>
          <p:cNvPr id="855" name="" descr="{&quot;isTemplate&quot;:true,&quot;type&quot;:&quot;text&quot;}"/>
          <p:cNvSpPr txBox="1"/>
          <p:nvPr/>
        </p:nvSpPr>
        <p:spPr>
          <a:xfrm rot="0" flipH="0" flipV="0">
            <a:off x="4962525" y="2657475"/>
            <a:ext cx="1209675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863">
                <a:solidFill>
                  <a:srgbClr val="F2F7F8">
                    <a:alpha val="66000"/>
                  </a:srgbClr>
                </a:solidFill>
                <a:latin typeface="Microsoft YaHei"/>
                <a:ea typeface="Microsoft YaHei"/>
              </a:rPr>
              <a:t>事件时间线与代表链回放</a:t>
            </a:r>
            <a:endParaRPr/>
          </a:p>
        </p:txBody>
      </p:sp>
      <p:sp>
        <p:nvSpPr>
          <p:cNvPr id="856" name="" descr="{&quot;isTemplate&quot;:true,&quot;type&quot;:&quot;text&quot;}"/>
          <p:cNvSpPr txBox="1"/>
          <p:nvPr/>
        </p:nvSpPr>
        <p:spPr>
          <a:xfrm rot="0" flipH="0" flipV="0">
            <a:off x="4857750" y="3124200"/>
            <a:ext cx="866775" cy="1238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788">
                <a:solidFill>
                  <a:srgbClr val="F2F7F8">
                    <a:alpha val="38000"/>
                  </a:srgbClr>
                </a:solidFill>
                <a:latin typeface="Microsoft YaHei"/>
                <a:ea typeface="Microsoft YaHei"/>
              </a:rPr>
              <a:t>改一处</a:t>
            </a:r>
            <a:r>
              <a:rPr lang="en-US" sz="788">
                <a:solidFill>
                  <a:srgbClr val="F2F7F8">
                    <a:alpha val="38000"/>
                  </a:srgbClr>
                </a:solidFill>
                <a:latin typeface="Microsoft YaHei"/>
                <a:ea typeface="Microsoft YaHei"/>
              </a:rPr>
              <a:t> → </a:t>
            </a:r>
            <a:r>
              <a:rPr lang="zh-CN" sz="788">
                <a:solidFill>
                  <a:srgbClr val="F2F7F8">
                    <a:alpha val="38000"/>
                  </a:srgbClr>
                </a:solidFill>
                <a:latin typeface="Microsoft YaHei"/>
                <a:ea typeface="Microsoft YaHei"/>
              </a:rPr>
              <a:t>重新验证</a:t>
            </a:r>
            <a:endParaRPr/>
          </a:p>
        </p:txBody>
      </p:sp>
      <p:sp>
        <p:nvSpPr>
          <p:cNvPr id="857" name="" descr="{&quot;isTemplate&quot;:true,&quot;type&quot;:&quot;text&quot;}"/>
          <p:cNvSpPr txBox="1"/>
          <p:nvPr/>
        </p:nvSpPr>
        <p:spPr>
          <a:xfrm rot="0" flipH="0" flipV="0">
            <a:off x="7820025" y="3086100"/>
            <a:ext cx="85725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1200">
                <a:solidFill>
                  <a:srgbClr val="6BC8D1"/>
                </a:solidFill>
                <a:latin typeface="Consolas"/>
                <a:ea typeface="Consolas"/>
              </a:rPr>
              <a:t>→</a:t>
            </a:r>
            <a:endParaRPr/>
          </a:p>
        </p:txBody>
      </p:sp>
      <p:sp>
        <p:nvSpPr>
          <p:cNvPr id="858" name=""/>
          <p:cNvSpPr/>
          <p:nvPr/>
        </p:nvSpPr>
        <p:spPr>
          <a:xfrm rot="0" flipH="0" flipV="0">
            <a:off x="8229600" y="1314450"/>
            <a:ext cx="3390900" cy="2133600"/>
          </a:xfrm>
          <a:prstGeom prst="roundRect">
            <a:avLst>
              <a:gd name="adj" fmla="val 4464"/>
            </a:avLst>
          </a:prstGeom>
          <a:gradFill>
            <a:gsLst>
              <a:gs pos="0">
                <a:srgbClr val="F2F7F8">
                  <a:alpha val="5000"/>
                </a:srgbClr>
              </a:gs>
              <a:gs pos="100000">
                <a:srgbClr val="F2F7F8">
                  <a:alpha val="2000"/>
                </a:srgbClr>
              </a:gs>
            </a:gsLst>
            <a:lin ang="3300000" scaled="1"/>
          </a:gradFill>
          <a:ln w="12700">
            <a:solidFill>
              <a:srgbClr val="F2F7F8">
                <a:alpha val="10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859" name="" descr="{&quot;isTemplate&quot;:true,&quot;type&quot;:&quot;text&quot;}"/>
          <p:cNvSpPr txBox="1"/>
          <p:nvPr/>
        </p:nvSpPr>
        <p:spPr>
          <a:xfrm rot="0" flipH="0" flipV="0">
            <a:off x="8401050" y="1485900"/>
            <a:ext cx="3048000" cy="1143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750" spc="75">
                <a:solidFill>
                  <a:srgbClr val="F2F7F8">
                    <a:alpha val="42000"/>
                  </a:srgbClr>
                </a:solidFill>
                <a:latin typeface="Consolas"/>
                <a:ea typeface="Consolas"/>
              </a:rPr>
              <a:t>03 / COMPARE</a:t>
            </a:r>
            <a:endParaRPr/>
          </a:p>
        </p:txBody>
      </p:sp>
      <p:sp>
        <p:nvSpPr>
          <p:cNvPr id="860" name="" descr="{&quot;isTemplate&quot;:true,&quot;type&quot;:&quot;text&quot;}"/>
          <p:cNvSpPr txBox="1"/>
          <p:nvPr/>
        </p:nvSpPr>
        <p:spPr>
          <a:xfrm rot="0" flipH="0" flipV="0">
            <a:off x="8401050" y="1695450"/>
            <a:ext cx="3048000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425" b="1">
                <a:solidFill>
                  <a:srgbClr val="F2F7F8"/>
                </a:solidFill>
                <a:latin typeface="Microsoft YaHei"/>
                <a:ea typeface="Microsoft YaHei"/>
              </a:rPr>
              <a:t>方案对比</a:t>
            </a:r>
            <a:endParaRPr/>
          </a:p>
        </p:txBody>
      </p:sp>
      <p:sp>
        <p:nvSpPr>
          <p:cNvPr id="861" name="" descr="{&quot;isTemplate&quot;:true,&quot;type&quot;:&quot;text&quot;}"/>
          <p:cNvSpPr txBox="1"/>
          <p:nvPr/>
        </p:nvSpPr>
        <p:spPr>
          <a:xfrm rot="0" flipH="0" flipV="0">
            <a:off x="8401050" y="1990725"/>
            <a:ext cx="3048000" cy="1238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788">
                <a:solidFill>
                  <a:srgbClr val="F2F7F8">
                    <a:alpha val="42000"/>
                  </a:srgbClr>
                </a:solidFill>
                <a:latin typeface="Microsoft YaHei"/>
                <a:ea typeface="Microsoft YaHei"/>
              </a:rPr>
              <a:t>两次独立计算</a:t>
            </a:r>
            <a:endParaRPr/>
          </a:p>
        </p:txBody>
      </p:sp>
      <p:sp>
        <p:nvSpPr>
          <p:cNvPr id="862" name=""/>
          <p:cNvSpPr/>
          <p:nvPr/>
        </p:nvSpPr>
        <p:spPr>
          <a:xfrm rot="0" flipH="0" flipV="0">
            <a:off x="8401050" y="2295525"/>
            <a:ext cx="28575" cy="28575"/>
          </a:xfrm>
          <a:prstGeom prst="roundRect">
            <a:avLst>
              <a:gd name="adj" fmla="val 66667"/>
            </a:avLst>
          </a:prstGeom>
          <a:solidFill>
            <a:srgbClr val="6BC8D1"/>
          </a:solidFill>
          <a:ln/>
        </p:spPr>
        <p:txBody>
          <a:bodyPr/>
          <a:p/>
        </p:txBody>
      </p:sp>
      <p:sp>
        <p:nvSpPr>
          <p:cNvPr id="863" name="" descr="{&quot;isTemplate&quot;:true,&quot;type&quot;:&quot;text&quot;}"/>
          <p:cNvSpPr txBox="1"/>
          <p:nvPr/>
        </p:nvSpPr>
        <p:spPr>
          <a:xfrm rot="0" flipH="0" flipV="0">
            <a:off x="8505825" y="2238375"/>
            <a:ext cx="1057275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863">
                <a:solidFill>
                  <a:srgbClr val="F2F7F8">
                    <a:alpha val="66000"/>
                  </a:srgbClr>
                </a:solidFill>
                <a:latin typeface="Microsoft YaHei"/>
                <a:ea typeface="Microsoft YaHei"/>
              </a:rPr>
              <a:t>原始基线</a:t>
            </a:r>
            <a:r>
              <a:rPr lang="en-US" sz="863">
                <a:solidFill>
                  <a:srgbClr val="F2F7F8">
                    <a:alpha val="66000"/>
                  </a:srgbClr>
                </a:solidFill>
                <a:latin typeface="Microsoft YaHei"/>
                <a:ea typeface="Microsoft YaHei"/>
              </a:rPr>
              <a:t> vs </a:t>
            </a:r>
            <a:r>
              <a:rPr lang="zh-CN" sz="863">
                <a:solidFill>
                  <a:srgbClr val="F2F7F8">
                    <a:alpha val="66000"/>
                  </a:srgbClr>
                </a:solidFill>
                <a:latin typeface="Microsoft YaHei"/>
                <a:ea typeface="Microsoft YaHei"/>
              </a:rPr>
              <a:t>当前配置</a:t>
            </a:r>
            <a:endParaRPr/>
          </a:p>
        </p:txBody>
      </p:sp>
      <p:sp>
        <p:nvSpPr>
          <p:cNvPr id="864" name=""/>
          <p:cNvSpPr/>
          <p:nvPr/>
        </p:nvSpPr>
        <p:spPr>
          <a:xfrm rot="0" flipH="0" flipV="0">
            <a:off x="8401050" y="2505075"/>
            <a:ext cx="28575" cy="28575"/>
          </a:xfrm>
          <a:prstGeom prst="roundRect">
            <a:avLst>
              <a:gd name="adj" fmla="val 66667"/>
            </a:avLst>
          </a:prstGeom>
          <a:solidFill>
            <a:srgbClr val="6BC8D1"/>
          </a:solidFill>
          <a:ln/>
        </p:spPr>
        <p:txBody>
          <a:bodyPr/>
          <a:p/>
        </p:txBody>
      </p:sp>
      <p:sp>
        <p:nvSpPr>
          <p:cNvPr id="865" name="" descr="{&quot;isTemplate&quot;:true,&quot;type&quot;:&quot;text&quot;}"/>
          <p:cNvSpPr txBox="1"/>
          <p:nvPr/>
        </p:nvSpPr>
        <p:spPr>
          <a:xfrm rot="0" flipH="0" flipV="0">
            <a:off x="8505825" y="2447925"/>
            <a:ext cx="657225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863">
                <a:solidFill>
                  <a:srgbClr val="F2F7F8">
                    <a:alpha val="66000"/>
                  </a:srgbClr>
                </a:solidFill>
                <a:latin typeface="Microsoft YaHei"/>
                <a:ea typeface="Microsoft YaHei"/>
              </a:rPr>
              <a:t>关键指标差异</a:t>
            </a:r>
            <a:endParaRPr/>
          </a:p>
        </p:txBody>
      </p:sp>
      <p:sp>
        <p:nvSpPr>
          <p:cNvPr id="866" name=""/>
          <p:cNvSpPr/>
          <p:nvPr/>
        </p:nvSpPr>
        <p:spPr>
          <a:xfrm rot="0" flipH="0" flipV="0">
            <a:off x="8401050" y="2714625"/>
            <a:ext cx="28575" cy="28575"/>
          </a:xfrm>
          <a:prstGeom prst="roundRect">
            <a:avLst>
              <a:gd name="adj" fmla="val 66667"/>
            </a:avLst>
          </a:prstGeom>
          <a:solidFill>
            <a:srgbClr val="6BC8D1"/>
          </a:solidFill>
          <a:ln/>
        </p:spPr>
        <p:txBody>
          <a:bodyPr/>
          <a:p/>
        </p:txBody>
      </p:sp>
      <p:sp>
        <p:nvSpPr>
          <p:cNvPr id="867" name="" descr="{&quot;isTemplate&quot;:true,&quot;type&quot;:&quot;text&quot;}"/>
          <p:cNvSpPr txBox="1"/>
          <p:nvPr/>
        </p:nvSpPr>
        <p:spPr>
          <a:xfrm rot="0" flipH="0" flipV="0">
            <a:off x="8505825" y="2657475"/>
            <a:ext cx="771525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863">
                <a:solidFill>
                  <a:srgbClr val="F2F7F8">
                    <a:alpha val="66000"/>
                  </a:srgbClr>
                </a:solidFill>
                <a:latin typeface="Microsoft YaHei"/>
                <a:ea typeface="Microsoft YaHei"/>
              </a:rPr>
              <a:t>代表链并排查看</a:t>
            </a:r>
            <a:endParaRPr/>
          </a:p>
        </p:txBody>
      </p:sp>
      <p:sp>
        <p:nvSpPr>
          <p:cNvPr id="868" name="" descr="{&quot;isTemplate&quot;:true,&quot;type&quot;:&quot;text&quot;}"/>
          <p:cNvSpPr txBox="1"/>
          <p:nvPr/>
        </p:nvSpPr>
        <p:spPr>
          <a:xfrm rot="0" flipH="0" flipV="0">
            <a:off x="8401050" y="3124200"/>
            <a:ext cx="723900" cy="1238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788">
                <a:solidFill>
                  <a:srgbClr val="F2F7F8">
                    <a:alpha val="38000"/>
                  </a:srgbClr>
                </a:solidFill>
                <a:latin typeface="Microsoft YaHei"/>
                <a:ea typeface="Microsoft YaHei"/>
              </a:rPr>
              <a:t>A → B </a:t>
            </a:r>
            <a:r>
              <a:rPr lang="zh-CN" sz="788">
                <a:solidFill>
                  <a:srgbClr val="F2F7F8">
                    <a:alpha val="38000"/>
                  </a:srgbClr>
                </a:solidFill>
                <a:latin typeface="Microsoft YaHei"/>
                <a:ea typeface="Microsoft YaHei"/>
              </a:rPr>
              <a:t>的净变化</a:t>
            </a:r>
            <a:endParaRPr/>
          </a:p>
        </p:txBody>
      </p:sp>
      <p:sp>
        <p:nvSpPr>
          <p:cNvPr id="869" name="" descr="{&quot;isTemplate&quot;:true,&quot;type&quot;:&quot;text&quot;}"/>
          <p:cNvSpPr txBox="1"/>
          <p:nvPr/>
        </p:nvSpPr>
        <p:spPr>
          <a:xfrm rot="0" flipH="0" flipV="0">
            <a:off x="11363325" y="3086100"/>
            <a:ext cx="85725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1200">
                <a:solidFill>
                  <a:srgbClr val="6BC8D1"/>
                </a:solidFill>
                <a:latin typeface="Consolas"/>
                <a:ea typeface="Consolas"/>
              </a:rPr>
              <a:t>→</a:t>
            </a:r>
            <a:endParaRPr/>
          </a:p>
        </p:txBody>
      </p:sp>
      <p:sp>
        <p:nvSpPr>
          <p:cNvPr id="870" name=""/>
          <p:cNvSpPr/>
          <p:nvPr/>
        </p:nvSpPr>
        <p:spPr>
          <a:xfrm rot="0" flipH="0" flipV="0">
            <a:off x="533400" y="3619500"/>
            <a:ext cx="3390900" cy="2133600"/>
          </a:xfrm>
          <a:prstGeom prst="roundRect">
            <a:avLst>
              <a:gd name="adj" fmla="val 4464"/>
            </a:avLst>
          </a:prstGeom>
          <a:gradFill>
            <a:gsLst>
              <a:gs pos="0">
                <a:srgbClr val="F2F7F8">
                  <a:alpha val="5000"/>
                </a:srgbClr>
              </a:gs>
              <a:gs pos="100000">
                <a:srgbClr val="F2F7F8">
                  <a:alpha val="2000"/>
                </a:srgbClr>
              </a:gs>
            </a:gsLst>
            <a:lin ang="3300000" scaled="1"/>
          </a:gradFill>
          <a:ln w="12700">
            <a:solidFill>
              <a:srgbClr val="F2F7F8">
                <a:alpha val="10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871" name="" descr="{&quot;isTemplate&quot;:true,&quot;type&quot;:&quot;text&quot;}"/>
          <p:cNvSpPr txBox="1"/>
          <p:nvPr/>
        </p:nvSpPr>
        <p:spPr>
          <a:xfrm rot="0" flipH="0" flipV="0">
            <a:off x="704850" y="3790950"/>
            <a:ext cx="3048000" cy="1143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750" spc="75">
                <a:solidFill>
                  <a:srgbClr val="F2F7F8">
                    <a:alpha val="42000"/>
                  </a:srgbClr>
                </a:solidFill>
                <a:latin typeface="Consolas"/>
                <a:ea typeface="Consolas"/>
              </a:rPr>
              <a:t>04 / ANALYSIS</a:t>
            </a:r>
            <a:endParaRPr/>
          </a:p>
        </p:txBody>
      </p:sp>
      <p:sp>
        <p:nvSpPr>
          <p:cNvPr id="872" name="" descr="{&quot;isTemplate&quot;:true,&quot;type&quot;:&quot;text&quot;}"/>
          <p:cNvSpPr txBox="1"/>
          <p:nvPr/>
        </p:nvSpPr>
        <p:spPr>
          <a:xfrm rot="0" flipH="0" flipV="0">
            <a:off x="704850" y="4000500"/>
            <a:ext cx="3048000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425" b="1">
                <a:solidFill>
                  <a:srgbClr val="F2F7F8"/>
                </a:solidFill>
                <a:latin typeface="Microsoft YaHei"/>
                <a:ea typeface="Microsoft YaHei"/>
              </a:rPr>
              <a:t>实验分析</a:t>
            </a:r>
            <a:endParaRPr/>
          </a:p>
        </p:txBody>
      </p:sp>
      <p:sp>
        <p:nvSpPr>
          <p:cNvPr id="873" name="" descr="{&quot;isTemplate&quot;:true,&quot;type&quot;:&quot;text&quot;}"/>
          <p:cNvSpPr txBox="1"/>
          <p:nvPr/>
        </p:nvSpPr>
        <p:spPr>
          <a:xfrm rot="0" flipH="0" flipV="0">
            <a:off x="704850" y="4295775"/>
            <a:ext cx="3048000" cy="1238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788">
                <a:solidFill>
                  <a:srgbClr val="F2F7F8">
                    <a:alpha val="42000"/>
                  </a:srgbClr>
                </a:solidFill>
                <a:latin typeface="Microsoft YaHei"/>
                <a:ea typeface="Microsoft YaHei"/>
              </a:rPr>
              <a:t>结果回看</a:t>
            </a:r>
            <a:endParaRPr/>
          </a:p>
        </p:txBody>
      </p:sp>
      <p:sp>
        <p:nvSpPr>
          <p:cNvPr id="874" name=""/>
          <p:cNvSpPr/>
          <p:nvPr/>
        </p:nvSpPr>
        <p:spPr>
          <a:xfrm rot="0" flipH="0" flipV="0">
            <a:off x="704850" y="4600575"/>
            <a:ext cx="28575" cy="28575"/>
          </a:xfrm>
          <a:prstGeom prst="roundRect">
            <a:avLst>
              <a:gd name="adj" fmla="val 66667"/>
            </a:avLst>
          </a:prstGeom>
          <a:solidFill>
            <a:srgbClr val="6BC8D1"/>
          </a:solidFill>
          <a:ln/>
        </p:spPr>
        <p:txBody>
          <a:bodyPr/>
          <a:p/>
        </p:txBody>
      </p:sp>
      <p:sp>
        <p:nvSpPr>
          <p:cNvPr id="875" name="" descr="{&quot;isTemplate&quot;:true,&quot;type&quot;:&quot;text&quot;}"/>
          <p:cNvSpPr txBox="1"/>
          <p:nvPr/>
        </p:nvSpPr>
        <p:spPr>
          <a:xfrm rot="0" flipH="0" flipV="0">
            <a:off x="809625" y="4543425"/>
            <a:ext cx="876300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863">
                <a:solidFill>
                  <a:srgbClr val="F2F7F8">
                    <a:alpha val="66000"/>
                  </a:srgbClr>
                </a:solidFill>
                <a:latin typeface="Microsoft YaHei"/>
                <a:ea typeface="Microsoft YaHei"/>
              </a:rPr>
              <a:t>结论与业务可达率</a:t>
            </a:r>
            <a:endParaRPr/>
          </a:p>
        </p:txBody>
      </p:sp>
      <p:sp>
        <p:nvSpPr>
          <p:cNvPr id="876" name=""/>
          <p:cNvSpPr/>
          <p:nvPr/>
        </p:nvSpPr>
        <p:spPr>
          <a:xfrm rot="0" flipH="0" flipV="0">
            <a:off x="704850" y="4810125"/>
            <a:ext cx="28575" cy="28575"/>
          </a:xfrm>
          <a:prstGeom prst="roundRect">
            <a:avLst>
              <a:gd name="adj" fmla="val 66667"/>
            </a:avLst>
          </a:prstGeom>
          <a:solidFill>
            <a:srgbClr val="6BC8D1"/>
          </a:solidFill>
          <a:ln/>
        </p:spPr>
        <p:txBody>
          <a:bodyPr/>
          <a:p/>
        </p:txBody>
      </p:sp>
      <p:sp>
        <p:nvSpPr>
          <p:cNvPr id="877" name="" descr="{&quot;isTemplate&quot;:true,&quot;type&quot;:&quot;text&quot;}"/>
          <p:cNvSpPr txBox="1"/>
          <p:nvPr/>
        </p:nvSpPr>
        <p:spPr>
          <a:xfrm rot="0" flipH="0" flipV="0">
            <a:off x="809625" y="4752975"/>
            <a:ext cx="990600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863">
                <a:solidFill>
                  <a:srgbClr val="F2F7F8">
                    <a:alpha val="66000"/>
                  </a:srgbClr>
                </a:solidFill>
                <a:latin typeface="Microsoft YaHei"/>
                <a:ea typeface="Microsoft YaHei"/>
              </a:rPr>
              <a:t>状态分布与影响趋势</a:t>
            </a:r>
            <a:endParaRPr/>
          </a:p>
        </p:txBody>
      </p:sp>
      <p:sp>
        <p:nvSpPr>
          <p:cNvPr id="878" name=""/>
          <p:cNvSpPr/>
          <p:nvPr/>
        </p:nvSpPr>
        <p:spPr>
          <a:xfrm rot="0" flipH="0" flipV="0">
            <a:off x="704850" y="5019675"/>
            <a:ext cx="28575" cy="28575"/>
          </a:xfrm>
          <a:prstGeom prst="roundRect">
            <a:avLst>
              <a:gd name="adj" fmla="val 66667"/>
            </a:avLst>
          </a:prstGeom>
          <a:solidFill>
            <a:srgbClr val="6BC8D1"/>
          </a:solidFill>
          <a:ln/>
        </p:spPr>
        <p:txBody>
          <a:bodyPr/>
          <a:p/>
        </p:txBody>
      </p:sp>
      <p:sp>
        <p:nvSpPr>
          <p:cNvPr id="879" name="" descr="{&quot;isTemplate&quot;:true,&quot;type&quot;:&quot;text&quot;}"/>
          <p:cNvSpPr txBox="1"/>
          <p:nvPr/>
        </p:nvSpPr>
        <p:spPr>
          <a:xfrm rot="0" flipH="0" flipV="0">
            <a:off x="809625" y="4962525"/>
            <a:ext cx="990600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863">
                <a:solidFill>
                  <a:srgbClr val="F2F7F8">
                    <a:alpha val="66000"/>
                  </a:srgbClr>
                </a:solidFill>
                <a:latin typeface="Microsoft YaHei"/>
                <a:ea typeface="Microsoft YaHei"/>
              </a:rPr>
              <a:t>关键事件与报告导出</a:t>
            </a:r>
            <a:endParaRPr/>
          </a:p>
        </p:txBody>
      </p:sp>
      <p:sp>
        <p:nvSpPr>
          <p:cNvPr id="880" name="" descr="{&quot;isTemplate&quot;:true,&quot;type&quot;:&quot;text&quot;}"/>
          <p:cNvSpPr txBox="1"/>
          <p:nvPr/>
        </p:nvSpPr>
        <p:spPr>
          <a:xfrm rot="0" flipH="0" flipV="0">
            <a:off x="704850" y="5429250"/>
            <a:ext cx="561975" cy="1238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788">
                <a:solidFill>
                  <a:srgbClr val="F2F7F8">
                    <a:alpha val="38000"/>
                  </a:srgbClr>
                </a:solidFill>
                <a:latin typeface="Microsoft YaHei"/>
                <a:ea typeface="Microsoft YaHei"/>
              </a:rPr>
              <a:t>结论</a:t>
            </a:r>
            <a:r>
              <a:rPr lang="en-US" sz="788">
                <a:solidFill>
                  <a:srgbClr val="F2F7F8">
                    <a:alpha val="38000"/>
                  </a:srgbClr>
                </a:solidFill>
                <a:latin typeface="Microsoft YaHei"/>
                <a:ea typeface="Microsoft YaHei"/>
              </a:rPr>
              <a:t> → </a:t>
            </a:r>
            <a:r>
              <a:rPr lang="zh-CN" sz="788">
                <a:solidFill>
                  <a:srgbClr val="F2F7F8">
                    <a:alpha val="38000"/>
                  </a:srgbClr>
                </a:solidFill>
                <a:latin typeface="Microsoft YaHei"/>
                <a:ea typeface="Microsoft YaHei"/>
              </a:rPr>
              <a:t>证据</a:t>
            </a:r>
            <a:endParaRPr/>
          </a:p>
        </p:txBody>
      </p:sp>
      <p:sp>
        <p:nvSpPr>
          <p:cNvPr id="881" name="" descr="{&quot;isTemplate&quot;:true,&quot;type&quot;:&quot;text&quot;}"/>
          <p:cNvSpPr txBox="1"/>
          <p:nvPr/>
        </p:nvSpPr>
        <p:spPr>
          <a:xfrm rot="0" flipH="0" flipV="0">
            <a:off x="3667125" y="5391150"/>
            <a:ext cx="85725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1200">
                <a:solidFill>
                  <a:srgbClr val="6BC8D1"/>
                </a:solidFill>
                <a:latin typeface="Consolas"/>
                <a:ea typeface="Consolas"/>
              </a:rPr>
              <a:t>→</a:t>
            </a:r>
            <a:endParaRPr/>
          </a:p>
        </p:txBody>
      </p:sp>
      <p:sp>
        <p:nvSpPr>
          <p:cNvPr id="882" name=""/>
          <p:cNvSpPr/>
          <p:nvPr/>
        </p:nvSpPr>
        <p:spPr>
          <a:xfrm rot="0" flipH="0" flipV="0">
            <a:off x="4076700" y="3619500"/>
            <a:ext cx="4000500" cy="2133600"/>
          </a:xfrm>
          <a:prstGeom prst="roundRect">
            <a:avLst>
              <a:gd name="adj" fmla="val 4464"/>
            </a:avLst>
          </a:prstGeom>
          <a:gradFill>
            <a:gsLst>
              <a:gs pos="0">
                <a:srgbClr val="6BC8D1">
                  <a:alpha val="10000"/>
                </a:srgbClr>
              </a:gs>
              <a:gs pos="100000">
                <a:srgbClr val="F2F7F8">
                  <a:alpha val="2500"/>
                </a:srgbClr>
              </a:gs>
            </a:gsLst>
            <a:lin ang="3300000" scaled="1"/>
          </a:gradFill>
          <a:ln w="12700">
            <a:solidFill>
              <a:srgbClr val="6BC8D1">
                <a:alpha val="26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883" name="" descr="{&quot;isTemplate&quot;:true,&quot;type&quot;:&quot;text&quot;}"/>
          <p:cNvSpPr txBox="1"/>
          <p:nvPr/>
        </p:nvSpPr>
        <p:spPr>
          <a:xfrm rot="0" flipH="0" flipV="0">
            <a:off x="4248150" y="3790950"/>
            <a:ext cx="619125" cy="1143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750" spc="75">
                <a:solidFill>
                  <a:srgbClr val="6BC8D1"/>
                </a:solidFill>
                <a:latin typeface="Consolas"/>
                <a:ea typeface="Consolas"/>
              </a:rPr>
              <a:t>05 / LEARN</a:t>
            </a:r>
            <a:endParaRPr/>
          </a:p>
        </p:txBody>
      </p:sp>
      <p:sp>
        <p:nvSpPr>
          <p:cNvPr id="884" name="" descr="{&quot;isTemplate&quot;:true,&quot;type&quot;:&quot;text&quot;}"/>
          <p:cNvSpPr txBox="1"/>
          <p:nvPr/>
        </p:nvSpPr>
        <p:spPr>
          <a:xfrm rot="0" flipH="0" flipV="0">
            <a:off x="7581900" y="3790950"/>
            <a:ext cx="323850" cy="1143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750">
                <a:solidFill>
                  <a:srgbClr val="F2F7F8">
                    <a:alpha val="32000"/>
                  </a:srgbClr>
                </a:solidFill>
                <a:latin typeface="Consolas"/>
                <a:ea typeface="Consolas"/>
              </a:rPr>
              <a:t>20 </a:t>
            </a:r>
            <a:r>
              <a:rPr lang="zh-CN" sz="750">
                <a:solidFill>
                  <a:srgbClr val="F2F7F8">
                    <a:alpha val="32000"/>
                  </a:srgbClr>
                </a:solidFill>
                <a:latin typeface="Consolas"/>
                <a:ea typeface="Consolas"/>
              </a:rPr>
              <a:t>题</a:t>
            </a:r>
            <a:endParaRPr/>
          </a:p>
        </p:txBody>
      </p:sp>
      <p:sp>
        <p:nvSpPr>
          <p:cNvPr id="885" name="" descr="{&quot;isTemplate&quot;:true,&quot;type&quot;:&quot;text&quot;}"/>
          <p:cNvSpPr txBox="1"/>
          <p:nvPr/>
        </p:nvSpPr>
        <p:spPr>
          <a:xfrm rot="0" flipH="0" flipV="0">
            <a:off x="4248150" y="4000500"/>
            <a:ext cx="3657600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425" b="1">
                <a:solidFill>
                  <a:srgbClr val="F2F7F8"/>
                </a:solidFill>
                <a:latin typeface="Microsoft YaHei"/>
                <a:ea typeface="Microsoft YaHei"/>
              </a:rPr>
              <a:t>学习中心</a:t>
            </a:r>
            <a:endParaRPr/>
          </a:p>
        </p:txBody>
      </p:sp>
      <p:sp>
        <p:nvSpPr>
          <p:cNvPr id="886" name="" descr="{&quot;isTemplate&quot;:true,&quot;type&quot;:&quot;text&quot;}"/>
          <p:cNvSpPr txBox="1"/>
          <p:nvPr/>
        </p:nvSpPr>
        <p:spPr>
          <a:xfrm rot="0" flipH="0" flipV="0">
            <a:off x="4248150" y="4295775"/>
            <a:ext cx="3657600" cy="1238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788">
                <a:solidFill>
                  <a:srgbClr val="F2F7F8">
                    <a:alpha val="42000"/>
                  </a:srgbClr>
                </a:solidFill>
                <a:latin typeface="Microsoft YaHei"/>
                <a:ea typeface="Microsoft YaHei"/>
              </a:rPr>
              <a:t>学</a:t>
            </a:r>
            <a:r>
              <a:rPr lang="en-US" sz="788">
                <a:solidFill>
                  <a:srgbClr val="F2F7F8">
                    <a:alpha val="42000"/>
                  </a:srgbClr>
                </a:solidFill>
                <a:latin typeface="Microsoft YaHei"/>
                <a:ea typeface="Microsoft YaHei"/>
              </a:rPr>
              <a:t> · </a:t>
            </a:r>
            <a:r>
              <a:rPr lang="zh-CN" sz="788">
                <a:solidFill>
                  <a:srgbClr val="F2F7F8">
                    <a:alpha val="42000"/>
                  </a:srgbClr>
                </a:solidFill>
                <a:latin typeface="Microsoft YaHei"/>
                <a:ea typeface="Microsoft YaHei"/>
              </a:rPr>
              <a:t>练</a:t>
            </a:r>
            <a:r>
              <a:rPr lang="en-US" sz="788">
                <a:solidFill>
                  <a:srgbClr val="F2F7F8">
                    <a:alpha val="42000"/>
                  </a:srgbClr>
                </a:solidFill>
                <a:latin typeface="Microsoft YaHei"/>
                <a:ea typeface="Microsoft YaHei"/>
              </a:rPr>
              <a:t> · </a:t>
            </a:r>
            <a:r>
              <a:rPr lang="zh-CN" sz="788">
                <a:solidFill>
                  <a:srgbClr val="F2F7F8">
                    <a:alpha val="42000"/>
                  </a:srgbClr>
                </a:solidFill>
                <a:latin typeface="Microsoft YaHei"/>
                <a:ea typeface="Microsoft YaHei"/>
              </a:rPr>
              <a:t>考</a:t>
            </a:r>
            <a:endParaRPr/>
          </a:p>
        </p:txBody>
      </p:sp>
      <p:sp>
        <p:nvSpPr>
          <p:cNvPr id="887" name=""/>
          <p:cNvSpPr/>
          <p:nvPr/>
        </p:nvSpPr>
        <p:spPr>
          <a:xfrm rot="0" flipH="0" flipV="0">
            <a:off x="4248150" y="4600575"/>
            <a:ext cx="28575" cy="28575"/>
          </a:xfrm>
          <a:prstGeom prst="roundRect">
            <a:avLst>
              <a:gd name="adj" fmla="val 66667"/>
            </a:avLst>
          </a:prstGeom>
          <a:solidFill>
            <a:srgbClr val="6BC8D1"/>
          </a:solidFill>
          <a:ln/>
        </p:spPr>
        <p:txBody>
          <a:bodyPr/>
          <a:p/>
        </p:txBody>
      </p:sp>
      <p:sp>
        <p:nvSpPr>
          <p:cNvPr id="888" name="" descr="{&quot;isTemplate&quot;:true,&quot;type&quot;:&quot;text&quot;}"/>
          <p:cNvSpPr txBox="1"/>
          <p:nvPr/>
        </p:nvSpPr>
        <p:spPr>
          <a:xfrm rot="0" flipH="0" flipV="0">
            <a:off x="4352925" y="4543425"/>
            <a:ext cx="1209675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863">
                <a:solidFill>
                  <a:srgbClr val="F2F7F8">
                    <a:alpha val="66000"/>
                  </a:srgbClr>
                </a:solidFill>
                <a:latin typeface="Microsoft YaHei"/>
                <a:ea typeface="Microsoft YaHei"/>
              </a:rPr>
              <a:t>六个知识模块，直达实验</a:t>
            </a:r>
            <a:endParaRPr/>
          </a:p>
        </p:txBody>
      </p:sp>
      <p:sp>
        <p:nvSpPr>
          <p:cNvPr id="889" name=""/>
          <p:cNvSpPr/>
          <p:nvPr/>
        </p:nvSpPr>
        <p:spPr>
          <a:xfrm rot="0" flipH="0" flipV="0">
            <a:off x="4248150" y="4810125"/>
            <a:ext cx="28575" cy="28575"/>
          </a:xfrm>
          <a:prstGeom prst="roundRect">
            <a:avLst>
              <a:gd name="adj" fmla="val 66667"/>
            </a:avLst>
          </a:prstGeom>
          <a:solidFill>
            <a:srgbClr val="6BC8D1"/>
          </a:solidFill>
          <a:ln/>
        </p:spPr>
        <p:txBody>
          <a:bodyPr/>
          <a:p/>
        </p:txBody>
      </p:sp>
      <p:sp>
        <p:nvSpPr>
          <p:cNvPr id="890" name="" descr="{&quot;isTemplate&quot;:true,&quot;type&quot;:&quot;text&quot;}"/>
          <p:cNvSpPr txBox="1"/>
          <p:nvPr/>
        </p:nvSpPr>
        <p:spPr>
          <a:xfrm rot="0" flipH="0" flipV="0">
            <a:off x="4352925" y="4752975"/>
            <a:ext cx="1038225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863">
                <a:solidFill>
                  <a:srgbClr val="F2F7F8">
                    <a:alpha val="66000"/>
                  </a:srgbClr>
                </a:solidFill>
                <a:latin typeface="Microsoft YaHei"/>
                <a:ea typeface="Microsoft YaHei"/>
              </a:rPr>
              <a:t>20 </a:t>
            </a:r>
            <a:r>
              <a:rPr lang="zh-CN" sz="863">
                <a:solidFill>
                  <a:srgbClr val="F2F7F8">
                    <a:alpha val="66000"/>
                  </a:srgbClr>
                </a:solidFill>
                <a:latin typeface="Microsoft YaHei"/>
                <a:ea typeface="Microsoft YaHei"/>
              </a:rPr>
              <a:t>题随堂练习与解析</a:t>
            </a:r>
            <a:endParaRPr/>
          </a:p>
        </p:txBody>
      </p:sp>
      <p:sp>
        <p:nvSpPr>
          <p:cNvPr id="891" name=""/>
          <p:cNvSpPr/>
          <p:nvPr/>
        </p:nvSpPr>
        <p:spPr>
          <a:xfrm rot="0" flipH="0" flipV="0">
            <a:off x="4248150" y="5019675"/>
            <a:ext cx="28575" cy="28575"/>
          </a:xfrm>
          <a:prstGeom prst="roundRect">
            <a:avLst>
              <a:gd name="adj" fmla="val 66667"/>
            </a:avLst>
          </a:prstGeom>
          <a:solidFill>
            <a:srgbClr val="6BC8D1"/>
          </a:solidFill>
          <a:ln/>
        </p:spPr>
        <p:txBody>
          <a:bodyPr/>
          <a:p/>
        </p:txBody>
      </p:sp>
      <p:sp>
        <p:nvSpPr>
          <p:cNvPr id="892" name="" descr="{&quot;isTemplate&quot;:true,&quot;type&quot;:&quot;text&quot;}"/>
          <p:cNvSpPr txBox="1"/>
          <p:nvPr/>
        </p:nvSpPr>
        <p:spPr>
          <a:xfrm rot="0" flipH="0" flipV="0">
            <a:off x="4352925" y="4962525"/>
            <a:ext cx="1314450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863">
                <a:solidFill>
                  <a:srgbClr val="F2F7F8">
                    <a:alpha val="66000"/>
                  </a:srgbClr>
                </a:solidFill>
                <a:latin typeface="Microsoft YaHei"/>
                <a:ea typeface="Microsoft YaHei"/>
              </a:rPr>
              <a:t>模拟考试、评分与错题回看</a:t>
            </a:r>
            <a:endParaRPr/>
          </a:p>
        </p:txBody>
      </p:sp>
      <p:sp>
        <p:nvSpPr>
          <p:cNvPr id="893" name="" descr="{&quot;isTemplate&quot;:true,&quot;type&quot;:&quot;text&quot;}"/>
          <p:cNvSpPr txBox="1"/>
          <p:nvPr/>
        </p:nvSpPr>
        <p:spPr>
          <a:xfrm rot="0" flipH="0" flipV="0">
            <a:off x="4248150" y="5429250"/>
            <a:ext cx="561975" cy="1238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788">
                <a:solidFill>
                  <a:srgbClr val="F2F7F8">
                    <a:alpha val="38000"/>
                  </a:srgbClr>
                </a:solidFill>
                <a:latin typeface="Microsoft YaHei"/>
                <a:ea typeface="Microsoft YaHei"/>
              </a:rPr>
              <a:t>知识</a:t>
            </a:r>
            <a:r>
              <a:rPr lang="en-US" sz="788">
                <a:solidFill>
                  <a:srgbClr val="F2F7F8">
                    <a:alpha val="38000"/>
                  </a:srgbClr>
                </a:solidFill>
                <a:latin typeface="Microsoft YaHei"/>
                <a:ea typeface="Microsoft YaHei"/>
              </a:rPr>
              <a:t> → </a:t>
            </a:r>
            <a:r>
              <a:rPr lang="zh-CN" sz="788">
                <a:solidFill>
                  <a:srgbClr val="F2F7F8">
                    <a:alpha val="38000"/>
                  </a:srgbClr>
                </a:solidFill>
                <a:latin typeface="Microsoft YaHei"/>
                <a:ea typeface="Microsoft YaHei"/>
              </a:rPr>
              <a:t>操作</a:t>
            </a:r>
            <a:endParaRPr/>
          </a:p>
        </p:txBody>
      </p:sp>
      <p:sp>
        <p:nvSpPr>
          <p:cNvPr id="894" name="" descr="{&quot;isTemplate&quot;:true,&quot;type&quot;:&quot;text&quot;}"/>
          <p:cNvSpPr txBox="1"/>
          <p:nvPr/>
        </p:nvSpPr>
        <p:spPr>
          <a:xfrm rot="0" flipH="0" flipV="0">
            <a:off x="7820025" y="5391150"/>
            <a:ext cx="85725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1200">
                <a:solidFill>
                  <a:srgbClr val="6BC8D1"/>
                </a:solidFill>
                <a:latin typeface="Consolas"/>
                <a:ea typeface="Consolas"/>
              </a:rPr>
              <a:t>→</a:t>
            </a:r>
            <a:endParaRPr/>
          </a:p>
        </p:txBody>
      </p:sp>
      <p:sp>
        <p:nvSpPr>
          <p:cNvPr id="895" name=""/>
          <p:cNvSpPr/>
          <p:nvPr/>
        </p:nvSpPr>
        <p:spPr>
          <a:xfrm rot="0" flipH="0" flipV="0">
            <a:off x="8229600" y="3619500"/>
            <a:ext cx="3390900" cy="2133600"/>
          </a:xfrm>
          <a:prstGeom prst="roundRect">
            <a:avLst>
              <a:gd name="adj" fmla="val 4464"/>
            </a:avLst>
          </a:prstGeom>
          <a:gradFill>
            <a:gsLst>
              <a:gs pos="0">
                <a:srgbClr val="F2F7F8">
                  <a:alpha val="5000"/>
                </a:srgbClr>
              </a:gs>
              <a:gs pos="100000">
                <a:srgbClr val="F2F7F8">
                  <a:alpha val="2000"/>
                </a:srgbClr>
              </a:gs>
            </a:gsLst>
            <a:lin ang="3300000" scaled="1"/>
          </a:gradFill>
          <a:ln w="12700">
            <a:solidFill>
              <a:srgbClr val="F2F7F8">
                <a:alpha val="10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896" name="" descr="{&quot;isTemplate&quot;:true,&quot;type&quot;:&quot;text&quot;}"/>
          <p:cNvSpPr txBox="1"/>
          <p:nvPr/>
        </p:nvSpPr>
        <p:spPr>
          <a:xfrm rot="0" flipH="0" flipV="0">
            <a:off x="8401050" y="3790950"/>
            <a:ext cx="3048000" cy="1143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750" spc="75">
                <a:solidFill>
                  <a:srgbClr val="F2F7F8">
                    <a:alpha val="42000"/>
                  </a:srgbClr>
                </a:solidFill>
                <a:latin typeface="Consolas"/>
                <a:ea typeface="Consolas"/>
              </a:rPr>
              <a:t>06 / SCENARIOS</a:t>
            </a:r>
            <a:endParaRPr/>
          </a:p>
        </p:txBody>
      </p:sp>
      <p:sp>
        <p:nvSpPr>
          <p:cNvPr id="897" name="" descr="{&quot;isTemplate&quot;:true,&quot;type&quot;:&quot;text&quot;}"/>
          <p:cNvSpPr txBox="1"/>
          <p:nvPr/>
        </p:nvSpPr>
        <p:spPr>
          <a:xfrm rot="0" flipH="0" flipV="0">
            <a:off x="8401050" y="4000500"/>
            <a:ext cx="3048000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425" b="1">
                <a:solidFill>
                  <a:srgbClr val="F2F7F8"/>
                </a:solidFill>
                <a:latin typeface="Microsoft YaHei"/>
                <a:ea typeface="Microsoft YaHei"/>
              </a:rPr>
              <a:t>场景与说明</a:t>
            </a:r>
            <a:endParaRPr/>
          </a:p>
        </p:txBody>
      </p:sp>
      <p:sp>
        <p:nvSpPr>
          <p:cNvPr id="898" name="" descr="{&quot;isTemplate&quot;:true,&quot;type&quot;:&quot;text&quot;}"/>
          <p:cNvSpPr txBox="1"/>
          <p:nvPr/>
        </p:nvSpPr>
        <p:spPr>
          <a:xfrm rot="0" flipH="0" flipV="0">
            <a:off x="8401050" y="4295775"/>
            <a:ext cx="3048000" cy="1238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788">
                <a:solidFill>
                  <a:srgbClr val="F2F7F8">
                    <a:alpha val="42000"/>
                  </a:srgbClr>
                </a:solidFill>
                <a:latin typeface="Microsoft YaHei"/>
                <a:ea typeface="Microsoft YaHei"/>
              </a:rPr>
              <a:t>同一套判定</a:t>
            </a:r>
            <a:endParaRPr/>
          </a:p>
        </p:txBody>
      </p:sp>
      <p:sp>
        <p:nvSpPr>
          <p:cNvPr id="899" name=""/>
          <p:cNvSpPr/>
          <p:nvPr/>
        </p:nvSpPr>
        <p:spPr>
          <a:xfrm rot="0" flipH="0" flipV="0">
            <a:off x="8401050" y="4600575"/>
            <a:ext cx="28575" cy="28575"/>
          </a:xfrm>
          <a:prstGeom prst="roundRect">
            <a:avLst>
              <a:gd name="adj" fmla="val 66667"/>
            </a:avLst>
          </a:prstGeom>
          <a:solidFill>
            <a:srgbClr val="6BC8D1"/>
          </a:solidFill>
          <a:ln/>
        </p:spPr>
        <p:txBody>
          <a:bodyPr/>
          <a:p/>
        </p:txBody>
      </p:sp>
      <p:sp>
        <p:nvSpPr>
          <p:cNvPr id="900" name="" descr="{&quot;isTemplate&quot;:true,&quot;type&quot;:&quot;text&quot;}"/>
          <p:cNvSpPr txBox="1"/>
          <p:nvPr/>
        </p:nvSpPr>
        <p:spPr>
          <a:xfrm rot="0" flipH="0" flipV="0">
            <a:off x="8505825" y="4543425"/>
            <a:ext cx="971550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863">
                <a:solidFill>
                  <a:srgbClr val="F2F7F8">
                    <a:alpha val="66000"/>
                  </a:srgbClr>
                </a:solidFill>
                <a:latin typeface="Microsoft YaHei"/>
                <a:ea typeface="Microsoft YaHei"/>
              </a:rPr>
              <a:t>7 </a:t>
            </a:r>
            <a:r>
              <a:rPr lang="zh-CN" sz="863">
                <a:solidFill>
                  <a:srgbClr val="F2F7F8">
                    <a:alpha val="66000"/>
                  </a:srgbClr>
                </a:solidFill>
                <a:latin typeface="Microsoft YaHei"/>
                <a:ea typeface="Microsoft YaHei"/>
              </a:rPr>
              <a:t>个场景</a:t>
            </a:r>
            <a:r>
              <a:rPr lang="en-US" sz="863">
                <a:solidFill>
                  <a:srgbClr val="F2F7F8">
                    <a:alpha val="66000"/>
                  </a:srgbClr>
                </a:solidFill>
                <a:latin typeface="Microsoft YaHei"/>
                <a:ea typeface="Microsoft YaHei"/>
              </a:rPr>
              <a:t> / 3 </a:t>
            </a:r>
            <a:r>
              <a:rPr lang="zh-CN" sz="863">
                <a:solidFill>
                  <a:srgbClr val="F2F7F8">
                    <a:alpha val="66000"/>
                  </a:srgbClr>
                </a:solidFill>
                <a:latin typeface="Microsoft YaHei"/>
                <a:ea typeface="Microsoft YaHei"/>
              </a:rPr>
              <a:t>档难度</a:t>
            </a:r>
            <a:endParaRPr/>
          </a:p>
        </p:txBody>
      </p:sp>
      <p:sp>
        <p:nvSpPr>
          <p:cNvPr id="901" name=""/>
          <p:cNvSpPr/>
          <p:nvPr/>
        </p:nvSpPr>
        <p:spPr>
          <a:xfrm rot="0" flipH="0" flipV="0">
            <a:off x="8401050" y="4810125"/>
            <a:ext cx="28575" cy="28575"/>
          </a:xfrm>
          <a:prstGeom prst="roundRect">
            <a:avLst>
              <a:gd name="adj" fmla="val 66667"/>
            </a:avLst>
          </a:prstGeom>
          <a:solidFill>
            <a:srgbClr val="6BC8D1"/>
          </a:solidFill>
          <a:ln/>
        </p:spPr>
        <p:txBody>
          <a:bodyPr/>
          <a:p/>
        </p:txBody>
      </p:sp>
      <p:sp>
        <p:nvSpPr>
          <p:cNvPr id="902" name="" descr="{&quot;isTemplate&quot;:true,&quot;type&quot;:&quot;text&quot;}"/>
          <p:cNvSpPr txBox="1"/>
          <p:nvPr/>
        </p:nvSpPr>
        <p:spPr>
          <a:xfrm rot="0" flipH="0" flipV="0">
            <a:off x="8505825" y="4752975"/>
            <a:ext cx="647700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863">
                <a:solidFill>
                  <a:srgbClr val="F2F7F8">
                    <a:alpha val="66000"/>
                  </a:srgbClr>
                </a:solidFill>
                <a:latin typeface="Microsoft YaHei"/>
                <a:ea typeface="Microsoft YaHei"/>
              </a:rPr>
              <a:t>2 </a:t>
            </a:r>
            <a:r>
              <a:rPr lang="zh-CN" sz="863">
                <a:solidFill>
                  <a:srgbClr val="F2F7F8">
                    <a:alpha val="66000"/>
                  </a:srgbClr>
                </a:solidFill>
                <a:latin typeface="Microsoft YaHei"/>
                <a:ea typeface="Microsoft YaHei"/>
              </a:rPr>
              <a:t>种仿真模式</a:t>
            </a:r>
            <a:endParaRPr/>
          </a:p>
        </p:txBody>
      </p:sp>
      <p:sp>
        <p:nvSpPr>
          <p:cNvPr id="903" name=""/>
          <p:cNvSpPr/>
          <p:nvPr/>
        </p:nvSpPr>
        <p:spPr>
          <a:xfrm rot="0" flipH="0" flipV="0">
            <a:off x="8401050" y="5019675"/>
            <a:ext cx="28575" cy="28575"/>
          </a:xfrm>
          <a:prstGeom prst="roundRect">
            <a:avLst>
              <a:gd name="adj" fmla="val 66667"/>
            </a:avLst>
          </a:prstGeom>
          <a:solidFill>
            <a:srgbClr val="6BC8D1"/>
          </a:solidFill>
          <a:ln/>
        </p:spPr>
        <p:txBody>
          <a:bodyPr/>
          <a:p/>
        </p:txBody>
      </p:sp>
      <p:sp>
        <p:nvSpPr>
          <p:cNvPr id="904" name="" descr="{&quot;isTemplate&quot;:true,&quot;type&quot;:&quot;text&quot;}"/>
          <p:cNvSpPr txBox="1"/>
          <p:nvPr/>
        </p:nvSpPr>
        <p:spPr>
          <a:xfrm rot="0" flipH="0" flipV="0">
            <a:off x="8505825" y="4962525"/>
            <a:ext cx="990600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863">
                <a:solidFill>
                  <a:srgbClr val="F2F7F8">
                    <a:alpha val="66000"/>
                  </a:srgbClr>
                </a:solidFill>
                <a:latin typeface="Microsoft YaHei"/>
                <a:ea typeface="Microsoft YaHei"/>
              </a:rPr>
              <a:t>项目说明与模型边界</a:t>
            </a:r>
            <a:endParaRPr/>
          </a:p>
        </p:txBody>
      </p:sp>
      <p:sp>
        <p:nvSpPr>
          <p:cNvPr id="905" name="" descr="{&quot;isTemplate&quot;:true,&quot;type&quot;:&quot;text&quot;}"/>
          <p:cNvSpPr txBox="1"/>
          <p:nvPr/>
        </p:nvSpPr>
        <p:spPr>
          <a:xfrm rot="0" flipH="0" flipV="0">
            <a:off x="8401050" y="5429250"/>
            <a:ext cx="561975" cy="1238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788">
                <a:solidFill>
                  <a:srgbClr val="F2F7F8">
                    <a:alpha val="38000"/>
                  </a:srgbClr>
                </a:solidFill>
                <a:latin typeface="Microsoft YaHei"/>
                <a:ea typeface="Microsoft YaHei"/>
              </a:rPr>
              <a:t>场景</a:t>
            </a:r>
            <a:r>
              <a:rPr lang="en-US" sz="788">
                <a:solidFill>
                  <a:srgbClr val="F2F7F8">
                    <a:alpha val="38000"/>
                  </a:srgbClr>
                </a:solidFill>
                <a:latin typeface="Microsoft YaHei"/>
                <a:ea typeface="Microsoft YaHei"/>
              </a:rPr>
              <a:t> → </a:t>
            </a:r>
            <a:r>
              <a:rPr lang="zh-CN" sz="788">
                <a:solidFill>
                  <a:srgbClr val="F2F7F8">
                    <a:alpha val="38000"/>
                  </a:srgbClr>
                </a:solidFill>
                <a:latin typeface="Microsoft YaHei"/>
                <a:ea typeface="Microsoft YaHei"/>
              </a:rPr>
              <a:t>策略</a:t>
            </a:r>
            <a:endParaRPr/>
          </a:p>
        </p:txBody>
      </p:sp>
      <p:sp>
        <p:nvSpPr>
          <p:cNvPr id="906" name="" descr="{&quot;isTemplate&quot;:true,&quot;type&quot;:&quot;text&quot;}"/>
          <p:cNvSpPr txBox="1"/>
          <p:nvPr/>
        </p:nvSpPr>
        <p:spPr>
          <a:xfrm rot="0" flipH="0" flipV="0">
            <a:off x="11363325" y="5391150"/>
            <a:ext cx="85725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1200">
                <a:solidFill>
                  <a:srgbClr val="6BC8D1"/>
                </a:solidFill>
                <a:latin typeface="Consolas"/>
                <a:ea typeface="Consolas"/>
              </a:rPr>
              <a:t>→</a:t>
            </a:r>
            <a:endParaRPr/>
          </a:p>
        </p:txBody>
      </p:sp>
      <p:sp>
        <p:nvSpPr>
          <p:cNvPr id="907" name=""/>
          <p:cNvSpPr/>
          <p:nvPr/>
        </p:nvSpPr>
        <p:spPr>
          <a:xfrm rot="0" flipH="0" flipV="0">
            <a:off x="533400" y="5972175"/>
            <a:ext cx="190500" cy="9525"/>
          </a:xfrm>
          <a:prstGeom prst="rect">
            <a:avLst/>
          </a:prstGeom>
          <a:solidFill>
            <a:srgbClr val="6BC8D1"/>
          </a:solidFill>
          <a:ln/>
        </p:spPr>
        <p:txBody>
          <a:bodyPr/>
          <a:p/>
        </p:txBody>
      </p:sp>
      <p:sp>
        <p:nvSpPr>
          <p:cNvPr id="908" name="" descr="{&quot;isTemplate&quot;:true,&quot;type&quot;:&quot;text&quot;}"/>
          <p:cNvSpPr txBox="1"/>
          <p:nvPr/>
        </p:nvSpPr>
        <p:spPr>
          <a:xfrm rot="0" flipH="0" flipV="0">
            <a:off x="819150" y="5905500"/>
            <a:ext cx="3400425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863">
                <a:solidFill>
                  <a:srgbClr val="F2F7F8">
                    <a:alpha val="48000"/>
                  </a:srgbClr>
                </a:solidFill>
                <a:latin typeface="Microsoft YaHei"/>
                <a:ea typeface="Microsoft YaHei"/>
              </a:rPr>
              <a:t>六个工作面共享同一套数据模型与确定性引擎；界面只是结果的视图。</a:t>
            </a:r>
            <a:endParaRPr/>
          </a:p>
        </p:txBody>
      </p:sp>
      <p:sp>
        <p:nvSpPr>
          <p:cNvPr id="909" name=""/>
          <p:cNvSpPr/>
          <p:nvPr/>
        </p:nvSpPr>
        <p:spPr>
          <a:xfrm rot="0" flipH="0" flipV="0">
            <a:off x="533400" y="6324600"/>
            <a:ext cx="11125200" cy="9525"/>
          </a:xfrm>
          <a:prstGeom prst="rect">
            <a:avLst/>
          </a:prstGeom>
          <a:solidFill>
            <a:srgbClr val="F2F7F8">
              <a:alpha val="10000"/>
            </a:srgbClr>
          </a:solidFill>
          <a:ln/>
        </p:spPr>
        <p:txBody>
          <a:bodyPr/>
          <a:p/>
        </p:txBody>
      </p:sp>
      <p:sp>
        <p:nvSpPr>
          <p:cNvPr id="910" name="" descr="{&quot;isTemplate&quot;:true,&quot;type&quot;:&quot;text&quot;}"/>
          <p:cNvSpPr txBox="1"/>
          <p:nvPr/>
        </p:nvSpPr>
        <p:spPr>
          <a:xfrm rot="0" flipH="0" flipV="0">
            <a:off x="533400" y="6457950"/>
            <a:ext cx="3248025" cy="1238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788" spc="60">
                <a:solidFill>
                  <a:srgbClr val="F2F7F8">
                    <a:alpha val="40000"/>
                  </a:srgbClr>
                </a:solidFill>
                <a:latin typeface="Consolas"/>
                <a:ea typeface="Consolas"/>
              </a:rPr>
              <a:t>智御网络</a:t>
            </a:r>
            <a:r>
              <a:rPr lang="en-US" sz="788" spc="60">
                <a:solidFill>
                  <a:srgbClr val="F2F7F8">
                    <a:alpha val="40000"/>
                  </a:srgbClr>
                </a:solidFill>
                <a:latin typeface="Consolas"/>
                <a:ea typeface="Consolas"/>
              </a:rPr>
              <a:t> · </a:t>
            </a:r>
            <a:r>
              <a:rPr lang="zh-CN" sz="788" spc="60">
                <a:solidFill>
                  <a:srgbClr val="F2F7F8">
                    <a:alpha val="40000"/>
                  </a:srgbClr>
                </a:solidFill>
                <a:latin typeface="Consolas"/>
                <a:ea typeface="Consolas"/>
              </a:rPr>
              <a:t>三维网络安全策略交互验证平台</a:t>
            </a:r>
            <a:endParaRPr/>
          </a:p>
        </p:txBody>
      </p:sp>
      <p:sp>
        <p:nvSpPr>
          <p:cNvPr id="911" name="" descr="{&quot;isTemplate&quot;:true,&quot;type&quot;:&quot;text&quot;}"/>
          <p:cNvSpPr txBox="1"/>
          <p:nvPr/>
        </p:nvSpPr>
        <p:spPr>
          <a:xfrm rot="0" flipH="0" flipV="0">
            <a:off x="11268075" y="6457950"/>
            <a:ext cx="390525" cy="1238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788">
                <a:solidFill>
                  <a:srgbClr val="F2F7F8">
                    <a:alpha val="40000"/>
                  </a:srgbClr>
                </a:solidFill>
                <a:latin typeface="Consolas"/>
                <a:ea typeface="Consolas"/>
              </a:rPr>
              <a:t>07 / 22</a:t>
            </a:r>
            <a:endParaRPr/>
          </a:p>
        </p:txBody>
      </p:sp>
    </p:spTree>
  </p:cSld>
</p:sld>
</file>

<file path=ppt/slides/slide8.xml><?xml version="1.0" encoding="utf-8"?>
<p:sld xmlns:p="http://schemas.openxmlformats.org/presentationml/2006/main" xmlns:r="http://schemas.openxmlformats.org/officeDocument/2006/relationships" xmlns:a="http://schemas.openxmlformats.org/drawingml/2006/main" xmlns:asvg="http://schemas.microsoft.com/office/drawing/2016/SVG/main" xmlns:mc="http://schemas.openxmlformats.org/markup-compatibility/2006" mc:Ignorable="asvg">
  <p:cSld>
    <p:spTree>
      <p:nvGrpSpPr>
        <p:cNvPr id="912" name="" descr="&lt;Slide style={{ width: 1280, height: 720, background: '#07111B', padding: 0, position: 'relative', overflow: 'hidden' }}&gt;&#13;&#10;    &lt;svg width={1280} height={720} viewBox='0 0 1280 720' style={{ position: 'absolute', left: 0, top: 0 }}&gt;&#13;&#10;        &lt;g stroke='rgba(242,247,248,0.022)' strokeWidth='1'&gt;&#13;&#10;            &lt;path d='M0 96H1280M0 192H1280M0 288H1280M0 384H1280M0 480H1280M0 576H1280M0 672H1280' /&gt;&#13;&#10;        &lt;/g&gt;&#13;&#10;    &lt;/svg&gt;&#13;&#10;&#13;&#10;    &lt;Box style={{ position: 'absolute', left: 56, top: 38 }}&gt;&#13;&#10;        &lt;Text style={{ fontFamily: 'Consolas', fontSize: 11, color: '#6BC8D1', letterSpacing: 1.8 }}&gt;02 / 作品概览&lt;/Text&gt;&#13;&#10;    &lt;/Box&gt;&#13;&#10;    &lt;Text style={{ position: 'absolute', left: 56, top: 62, fontFamily: 'Microsoft YaHei', fontSize: 31, fontWeight: 'bold', color: '#F2F7F8', letterSpacing: 0.5 }}&gt;实验室：从“看拓扑”到“改策略、看判定”&lt;/Text&gt;&#13;&#10;    &lt;Text style={{ position: 'absolute', right: 56, top: 76, fontFamily: 'Consolas', fontSize: 10.5, color: 'rgba(242,247,248,0.42)' }}&gt;SIX LAB SURFACES&lt;/Text&gt;&#13;&#10;&#13;&#10;    &lt;Box style={{ position: 'absolute', left: 56, top: 146, width: 600, height: 352 }}&gt;&#13;&#10;        &lt;Image src=&quot;assets/lab_verified.png&quot; style={{ width: 600, height: 338, objectFit: 'cover', borderRadius: 8, border: '1px solid rgba(107,200,209,0.20)' }} /&gt;&#13;&#10;        &lt;Box style={{ position: 'absolute', left: 12, top: 12, paddingLeft: 10, paddingRight: 10, paddingTop: 5, paddingBottom: 5, background: 'rgba(7,17,27,0.82)', border: '1px solid rgba(107,200,209,0.30)', borderRadius: 4 }}&gt;&#13;&#10;            &lt;Text style={{ fontFamily: 'Consolas', fontSize: 9.5, color: '#6BC8D1', letterSpacing: 1 }}&gt;CHALLENGE PASSED · 3 / 3&lt;/Text&gt;&#13;&#10;        &lt;/Box&gt;&#13;&#10;        &lt;Text style={{ marginTop: 10, fontFamily: 'Microsoft YaHei', fontSize: 10.5, color: 'rgba(242,247,248,0.44)' }}&gt;真实界面：关键数据目标“已保护”，必要业务 2 / 2 可达。&lt;/Text&gt;&#13;&#10;    &lt;/Box&gt;&#13;&#10;&#13;&#10;    &lt;Box style={{ position: 'absolute', left: 692, top: 140, width: 532 }}&gt;&#13;&#10;        &lt;Box style={{ flexDirection: 'row', alignItems: 'flex-start', height: 70, borderTop: '1px solid rgba(242,247,248,0.10)' }}&gt;&#13;&#10;            &lt;Text style={{ width: 44, marginTop: 12, fontFamily: 'Consolas', fontSize: 10, color: '#6BC8D1' }}&gt;01&lt;/Text&gt;&#13;&#10;            &lt;Box style={{ width: 488 }}&gt;&#13;&#10;                &lt;Text style={{ marginTop: 10, fontFamily: 'Microsoft YaHei', fontSize: 14, fontWeight: 'bold', color: '#F2F7F8' }}&gt;三维拓扑&lt;/Text&gt;&#13;&#10;                &lt;Text style={{ marginTop: 3, fontFamily: 'Microsoft YaHei', fontSize: 11, color: 'rgba(242,247,248,0.54)', lineHeight: 1.55 }}&gt;拖动旋转、滚轮缩放、点选设备；节点位置可拖动调整。&lt;/Text&gt;&#13;&#10;            &lt;/Box&gt;&#13;&#10;        &lt;/Box&gt;&#13;&#10;        &lt;Box style={{ flexDirection: 'row', alignItems: 'flex-start', height: 70, borderTop: '1px solid rgba(242,247,248,0.10)' }}&gt;&#13;&#10;            &lt;Text style={{ width: 44, marginTop: 12, fontFamily: 'Consolas', fontSize: 10, color: '#6BC8D1' }}&gt;02&lt;/Text&gt;&#13;&#10;            &lt;Box style={{ width: 488 }}&gt;&#13;&#10;                &lt;Text style={{ marginTop: 10, fontFamily: 'Microsoft YaHei', fontSize: 14, fontWeight: 'bold', color: '#F2F7F8' }}&gt;节点与策略&lt;/Text&gt;&#13;&#10;                &lt;Text style={{ marginTop: 3, fontFamily: 'Microsoft YaHei', fontSize: 11, color: 'rgba(242,247,248,0.54)', lineHeight: 1.55 }}&gt;查看 IP / VLAN / 路由；启停终端防护、服务加固、数据访问控制与隔离。&lt;/Text&gt;&#13;&#10;            &lt;/Box&gt;&#13;&#10;        &lt;/Box&gt;&#13;&#10;        &lt;Box style={{ flexDirection: 'row', alignItems: 'flex-start', height: 70, borderTop: '1px solid rgba(242,247,248,0.10)' }}&gt;&#13;&#10;            &lt;Text style={{ width: 44, marginTop: 12, fontFamily: 'Consolas', fontSize: 10, color: '#6BC8D1' }}&gt;03&lt;/Text&gt;&#13;&#10;            &lt;Box style={{ width: 488 }}&gt;&#13;&#10;                &lt;Text style={{ marginTop: 10, fontFamily: 'Microsoft YaHei', fontSize: 14, fontWeight: 'bold', color: '#F2F7F8' }}&gt;事件判定&lt;/Text&gt;&#13;&#10;                &lt;Text style={{ marginTop: 3, fontFamily: 'Microsoft YaHei', fontSize: 11, color: 'rgba(242,247,248,0.54)', lineHeight: 1.55 }}&gt;结果、实际路径、命中规则、阻断位置，以及状态的前后值。&lt;/Text&gt;&#13;&#10;            &lt;/Box&gt;&#13;&#10;        &lt;/Box&gt;&#13;&#10;        &lt;Box style={{ flexDirection: 'row', alignItems: 'flex-start', height: 70, borderTop: '1px solid rgba(242,247,248,0.10)' }}&gt;&#13;&#10;            &lt;Text style={{ width: 44, marginTop: 12, fontFamily: 'Consolas', fontSize: 10, color: '#6BC8D1' }}&gt;04&lt;/Text&gt;&#13;&#10;            &lt;Box style={{ width: 488 }}&gt;&#13;&#10;                &lt;Text style={{ marginTop: 10, fontFamily: 'Microsoft YaHei', fontSize: 14, fontWeight: 'bold', color: '#F2F7F8' }}&gt;代表链回放&lt;/Text&gt;&#13;&#10;                &lt;Text style={{ marginTop: 3, fontFamily: 'Microsoft YaHei', fontSize: 11, color: 'rgba(242,247,248,0.54)', lineHeight: 1.55 }}&gt;播放 / 暂停 / 单步 / 倍速；点击 T0–Tn 直接定位到对应状态。&lt;/Text&gt;&#13;&#10;            &lt;/Box&gt;&#13;&#10;        &lt;/Box&gt;&#13;&#10;        &lt;Box style={{ flexDirection: 'row', alignItems: 'flex-start', height: 70, borderTop: '1px solid rgba(242,247,248,0.10)' }}&gt;&#13;&#10;            &lt;Text style={{ width: 44, marginTop: 12, fontFamily: 'Consolas', fontSize: 10, color: '#E78172' }}&gt;05&lt;/Text&gt;&#13;&#10;            &lt;Box style={{ width: 488 }}&gt;&#13;&#10;                &lt;Text style={{ marginTop: 10, fontFamily: 'Microsoft YaHei', fontSize: 14, fontWeight: 'bold', color: '#F2F7F8' }}&gt;安全挑战&lt;/Text&gt;&#13;&#10;                &lt;Text style={{ marginTop: 3, fontFamily: 'Microsoft YaHei', fontSize: 11, color: 'rgba(242,247,248,0.54)', lineHeight: 1.55 }}&gt;不是“全断开”：关键目标保护 + 必要业务可达，两个条件同时通过。&lt;/Text&gt;&#13;&#10;            &lt;/Box&gt;&#13;&#10;        &lt;/Box&gt;&#13;&#10;        &lt;Box style={{ flexDirection: 'row', alignItems: 'flex-start', height: 70, borderTop: '1px solid rgba(242,247,248,0.10)', borderBottom: '1px solid rgba(242,247,248,0.10)' }}&gt;&#13;&#10;            &lt;Text style={{ width: 44, marginTop: 12, fontFamily: 'Consolas', fontSize: 10, color: '#6BC8D1' }}&gt;06&lt;/Text&gt;&#13;&#10;            &lt;Box style={{ width: 488 }}&gt;&#13;&#10;                &lt;Text style={{ marginTop: 10, fontFamily: 'Microsoft YaHei', fontSize: 14, fontWeight: 'bold', color: '#F2F7F8' }}&gt;演示模式&lt;/Text&gt;&#13;&#10;                &lt;Text style={{ marginTop: 3, fontFamily: 'Microsoft YaHei', fontSize: 11, color: 'rgba(242,247,248,0.54)', lineHeight: 1.55 }}&gt;收起编辑控件、放大拓扑；课堂投屏时只保留讲解需要的信息。&lt;/Text&gt;&#13;&#10;            &lt;/Box&gt;&#13;&#10;        &lt;/Box&gt;&#13;&#10;    &lt;/Box&gt;&#13;&#10;&#13;&#10;    &lt;Box style={{ position: 'absolute', left: 56, top: 620, flexDirection: 'row', alignItems: 'center', gap: 10 }}&gt;&#13;&#10;        &lt;Box style={{ width: 20, height: 1, background: '#6BC8D1' }} /&gt;&#13;&#10;        &lt;Text style={{ fontFamily: 'Microsoft YaHei', fontSize: 11.5, color: 'rgba(242,247,248,0.48)' }}&gt;更多操作：恢复默认 · 复制复现链接 · 导出/导入场景 JSON；六个功能区共享同一份场景状态。&lt;/Text&gt;&#13;&#10;    &lt;/Box&gt;&#13;&#10;&#13;&#10;    &lt;Box style={{ position: 'absolute', left: 56, top: 664, width: 1168, height: 1, background: 'rgba(242,247,248,0.10)' }} /&gt;&#13;&#10;    &lt;Text style={{ position: 'absolute', left: 56, top: 678, fontFamily: 'Consolas', fontSize: 10.5, color: 'rgba(242,247,248,0.40)', letterSpacing: 0.8 }}&gt;智御网络 · 三维网络安全策略交互验证平台&lt;/Text&gt;&#13;&#10;    &lt;Text style={{ position: 'absolute', right: 56, top: 678, fontFamily: 'Consolas', fontSize: 10.5, color: 'rgba(242,247,248,0.40)' }}&gt;08 / 22&lt;/Text&gt;&#13;&#10;&lt;/Slide&gt;&#13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3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07111B"/>
          </a:solidFill>
          <a:ln/>
        </p:spPr>
        <p:txBody>
          <a:bodyPr/>
          <a:p/>
        </p:txBody>
      </p:sp>
      <p:pic>
        <p:nvPicPr>
          <p:cNvPr id="914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1"/>
              </a:ext>
            </a:extLst>
          </a:blip>
          <a:stretch>
            <a:fillRect/>
          </a:stretch>
        </p:blipFill>
        <p:spPr>
          <a:xfrm rot="0" flipH="0" flipV="0">
            <a:off x="0" y="0"/>
            <a:ext cx="12192000" cy="6858000"/>
          </a:xfrm>
          <a:prstGeom prst="rect">
            <a:avLst/>
          </a:prstGeom>
          <a:ln/>
        </p:spPr>
      </p:pic>
      <p:sp>
        <p:nvSpPr>
          <p:cNvPr id="915" name="" descr="{&quot;isTemplate&quot;:true,&quot;type&quot;:&quot;text&quot;}"/>
          <p:cNvSpPr txBox="1"/>
          <p:nvPr/>
        </p:nvSpPr>
        <p:spPr>
          <a:xfrm rot="0" flipH="0" flipV="0">
            <a:off x="533400" y="361950"/>
            <a:ext cx="1095375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825" spc="135">
                <a:solidFill>
                  <a:srgbClr val="6BC8D1"/>
                </a:solidFill>
                <a:latin typeface="Consolas"/>
                <a:ea typeface="Consolas"/>
              </a:rPr>
              <a:t>02 / </a:t>
            </a:r>
            <a:r>
              <a:rPr lang="zh-CN" sz="825" spc="135">
                <a:solidFill>
                  <a:srgbClr val="6BC8D1"/>
                </a:solidFill>
                <a:latin typeface="Consolas"/>
                <a:ea typeface="Consolas"/>
              </a:rPr>
              <a:t>作品概览</a:t>
            </a:r>
            <a:endParaRPr/>
          </a:p>
        </p:txBody>
      </p:sp>
      <p:sp>
        <p:nvSpPr>
          <p:cNvPr id="916" name="" descr="{&quot;isTemplate&quot;:true,&quot;type&quot;:&quot;text&quot;}"/>
          <p:cNvSpPr txBox="1"/>
          <p:nvPr/>
        </p:nvSpPr>
        <p:spPr>
          <a:xfrm rot="0" flipH="0" flipV="0">
            <a:off x="533400" y="590550"/>
            <a:ext cx="6000750" cy="3619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325" b="1" spc="38">
                <a:solidFill>
                  <a:srgbClr val="F2F7F8"/>
                </a:solidFill>
                <a:latin typeface="Microsoft YaHei"/>
                <a:ea typeface="Microsoft YaHei"/>
              </a:rPr>
              <a:t>实验室：从“看拓扑”到“改策略、看判定”</a:t>
            </a:r>
            <a:endParaRPr/>
          </a:p>
        </p:txBody>
      </p:sp>
      <p:sp>
        <p:nvSpPr>
          <p:cNvPr id="917" name="" descr="{&quot;isTemplate&quot;:true,&quot;type&quot;:&quot;text&quot;}"/>
          <p:cNvSpPr txBox="1"/>
          <p:nvPr/>
        </p:nvSpPr>
        <p:spPr>
          <a:xfrm rot="0" flipH="0" flipV="0">
            <a:off x="10772775" y="723900"/>
            <a:ext cx="885825" cy="1238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788">
                <a:solidFill>
                  <a:srgbClr val="F2F7F8">
                    <a:alpha val="42000"/>
                  </a:srgbClr>
                </a:solidFill>
                <a:latin typeface="Consolas"/>
                <a:ea typeface="Consolas"/>
              </a:rPr>
              <a:t>SIX LAB SURFACES</a:t>
            </a:r>
            <a:endParaRPr/>
          </a:p>
        </p:txBody>
      </p:sp>
      <p:sp>
        <p:nvSpPr>
          <p:cNvPr id="918" name=""/>
          <p:cNvSpPr/>
          <p:nvPr/>
        </p:nvSpPr>
        <p:spPr>
          <a:xfrm rot="0" flipH="0" flipV="0">
            <a:off x="533400" y="1390650"/>
            <a:ext cx="5715000" cy="3219450"/>
          </a:xfrm>
          <a:prstGeom prst="rect">
            <a:avLst/>
          </a:prstGeom>
          <a:ln w="12700">
            <a:solidFill>
              <a:srgbClr val="6BC8D1">
                <a:alpha val="20000"/>
              </a:srgbClr>
            </a:solidFill>
            <a:prstDash val="solid"/>
          </a:ln>
        </p:spPr>
        <p:txBody>
          <a:bodyPr/>
          <a:p/>
        </p:txBody>
      </p:sp>
      <p:pic>
        <p:nvPicPr>
          <p:cNvPr id="919" name=""/>
          <p:cNvPicPr>
            <a:picLocks noChangeAspect="1"/>
          </p:cNvPicPr>
          <p:nvPr/>
        </p:nvPicPr>
        <p:blipFill>
          <a:blip r:embed="rId2"/>
          <a:srcRect l="73" t="0" r="73" b="0"/>
          <a:stretch>
            <a:fillRect/>
          </a:stretch>
        </p:blipFill>
        <p:spPr>
          <a:xfrm rot="0" flipH="0" flipV="0">
            <a:off x="533400" y="1390650"/>
            <a:ext cx="5715000" cy="3219450"/>
          </a:xfrm>
          <a:prstGeom prst="roundRect">
            <a:avLst>
              <a:gd name="adj" fmla="val 2367"/>
            </a:avLst>
          </a:prstGeom>
          <a:ln/>
        </p:spPr>
      </p:pic>
      <p:sp>
        <p:nvSpPr>
          <p:cNvPr id="920" name="" descr="{&quot;isTemplate&quot;:true,&quot;type&quot;:&quot;text&quot;}"/>
          <p:cNvSpPr txBox="1"/>
          <p:nvPr/>
        </p:nvSpPr>
        <p:spPr>
          <a:xfrm rot="0" flipH="0" flipV="0">
            <a:off x="533400" y="4705350"/>
            <a:ext cx="5715000" cy="1238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788">
                <a:solidFill>
                  <a:srgbClr val="F2F7F8">
                    <a:alpha val="44000"/>
                  </a:srgbClr>
                </a:solidFill>
                <a:latin typeface="Microsoft YaHei"/>
                <a:ea typeface="Microsoft YaHei"/>
              </a:rPr>
              <a:t>真实界面：关键数据目标“已保护”，必要业务</a:t>
            </a:r>
            <a:r>
              <a:rPr lang="en-US" sz="788">
                <a:solidFill>
                  <a:srgbClr val="F2F7F8">
                    <a:alpha val="44000"/>
                  </a:srgbClr>
                </a:solidFill>
                <a:latin typeface="Microsoft YaHei"/>
                <a:ea typeface="Microsoft YaHei"/>
              </a:rPr>
              <a:t> 2 / 2 </a:t>
            </a:r>
            <a:r>
              <a:rPr lang="zh-CN" sz="788">
                <a:solidFill>
                  <a:srgbClr val="F2F7F8">
                    <a:alpha val="44000"/>
                  </a:srgbClr>
                </a:solidFill>
                <a:latin typeface="Microsoft YaHei"/>
                <a:ea typeface="Microsoft YaHei"/>
              </a:rPr>
              <a:t>可达。</a:t>
            </a:r>
            <a:endParaRPr/>
          </a:p>
        </p:txBody>
      </p:sp>
      <p:sp>
        <p:nvSpPr>
          <p:cNvPr id="921" name=""/>
          <p:cNvSpPr/>
          <p:nvPr/>
        </p:nvSpPr>
        <p:spPr>
          <a:xfrm rot="0" flipH="0" flipV="0">
            <a:off x="647700" y="1504950"/>
            <a:ext cx="1619250" cy="209550"/>
          </a:xfrm>
          <a:prstGeom prst="roundRect">
            <a:avLst>
              <a:gd name="adj" fmla="val 18182"/>
            </a:avLst>
          </a:prstGeom>
          <a:solidFill>
            <a:srgbClr val="07111B">
              <a:alpha val="82000"/>
            </a:srgbClr>
          </a:solidFill>
          <a:ln w="12700">
            <a:solidFill>
              <a:srgbClr val="6BC8D1">
                <a:alpha val="30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922" name="" descr="{&quot;isTemplate&quot;:true,&quot;type&quot;:&quot;text&quot;}"/>
          <p:cNvSpPr txBox="1"/>
          <p:nvPr/>
        </p:nvSpPr>
        <p:spPr>
          <a:xfrm rot="0" flipH="0" flipV="0">
            <a:off x="742950" y="1552575"/>
            <a:ext cx="1428750" cy="1143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713" spc="75">
                <a:solidFill>
                  <a:srgbClr val="6BC8D1"/>
                </a:solidFill>
                <a:latin typeface="Consolas"/>
                <a:ea typeface="Consolas"/>
              </a:rPr>
              <a:t>CHALLENGE PASSED · 3 / 3</a:t>
            </a:r>
            <a:endParaRPr/>
          </a:p>
        </p:txBody>
      </p:sp>
      <p:sp>
        <p:nvSpPr>
          <p:cNvPr id="923" name=""/>
          <p:cNvSpPr/>
          <p:nvPr/>
        </p:nvSpPr>
        <p:spPr>
          <a:xfrm rot="0" flipH="0" flipV="0">
            <a:off x="6591300" y="1333500"/>
            <a:ext cx="5067300" cy="666750"/>
          </a:xfrm>
          <a:custGeom>
            <a:pathLst>
              <a:path w="532" h="70">
                <a:moveTo>
                  <a:pt x="0" y="0"/>
                </a:moveTo>
                <a:lnTo>
                  <a:pt x="532" y="0"/>
                </a:lnTo>
                <a:lnTo>
                  <a:pt x="532" y="1"/>
                </a:lnTo>
                <a:lnTo>
                  <a:pt x="0" y="1"/>
                </a:lnTo>
                <a:close/>
              </a:path>
            </a:pathLst>
          </a:custGeom>
          <a:solidFill>
            <a:srgbClr val="F2F7F8">
              <a:alpha val="10000"/>
            </a:srgbClr>
          </a:solidFill>
          <a:ln/>
        </p:spPr>
        <p:txBody>
          <a:bodyPr/>
          <a:p/>
        </p:txBody>
      </p:sp>
      <p:sp>
        <p:nvSpPr>
          <p:cNvPr id="924" name="" descr="{&quot;isTemplate&quot;:true,&quot;type&quot;:&quot;text&quot;}"/>
          <p:cNvSpPr txBox="1"/>
          <p:nvPr/>
        </p:nvSpPr>
        <p:spPr>
          <a:xfrm rot="0" flipH="0" flipV="0">
            <a:off x="6591300" y="1457325"/>
            <a:ext cx="419100" cy="1143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750">
                <a:solidFill>
                  <a:srgbClr val="6BC8D1"/>
                </a:solidFill>
                <a:latin typeface="Consolas"/>
                <a:ea typeface="Consolas"/>
              </a:rPr>
              <a:t>01</a:t>
            </a:r>
            <a:endParaRPr/>
          </a:p>
        </p:txBody>
      </p:sp>
      <p:sp>
        <p:nvSpPr>
          <p:cNvPr id="925" name="" descr="{&quot;isTemplate&quot;:true,&quot;type&quot;:&quot;text&quot;}"/>
          <p:cNvSpPr txBox="1"/>
          <p:nvPr/>
        </p:nvSpPr>
        <p:spPr>
          <a:xfrm rot="0" flipH="0" flipV="0">
            <a:off x="7010400" y="1438275"/>
            <a:ext cx="4648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 b="1">
                <a:solidFill>
                  <a:srgbClr val="F2F7F8"/>
                </a:solidFill>
                <a:latin typeface="Microsoft YaHei"/>
                <a:ea typeface="Microsoft YaHei"/>
              </a:rPr>
              <a:t>三维拓扑</a:t>
            </a:r>
            <a:endParaRPr/>
          </a:p>
        </p:txBody>
      </p:sp>
      <p:sp>
        <p:nvSpPr>
          <p:cNvPr id="926" name="" descr="{&quot;isTemplate&quot;:true,&quot;type&quot;:&quot;text&quot;}"/>
          <p:cNvSpPr txBox="1"/>
          <p:nvPr/>
        </p:nvSpPr>
        <p:spPr>
          <a:xfrm rot="0" flipH="0" flipV="0">
            <a:off x="7010400" y="1628775"/>
            <a:ext cx="4648200" cy="200025"/>
          </a:xfrm>
          <a:prstGeom prst="rect"/>
        </p:spPr>
        <p:txBody>
          <a:bodyPr wrap="none" lIns="0" tIns="0" rIns="0" bIns="0"/>
          <a:p>
            <a:pPr>
              <a:lnSpc>
                <a:spcPct val="155000"/>
              </a:lnSpc>
            </a:pPr>
            <a:r>
              <a:rPr lang="zh-CN" sz="825">
                <a:solidFill>
                  <a:srgbClr val="F2F7F8">
                    <a:alpha val="54000"/>
                  </a:srgbClr>
                </a:solidFill>
                <a:latin typeface="Microsoft YaHei"/>
                <a:ea typeface="Microsoft YaHei"/>
              </a:rPr>
              <a:t>拖动旋转、滚轮缩放、点选设备；节点位置可拖动调整。</a:t>
            </a:r>
            <a:endParaRPr/>
          </a:p>
        </p:txBody>
      </p:sp>
      <p:sp>
        <p:nvSpPr>
          <p:cNvPr id="927" name=""/>
          <p:cNvSpPr/>
          <p:nvPr/>
        </p:nvSpPr>
        <p:spPr>
          <a:xfrm rot="0" flipH="0" flipV="0">
            <a:off x="6591300" y="2000250"/>
            <a:ext cx="5067300" cy="666750"/>
          </a:xfrm>
          <a:custGeom>
            <a:pathLst>
              <a:path w="532" h="70">
                <a:moveTo>
                  <a:pt x="0" y="0"/>
                </a:moveTo>
                <a:lnTo>
                  <a:pt x="532" y="0"/>
                </a:lnTo>
                <a:lnTo>
                  <a:pt x="532" y="1"/>
                </a:lnTo>
                <a:lnTo>
                  <a:pt x="0" y="1"/>
                </a:lnTo>
                <a:close/>
              </a:path>
            </a:pathLst>
          </a:custGeom>
          <a:solidFill>
            <a:srgbClr val="F2F7F8">
              <a:alpha val="10000"/>
            </a:srgbClr>
          </a:solidFill>
          <a:ln/>
        </p:spPr>
        <p:txBody>
          <a:bodyPr/>
          <a:p/>
        </p:txBody>
      </p:sp>
      <p:sp>
        <p:nvSpPr>
          <p:cNvPr id="928" name="" descr="{&quot;isTemplate&quot;:true,&quot;type&quot;:&quot;text&quot;}"/>
          <p:cNvSpPr txBox="1"/>
          <p:nvPr/>
        </p:nvSpPr>
        <p:spPr>
          <a:xfrm rot="0" flipH="0" flipV="0">
            <a:off x="6591300" y="2124075"/>
            <a:ext cx="419100" cy="1143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750">
                <a:solidFill>
                  <a:srgbClr val="6BC8D1"/>
                </a:solidFill>
                <a:latin typeface="Consolas"/>
                <a:ea typeface="Consolas"/>
              </a:rPr>
              <a:t>02</a:t>
            </a:r>
            <a:endParaRPr/>
          </a:p>
        </p:txBody>
      </p:sp>
      <p:sp>
        <p:nvSpPr>
          <p:cNvPr id="929" name="" descr="{&quot;isTemplate&quot;:true,&quot;type&quot;:&quot;text&quot;}"/>
          <p:cNvSpPr txBox="1"/>
          <p:nvPr/>
        </p:nvSpPr>
        <p:spPr>
          <a:xfrm rot="0" flipH="0" flipV="0">
            <a:off x="7010400" y="2105025"/>
            <a:ext cx="4648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 b="1">
                <a:solidFill>
                  <a:srgbClr val="F2F7F8"/>
                </a:solidFill>
                <a:latin typeface="Microsoft YaHei"/>
                <a:ea typeface="Microsoft YaHei"/>
              </a:rPr>
              <a:t>节点与策略</a:t>
            </a:r>
            <a:endParaRPr/>
          </a:p>
        </p:txBody>
      </p:sp>
      <p:sp>
        <p:nvSpPr>
          <p:cNvPr id="930" name="" descr="{&quot;isTemplate&quot;:true,&quot;type&quot;:&quot;text&quot;}"/>
          <p:cNvSpPr txBox="1"/>
          <p:nvPr/>
        </p:nvSpPr>
        <p:spPr>
          <a:xfrm rot="0" flipH="0" flipV="0">
            <a:off x="7010400" y="2295525"/>
            <a:ext cx="4648200" cy="200025"/>
          </a:xfrm>
          <a:prstGeom prst="rect"/>
        </p:spPr>
        <p:txBody>
          <a:bodyPr wrap="none" lIns="0" tIns="0" rIns="0" bIns="0"/>
          <a:p>
            <a:pPr>
              <a:lnSpc>
                <a:spcPct val="155000"/>
              </a:lnSpc>
            </a:pPr>
            <a:r>
              <a:rPr lang="zh-CN" sz="825">
                <a:solidFill>
                  <a:srgbClr val="F2F7F8">
                    <a:alpha val="54000"/>
                  </a:srgbClr>
                </a:solidFill>
                <a:latin typeface="Microsoft YaHei"/>
                <a:ea typeface="Microsoft YaHei"/>
              </a:rPr>
              <a:t>查看</a:t>
            </a:r>
            <a:r>
              <a:rPr lang="en-US" sz="825">
                <a:solidFill>
                  <a:srgbClr val="F2F7F8">
                    <a:alpha val="54000"/>
                  </a:srgbClr>
                </a:solidFill>
                <a:latin typeface="Microsoft YaHei"/>
                <a:ea typeface="Microsoft YaHei"/>
              </a:rPr>
              <a:t> IP / VLAN / </a:t>
            </a:r>
            <a:r>
              <a:rPr lang="zh-CN" sz="825">
                <a:solidFill>
                  <a:srgbClr val="F2F7F8">
                    <a:alpha val="54000"/>
                  </a:srgbClr>
                </a:solidFill>
                <a:latin typeface="Microsoft YaHei"/>
                <a:ea typeface="Microsoft YaHei"/>
              </a:rPr>
              <a:t>路由；启停终端防护、服务加固、数据访问控制与隔离。</a:t>
            </a:r>
            <a:endParaRPr/>
          </a:p>
        </p:txBody>
      </p:sp>
      <p:sp>
        <p:nvSpPr>
          <p:cNvPr id="931" name=""/>
          <p:cNvSpPr/>
          <p:nvPr/>
        </p:nvSpPr>
        <p:spPr>
          <a:xfrm rot="0" flipH="0" flipV="0">
            <a:off x="6591300" y="2667000"/>
            <a:ext cx="5067300" cy="666750"/>
          </a:xfrm>
          <a:custGeom>
            <a:pathLst>
              <a:path w="532" h="70">
                <a:moveTo>
                  <a:pt x="0" y="0"/>
                </a:moveTo>
                <a:lnTo>
                  <a:pt x="532" y="0"/>
                </a:lnTo>
                <a:lnTo>
                  <a:pt x="532" y="1"/>
                </a:lnTo>
                <a:lnTo>
                  <a:pt x="0" y="1"/>
                </a:lnTo>
                <a:close/>
              </a:path>
            </a:pathLst>
          </a:custGeom>
          <a:solidFill>
            <a:srgbClr val="F2F7F8">
              <a:alpha val="10000"/>
            </a:srgbClr>
          </a:solidFill>
          <a:ln/>
        </p:spPr>
        <p:txBody>
          <a:bodyPr/>
          <a:p/>
        </p:txBody>
      </p:sp>
      <p:sp>
        <p:nvSpPr>
          <p:cNvPr id="932" name="" descr="{&quot;isTemplate&quot;:true,&quot;type&quot;:&quot;text&quot;}"/>
          <p:cNvSpPr txBox="1"/>
          <p:nvPr/>
        </p:nvSpPr>
        <p:spPr>
          <a:xfrm rot="0" flipH="0" flipV="0">
            <a:off x="6591300" y="2790825"/>
            <a:ext cx="419100" cy="1143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750">
                <a:solidFill>
                  <a:srgbClr val="6BC8D1"/>
                </a:solidFill>
                <a:latin typeface="Consolas"/>
                <a:ea typeface="Consolas"/>
              </a:rPr>
              <a:t>03</a:t>
            </a:r>
            <a:endParaRPr/>
          </a:p>
        </p:txBody>
      </p:sp>
      <p:sp>
        <p:nvSpPr>
          <p:cNvPr id="933" name="" descr="{&quot;isTemplate&quot;:true,&quot;type&quot;:&quot;text&quot;}"/>
          <p:cNvSpPr txBox="1"/>
          <p:nvPr/>
        </p:nvSpPr>
        <p:spPr>
          <a:xfrm rot="0" flipH="0" flipV="0">
            <a:off x="7010400" y="2771775"/>
            <a:ext cx="4648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 b="1">
                <a:solidFill>
                  <a:srgbClr val="F2F7F8"/>
                </a:solidFill>
                <a:latin typeface="Microsoft YaHei"/>
                <a:ea typeface="Microsoft YaHei"/>
              </a:rPr>
              <a:t>事件判定</a:t>
            </a:r>
            <a:endParaRPr/>
          </a:p>
        </p:txBody>
      </p:sp>
      <p:sp>
        <p:nvSpPr>
          <p:cNvPr id="934" name="" descr="{&quot;isTemplate&quot;:true,&quot;type&quot;:&quot;text&quot;}"/>
          <p:cNvSpPr txBox="1"/>
          <p:nvPr/>
        </p:nvSpPr>
        <p:spPr>
          <a:xfrm rot="0" flipH="0" flipV="0">
            <a:off x="7010400" y="2962275"/>
            <a:ext cx="4648200" cy="200025"/>
          </a:xfrm>
          <a:prstGeom prst="rect"/>
        </p:spPr>
        <p:txBody>
          <a:bodyPr wrap="none" lIns="0" tIns="0" rIns="0" bIns="0"/>
          <a:p>
            <a:pPr>
              <a:lnSpc>
                <a:spcPct val="155000"/>
              </a:lnSpc>
            </a:pPr>
            <a:r>
              <a:rPr lang="zh-CN" sz="825">
                <a:solidFill>
                  <a:srgbClr val="F2F7F8">
                    <a:alpha val="54000"/>
                  </a:srgbClr>
                </a:solidFill>
                <a:latin typeface="Microsoft YaHei"/>
                <a:ea typeface="Microsoft YaHei"/>
              </a:rPr>
              <a:t>结果、实际路径、命中规则、阻断位置，以及状态的前后值。</a:t>
            </a:r>
            <a:endParaRPr/>
          </a:p>
        </p:txBody>
      </p:sp>
      <p:sp>
        <p:nvSpPr>
          <p:cNvPr id="935" name=""/>
          <p:cNvSpPr/>
          <p:nvPr/>
        </p:nvSpPr>
        <p:spPr>
          <a:xfrm rot="0" flipH="0" flipV="0">
            <a:off x="6591300" y="3333750"/>
            <a:ext cx="5067300" cy="666750"/>
          </a:xfrm>
          <a:custGeom>
            <a:pathLst>
              <a:path w="532" h="70">
                <a:moveTo>
                  <a:pt x="0" y="0"/>
                </a:moveTo>
                <a:lnTo>
                  <a:pt x="532" y="0"/>
                </a:lnTo>
                <a:lnTo>
                  <a:pt x="532" y="1"/>
                </a:lnTo>
                <a:lnTo>
                  <a:pt x="0" y="1"/>
                </a:lnTo>
                <a:close/>
              </a:path>
            </a:pathLst>
          </a:custGeom>
          <a:solidFill>
            <a:srgbClr val="F2F7F8">
              <a:alpha val="10000"/>
            </a:srgbClr>
          </a:solidFill>
          <a:ln/>
        </p:spPr>
        <p:txBody>
          <a:bodyPr/>
          <a:p/>
        </p:txBody>
      </p:sp>
      <p:sp>
        <p:nvSpPr>
          <p:cNvPr id="936" name="" descr="{&quot;isTemplate&quot;:true,&quot;type&quot;:&quot;text&quot;}"/>
          <p:cNvSpPr txBox="1"/>
          <p:nvPr/>
        </p:nvSpPr>
        <p:spPr>
          <a:xfrm rot="0" flipH="0" flipV="0">
            <a:off x="6591300" y="3457575"/>
            <a:ext cx="419100" cy="1143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750">
                <a:solidFill>
                  <a:srgbClr val="6BC8D1"/>
                </a:solidFill>
                <a:latin typeface="Consolas"/>
                <a:ea typeface="Consolas"/>
              </a:rPr>
              <a:t>04</a:t>
            </a:r>
            <a:endParaRPr/>
          </a:p>
        </p:txBody>
      </p:sp>
      <p:sp>
        <p:nvSpPr>
          <p:cNvPr id="937" name="" descr="{&quot;isTemplate&quot;:true,&quot;type&quot;:&quot;text&quot;}"/>
          <p:cNvSpPr txBox="1"/>
          <p:nvPr/>
        </p:nvSpPr>
        <p:spPr>
          <a:xfrm rot="0" flipH="0" flipV="0">
            <a:off x="7010400" y="3438525"/>
            <a:ext cx="4648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 b="1">
                <a:solidFill>
                  <a:srgbClr val="F2F7F8"/>
                </a:solidFill>
                <a:latin typeface="Microsoft YaHei"/>
                <a:ea typeface="Microsoft YaHei"/>
              </a:rPr>
              <a:t>代表链回放</a:t>
            </a:r>
            <a:endParaRPr/>
          </a:p>
        </p:txBody>
      </p:sp>
      <p:sp>
        <p:nvSpPr>
          <p:cNvPr id="938" name="" descr="{&quot;isTemplate&quot;:true,&quot;type&quot;:&quot;text&quot;}"/>
          <p:cNvSpPr txBox="1"/>
          <p:nvPr/>
        </p:nvSpPr>
        <p:spPr>
          <a:xfrm rot="0" flipH="0" flipV="0">
            <a:off x="7010400" y="3629025"/>
            <a:ext cx="4648200" cy="200025"/>
          </a:xfrm>
          <a:prstGeom prst="rect"/>
        </p:spPr>
        <p:txBody>
          <a:bodyPr wrap="none" lIns="0" tIns="0" rIns="0" bIns="0"/>
          <a:p>
            <a:pPr>
              <a:lnSpc>
                <a:spcPct val="155000"/>
              </a:lnSpc>
            </a:pPr>
            <a:r>
              <a:rPr lang="zh-CN" sz="825">
                <a:solidFill>
                  <a:srgbClr val="F2F7F8">
                    <a:alpha val="54000"/>
                  </a:srgbClr>
                </a:solidFill>
                <a:latin typeface="Microsoft YaHei"/>
                <a:ea typeface="Microsoft YaHei"/>
              </a:rPr>
              <a:t>播放</a:t>
            </a:r>
            <a:r>
              <a:rPr lang="en-US" sz="825">
                <a:solidFill>
                  <a:srgbClr val="F2F7F8">
                    <a:alpha val="54000"/>
                  </a:srgbClr>
                </a:solidFill>
                <a:latin typeface="Microsoft YaHei"/>
                <a:ea typeface="Microsoft YaHei"/>
              </a:rPr>
              <a:t> / </a:t>
            </a:r>
            <a:r>
              <a:rPr lang="zh-CN" sz="825">
                <a:solidFill>
                  <a:srgbClr val="F2F7F8">
                    <a:alpha val="54000"/>
                  </a:srgbClr>
                </a:solidFill>
                <a:latin typeface="Microsoft YaHei"/>
                <a:ea typeface="Microsoft YaHei"/>
              </a:rPr>
              <a:t>暂停</a:t>
            </a:r>
            <a:r>
              <a:rPr lang="en-US" sz="825">
                <a:solidFill>
                  <a:srgbClr val="F2F7F8">
                    <a:alpha val="54000"/>
                  </a:srgbClr>
                </a:solidFill>
                <a:latin typeface="Microsoft YaHei"/>
                <a:ea typeface="Microsoft YaHei"/>
              </a:rPr>
              <a:t> / </a:t>
            </a:r>
            <a:r>
              <a:rPr lang="zh-CN" sz="825">
                <a:solidFill>
                  <a:srgbClr val="F2F7F8">
                    <a:alpha val="54000"/>
                  </a:srgbClr>
                </a:solidFill>
                <a:latin typeface="Microsoft YaHei"/>
                <a:ea typeface="Microsoft YaHei"/>
              </a:rPr>
              <a:t>单步</a:t>
            </a:r>
            <a:r>
              <a:rPr lang="en-US" sz="825">
                <a:solidFill>
                  <a:srgbClr val="F2F7F8">
                    <a:alpha val="54000"/>
                  </a:srgbClr>
                </a:solidFill>
                <a:latin typeface="Microsoft YaHei"/>
                <a:ea typeface="Microsoft YaHei"/>
              </a:rPr>
              <a:t> / </a:t>
            </a:r>
            <a:r>
              <a:rPr lang="zh-CN" sz="825">
                <a:solidFill>
                  <a:srgbClr val="F2F7F8">
                    <a:alpha val="54000"/>
                  </a:srgbClr>
                </a:solidFill>
                <a:latin typeface="Microsoft YaHei"/>
                <a:ea typeface="Microsoft YaHei"/>
              </a:rPr>
              <a:t>倍速；点击</a:t>
            </a:r>
            <a:r>
              <a:rPr lang="en-US" sz="825">
                <a:solidFill>
                  <a:srgbClr val="F2F7F8">
                    <a:alpha val="54000"/>
                  </a:srgbClr>
                </a:solidFill>
                <a:latin typeface="Microsoft YaHei"/>
                <a:ea typeface="Microsoft YaHei"/>
              </a:rPr>
              <a:t> T0–Tn </a:t>
            </a:r>
            <a:r>
              <a:rPr lang="zh-CN" sz="825">
                <a:solidFill>
                  <a:srgbClr val="F2F7F8">
                    <a:alpha val="54000"/>
                  </a:srgbClr>
                </a:solidFill>
                <a:latin typeface="Microsoft YaHei"/>
                <a:ea typeface="Microsoft YaHei"/>
              </a:rPr>
              <a:t>直接定位到对应状态。</a:t>
            </a:r>
            <a:endParaRPr/>
          </a:p>
        </p:txBody>
      </p:sp>
      <p:sp>
        <p:nvSpPr>
          <p:cNvPr id="939" name=""/>
          <p:cNvSpPr/>
          <p:nvPr/>
        </p:nvSpPr>
        <p:spPr>
          <a:xfrm rot="0" flipH="0" flipV="0">
            <a:off x="6591300" y="4000500"/>
            <a:ext cx="5067300" cy="666750"/>
          </a:xfrm>
          <a:custGeom>
            <a:pathLst>
              <a:path w="532" h="70">
                <a:moveTo>
                  <a:pt x="0" y="0"/>
                </a:moveTo>
                <a:lnTo>
                  <a:pt x="532" y="0"/>
                </a:lnTo>
                <a:lnTo>
                  <a:pt x="532" y="1"/>
                </a:lnTo>
                <a:lnTo>
                  <a:pt x="0" y="1"/>
                </a:lnTo>
                <a:close/>
              </a:path>
            </a:pathLst>
          </a:custGeom>
          <a:solidFill>
            <a:srgbClr val="F2F7F8">
              <a:alpha val="10000"/>
            </a:srgbClr>
          </a:solidFill>
          <a:ln/>
        </p:spPr>
        <p:txBody>
          <a:bodyPr/>
          <a:p/>
        </p:txBody>
      </p:sp>
      <p:sp>
        <p:nvSpPr>
          <p:cNvPr id="940" name="" descr="{&quot;isTemplate&quot;:true,&quot;type&quot;:&quot;text&quot;}"/>
          <p:cNvSpPr txBox="1"/>
          <p:nvPr/>
        </p:nvSpPr>
        <p:spPr>
          <a:xfrm rot="0" flipH="0" flipV="0">
            <a:off x="6591300" y="4124325"/>
            <a:ext cx="419100" cy="1143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750">
                <a:solidFill>
                  <a:srgbClr val="E78172"/>
                </a:solidFill>
                <a:latin typeface="Consolas"/>
                <a:ea typeface="Consolas"/>
              </a:rPr>
              <a:t>05</a:t>
            </a:r>
            <a:endParaRPr/>
          </a:p>
        </p:txBody>
      </p:sp>
      <p:sp>
        <p:nvSpPr>
          <p:cNvPr id="941" name="" descr="{&quot;isTemplate&quot;:true,&quot;type&quot;:&quot;text&quot;}"/>
          <p:cNvSpPr txBox="1"/>
          <p:nvPr/>
        </p:nvSpPr>
        <p:spPr>
          <a:xfrm rot="0" flipH="0" flipV="0">
            <a:off x="7010400" y="4105275"/>
            <a:ext cx="4648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 b="1">
                <a:solidFill>
                  <a:srgbClr val="F2F7F8"/>
                </a:solidFill>
                <a:latin typeface="Microsoft YaHei"/>
                <a:ea typeface="Microsoft YaHei"/>
              </a:rPr>
              <a:t>安全挑战</a:t>
            </a:r>
            <a:endParaRPr/>
          </a:p>
        </p:txBody>
      </p:sp>
      <p:sp>
        <p:nvSpPr>
          <p:cNvPr id="942" name="" descr="{&quot;isTemplate&quot;:true,&quot;type&quot;:&quot;text&quot;}"/>
          <p:cNvSpPr txBox="1"/>
          <p:nvPr/>
        </p:nvSpPr>
        <p:spPr>
          <a:xfrm rot="0" flipH="0" flipV="0">
            <a:off x="7010400" y="4295775"/>
            <a:ext cx="4648200" cy="200025"/>
          </a:xfrm>
          <a:prstGeom prst="rect"/>
        </p:spPr>
        <p:txBody>
          <a:bodyPr wrap="none" lIns="0" tIns="0" rIns="0" bIns="0"/>
          <a:p>
            <a:pPr>
              <a:lnSpc>
                <a:spcPct val="155000"/>
              </a:lnSpc>
            </a:pPr>
            <a:r>
              <a:rPr lang="zh-CN" sz="825">
                <a:solidFill>
                  <a:srgbClr val="F2F7F8">
                    <a:alpha val="54000"/>
                  </a:srgbClr>
                </a:solidFill>
                <a:latin typeface="Microsoft YaHei"/>
                <a:ea typeface="Microsoft YaHei"/>
              </a:rPr>
              <a:t>不是“全断开”：关键目标保护</a:t>
            </a:r>
            <a:r>
              <a:rPr lang="en-US" sz="825">
                <a:solidFill>
                  <a:srgbClr val="F2F7F8">
                    <a:alpha val="54000"/>
                  </a:srgbClr>
                </a:solidFill>
                <a:latin typeface="Microsoft YaHei"/>
                <a:ea typeface="Microsoft YaHei"/>
              </a:rPr>
              <a:t> + </a:t>
            </a:r>
            <a:r>
              <a:rPr lang="zh-CN" sz="825">
                <a:solidFill>
                  <a:srgbClr val="F2F7F8">
                    <a:alpha val="54000"/>
                  </a:srgbClr>
                </a:solidFill>
                <a:latin typeface="Microsoft YaHei"/>
                <a:ea typeface="Microsoft YaHei"/>
              </a:rPr>
              <a:t>必要业务可达，两个条件同时通过。</a:t>
            </a:r>
            <a:endParaRPr/>
          </a:p>
        </p:txBody>
      </p:sp>
      <p:sp>
        <p:nvSpPr>
          <p:cNvPr id="943" name=""/>
          <p:cNvSpPr/>
          <p:nvPr/>
        </p:nvSpPr>
        <p:spPr>
          <a:xfrm rot="0" flipH="0" flipV="0">
            <a:off x="6591300" y="4667250"/>
            <a:ext cx="5067300" cy="666750"/>
          </a:xfrm>
          <a:custGeom>
            <a:pathLst>
              <a:path w="532" h="70">
                <a:moveTo>
                  <a:pt x="0" y="0"/>
                </a:moveTo>
                <a:lnTo>
                  <a:pt x="532" y="0"/>
                </a:lnTo>
                <a:lnTo>
                  <a:pt x="532" y="1"/>
                </a:lnTo>
                <a:lnTo>
                  <a:pt x="0" y="1"/>
                </a:lnTo>
                <a:close/>
              </a:path>
            </a:pathLst>
          </a:custGeom>
          <a:solidFill>
            <a:srgbClr val="F2F7F8">
              <a:alpha val="10000"/>
            </a:srgbClr>
          </a:solidFill>
          <a:ln/>
        </p:spPr>
        <p:txBody>
          <a:bodyPr/>
          <a:p/>
        </p:txBody>
      </p:sp>
      <p:sp>
        <p:nvSpPr>
          <p:cNvPr id="944" name=""/>
          <p:cNvSpPr/>
          <p:nvPr/>
        </p:nvSpPr>
        <p:spPr>
          <a:xfrm rot="0" flipH="0" flipV="0">
            <a:off x="6591300" y="4667250"/>
            <a:ext cx="5067300" cy="666750"/>
          </a:xfrm>
          <a:custGeom>
            <a:pathLst>
              <a:path w="532" h="70">
                <a:moveTo>
                  <a:pt x="0" y="69"/>
                </a:moveTo>
                <a:lnTo>
                  <a:pt x="532" y="69"/>
                </a:lnTo>
                <a:lnTo>
                  <a:pt x="532" y="70"/>
                </a:lnTo>
                <a:lnTo>
                  <a:pt x="0" y="70"/>
                </a:lnTo>
                <a:close/>
              </a:path>
            </a:pathLst>
          </a:custGeom>
          <a:solidFill>
            <a:srgbClr val="F2F7F8">
              <a:alpha val="10000"/>
            </a:srgbClr>
          </a:solidFill>
          <a:ln/>
        </p:spPr>
        <p:txBody>
          <a:bodyPr/>
          <a:p/>
        </p:txBody>
      </p:sp>
      <p:sp>
        <p:nvSpPr>
          <p:cNvPr id="945" name="" descr="{&quot;isTemplate&quot;:true,&quot;type&quot;:&quot;text&quot;}"/>
          <p:cNvSpPr txBox="1"/>
          <p:nvPr/>
        </p:nvSpPr>
        <p:spPr>
          <a:xfrm rot="0" flipH="0" flipV="0">
            <a:off x="6591300" y="4791075"/>
            <a:ext cx="419100" cy="1143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750">
                <a:solidFill>
                  <a:srgbClr val="6BC8D1"/>
                </a:solidFill>
                <a:latin typeface="Consolas"/>
                <a:ea typeface="Consolas"/>
              </a:rPr>
              <a:t>06</a:t>
            </a:r>
            <a:endParaRPr/>
          </a:p>
        </p:txBody>
      </p:sp>
      <p:sp>
        <p:nvSpPr>
          <p:cNvPr id="946" name="" descr="{&quot;isTemplate&quot;:true,&quot;type&quot;:&quot;text&quot;}"/>
          <p:cNvSpPr txBox="1"/>
          <p:nvPr/>
        </p:nvSpPr>
        <p:spPr>
          <a:xfrm rot="0" flipH="0" flipV="0">
            <a:off x="7010400" y="4772025"/>
            <a:ext cx="4648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 b="1">
                <a:solidFill>
                  <a:srgbClr val="F2F7F8"/>
                </a:solidFill>
                <a:latin typeface="Microsoft YaHei"/>
                <a:ea typeface="Microsoft YaHei"/>
              </a:rPr>
              <a:t>演示模式</a:t>
            </a:r>
            <a:endParaRPr/>
          </a:p>
        </p:txBody>
      </p:sp>
      <p:sp>
        <p:nvSpPr>
          <p:cNvPr id="947" name="" descr="{&quot;isTemplate&quot;:true,&quot;type&quot;:&quot;text&quot;}"/>
          <p:cNvSpPr txBox="1"/>
          <p:nvPr/>
        </p:nvSpPr>
        <p:spPr>
          <a:xfrm rot="0" flipH="0" flipV="0">
            <a:off x="7010400" y="4962525"/>
            <a:ext cx="4648200" cy="200025"/>
          </a:xfrm>
          <a:prstGeom prst="rect"/>
        </p:spPr>
        <p:txBody>
          <a:bodyPr wrap="none" lIns="0" tIns="0" rIns="0" bIns="0"/>
          <a:p>
            <a:pPr>
              <a:lnSpc>
                <a:spcPct val="155000"/>
              </a:lnSpc>
            </a:pPr>
            <a:r>
              <a:rPr lang="zh-CN" sz="825">
                <a:solidFill>
                  <a:srgbClr val="F2F7F8">
                    <a:alpha val="54000"/>
                  </a:srgbClr>
                </a:solidFill>
                <a:latin typeface="Microsoft YaHei"/>
                <a:ea typeface="Microsoft YaHei"/>
              </a:rPr>
              <a:t>收起编辑控件、放大拓扑；课堂投屏时只保留讲解需要的信息。</a:t>
            </a:r>
            <a:endParaRPr/>
          </a:p>
        </p:txBody>
      </p:sp>
      <p:sp>
        <p:nvSpPr>
          <p:cNvPr id="948" name=""/>
          <p:cNvSpPr/>
          <p:nvPr/>
        </p:nvSpPr>
        <p:spPr>
          <a:xfrm rot="0" flipH="0" flipV="0">
            <a:off x="533400" y="5972175"/>
            <a:ext cx="190500" cy="9525"/>
          </a:xfrm>
          <a:prstGeom prst="rect">
            <a:avLst/>
          </a:prstGeom>
          <a:solidFill>
            <a:srgbClr val="6BC8D1"/>
          </a:solidFill>
          <a:ln/>
        </p:spPr>
        <p:txBody>
          <a:bodyPr/>
          <a:p/>
        </p:txBody>
      </p:sp>
      <p:sp>
        <p:nvSpPr>
          <p:cNvPr id="949" name="" descr="{&quot;isTemplate&quot;:true,&quot;type&quot;:&quot;text&quot;}"/>
          <p:cNvSpPr txBox="1"/>
          <p:nvPr/>
        </p:nvSpPr>
        <p:spPr>
          <a:xfrm rot="0" flipH="0" flipV="0">
            <a:off x="819150" y="5905500"/>
            <a:ext cx="4600575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863">
                <a:solidFill>
                  <a:srgbClr val="F2F7F8">
                    <a:alpha val="48000"/>
                  </a:srgbClr>
                </a:solidFill>
                <a:latin typeface="Microsoft YaHei"/>
                <a:ea typeface="Microsoft YaHei"/>
              </a:rPr>
              <a:t>更多操作：恢复默认</a:t>
            </a:r>
            <a:r>
              <a:rPr lang="en-US" sz="863">
                <a:solidFill>
                  <a:srgbClr val="F2F7F8">
                    <a:alpha val="48000"/>
                  </a:srgbClr>
                </a:solidFill>
                <a:latin typeface="Microsoft YaHei"/>
                <a:ea typeface="Microsoft YaHei"/>
              </a:rPr>
              <a:t> · </a:t>
            </a:r>
            <a:r>
              <a:rPr lang="zh-CN" sz="863">
                <a:solidFill>
                  <a:srgbClr val="F2F7F8">
                    <a:alpha val="48000"/>
                  </a:srgbClr>
                </a:solidFill>
                <a:latin typeface="Microsoft YaHei"/>
                <a:ea typeface="Microsoft YaHei"/>
              </a:rPr>
              <a:t>复制复现链接</a:t>
            </a:r>
            <a:r>
              <a:rPr lang="en-US" sz="863">
                <a:solidFill>
                  <a:srgbClr val="F2F7F8">
                    <a:alpha val="48000"/>
                  </a:srgbClr>
                </a:solidFill>
                <a:latin typeface="Microsoft YaHei"/>
                <a:ea typeface="Microsoft YaHei"/>
              </a:rPr>
              <a:t> · </a:t>
            </a:r>
            <a:r>
              <a:rPr lang="zh-CN" sz="863">
                <a:solidFill>
                  <a:srgbClr val="F2F7F8">
                    <a:alpha val="48000"/>
                  </a:srgbClr>
                </a:solidFill>
                <a:latin typeface="Microsoft YaHei"/>
                <a:ea typeface="Microsoft YaHei"/>
              </a:rPr>
              <a:t>导出</a:t>
            </a:r>
            <a:r>
              <a:rPr lang="en-US" sz="863">
                <a:solidFill>
                  <a:srgbClr val="F2F7F8">
                    <a:alpha val="48000"/>
                  </a:srgbClr>
                </a:solidFill>
                <a:latin typeface="Microsoft YaHei"/>
                <a:ea typeface="Microsoft YaHei"/>
              </a:rPr>
              <a:t>/</a:t>
            </a:r>
            <a:r>
              <a:rPr lang="zh-CN" sz="863">
                <a:solidFill>
                  <a:srgbClr val="F2F7F8">
                    <a:alpha val="48000"/>
                  </a:srgbClr>
                </a:solidFill>
                <a:latin typeface="Microsoft YaHei"/>
                <a:ea typeface="Microsoft YaHei"/>
              </a:rPr>
              <a:t>导入场景</a:t>
            </a:r>
            <a:r>
              <a:rPr lang="en-US" sz="863">
                <a:solidFill>
                  <a:srgbClr val="F2F7F8">
                    <a:alpha val="48000"/>
                  </a:srgbClr>
                </a:solidFill>
                <a:latin typeface="Microsoft YaHei"/>
                <a:ea typeface="Microsoft YaHei"/>
              </a:rPr>
              <a:t> JSON</a:t>
            </a:r>
            <a:r>
              <a:rPr lang="zh-CN" sz="863">
                <a:solidFill>
                  <a:srgbClr val="F2F7F8">
                    <a:alpha val="48000"/>
                  </a:srgbClr>
                </a:solidFill>
                <a:latin typeface="Microsoft YaHei"/>
                <a:ea typeface="Microsoft YaHei"/>
              </a:rPr>
              <a:t>；六个功能区共享同一份场景状态。</a:t>
            </a:r>
            <a:endParaRPr/>
          </a:p>
        </p:txBody>
      </p:sp>
      <p:sp>
        <p:nvSpPr>
          <p:cNvPr id="950" name=""/>
          <p:cNvSpPr/>
          <p:nvPr/>
        </p:nvSpPr>
        <p:spPr>
          <a:xfrm rot="0" flipH="0" flipV="0">
            <a:off x="533400" y="6324600"/>
            <a:ext cx="11125200" cy="9525"/>
          </a:xfrm>
          <a:prstGeom prst="rect">
            <a:avLst/>
          </a:prstGeom>
          <a:solidFill>
            <a:srgbClr val="F2F7F8">
              <a:alpha val="10000"/>
            </a:srgbClr>
          </a:solidFill>
          <a:ln/>
        </p:spPr>
        <p:txBody>
          <a:bodyPr/>
          <a:p/>
        </p:txBody>
      </p:sp>
      <p:sp>
        <p:nvSpPr>
          <p:cNvPr id="951" name="" descr="{&quot;isTemplate&quot;:true,&quot;type&quot;:&quot;text&quot;}"/>
          <p:cNvSpPr txBox="1"/>
          <p:nvPr/>
        </p:nvSpPr>
        <p:spPr>
          <a:xfrm rot="0" flipH="0" flipV="0">
            <a:off x="533400" y="6457950"/>
            <a:ext cx="3248025" cy="1238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788" spc="60">
                <a:solidFill>
                  <a:srgbClr val="F2F7F8">
                    <a:alpha val="40000"/>
                  </a:srgbClr>
                </a:solidFill>
                <a:latin typeface="Consolas"/>
                <a:ea typeface="Consolas"/>
              </a:rPr>
              <a:t>智御网络</a:t>
            </a:r>
            <a:r>
              <a:rPr lang="en-US" sz="788" spc="60">
                <a:solidFill>
                  <a:srgbClr val="F2F7F8">
                    <a:alpha val="40000"/>
                  </a:srgbClr>
                </a:solidFill>
                <a:latin typeface="Consolas"/>
                <a:ea typeface="Consolas"/>
              </a:rPr>
              <a:t> · </a:t>
            </a:r>
            <a:r>
              <a:rPr lang="zh-CN" sz="788" spc="60">
                <a:solidFill>
                  <a:srgbClr val="F2F7F8">
                    <a:alpha val="40000"/>
                  </a:srgbClr>
                </a:solidFill>
                <a:latin typeface="Consolas"/>
                <a:ea typeface="Consolas"/>
              </a:rPr>
              <a:t>三维网络安全策略交互验证平台</a:t>
            </a:r>
            <a:endParaRPr/>
          </a:p>
        </p:txBody>
      </p:sp>
      <p:sp>
        <p:nvSpPr>
          <p:cNvPr id="952" name="" descr="{&quot;isTemplate&quot;:true,&quot;type&quot;:&quot;text&quot;}"/>
          <p:cNvSpPr txBox="1"/>
          <p:nvPr/>
        </p:nvSpPr>
        <p:spPr>
          <a:xfrm rot="0" flipH="0" flipV="0">
            <a:off x="11268075" y="6457950"/>
            <a:ext cx="390525" cy="1238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788">
                <a:solidFill>
                  <a:srgbClr val="F2F7F8">
                    <a:alpha val="40000"/>
                  </a:srgbClr>
                </a:solidFill>
                <a:latin typeface="Consolas"/>
                <a:ea typeface="Consolas"/>
              </a:rPr>
              <a:t>08 / 22</a:t>
            </a:r>
            <a:endParaRPr/>
          </a:p>
        </p:txBody>
      </p:sp>
    </p:spTree>
  </p:cSld>
</p:sld>
</file>

<file path=ppt/slides/slide9.xml><?xml version="1.0" encoding="utf-8"?>
<p:sld xmlns:p="http://schemas.openxmlformats.org/presentationml/2006/main" xmlns:r="http://schemas.openxmlformats.org/officeDocument/2006/relationships" xmlns:a="http://schemas.openxmlformats.org/drawingml/2006/main" xmlns:asvg="http://schemas.microsoft.com/office/drawing/2016/SVG/main" xmlns:mc="http://schemas.openxmlformats.org/markup-compatibility/2006" mc:Ignorable="asvg">
  <p:cSld>
    <p:spTree>
      <p:nvGrpSpPr>
        <p:cNvPr id="953" name="" descr="&lt;Slide style={{ width: 1280, height: 720, background: '#07111B', padding: 0, position: 'relative', overflow: 'hidden' }}&gt;&#10;    &lt;svg width={1280} height={720} viewBox='0 0 1280 720' style={{ position: 'absolute', left: 0, top: 0 }}&gt;&#10;        &lt;g stroke='rgba(242,247,248,0.03)' strokeWidth='1'&gt;&#10;            &lt;path d='M0 80H1280M0 160H1280M0 240H1280M0 320H1280M0 400H1280M0 480H1280M0 560H1280M0 640H1280' /&gt;&#10;            &lt;path d='M80 0V720M160 0V720M240 0V720M320 0V720M400 0V720M480 0V720M560 0V720M640 0V720M720 0V720M800 0V720M880 0V720M960 0V720M1040 0V720M1120 0V720M1200 0V720' /&gt;&#10;        &lt;/g&gt;&#10;        &lt;g stroke='rgba(107,200,209,0.18)' strokeWidth='1' fill='none'&gt;&#10;            &lt;path d='M700 520L790 420L900 470L1010 350L1120 400' /&gt;&#10;            &lt;path d='M790 420L850 540L960 580L1010 350' /&gt;&#10;        &lt;/g&gt;&#10;        &lt;g fill='#6BC8D1'&gt;&#10;            &lt;circle cx='700' cy='520' r='4' opacity='0.45' /&gt;&#10;            &lt;circle cx='790' cy='420' r='5' opacity='0.7' /&gt;&#10;            &lt;circle cx='900' cy='470' r='4' opacity='0.45' /&gt;&#10;            &lt;circle cx='1010' cy='350' r='6' opacity='0.85' /&gt;&#10;            &lt;circle cx='1120' cy='400' r='3.5' opacity='0.4' /&gt;&#10;            &lt;circle cx='850' cy='540' r='4' opacity='0.45' /&gt;&#10;            &lt;circle cx='960' cy='580' r='4' opacity='0.5' /&gt;&#10;        &lt;/g&gt;&#10;    &lt;/svg&gt;&#10;    &lt;Text style={{ position: 'absolute', right: 56, top: 154, width: 520, textAlign: 'right', fontFamily: 'Consolas', fontSize: 290, fontWeight: 'bold', color: '#F2F7F8', opacity: 0.055, lineHeight: 1 }}&gt;03&lt;/Text&gt;&#10;    &lt;Box style={{ position: 'absolute', left: 0, top: 0, width: 5, height: 720, background: '#6BC8D1', opacity: 0.55 }} /&gt;&#10;&#10;    &lt;Box style={{ position: 'absolute', left: 72, top: 46 }}&gt;&#10;        &lt;Text style={{ fontFamily: 'Consolas', fontSize: 11, color: '#6BC8D1', letterSpacing: 2 }}&gt;CHAPTER 03 / 05&lt;/Text&gt;&#10;    &lt;/Box&gt;&#10;    &lt;Box style={{ position: 'absolute', left: 72, top: 176, width: 620 }}&gt;&#10;        &lt;Text style={{ fontFamily: 'Microsoft YaHei', fontSize: 58, fontWeight: 'bold', color: '#F2F7F8', letterSpacing: 2 }}&gt;核心机制&lt;/Text&gt;&#10;        &lt;Box style={{ marginTop: 22, width: 52, height: 3, background: '#6BC8D1' }} /&gt;&#10;        &lt;Text style={{ marginTop: 24, fontFamily: 'Microsoft YaHei', fontSize: 19, color: 'rgba(242,247,248,0.68)', lineHeight: 1.7, width: 560 }}&gt;&#10;            能不能通，和会不会变，是两道必须分开回答的问题。&#10;        &lt;/Text&gt;&#10;    &lt;/Box&gt;&#10;&#10;    &lt;Box style={{ position: 'absolute', left: 72, top: 420, width: 560 }}&gt;&#10;        &lt;Box style={{ flexDirection: 'row', alignItems: 'center', height: 48, borderTop: '1px solid rgba(242,247,248,0.12)' }}&gt;&#10;            &lt;Text style={{ width: 54, fontFamily: 'Consolas', fontSize: 10, color: '#6BC8D1' }}&gt;03.1&lt;/Text&gt;&#10;            &lt;Text style={{ fontFamily: 'Microsoft YaHei', fontSize: 14, color: 'rgba(242,247,248,0.72)' }}&gt;双引擎：通信判定与状态转移解耦&lt;/Text&gt;&#10;        &lt;/Box&gt;&#10;        &lt;Box style={{ flexDirection: 'row', alignItems: 'center', height: 48, borderTop: '1px solid rgba(242,247,248,0.12)' }}&gt;&#10;            &lt;Text style={{ width: 54, fontFamily: 'Consolas', fontSize: 10, color: '#6BC8D1' }}&gt;03.2&lt;/Text&gt;&#10;            &lt;Text style={{ fontFamily: 'Microsoft YaHei', fontSize: 14, color: 'rgba(242,247,248,0.72)' }}&gt;三维沙盘与策略工作台&lt;/Text&gt;&#10;        &lt;/Box&gt;&#10;        &lt;Box style={{ flexDirection: 'row', alignItems: 'center', height: 48, borderTop: '1px solid rgba(242,247,248,0.12)', borderBottom: '1px solid rgba(242,247,248,0.12)' }}&gt;&#10;            &lt;Text style={{ width: 54, fontFamily: 'Consolas', fontSize: 10, color: '#6BC8D1' }}&gt;03.3&lt;/Text&gt;&#10;            &lt;Text style={{ fontFamily: 'Microsoft YaHei', fontSize: 14, color: 'rgba(242,247,248,0.72)' }}&gt;状态链、A/B 对照与工程实现&lt;/Text&gt;&#10;        &lt;/Box&gt;&#10;    &lt;/Box&gt;&#10;&#10;    &lt;Box style={{ position: 'absolute', left: 72, top: 664, flexDirection: 'row', alignItems: 'center', gap: 8 }}&gt;&#10;        &lt;Text style={{ fontFamily: 'Consolas', fontSize: 10.5, color: 'rgba(242,247,248,0.40)' }}&gt;智御网络&lt;/Text&gt;&#10;        &lt;Box style={{ width: 16, height: 1, background: 'rgba(242,247,248,0.20)' }} /&gt;&#10;        &lt;Text style={{ fontFamily: 'Consolas', fontSize: 10.5, color: 'rgba(242,247,248,0.40)' }}&gt;MECHANISM&lt;/Text&gt;&#10;    &lt;/Box&gt;&#10;    &lt;Text style={{ position: 'absolute', right: 56, top: 664, fontFamily: 'Consolas', fontSize: 10.5, color: 'rgba(242,247,248,0.40)' }}&gt;09 / 22&lt;/Text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4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07111B"/>
          </a:solidFill>
          <a:ln/>
        </p:spPr>
        <p:txBody>
          <a:bodyPr/>
          <a:p/>
        </p:txBody>
      </p:sp>
      <p:pic>
        <p:nvPicPr>
          <p:cNvPr id="955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1"/>
              </a:ext>
            </a:extLst>
          </a:blip>
          <a:stretch>
            <a:fillRect/>
          </a:stretch>
        </p:blipFill>
        <p:spPr>
          <a:xfrm rot="0" flipH="0" flipV="0">
            <a:off x="0" y="0"/>
            <a:ext cx="12192000" cy="6858000"/>
          </a:xfrm>
          <a:prstGeom prst="rect">
            <a:avLst/>
          </a:prstGeom>
          <a:ln/>
        </p:spPr>
      </p:pic>
      <p:sp>
        <p:nvSpPr>
          <p:cNvPr id="956" name="" descr="{&quot;isTemplate&quot;:true,&quot;type&quot;:&quot;text&quot;}"/>
          <p:cNvSpPr txBox="1"/>
          <p:nvPr/>
        </p:nvSpPr>
        <p:spPr>
          <a:xfrm rot="0" flipH="0" flipV="0">
            <a:off x="6705600" y="1466850"/>
            <a:ext cx="4953000" cy="3314700"/>
          </a:xfrm>
          <a:prstGeom prst="rect"/>
        </p:spPr>
        <p:txBody>
          <a:bodyPr wrap="none" lIns="0" tIns="0" rIns="0" bIns="0"/>
          <a:p>
            <a:pPr algn="r">
              <a:lnSpc>
                <a:spcPct val="100000"/>
              </a:lnSpc>
            </a:pPr>
            <a:r>
              <a:rPr lang="en-US" sz="21750" b="1">
                <a:solidFill>
                  <a:srgbClr val="F2F7F8">
                    <a:alpha val="5500"/>
                  </a:srgbClr>
                </a:solidFill>
                <a:latin typeface="Consolas"/>
                <a:ea typeface="Consolas"/>
              </a:rPr>
              <a:t>03</a:t>
            </a:r>
            <a:endParaRPr/>
          </a:p>
        </p:txBody>
      </p:sp>
      <p:sp>
        <p:nvSpPr>
          <p:cNvPr id="957" name=""/>
          <p:cNvSpPr/>
          <p:nvPr/>
        </p:nvSpPr>
        <p:spPr>
          <a:xfrm rot="0" flipH="0" flipV="0">
            <a:off x="0" y="0"/>
            <a:ext cx="47625" cy="6858000"/>
          </a:xfrm>
          <a:prstGeom prst="rect">
            <a:avLst/>
          </a:prstGeom>
          <a:solidFill>
            <a:srgbClr val="6BC8D1">
              <a:alpha val="55000"/>
            </a:srgbClr>
          </a:solidFill>
          <a:ln/>
        </p:spPr>
        <p:txBody>
          <a:bodyPr/>
          <a:p/>
        </p:txBody>
      </p:sp>
      <p:sp>
        <p:nvSpPr>
          <p:cNvPr id="958" name="" descr="{&quot;isTemplate&quot;:true,&quot;type&quot;:&quot;text&quot;}"/>
          <p:cNvSpPr txBox="1"/>
          <p:nvPr/>
        </p:nvSpPr>
        <p:spPr>
          <a:xfrm rot="0" flipH="0" flipV="0">
            <a:off x="685800" y="438150"/>
            <a:ext cx="1152525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825" spc="150">
                <a:solidFill>
                  <a:srgbClr val="6BC8D1"/>
                </a:solidFill>
                <a:latin typeface="Consolas"/>
                <a:ea typeface="Consolas"/>
              </a:rPr>
              <a:t>CHAPTER 03 / 05</a:t>
            </a:r>
            <a:endParaRPr/>
          </a:p>
        </p:txBody>
      </p:sp>
      <p:sp>
        <p:nvSpPr>
          <p:cNvPr id="959" name="" descr="{&quot;isTemplate&quot;:true,&quot;type&quot;:&quot;text&quot;}"/>
          <p:cNvSpPr txBox="1"/>
          <p:nvPr/>
        </p:nvSpPr>
        <p:spPr>
          <a:xfrm rot="0" flipH="0" flipV="0">
            <a:off x="685800" y="1676400"/>
            <a:ext cx="5905500" cy="6667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4350" b="1" spc="150">
                <a:solidFill>
                  <a:srgbClr val="F2F7F8"/>
                </a:solidFill>
                <a:latin typeface="Microsoft YaHei"/>
                <a:ea typeface="Microsoft YaHei"/>
              </a:rPr>
              <a:t>核心机制</a:t>
            </a:r>
            <a:endParaRPr/>
          </a:p>
        </p:txBody>
      </p:sp>
      <p:sp>
        <p:nvSpPr>
          <p:cNvPr id="960" name=""/>
          <p:cNvSpPr/>
          <p:nvPr/>
        </p:nvSpPr>
        <p:spPr>
          <a:xfrm rot="0" flipH="0" flipV="0">
            <a:off x="685800" y="2552700"/>
            <a:ext cx="495300" cy="28575"/>
          </a:xfrm>
          <a:prstGeom prst="rect">
            <a:avLst/>
          </a:prstGeom>
          <a:solidFill>
            <a:srgbClr val="6BC8D1"/>
          </a:solidFill>
          <a:ln/>
        </p:spPr>
        <p:txBody>
          <a:bodyPr/>
          <a:p/>
        </p:txBody>
      </p:sp>
      <p:sp>
        <p:nvSpPr>
          <p:cNvPr id="961" name="" descr="{&quot;isTemplate&quot;:true,&quot;type&quot;:&quot;text&quot;}"/>
          <p:cNvSpPr txBox="1"/>
          <p:nvPr/>
        </p:nvSpPr>
        <p:spPr>
          <a:xfrm rot="0" flipH="0" flipV="0">
            <a:off x="685800" y="2809875"/>
            <a:ext cx="5334000" cy="371475"/>
          </a:xfrm>
          <a:prstGeom prst="rect"/>
        </p:spPr>
        <p:txBody>
          <a:bodyPr wrap="none" lIns="0" tIns="0" rIns="0" bIns="0"/>
          <a:p>
            <a:pPr>
              <a:lnSpc>
                <a:spcPct val="170000"/>
              </a:lnSpc>
            </a:pPr>
            <a:r>
              <a:rPr lang="zh-CN" sz="1425">
                <a:solidFill>
                  <a:srgbClr val="F2F7F8">
                    <a:alpha val="68000"/>
                  </a:srgbClr>
                </a:solidFill>
                <a:latin typeface="Microsoft YaHei"/>
                <a:ea typeface="Microsoft YaHei"/>
              </a:rPr>
              <a:t>能不能通，和会不会变，是两道必须分开回答的问题。</a:t>
            </a:r>
            <a:endParaRPr/>
          </a:p>
        </p:txBody>
      </p:sp>
      <p:sp>
        <p:nvSpPr>
          <p:cNvPr id="962" name=""/>
          <p:cNvSpPr/>
          <p:nvPr/>
        </p:nvSpPr>
        <p:spPr>
          <a:xfrm rot="0" flipH="0" flipV="0">
            <a:off x="685800" y="4000500"/>
            <a:ext cx="5334000" cy="457200"/>
          </a:xfrm>
          <a:custGeom>
            <a:pathLst>
              <a:path w="560" h="48">
                <a:moveTo>
                  <a:pt x="0" y="0"/>
                </a:moveTo>
                <a:lnTo>
                  <a:pt x="560" y="0"/>
                </a:lnTo>
                <a:lnTo>
                  <a:pt x="560" y="1"/>
                </a:lnTo>
                <a:lnTo>
                  <a:pt x="0" y="1"/>
                </a:lnTo>
                <a:close/>
              </a:path>
            </a:pathLst>
          </a:custGeom>
          <a:solidFill>
            <a:srgbClr val="F2F7F8">
              <a:alpha val="12000"/>
            </a:srgbClr>
          </a:solidFill>
          <a:ln/>
        </p:spPr>
        <p:txBody>
          <a:bodyPr/>
          <a:p/>
        </p:txBody>
      </p:sp>
      <p:sp>
        <p:nvSpPr>
          <p:cNvPr id="963" name="" descr="{&quot;isTemplate&quot;:true,&quot;type&quot;:&quot;text&quot;}"/>
          <p:cNvSpPr txBox="1"/>
          <p:nvPr/>
        </p:nvSpPr>
        <p:spPr>
          <a:xfrm rot="0" flipH="0" flipV="0">
            <a:off x="685800" y="4181475"/>
            <a:ext cx="514350" cy="1143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750">
                <a:solidFill>
                  <a:srgbClr val="6BC8D1"/>
                </a:solidFill>
                <a:latin typeface="Consolas"/>
                <a:ea typeface="Consolas"/>
              </a:rPr>
              <a:t>03.1</a:t>
            </a:r>
            <a:endParaRPr/>
          </a:p>
        </p:txBody>
      </p:sp>
      <p:sp>
        <p:nvSpPr>
          <p:cNvPr id="964" name="" descr="{&quot;isTemplate&quot;:true,&quot;type&quot;:&quot;text&quot;}"/>
          <p:cNvSpPr txBox="1"/>
          <p:nvPr/>
        </p:nvSpPr>
        <p:spPr>
          <a:xfrm rot="0" flipH="0" flipV="0">
            <a:off x="1200150" y="4152900"/>
            <a:ext cx="20002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F2F7F8">
                    <a:alpha val="72000"/>
                  </a:srgbClr>
                </a:solidFill>
                <a:latin typeface="Microsoft YaHei"/>
                <a:ea typeface="Microsoft YaHei"/>
              </a:rPr>
              <a:t>双引擎：通信判定与状态转移解耦</a:t>
            </a:r>
            <a:endParaRPr/>
          </a:p>
        </p:txBody>
      </p:sp>
      <p:sp>
        <p:nvSpPr>
          <p:cNvPr id="965" name=""/>
          <p:cNvSpPr/>
          <p:nvPr/>
        </p:nvSpPr>
        <p:spPr>
          <a:xfrm rot="0" flipH="0" flipV="0">
            <a:off x="685800" y="4457700"/>
            <a:ext cx="5334000" cy="457200"/>
          </a:xfrm>
          <a:custGeom>
            <a:pathLst>
              <a:path w="560" h="48">
                <a:moveTo>
                  <a:pt x="0" y="0"/>
                </a:moveTo>
                <a:lnTo>
                  <a:pt x="560" y="0"/>
                </a:lnTo>
                <a:lnTo>
                  <a:pt x="560" y="1"/>
                </a:lnTo>
                <a:lnTo>
                  <a:pt x="0" y="1"/>
                </a:lnTo>
                <a:close/>
              </a:path>
            </a:pathLst>
          </a:custGeom>
          <a:solidFill>
            <a:srgbClr val="F2F7F8">
              <a:alpha val="12000"/>
            </a:srgbClr>
          </a:solidFill>
          <a:ln/>
        </p:spPr>
        <p:txBody>
          <a:bodyPr/>
          <a:p/>
        </p:txBody>
      </p:sp>
      <p:sp>
        <p:nvSpPr>
          <p:cNvPr id="966" name="" descr="{&quot;isTemplate&quot;:true,&quot;type&quot;:&quot;text&quot;}"/>
          <p:cNvSpPr txBox="1"/>
          <p:nvPr/>
        </p:nvSpPr>
        <p:spPr>
          <a:xfrm rot="0" flipH="0" flipV="0">
            <a:off x="685800" y="4638675"/>
            <a:ext cx="514350" cy="1143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750">
                <a:solidFill>
                  <a:srgbClr val="6BC8D1"/>
                </a:solidFill>
                <a:latin typeface="Consolas"/>
                <a:ea typeface="Consolas"/>
              </a:rPr>
              <a:t>03.2</a:t>
            </a:r>
            <a:endParaRPr/>
          </a:p>
        </p:txBody>
      </p:sp>
      <p:sp>
        <p:nvSpPr>
          <p:cNvPr id="967" name="" descr="{&quot;isTemplate&quot;:true,&quot;type&quot;:&quot;text&quot;}"/>
          <p:cNvSpPr txBox="1"/>
          <p:nvPr/>
        </p:nvSpPr>
        <p:spPr>
          <a:xfrm rot="0" flipH="0" flipV="0">
            <a:off x="1200150" y="4610100"/>
            <a:ext cx="13335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F2F7F8">
                    <a:alpha val="72000"/>
                  </a:srgbClr>
                </a:solidFill>
                <a:latin typeface="Microsoft YaHei"/>
                <a:ea typeface="Microsoft YaHei"/>
              </a:rPr>
              <a:t>三维沙盘与策略工作台</a:t>
            </a:r>
            <a:endParaRPr/>
          </a:p>
        </p:txBody>
      </p:sp>
      <p:sp>
        <p:nvSpPr>
          <p:cNvPr id="968" name=""/>
          <p:cNvSpPr/>
          <p:nvPr/>
        </p:nvSpPr>
        <p:spPr>
          <a:xfrm rot="0" flipH="0" flipV="0">
            <a:off x="685800" y="4914900"/>
            <a:ext cx="5334000" cy="457200"/>
          </a:xfrm>
          <a:custGeom>
            <a:pathLst>
              <a:path w="560" h="48">
                <a:moveTo>
                  <a:pt x="0" y="0"/>
                </a:moveTo>
                <a:lnTo>
                  <a:pt x="560" y="0"/>
                </a:lnTo>
                <a:lnTo>
                  <a:pt x="560" y="1"/>
                </a:lnTo>
                <a:lnTo>
                  <a:pt x="0" y="1"/>
                </a:lnTo>
                <a:close/>
              </a:path>
            </a:pathLst>
          </a:custGeom>
          <a:solidFill>
            <a:srgbClr val="F2F7F8">
              <a:alpha val="12000"/>
            </a:srgbClr>
          </a:solidFill>
          <a:ln/>
        </p:spPr>
        <p:txBody>
          <a:bodyPr/>
          <a:p/>
        </p:txBody>
      </p:sp>
      <p:sp>
        <p:nvSpPr>
          <p:cNvPr id="969" name=""/>
          <p:cNvSpPr/>
          <p:nvPr/>
        </p:nvSpPr>
        <p:spPr>
          <a:xfrm rot="0" flipH="0" flipV="0">
            <a:off x="685800" y="4914900"/>
            <a:ext cx="5334000" cy="457200"/>
          </a:xfrm>
          <a:custGeom>
            <a:pathLst>
              <a:path w="560" h="48">
                <a:moveTo>
                  <a:pt x="0" y="47"/>
                </a:moveTo>
                <a:lnTo>
                  <a:pt x="560" y="47"/>
                </a:lnTo>
                <a:lnTo>
                  <a:pt x="560" y="48"/>
                </a:lnTo>
                <a:lnTo>
                  <a:pt x="0" y="48"/>
                </a:lnTo>
                <a:close/>
              </a:path>
            </a:pathLst>
          </a:custGeom>
          <a:solidFill>
            <a:srgbClr val="F2F7F8">
              <a:alpha val="12000"/>
            </a:srgbClr>
          </a:solidFill>
          <a:ln/>
        </p:spPr>
        <p:txBody>
          <a:bodyPr/>
          <a:p/>
        </p:txBody>
      </p:sp>
      <p:sp>
        <p:nvSpPr>
          <p:cNvPr id="970" name="" descr="{&quot;isTemplate&quot;:true,&quot;type&quot;:&quot;text&quot;}"/>
          <p:cNvSpPr txBox="1"/>
          <p:nvPr/>
        </p:nvSpPr>
        <p:spPr>
          <a:xfrm rot="0" flipH="0" flipV="0">
            <a:off x="685800" y="5086350"/>
            <a:ext cx="514350" cy="1143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750">
                <a:solidFill>
                  <a:srgbClr val="6BC8D1"/>
                </a:solidFill>
                <a:latin typeface="Consolas"/>
                <a:ea typeface="Consolas"/>
              </a:rPr>
              <a:t>03.3</a:t>
            </a:r>
            <a:endParaRPr/>
          </a:p>
        </p:txBody>
      </p:sp>
      <p:sp>
        <p:nvSpPr>
          <p:cNvPr id="971" name="" descr="{&quot;isTemplate&quot;:true,&quot;type&quot;:&quot;text&quot;}"/>
          <p:cNvSpPr txBox="1"/>
          <p:nvPr/>
        </p:nvSpPr>
        <p:spPr>
          <a:xfrm rot="0" flipH="0" flipV="0">
            <a:off x="1200150" y="5067300"/>
            <a:ext cx="17430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F2F7F8">
                    <a:alpha val="72000"/>
                  </a:srgbClr>
                </a:solidFill>
                <a:latin typeface="Microsoft YaHei"/>
                <a:ea typeface="Microsoft YaHei"/>
              </a:rPr>
              <a:t>状态链、</a:t>
            </a:r>
            <a:r>
              <a:rPr lang="en-US" sz="1050">
                <a:solidFill>
                  <a:srgbClr val="F2F7F8">
                    <a:alpha val="72000"/>
                  </a:srgbClr>
                </a:solidFill>
                <a:latin typeface="Microsoft YaHei"/>
                <a:ea typeface="Microsoft YaHei"/>
              </a:rPr>
              <a:t>A/B </a:t>
            </a:r>
            <a:r>
              <a:rPr lang="zh-CN" sz="1050">
                <a:solidFill>
                  <a:srgbClr val="F2F7F8">
                    <a:alpha val="72000"/>
                  </a:srgbClr>
                </a:solidFill>
                <a:latin typeface="Microsoft YaHei"/>
                <a:ea typeface="Microsoft YaHei"/>
              </a:rPr>
              <a:t>对照与工程实现</a:t>
            </a:r>
            <a:endParaRPr/>
          </a:p>
        </p:txBody>
      </p:sp>
      <p:sp>
        <p:nvSpPr>
          <p:cNvPr id="972" name="" descr="{&quot;isTemplate&quot;:true,&quot;type&quot;:&quot;text&quot;}"/>
          <p:cNvSpPr txBox="1"/>
          <p:nvPr/>
        </p:nvSpPr>
        <p:spPr>
          <a:xfrm rot="0" flipH="0" flipV="0">
            <a:off x="685800" y="6324600"/>
            <a:ext cx="647700" cy="1238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788">
                <a:solidFill>
                  <a:srgbClr val="F2F7F8">
                    <a:alpha val="40000"/>
                  </a:srgbClr>
                </a:solidFill>
                <a:latin typeface="Consolas"/>
                <a:ea typeface="Consolas"/>
              </a:rPr>
              <a:t>智御网络</a:t>
            </a:r>
            <a:endParaRPr/>
          </a:p>
        </p:txBody>
      </p:sp>
      <p:sp>
        <p:nvSpPr>
          <p:cNvPr id="973" name=""/>
          <p:cNvSpPr/>
          <p:nvPr/>
        </p:nvSpPr>
        <p:spPr>
          <a:xfrm rot="0" flipH="0" flipV="0">
            <a:off x="1409700" y="6381750"/>
            <a:ext cx="152400" cy="9525"/>
          </a:xfrm>
          <a:prstGeom prst="rect">
            <a:avLst/>
          </a:prstGeom>
          <a:solidFill>
            <a:srgbClr val="F2F7F8">
              <a:alpha val="20000"/>
            </a:srgbClr>
          </a:solidFill>
          <a:ln/>
        </p:spPr>
        <p:txBody>
          <a:bodyPr/>
          <a:p/>
        </p:txBody>
      </p:sp>
      <p:sp>
        <p:nvSpPr>
          <p:cNvPr id="974" name="" descr="{&quot;isTemplate&quot;:true,&quot;type&quot;:&quot;text&quot;}"/>
          <p:cNvSpPr txBox="1"/>
          <p:nvPr/>
        </p:nvSpPr>
        <p:spPr>
          <a:xfrm rot="0" flipH="0" flipV="0">
            <a:off x="1638300" y="6324600"/>
            <a:ext cx="495300" cy="1238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788">
                <a:solidFill>
                  <a:srgbClr val="F2F7F8">
                    <a:alpha val="40000"/>
                  </a:srgbClr>
                </a:solidFill>
                <a:latin typeface="Consolas"/>
                <a:ea typeface="Consolas"/>
              </a:rPr>
              <a:t>MECHANISM</a:t>
            </a:r>
            <a:endParaRPr/>
          </a:p>
        </p:txBody>
      </p:sp>
      <p:sp>
        <p:nvSpPr>
          <p:cNvPr id="975" name="" descr="{&quot;isTemplate&quot;:true,&quot;type&quot;:&quot;text&quot;}"/>
          <p:cNvSpPr txBox="1"/>
          <p:nvPr/>
        </p:nvSpPr>
        <p:spPr>
          <a:xfrm rot="0" flipH="0" flipV="0">
            <a:off x="11268075" y="6324600"/>
            <a:ext cx="390525" cy="1238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788">
                <a:solidFill>
                  <a:srgbClr val="F2F7F8">
                    <a:alpha val="40000"/>
                  </a:srgbClr>
                </a:solidFill>
                <a:latin typeface="Consolas"/>
                <a:ea typeface="Consolas"/>
              </a:rPr>
              <a:t>09 / 22</a:t>
            </a:r>
            <a:endParaRPr/>
          </a:p>
        </p:txBody>
      </p:sp>
    </p:spTree>
  </p:cSld>
</p:sld>
</file>

<file path=ppt/slides/slide10.xml><?xml version="1.0" encoding="utf-8"?>
<p:sld xmlns:p="http://schemas.openxmlformats.org/presentationml/2006/main" xmlns:r="http://schemas.openxmlformats.org/officeDocument/2006/relationships" xmlns:a="http://schemas.openxmlformats.org/drawingml/2006/main" xmlns:asvg="http://schemas.microsoft.com/office/drawing/2016/SVG/main" xmlns:mc="http://schemas.openxmlformats.org/markup-compatibility/2006" mc:Ignorable="asvg">
  <p:cSld>
    <p:spTree>
      <p:nvGrpSpPr>
        <p:cNvPr id="26" name="" descr="&lt;Slide style={{ width: 1280, height: 720, background: '#07111B', padding: 0, position: 'relative', overflow: 'hidden' }}&gt;&#10;    &lt;svg width={1280} height={720} viewBox='0 0 1280 720' style={{ position: 'absolute', left: 0, top: 0 }}&gt;&#10;        &lt;g stroke='rgba(242,247,248,0.022)' strokeWidth='1'&gt;&#10;            &lt;path d='M0 96H1280M0 192H1280M0 288H1280M0 384H1280M0 480H1280M0 576H1280M0 672H1280' /&gt;&#10;        &lt;/g&gt;&#10;        &lt;circle cx='1140' cy='120' r='260' fill='rgba(107,200,209,0.035)' /&gt;&#10;    &lt;/svg&gt;&#10;&#10;    &lt;Box style={{ position: 'absolute', left: 56, top: 38 }}&gt;&#10;        &lt;Text style={{ fontFamily: 'Consolas', fontSize: 11, color: '#6BC8D1', letterSpacing: 1.8 }}&gt;03 / 核心机制&lt;/Text&gt;&#10;    &lt;/Box&gt;&#10;    &lt;Text style={{ position: 'absolute', left: 56, top: 62, fontFamily: 'Microsoft YaHei', fontSize: 31, fontWeight: 'bold', color: '#F2F7F8', letterSpacing: 0.5 }}&gt;双引擎：让“能不能通”和“会不会变”分开计算&lt;/Text&gt;&#10;    &lt;Text style={{ position: 'absolute', right: 56, top: 76, fontFamily: 'Consolas', fontSize: 10.5, color: 'rgba(242,247,248,0.42)' }}&gt;NETWORK LAYER × STATE LAYER&lt;/Text&gt;&#10;&#10;    &lt;Box style={{ position: 'absolute', left: 56, top: 138, width: 1168, height: 364 }}&gt;&#10;        &lt;svg width={1168} height={364} viewBox='0 0 1168 364' style={{ position: 'absolute', left: 0, top: 0 }}&gt;&#10;            &lt;g stroke='rgba(107,200,209,0.40)' strokeWidth='1.2' fill='none'&gt;&#10;                &lt;path d='M232 80H262' /&gt;&#10;                &lt;path d='M232 270H262' /&gt;&#10;                &lt;path d='M852 80H882' /&gt;&#10;                &lt;path d='M852 270H882' /&gt;&#10;                &lt;path d='M560 160V186' strokeDasharray='4 4' stroke='rgba(231,129,114,0.55)' /&gt;&#10;            &lt;/g&gt;&#10;            &lt;g fill='rgba(107,200,209,0.65)'&gt;&#10;                &lt;path d='M262 76L270 80L262 84Z' /&gt;&#10;                &lt;path d='M262 266L270 270L262 274Z' /&gt;&#10;                &lt;path d='M882 76L890 80L882 84Z' /&gt;&#10;                &lt;path d='M882 266L890 270L882 274Z' /&gt;&#10;            &lt;/g&gt;&#10;            &lt;path d='M556 186L560 194L564 186Z' fill='rgba(231,129,114,0.75)' /&gt;&#10;        &lt;/svg&gt;&#10;&#10;        &lt;Box style={{ position: 'absolute', left: 0, top: 0, width: 232, height: 364, padding: 18, background: 'linear-gradient(145deg, rgba(242,247,248,0.05) 0%, rgba(242,247,248,0.02) 100%)', border: '1px solid rgba(242,247,248,0.10)', borderRadius: 10 }}&gt;&#10;            &lt;Text style={{ fontFamily: 'Consolas', fontSize: 9.5, color: 'rgba(242,247,248,0.42)', letterSpacing: 1.2 }}&gt;INPUT / SCENARIO&lt;/Text&gt;&#10;            &lt;Text style={{ marginTop: 12, fontFamily: 'Microsoft YaHei', fontSize: 21, fontWeight: 'bold', color: '#F2F7F8' }}&gt;场景配置&lt;/Text&gt;&#10;            &lt;Box style={{ marginTop: 16 }}&gt;&#10;                &lt;Text style={{ fontFamily: 'Microsoft YaHei', fontSize: 11.5, color: 'rgba(242,247,248,0.60)', lineHeight: 2.1 }}&gt;拓扑 · 接口 · VLAN&lt;/Text&gt;&#10;                &lt;Text style={{ fontFamily: 'Microsoft YaHei', fontSize: 11.5, color: 'rgba(242,247,248,0.60)', lineHeight: 2.1 }}&gt;路由 · 静态 / 直连&lt;/Text&gt;&#10;                &lt;Text style={{ fontFamily: 'Microsoft YaHei', fontSize: 11.5, color: 'rgba(242,247,248,0.60)', lineHeight: 2.1 }}&gt;Firewall Policy&lt;/Text&gt;&#10;                &lt;Text style={{ fontFamily: 'Microsoft YaHei', fontSize: 11.5, color: 'rgba(242,247,248,0.60)', lineHeight: 2.1 }}&gt;初始状态 · 业务路径&lt;/Text&gt;&#10;            &lt;/Box&gt;&#10;            &lt;Box style={{ marginTop: 'auto', paddingTop: 10, borderTop: '1px solid rgba(242,247,248,0.10)' }}&gt;&#10;                &lt;Text style={{ fontFamily: 'Consolas', fontSize: 9.5, color: '#6BC8D1', letterSpacing: 0.8 }}&gt;同一份输入&lt;/Text&gt;&#10;            &lt;/Box&gt;&#10;        &lt;/Box&gt;&#10;&#10;        &lt;Box style={{ position: 'absolute', left: 272, top: 0, width: 580, height: 158, padding: 18, background: 'linear-gradient(145deg, rgba(107,200,209,0.09) 0%, rgba(242,247,248,0.02) 100%)', border: '1px solid rgba(107,200,209,0.24)', borderRadius: 10 }}&gt;&#10;            &lt;Box style={{ flexDirection: 'row', justifyContent: 'space-between', alignItems: 'center' }}&gt;&#10;                &lt;Text style={{ fontFamily: 'Consolas', fontSize: 9.5, color: '#6BC8D1', letterSpacing: 1.2 }}&gt;ENGINE 01 / NETWORK&lt;/Text&gt;&#10;                &lt;Text style={{ fontFamily: 'Consolas', fontSize: 9.5, color: 'rgba(242,247,248,0.38)' }}&gt;路径计算&lt;/Text&gt;&#10;            &lt;/Box&gt;&#10;            &lt;Text style={{ marginTop: 8, fontFamily: 'Microsoft YaHei', fontSize: 21, fontWeight: 'bold', color: '#F2F7F8' }}&gt;通信引擎&lt;/Text&gt;&#10;            &lt;Text style={{ marginTop: 6, fontFamily: 'Consolas', fontSize: 11.5, color: 'rgba(242,247,248,0.62)', letterSpacing: 0.3 }}&gt;L2 VLAN → 最长前缀路由 → First Match&lt;/Text&gt;&#10;            &lt;Box style={{ marginTop: 10, flexDirection: 'row', gap: 8 }}&gt;&#10;                &lt;Box style={{ paddingLeft: 9, paddingRight: 9, paddingTop: 4, paddingBottom: 4, border: '1px solid rgba(107,200,209,0.26)', borderRadius: 4 }}&gt;&#10;                    &lt;Text style={{ fontFamily: 'Consolas', fontSize: 9.5, color: '#6BC8D1' }}&gt;ALLOW / DENY&lt;/Text&gt;&#10;                &lt;/Box&gt;&#10;                &lt;Box style={{ paddingLeft: 9, paddingRight: 9, paddingTop: 4, paddingBottom: 4, border: '1px solid rgba(242,247,248,0.14)', borderRadius: 4 }}&gt;&#10;                    &lt;Text style={{ fontFamily: 'Consolas', fontSize: 9.5, color: 'rgba(242,247,248,0.58)' }}&gt;路径 + 命中规则&lt;/Text&gt;&#10;                &lt;/Box&gt;&#10;            &lt;/Box&gt;&#10;        &lt;/Box&gt;&#10;&#10;        &lt;Box style={{ position: 'absolute', left: 272, top: 190, width: 580, height: 158, padding: 18, background: 'linear-gradient(145deg, rgba(231,129,114,0.07) 0%, rgba(242,247,248,0.02) 100%)', border: '1px solid rgba(231,129,114,0.22)', borderRadius: 10 }}&gt;&#10;            &lt;Box style={{ flexDirection: 'row', justifyContent: 'space-between', alignItems: 'center' }}&gt;&#10;                &lt;Text style={{ fontFamily: 'Consolas', fontSize: 9.5, color: '#E78172', letterSpacing: 1.2 }}&gt;ENGINE 02 / STATE&lt;/Text&gt;&#10;                &lt;Text style={{ fontFamily: 'Consolas', fontSize: 9.5, color: 'rgba(242,247,248,0.38)' }}&gt;状态推演&lt;/Text&gt;&#10;            &lt;/Box&gt;&#10;            &lt;Text style={{ marginTop: 8, fontFamily: 'Microsoft YaHei', fontSize: 21, fontWeight: 'bold', color: '#F2F7F8' }}&gt;攻击状态引擎&lt;/Text&gt;&#10;            &lt;Text style={{ marginTop: 6, fontFamily: 'Consolas', fontSize: 11.5, color: 'rgba(242,247,248,0.62)', letterSpacing: 0.3 }}&gt;权限 → 教学行为 → 前置条件 + 安全控制&lt;/Text&gt;&#10;            &lt;Box style={{ marginTop: 10, flexDirection: 'row', gap: 8 }}&gt;&#10;                &lt;Box style={{ paddingLeft: 9, paddingRight: 9, paddingTop: 4, paddingBottom: 4, border: '1px solid rgba(231,129,114,0.30)', borderRadius: 4 }}&gt;&#10;                    &lt;Text style={{ fontFamily: 'Consolas', fontSize: 9.5, color: '#E78172' }}&gt;SUCCESS / BLOCKED / N.A.&lt;/Text&gt;&#10;                &lt;/Box&gt;&#10;                &lt;Box style={{ paddingLeft: 9, paddingRight: 9, paddingTop: 4, paddingBottom: 4, border: '1px solid rgba(242,247,248,0.14)', borderRadius: 4 }}&gt;&#10;                    &lt;Text style={{ fontFamily: 'Consolas', fontSize: 9.5, color: 'rgba(242,247,248,0.58)' }}&gt;见证链 + 最近阻断&lt;/Text&gt;&#10;                &lt;/Box&gt;&#10;            &lt;/Box&gt;&#10;        &lt;/Box&gt;&#10;&#10;        &lt;Text style={{ position: 'absolute', left: 578, top: 164, width: 240, fontFamily: 'Microsoft YaHei', fontSize: 9.5, color: 'rgba(231,129,114,0.80)' }}&gt;仅作为前置条件&lt;/Text&gt;&#10;&#10;        &lt;Box style={{ position: 'absolute', left: 892, top: 8, width: 276, height: 348, padding: 18, background: 'linear-gradient(145deg, rgba(242,247,248,0.05) 0%, rgba(242,247,248,0.02) 100%)', border: '1px solid rgba(242,247,248,0.10)', borderRadius: 10 }}&gt;&#10;            &lt;Text style={{ fontFamily: 'Consolas', fontSize: 9.5, color: 'rgba(242,247,248,0.42)', letterSpacing: 1.2 }}&gt;OUTPUT / EVIDENCE&lt;/Text&gt;&#10;            &lt;Text style={{ marginTop: 12, fontFamily: 'Microsoft YaHei', fontSize: 21, fontWeight: 'bold', color: '#F2F7F8' }}&gt;可验证结果&lt;/Text&gt;&#10;            &lt;Box style={{ marginTop: 16 }}&gt;&#10;                &lt;Text style={{ fontFamily: 'Microsoft YaHei', fontSize: 11.5, color: 'rgba(242,247,248,0.62)', lineHeight: 2.2 }}&gt;事件时间线&lt;/Text&gt;&#10;                &lt;Text style={{ fontFamily: 'Microsoft YaHei', fontSize: 11.5, color: 'rgba(242,247,248,0.62)', lineHeight: 2.2 }}&gt;代表链与见证&lt;/Text&gt;&#10;                &lt;Text style={{ fontFamily: 'Microsoft YaHei', fontSize: 11.5, color: 'rgba(242,247,248,0.62)', lineHeight: 2.2 }}&gt;A/B 指标&lt;/Text&gt;&#10;                &lt;Text style={{ fontFamily: 'Microsoft YaHei', fontSize: 11.5, color: 'rgba(242,247,248,0.62)', lineHeight: 2.2 }}&gt;挑战判定&lt;/Text&gt;&#10;            &lt;/Box&gt;&#10;            &lt;Box style={{ marginTop: 'auto', paddingTop: 10, borderTop: '1px solid rgba(242,247,248,0.10)' }}&gt;&#10;                &lt;Text style={{ fontFamily: 'Consolas', fontSize: 9.5, color: '#6BC8D1', letterSpacing: 0.8 }}&gt;可回放 · 可解释&lt;/Text&gt;&#10;            &lt;/Box&gt;&#10;        &lt;/Box&gt;&#10;    &lt;/Box&gt;&#10;&#10;    &lt;Text style={{ position: 'absolute', left: 56, top: 512, fontFamily: 'Consolas', fontSize: 86, fontWeight: 'bold', color: '#6BC8D1', lineHeight: 1 }}&gt;≠&lt;/Text&gt;&#10;    &lt;Text style={{ position: 'absolute', left: 158, top: 522, fontFamily: 'Microsoft YaHei', fontSize: 34, fontWeight: 'bold', color: '#F2F7F8', letterSpacing: 0.5 }}&gt;通信可达 ≠ 状态改变&lt;/Text&gt;&#10;    &lt;Text style={{ position: 'absolute', left: 158, top: 574, width: 760, fontFamily: 'Microsoft YaHei', fontSize: 13.5, color: 'rgba(242,247,248,0.60)', lineHeight: 1.75 }}&gt;&#10;        网络层只回答“能不能到达”；状态层还要检查来源范围、权限、教学条件与目标安全控制。通信放行不会自动改变目标状态。&#10;    &lt;/Text&gt;&#10;&#10;    &lt;Box style={{ position: 'absolute', right: 56, top: 512, width: 292, flexDirection: 'row', justifyContent: 'space-between' }}&gt;&#10;        &lt;Box&gt;&#10;            &lt;Text style={{ fontFamily: 'Consolas', fontSize: 30, fontWeight: 'bold', color: '#F2F7F8' }}&gt;8&lt;/Text&gt;&#10;            &lt;Text style={{ marginTop: 3, fontFamily: 'Consolas', fontSize: 8.5, color: 'rgba(242,247,248,0.40)' }}&gt;MAX DEPTH&lt;/Text&gt;&#10;        &lt;/Box&gt;&#10;        &lt;Box&gt;&#10;            &lt;Text style={{ fontFamily: 'Consolas', fontSize: 30, fontWeight: 'bold', color: '#F2F7F8' }}&gt;160&lt;/Text&gt;&#10;            &lt;Text style={{ marginTop: 3, fontFamily: 'Consolas', fontSize: 8.5, color: 'rgba(242,247,248,0.40)' }}&gt;MAX STATES&lt;/Text&gt;&#10;        &lt;/Box&gt;&#10;        &lt;Box&gt;&#10;            &lt;Text style={{ fontFamily: 'Consolas', fontSize: 30, fontWeight: 'bold', color: '#E78172' }}&gt;3&lt;/Text&gt;&#10;            &lt;Text style={{ marginTop: 3, fontFamily: 'Consolas', fontSize: 8.5, color: 'rgba(242,247,248,0.40)' }}&gt;RESULTS&lt;/Text&gt;&#10;        &lt;/Box&gt;&#10;    &lt;/Box&gt;&#10;&#10;    &lt;Box style={{ position: 'absolute', left: 56, top: 664, width: 1168, height: 1, background: 'rgba(242,247,248,0.10)' }} /&gt;&#10;    &lt;Text style={{ position: 'absolute', left: 56, top: 678, fontFamily: 'Consolas', fontSize: 10.5, color: 'rgba(242,247,248,0.40)', letterSpacing: 0.8 }}&gt;智御网络 · 三维网络安全策略交互验证平台&lt;/Text&gt;&#10;    &lt;Text style={{ position: 'absolute', right: 56, top: 678, fontFamily: 'Consolas', fontSize: 10.5, color: 'rgba(242,247,248,0.40)' }}&gt;10 / 22&lt;/Text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07111B"/>
          </a:solidFill>
          <a:ln/>
        </p:spPr>
        <p:txBody>
          <a:bodyPr/>
          <a:p/>
        </p:txBody>
      </p:sp>
      <p:pic>
        <p:nvPicPr>
          <p:cNvPr id="28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1"/>
              </a:ext>
            </a:extLst>
          </a:blip>
          <a:stretch>
            <a:fillRect/>
          </a:stretch>
        </p:blipFill>
        <p:spPr>
          <a:xfrm rot="0" flipH="0" flipV="0">
            <a:off x="0" y="0"/>
            <a:ext cx="12192000" cy="6858000"/>
          </a:xfrm>
          <a:prstGeom prst="rect">
            <a:avLst/>
          </a:prstGeom>
          <a:ln/>
        </p:spPr>
      </p:pic>
      <p:sp>
        <p:nvSpPr>
          <p:cNvPr id="29" name="" descr="{&quot;isTemplate&quot;:true,&quot;type&quot;:&quot;text&quot;}"/>
          <p:cNvSpPr txBox="1"/>
          <p:nvPr/>
        </p:nvSpPr>
        <p:spPr>
          <a:xfrm rot="0" flipH="0" flipV="0">
            <a:off x="533400" y="361950"/>
            <a:ext cx="1095375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825" spc="135">
                <a:solidFill>
                  <a:srgbClr val="6BC8D1"/>
                </a:solidFill>
                <a:latin typeface="Consolas"/>
                <a:ea typeface="Consolas"/>
              </a:rPr>
              <a:t>03 / </a:t>
            </a:r>
            <a:r>
              <a:rPr lang="zh-CN" sz="825" spc="135">
                <a:solidFill>
                  <a:srgbClr val="6BC8D1"/>
                </a:solidFill>
                <a:latin typeface="Consolas"/>
                <a:ea typeface="Consolas"/>
              </a:rPr>
              <a:t>核心机制</a:t>
            </a:r>
            <a:endParaRPr/>
          </a:p>
        </p:txBody>
      </p:sp>
      <p:sp>
        <p:nvSpPr>
          <p:cNvPr id="30" name="" descr="{&quot;isTemplate&quot;:true,&quot;type&quot;:&quot;text&quot;}"/>
          <p:cNvSpPr txBox="1"/>
          <p:nvPr/>
        </p:nvSpPr>
        <p:spPr>
          <a:xfrm rot="0" flipH="0" flipV="0">
            <a:off x="533400" y="590550"/>
            <a:ext cx="6600825" cy="3619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325" b="1" spc="38">
                <a:solidFill>
                  <a:srgbClr val="F2F7F8"/>
                </a:solidFill>
                <a:latin typeface="Microsoft YaHei"/>
                <a:ea typeface="Microsoft YaHei"/>
              </a:rPr>
              <a:t>双引擎：让“能不能通”和“会不会变”分开计算</a:t>
            </a:r>
            <a:endParaRPr/>
          </a:p>
        </p:txBody>
      </p:sp>
      <p:sp>
        <p:nvSpPr>
          <p:cNvPr id="31" name="" descr="{&quot;isTemplate&quot;:true,&quot;type&quot;:&quot;text&quot;}"/>
          <p:cNvSpPr txBox="1"/>
          <p:nvPr/>
        </p:nvSpPr>
        <p:spPr>
          <a:xfrm rot="0" flipH="0" flipV="0">
            <a:off x="10172700" y="723900"/>
            <a:ext cx="1485900" cy="1238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788">
                <a:solidFill>
                  <a:srgbClr val="F2F7F8">
                    <a:alpha val="42000"/>
                  </a:srgbClr>
                </a:solidFill>
                <a:latin typeface="Consolas"/>
                <a:ea typeface="Consolas"/>
              </a:rPr>
              <a:t>NETWORK LAYER × STATE LAYER</a:t>
            </a:r>
            <a:endParaRPr/>
          </a:p>
        </p:txBody>
      </p:sp>
      <p:pic>
        <p:nvPicPr>
          <p:cNvPr id="32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2"/>
              </a:ext>
            </a:extLst>
          </a:blip>
          <a:stretch>
            <a:fillRect/>
          </a:stretch>
        </p:blipFill>
        <p:spPr>
          <a:xfrm rot="0" flipH="0" flipV="0">
            <a:off x="533400" y="1314450"/>
            <a:ext cx="11125200" cy="3467100"/>
          </a:xfrm>
          <a:prstGeom prst="rect">
            <a:avLst/>
          </a:prstGeom>
          <a:ln/>
        </p:spPr>
      </p:pic>
      <p:sp>
        <p:nvSpPr>
          <p:cNvPr id="33" name=""/>
          <p:cNvSpPr/>
          <p:nvPr/>
        </p:nvSpPr>
        <p:spPr>
          <a:xfrm rot="0" flipH="0" flipV="0">
            <a:off x="533400" y="1314450"/>
            <a:ext cx="2209800" cy="3467100"/>
          </a:xfrm>
          <a:prstGeom prst="roundRect">
            <a:avLst>
              <a:gd name="adj" fmla="val 4310"/>
            </a:avLst>
          </a:prstGeom>
          <a:gradFill>
            <a:gsLst>
              <a:gs pos="0">
                <a:srgbClr val="F2F7F8">
                  <a:alpha val="5000"/>
                </a:srgbClr>
              </a:gs>
              <a:gs pos="100000">
                <a:srgbClr val="F2F7F8">
                  <a:alpha val="2000"/>
                </a:srgbClr>
              </a:gs>
            </a:gsLst>
            <a:lin ang="3300000" scaled="1"/>
          </a:gradFill>
          <a:ln w="12700">
            <a:solidFill>
              <a:srgbClr val="F2F7F8">
                <a:alpha val="10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4" name="" descr="{&quot;isTemplate&quot;:true,&quot;type&quot;:&quot;text&quot;}"/>
          <p:cNvSpPr txBox="1"/>
          <p:nvPr/>
        </p:nvSpPr>
        <p:spPr>
          <a:xfrm rot="0" flipH="0" flipV="0">
            <a:off x="704850" y="1485900"/>
            <a:ext cx="1866900" cy="1143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713" spc="90">
                <a:solidFill>
                  <a:srgbClr val="F2F7F8">
                    <a:alpha val="42000"/>
                  </a:srgbClr>
                </a:solidFill>
                <a:latin typeface="Consolas"/>
                <a:ea typeface="Consolas"/>
              </a:rPr>
              <a:t>INPUT / SCENARIO</a:t>
            </a:r>
            <a:endParaRPr/>
          </a:p>
        </p:txBody>
      </p:sp>
      <p:sp>
        <p:nvSpPr>
          <p:cNvPr id="35" name="" descr="{&quot;isTemplate&quot;:true,&quot;type&quot;:&quot;text&quot;}"/>
          <p:cNvSpPr txBox="1"/>
          <p:nvPr/>
        </p:nvSpPr>
        <p:spPr>
          <a:xfrm rot="0" flipH="0" flipV="0">
            <a:off x="704850" y="1714500"/>
            <a:ext cx="1866900" cy="2476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75" b="1">
                <a:solidFill>
                  <a:srgbClr val="F2F7F8"/>
                </a:solidFill>
                <a:latin typeface="Microsoft YaHei"/>
                <a:ea typeface="Microsoft YaHei"/>
              </a:rPr>
              <a:t>场景配置</a:t>
            </a:r>
            <a:endParaRPr/>
          </a:p>
        </p:txBody>
      </p:sp>
      <p:sp>
        <p:nvSpPr>
          <p:cNvPr id="36" name="" descr="{&quot;isTemplate&quot;:true,&quot;type&quot;:&quot;text&quot;}"/>
          <p:cNvSpPr txBox="1"/>
          <p:nvPr/>
        </p:nvSpPr>
        <p:spPr>
          <a:xfrm rot="0" flipH="0" flipV="0">
            <a:off x="704850" y="2114550"/>
            <a:ext cx="1866900" cy="276225"/>
          </a:xfrm>
          <a:prstGeom prst="rect"/>
        </p:spPr>
        <p:txBody>
          <a:bodyPr wrap="none" lIns="0" tIns="0" rIns="0" bIns="0"/>
          <a:p>
            <a:pPr>
              <a:lnSpc>
                <a:spcPct val="210000"/>
              </a:lnSpc>
            </a:pPr>
            <a:r>
              <a:rPr lang="zh-CN" sz="863">
                <a:solidFill>
                  <a:srgbClr val="F2F7F8">
                    <a:alpha val="60000"/>
                  </a:srgbClr>
                </a:solidFill>
                <a:latin typeface="Microsoft YaHei"/>
                <a:ea typeface="Microsoft YaHei"/>
              </a:rPr>
              <a:t>拓扑</a:t>
            </a:r>
            <a:r>
              <a:rPr lang="en-US" sz="863">
                <a:solidFill>
                  <a:srgbClr val="F2F7F8">
                    <a:alpha val="60000"/>
                  </a:srgbClr>
                </a:solidFill>
                <a:latin typeface="Microsoft YaHei"/>
                <a:ea typeface="Microsoft YaHei"/>
              </a:rPr>
              <a:t> · </a:t>
            </a:r>
            <a:r>
              <a:rPr lang="zh-CN" sz="863">
                <a:solidFill>
                  <a:srgbClr val="F2F7F8">
                    <a:alpha val="60000"/>
                  </a:srgbClr>
                </a:solidFill>
                <a:latin typeface="Microsoft YaHei"/>
                <a:ea typeface="Microsoft YaHei"/>
              </a:rPr>
              <a:t>接口</a:t>
            </a:r>
            <a:r>
              <a:rPr lang="en-US" sz="863">
                <a:solidFill>
                  <a:srgbClr val="F2F7F8">
                    <a:alpha val="60000"/>
                  </a:srgbClr>
                </a:solidFill>
                <a:latin typeface="Microsoft YaHei"/>
                <a:ea typeface="Microsoft YaHei"/>
              </a:rPr>
              <a:t> · VLAN</a:t>
            </a:r>
            <a:endParaRPr/>
          </a:p>
        </p:txBody>
      </p:sp>
      <p:sp>
        <p:nvSpPr>
          <p:cNvPr id="37" name="" descr="{&quot;isTemplate&quot;:true,&quot;type&quot;:&quot;text&quot;}"/>
          <p:cNvSpPr txBox="1"/>
          <p:nvPr/>
        </p:nvSpPr>
        <p:spPr>
          <a:xfrm rot="0" flipH="0" flipV="0">
            <a:off x="704850" y="2390775"/>
            <a:ext cx="1866900" cy="276225"/>
          </a:xfrm>
          <a:prstGeom prst="rect"/>
        </p:spPr>
        <p:txBody>
          <a:bodyPr wrap="none" lIns="0" tIns="0" rIns="0" bIns="0"/>
          <a:p>
            <a:pPr>
              <a:lnSpc>
                <a:spcPct val="210000"/>
              </a:lnSpc>
            </a:pPr>
            <a:r>
              <a:rPr lang="zh-CN" sz="863">
                <a:solidFill>
                  <a:srgbClr val="F2F7F8">
                    <a:alpha val="60000"/>
                  </a:srgbClr>
                </a:solidFill>
                <a:latin typeface="Microsoft YaHei"/>
                <a:ea typeface="Microsoft YaHei"/>
              </a:rPr>
              <a:t>路由</a:t>
            </a:r>
            <a:r>
              <a:rPr lang="en-US" sz="863">
                <a:solidFill>
                  <a:srgbClr val="F2F7F8">
                    <a:alpha val="60000"/>
                  </a:srgbClr>
                </a:solidFill>
                <a:latin typeface="Microsoft YaHei"/>
                <a:ea typeface="Microsoft YaHei"/>
              </a:rPr>
              <a:t> · </a:t>
            </a:r>
            <a:r>
              <a:rPr lang="zh-CN" sz="863">
                <a:solidFill>
                  <a:srgbClr val="F2F7F8">
                    <a:alpha val="60000"/>
                  </a:srgbClr>
                </a:solidFill>
                <a:latin typeface="Microsoft YaHei"/>
                <a:ea typeface="Microsoft YaHei"/>
              </a:rPr>
              <a:t>静态</a:t>
            </a:r>
            <a:r>
              <a:rPr lang="en-US" sz="863">
                <a:solidFill>
                  <a:srgbClr val="F2F7F8">
                    <a:alpha val="60000"/>
                  </a:srgbClr>
                </a:solidFill>
                <a:latin typeface="Microsoft YaHei"/>
                <a:ea typeface="Microsoft YaHei"/>
              </a:rPr>
              <a:t> / </a:t>
            </a:r>
            <a:r>
              <a:rPr lang="zh-CN" sz="863">
                <a:solidFill>
                  <a:srgbClr val="F2F7F8">
                    <a:alpha val="60000"/>
                  </a:srgbClr>
                </a:solidFill>
                <a:latin typeface="Microsoft YaHei"/>
                <a:ea typeface="Microsoft YaHei"/>
              </a:rPr>
              <a:t>直连</a:t>
            </a:r>
            <a:endParaRPr/>
          </a:p>
        </p:txBody>
      </p:sp>
      <p:sp>
        <p:nvSpPr>
          <p:cNvPr id="38" name="" descr="{&quot;isTemplate&quot;:true,&quot;type&quot;:&quot;text&quot;}"/>
          <p:cNvSpPr txBox="1"/>
          <p:nvPr/>
        </p:nvSpPr>
        <p:spPr>
          <a:xfrm rot="0" flipH="0" flipV="0">
            <a:off x="704850" y="2667000"/>
            <a:ext cx="1866900" cy="276225"/>
          </a:xfrm>
          <a:prstGeom prst="rect"/>
        </p:spPr>
        <p:txBody>
          <a:bodyPr wrap="none" lIns="0" tIns="0" rIns="0" bIns="0"/>
          <a:p>
            <a:pPr>
              <a:lnSpc>
                <a:spcPct val="210000"/>
              </a:lnSpc>
            </a:pPr>
            <a:r>
              <a:rPr lang="en-US" sz="863">
                <a:solidFill>
                  <a:srgbClr val="F2F7F8">
                    <a:alpha val="60000"/>
                  </a:srgbClr>
                </a:solidFill>
                <a:latin typeface="Microsoft YaHei"/>
                <a:ea typeface="Microsoft YaHei"/>
              </a:rPr>
              <a:t>Firewall Policy</a:t>
            </a:r>
            <a:endParaRPr/>
          </a:p>
        </p:txBody>
      </p:sp>
      <p:sp>
        <p:nvSpPr>
          <p:cNvPr id="39" name="" descr="{&quot;isTemplate&quot;:true,&quot;type&quot;:&quot;text&quot;}"/>
          <p:cNvSpPr txBox="1"/>
          <p:nvPr/>
        </p:nvSpPr>
        <p:spPr>
          <a:xfrm rot="0" flipH="0" flipV="0">
            <a:off x="704850" y="2943225"/>
            <a:ext cx="1866900" cy="276225"/>
          </a:xfrm>
          <a:prstGeom prst="rect"/>
        </p:spPr>
        <p:txBody>
          <a:bodyPr wrap="none" lIns="0" tIns="0" rIns="0" bIns="0"/>
          <a:p>
            <a:pPr>
              <a:lnSpc>
                <a:spcPct val="210000"/>
              </a:lnSpc>
            </a:pPr>
            <a:r>
              <a:rPr lang="zh-CN" sz="863">
                <a:solidFill>
                  <a:srgbClr val="F2F7F8">
                    <a:alpha val="60000"/>
                  </a:srgbClr>
                </a:solidFill>
                <a:latin typeface="Microsoft YaHei"/>
                <a:ea typeface="Microsoft YaHei"/>
              </a:rPr>
              <a:t>初始状态</a:t>
            </a:r>
            <a:r>
              <a:rPr lang="en-US" sz="863">
                <a:solidFill>
                  <a:srgbClr val="F2F7F8">
                    <a:alpha val="60000"/>
                  </a:srgbClr>
                </a:solidFill>
                <a:latin typeface="Microsoft YaHei"/>
                <a:ea typeface="Microsoft YaHei"/>
              </a:rPr>
              <a:t> · </a:t>
            </a:r>
            <a:r>
              <a:rPr lang="zh-CN" sz="863">
                <a:solidFill>
                  <a:srgbClr val="F2F7F8">
                    <a:alpha val="60000"/>
                  </a:srgbClr>
                </a:solidFill>
                <a:latin typeface="Microsoft YaHei"/>
                <a:ea typeface="Microsoft YaHei"/>
              </a:rPr>
              <a:t>业务路径</a:t>
            </a:r>
            <a:endParaRPr/>
          </a:p>
        </p:txBody>
      </p:sp>
      <p:sp>
        <p:nvSpPr>
          <p:cNvPr id="40" name=""/>
          <p:cNvSpPr/>
          <p:nvPr/>
        </p:nvSpPr>
        <p:spPr>
          <a:xfrm rot="0" flipH="0" flipV="0">
            <a:off x="704850" y="4391025"/>
            <a:ext cx="1866900" cy="228600"/>
          </a:xfrm>
          <a:custGeom>
            <a:pathLst>
              <a:path w="196" h="24">
                <a:moveTo>
                  <a:pt x="0" y="0"/>
                </a:moveTo>
                <a:lnTo>
                  <a:pt x="196" y="0"/>
                </a:lnTo>
                <a:lnTo>
                  <a:pt x="196" y="1"/>
                </a:lnTo>
                <a:lnTo>
                  <a:pt x="0" y="1"/>
                </a:lnTo>
                <a:close/>
              </a:path>
            </a:pathLst>
          </a:custGeom>
          <a:solidFill>
            <a:srgbClr val="F2F7F8">
              <a:alpha val="10000"/>
            </a:srgbClr>
          </a:solidFill>
          <a:ln/>
        </p:spPr>
        <p:txBody>
          <a:bodyPr/>
          <a:p/>
        </p:txBody>
      </p:sp>
      <p:sp>
        <p:nvSpPr>
          <p:cNvPr id="41" name="" descr="{&quot;isTemplate&quot;:true,&quot;type&quot;:&quot;text&quot;}"/>
          <p:cNvSpPr txBox="1"/>
          <p:nvPr/>
        </p:nvSpPr>
        <p:spPr>
          <a:xfrm rot="0" flipH="0" flipV="0">
            <a:off x="704850" y="4495800"/>
            <a:ext cx="1866900" cy="1143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713" spc="60">
                <a:solidFill>
                  <a:srgbClr val="6BC8D1"/>
                </a:solidFill>
                <a:latin typeface="Consolas"/>
                <a:ea typeface="Consolas"/>
              </a:rPr>
              <a:t>同一份输入</a:t>
            </a:r>
            <a:endParaRPr/>
          </a:p>
        </p:txBody>
      </p:sp>
      <p:sp>
        <p:nvSpPr>
          <p:cNvPr id="42" name=""/>
          <p:cNvSpPr/>
          <p:nvPr/>
        </p:nvSpPr>
        <p:spPr>
          <a:xfrm rot="0" flipH="0" flipV="0">
            <a:off x="3124200" y="1314450"/>
            <a:ext cx="5524500" cy="1504950"/>
          </a:xfrm>
          <a:prstGeom prst="roundRect">
            <a:avLst>
              <a:gd name="adj" fmla="val 6329"/>
            </a:avLst>
          </a:prstGeom>
          <a:gradFill>
            <a:gsLst>
              <a:gs pos="0">
                <a:srgbClr val="6BC8D1">
                  <a:alpha val="9000"/>
                </a:srgbClr>
              </a:gs>
              <a:gs pos="100000">
                <a:srgbClr val="F2F7F8">
                  <a:alpha val="2000"/>
                </a:srgbClr>
              </a:gs>
            </a:gsLst>
            <a:lin ang="3300000" scaled="1"/>
          </a:gradFill>
          <a:ln w="12700">
            <a:solidFill>
              <a:srgbClr val="6BC8D1">
                <a:alpha val="24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43" name="" descr="{&quot;isTemplate&quot;:true,&quot;type&quot;:&quot;text&quot;}"/>
          <p:cNvSpPr txBox="1"/>
          <p:nvPr/>
        </p:nvSpPr>
        <p:spPr>
          <a:xfrm rot="0" flipH="0" flipV="0">
            <a:off x="3295650" y="1485900"/>
            <a:ext cx="1171575" cy="1143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713" spc="90">
                <a:solidFill>
                  <a:srgbClr val="6BC8D1"/>
                </a:solidFill>
                <a:latin typeface="Consolas"/>
                <a:ea typeface="Consolas"/>
              </a:rPr>
              <a:t>ENGINE 01 / NETWORK</a:t>
            </a:r>
            <a:endParaRPr/>
          </a:p>
        </p:txBody>
      </p:sp>
      <p:sp>
        <p:nvSpPr>
          <p:cNvPr id="44" name="" descr="{&quot;isTemplate&quot;:true,&quot;type&quot;:&quot;text&quot;}"/>
          <p:cNvSpPr txBox="1"/>
          <p:nvPr/>
        </p:nvSpPr>
        <p:spPr>
          <a:xfrm rot="0" flipH="0" flipV="0">
            <a:off x="7829550" y="1485900"/>
            <a:ext cx="647700" cy="1143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713">
                <a:solidFill>
                  <a:srgbClr val="F2F7F8">
                    <a:alpha val="38000"/>
                  </a:srgbClr>
                </a:solidFill>
                <a:latin typeface="Consolas"/>
                <a:ea typeface="Consolas"/>
              </a:rPr>
              <a:t>路径计算</a:t>
            </a:r>
            <a:endParaRPr/>
          </a:p>
        </p:txBody>
      </p:sp>
      <p:sp>
        <p:nvSpPr>
          <p:cNvPr id="45" name="" descr="{&quot;isTemplate&quot;:true,&quot;type&quot;:&quot;text&quot;}"/>
          <p:cNvSpPr txBox="1"/>
          <p:nvPr/>
        </p:nvSpPr>
        <p:spPr>
          <a:xfrm rot="0" flipH="0" flipV="0">
            <a:off x="3295650" y="1676400"/>
            <a:ext cx="5181600" cy="2476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75" b="1">
                <a:solidFill>
                  <a:srgbClr val="F2F7F8"/>
                </a:solidFill>
                <a:latin typeface="Microsoft YaHei"/>
                <a:ea typeface="Microsoft YaHei"/>
              </a:rPr>
              <a:t>通信引擎</a:t>
            </a:r>
            <a:endParaRPr/>
          </a:p>
        </p:txBody>
      </p:sp>
      <p:sp>
        <p:nvSpPr>
          <p:cNvPr id="46" name="" descr="{&quot;isTemplate&quot;:true,&quot;type&quot;:&quot;text&quot;}"/>
          <p:cNvSpPr txBox="1"/>
          <p:nvPr/>
        </p:nvSpPr>
        <p:spPr>
          <a:xfrm rot="0" flipH="0" flipV="0">
            <a:off x="3295650" y="1981200"/>
            <a:ext cx="5181600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863" spc="22">
                <a:solidFill>
                  <a:srgbClr val="F2F7F8">
                    <a:alpha val="62000"/>
                  </a:srgbClr>
                </a:solidFill>
                <a:latin typeface="Consolas"/>
                <a:ea typeface="Consolas"/>
              </a:rPr>
              <a:t>L2 VLAN → </a:t>
            </a:r>
            <a:r>
              <a:rPr lang="zh-CN" sz="863" spc="22">
                <a:solidFill>
                  <a:srgbClr val="F2F7F8">
                    <a:alpha val="62000"/>
                  </a:srgbClr>
                </a:solidFill>
                <a:latin typeface="Consolas"/>
                <a:ea typeface="Consolas"/>
              </a:rPr>
              <a:t>最长前缀路由</a:t>
            </a:r>
            <a:r>
              <a:rPr lang="en-US" sz="863" spc="22">
                <a:solidFill>
                  <a:srgbClr val="F2F7F8">
                    <a:alpha val="62000"/>
                  </a:srgbClr>
                </a:solidFill>
                <a:latin typeface="Consolas"/>
                <a:ea typeface="Consolas"/>
              </a:rPr>
              <a:t> → First Match</a:t>
            </a:r>
            <a:endParaRPr/>
          </a:p>
        </p:txBody>
      </p:sp>
      <p:sp>
        <p:nvSpPr>
          <p:cNvPr id="47" name=""/>
          <p:cNvSpPr/>
          <p:nvPr/>
        </p:nvSpPr>
        <p:spPr>
          <a:xfrm rot="0" flipH="0" flipV="0">
            <a:off x="3295650" y="2209800"/>
            <a:ext cx="771525" cy="190500"/>
          </a:xfrm>
          <a:prstGeom prst="roundRect">
            <a:avLst>
              <a:gd name="adj" fmla="val 20000"/>
            </a:avLst>
          </a:prstGeom>
          <a:ln w="12700">
            <a:solidFill>
              <a:srgbClr val="6BC8D1">
                <a:alpha val="26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48" name="" descr="{&quot;isTemplate&quot;:true,&quot;type&quot;:&quot;text&quot;}"/>
          <p:cNvSpPr txBox="1"/>
          <p:nvPr/>
        </p:nvSpPr>
        <p:spPr>
          <a:xfrm rot="0" flipH="0" flipV="0">
            <a:off x="3381375" y="2247900"/>
            <a:ext cx="600075" cy="1143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713">
                <a:solidFill>
                  <a:srgbClr val="6BC8D1"/>
                </a:solidFill>
                <a:latin typeface="Consolas"/>
                <a:ea typeface="Consolas"/>
              </a:rPr>
              <a:t>ALLOW / DENY</a:t>
            </a:r>
            <a:endParaRPr/>
          </a:p>
        </p:txBody>
      </p:sp>
      <p:sp>
        <p:nvSpPr>
          <p:cNvPr id="49" name=""/>
          <p:cNvSpPr/>
          <p:nvPr/>
        </p:nvSpPr>
        <p:spPr>
          <a:xfrm rot="0" flipH="0" flipV="0">
            <a:off x="4143375" y="2209800"/>
            <a:ext cx="1295400" cy="190500"/>
          </a:xfrm>
          <a:prstGeom prst="roundRect">
            <a:avLst>
              <a:gd name="adj" fmla="val 20000"/>
            </a:avLst>
          </a:prstGeom>
          <a:ln w="12700">
            <a:solidFill>
              <a:srgbClr val="F2F7F8">
                <a:alpha val="14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50" name="" descr="{&quot;isTemplate&quot;:true,&quot;type&quot;:&quot;text&quot;}"/>
          <p:cNvSpPr txBox="1"/>
          <p:nvPr/>
        </p:nvSpPr>
        <p:spPr>
          <a:xfrm rot="0" flipH="0" flipV="0">
            <a:off x="4229100" y="2247900"/>
            <a:ext cx="1123950" cy="1143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713">
                <a:solidFill>
                  <a:srgbClr val="F2F7F8">
                    <a:alpha val="58000"/>
                  </a:srgbClr>
                </a:solidFill>
                <a:latin typeface="Consolas"/>
                <a:ea typeface="Consolas"/>
              </a:rPr>
              <a:t>路径</a:t>
            </a:r>
            <a:r>
              <a:rPr lang="en-US" sz="713">
                <a:solidFill>
                  <a:srgbClr val="F2F7F8">
                    <a:alpha val="58000"/>
                  </a:srgbClr>
                </a:solidFill>
                <a:latin typeface="Consolas"/>
                <a:ea typeface="Consolas"/>
              </a:rPr>
              <a:t> + </a:t>
            </a:r>
            <a:r>
              <a:rPr lang="zh-CN" sz="713">
                <a:solidFill>
                  <a:srgbClr val="F2F7F8">
                    <a:alpha val="58000"/>
                  </a:srgbClr>
                </a:solidFill>
                <a:latin typeface="Consolas"/>
                <a:ea typeface="Consolas"/>
              </a:rPr>
              <a:t>命中规则</a:t>
            </a:r>
            <a:endParaRPr/>
          </a:p>
        </p:txBody>
      </p:sp>
      <p:sp>
        <p:nvSpPr>
          <p:cNvPr id="51" name=""/>
          <p:cNvSpPr/>
          <p:nvPr/>
        </p:nvSpPr>
        <p:spPr>
          <a:xfrm rot="0" flipH="0" flipV="0">
            <a:off x="3124200" y="3124200"/>
            <a:ext cx="5524500" cy="1504950"/>
          </a:xfrm>
          <a:prstGeom prst="roundRect">
            <a:avLst>
              <a:gd name="adj" fmla="val 6329"/>
            </a:avLst>
          </a:prstGeom>
          <a:gradFill>
            <a:gsLst>
              <a:gs pos="0">
                <a:srgbClr val="E78172">
                  <a:alpha val="7000"/>
                </a:srgbClr>
              </a:gs>
              <a:gs pos="100000">
                <a:srgbClr val="F2F7F8">
                  <a:alpha val="2000"/>
                </a:srgbClr>
              </a:gs>
            </a:gsLst>
            <a:lin ang="3300000" scaled="1"/>
          </a:gradFill>
          <a:ln w="12700">
            <a:solidFill>
              <a:srgbClr val="E78172">
                <a:alpha val="22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52" name="" descr="{&quot;isTemplate&quot;:true,&quot;type&quot;:&quot;text&quot;}"/>
          <p:cNvSpPr txBox="1"/>
          <p:nvPr/>
        </p:nvSpPr>
        <p:spPr>
          <a:xfrm rot="0" flipH="0" flipV="0">
            <a:off x="3295650" y="3295650"/>
            <a:ext cx="1047750" cy="1143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713" spc="90">
                <a:solidFill>
                  <a:srgbClr val="E78172"/>
                </a:solidFill>
                <a:latin typeface="Consolas"/>
                <a:ea typeface="Consolas"/>
              </a:rPr>
              <a:t>ENGINE 02 / STATE</a:t>
            </a:r>
            <a:endParaRPr/>
          </a:p>
        </p:txBody>
      </p:sp>
      <p:sp>
        <p:nvSpPr>
          <p:cNvPr id="53" name="" descr="{&quot;isTemplate&quot;:true,&quot;type&quot;:&quot;text&quot;}"/>
          <p:cNvSpPr txBox="1"/>
          <p:nvPr/>
        </p:nvSpPr>
        <p:spPr>
          <a:xfrm rot="0" flipH="0" flipV="0">
            <a:off x="7829550" y="3295650"/>
            <a:ext cx="647700" cy="1143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713">
                <a:solidFill>
                  <a:srgbClr val="F2F7F8">
                    <a:alpha val="38000"/>
                  </a:srgbClr>
                </a:solidFill>
                <a:latin typeface="Consolas"/>
                <a:ea typeface="Consolas"/>
              </a:rPr>
              <a:t>状态推演</a:t>
            </a:r>
            <a:endParaRPr/>
          </a:p>
        </p:txBody>
      </p:sp>
      <p:sp>
        <p:nvSpPr>
          <p:cNvPr id="54" name="" descr="{&quot;isTemplate&quot;:true,&quot;type&quot;:&quot;text&quot;}"/>
          <p:cNvSpPr txBox="1"/>
          <p:nvPr/>
        </p:nvSpPr>
        <p:spPr>
          <a:xfrm rot="0" flipH="0" flipV="0">
            <a:off x="3295650" y="3486150"/>
            <a:ext cx="5181600" cy="2476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75" b="1">
                <a:solidFill>
                  <a:srgbClr val="F2F7F8"/>
                </a:solidFill>
                <a:latin typeface="Microsoft YaHei"/>
                <a:ea typeface="Microsoft YaHei"/>
              </a:rPr>
              <a:t>攻击状态引擎</a:t>
            </a:r>
            <a:endParaRPr/>
          </a:p>
        </p:txBody>
      </p:sp>
      <p:sp>
        <p:nvSpPr>
          <p:cNvPr id="55" name="" descr="{&quot;isTemplate&quot;:true,&quot;type&quot;:&quot;text&quot;}"/>
          <p:cNvSpPr txBox="1"/>
          <p:nvPr/>
        </p:nvSpPr>
        <p:spPr>
          <a:xfrm rot="0" flipH="0" flipV="0">
            <a:off x="3295650" y="3790950"/>
            <a:ext cx="5181600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863" spc="22">
                <a:solidFill>
                  <a:srgbClr val="F2F7F8">
                    <a:alpha val="62000"/>
                  </a:srgbClr>
                </a:solidFill>
                <a:latin typeface="Consolas"/>
                <a:ea typeface="Consolas"/>
              </a:rPr>
              <a:t>权限</a:t>
            </a:r>
            <a:r>
              <a:rPr lang="en-US" sz="863" spc="22">
                <a:solidFill>
                  <a:srgbClr val="F2F7F8">
                    <a:alpha val="62000"/>
                  </a:srgbClr>
                </a:solidFill>
                <a:latin typeface="Consolas"/>
                <a:ea typeface="Consolas"/>
              </a:rPr>
              <a:t> → </a:t>
            </a:r>
            <a:r>
              <a:rPr lang="zh-CN" sz="863" spc="22">
                <a:solidFill>
                  <a:srgbClr val="F2F7F8">
                    <a:alpha val="62000"/>
                  </a:srgbClr>
                </a:solidFill>
                <a:latin typeface="Consolas"/>
                <a:ea typeface="Consolas"/>
              </a:rPr>
              <a:t>教学行为</a:t>
            </a:r>
            <a:r>
              <a:rPr lang="en-US" sz="863" spc="22">
                <a:solidFill>
                  <a:srgbClr val="F2F7F8">
                    <a:alpha val="62000"/>
                  </a:srgbClr>
                </a:solidFill>
                <a:latin typeface="Consolas"/>
                <a:ea typeface="Consolas"/>
              </a:rPr>
              <a:t> → </a:t>
            </a:r>
            <a:r>
              <a:rPr lang="zh-CN" sz="863" spc="22">
                <a:solidFill>
                  <a:srgbClr val="F2F7F8">
                    <a:alpha val="62000"/>
                  </a:srgbClr>
                </a:solidFill>
                <a:latin typeface="Consolas"/>
                <a:ea typeface="Consolas"/>
              </a:rPr>
              <a:t>前置条件</a:t>
            </a:r>
            <a:r>
              <a:rPr lang="en-US" sz="863" spc="22">
                <a:solidFill>
                  <a:srgbClr val="F2F7F8">
                    <a:alpha val="62000"/>
                  </a:srgbClr>
                </a:solidFill>
                <a:latin typeface="Consolas"/>
                <a:ea typeface="Consolas"/>
              </a:rPr>
              <a:t> + </a:t>
            </a:r>
            <a:r>
              <a:rPr lang="zh-CN" sz="863" spc="22">
                <a:solidFill>
                  <a:srgbClr val="F2F7F8">
                    <a:alpha val="62000"/>
                  </a:srgbClr>
                </a:solidFill>
                <a:latin typeface="Consolas"/>
                <a:ea typeface="Consolas"/>
              </a:rPr>
              <a:t>安全控制</a:t>
            </a:r>
            <a:endParaRPr/>
          </a:p>
        </p:txBody>
      </p:sp>
      <p:sp>
        <p:nvSpPr>
          <p:cNvPr id="56" name=""/>
          <p:cNvSpPr/>
          <p:nvPr/>
        </p:nvSpPr>
        <p:spPr>
          <a:xfrm rot="0" flipH="0" flipV="0">
            <a:off x="3295650" y="4019550"/>
            <a:ext cx="1371600" cy="190500"/>
          </a:xfrm>
          <a:prstGeom prst="roundRect">
            <a:avLst>
              <a:gd name="adj" fmla="val 20000"/>
            </a:avLst>
          </a:prstGeom>
          <a:ln w="12700">
            <a:solidFill>
              <a:srgbClr val="E78172">
                <a:alpha val="30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57" name="" descr="{&quot;isTemplate&quot;:true,&quot;type&quot;:&quot;text&quot;}"/>
          <p:cNvSpPr txBox="1"/>
          <p:nvPr/>
        </p:nvSpPr>
        <p:spPr>
          <a:xfrm rot="0" flipH="0" flipV="0">
            <a:off x="3381375" y="4057650"/>
            <a:ext cx="1200150" cy="1143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713">
                <a:solidFill>
                  <a:srgbClr val="E78172"/>
                </a:solidFill>
                <a:latin typeface="Consolas"/>
                <a:ea typeface="Consolas"/>
              </a:rPr>
              <a:t>SUCCESS / BLOCKED / N.A.</a:t>
            </a:r>
            <a:endParaRPr/>
          </a:p>
        </p:txBody>
      </p:sp>
      <p:sp>
        <p:nvSpPr>
          <p:cNvPr id="58" name=""/>
          <p:cNvSpPr/>
          <p:nvPr/>
        </p:nvSpPr>
        <p:spPr>
          <a:xfrm rot="0" flipH="0" flipV="0">
            <a:off x="4743450" y="4019550"/>
            <a:ext cx="1457325" cy="190500"/>
          </a:xfrm>
          <a:prstGeom prst="roundRect">
            <a:avLst>
              <a:gd name="adj" fmla="val 20000"/>
            </a:avLst>
          </a:prstGeom>
          <a:ln w="12700">
            <a:solidFill>
              <a:srgbClr val="F2F7F8">
                <a:alpha val="14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59" name="" descr="{&quot;isTemplate&quot;:true,&quot;type&quot;:&quot;text&quot;}"/>
          <p:cNvSpPr txBox="1"/>
          <p:nvPr/>
        </p:nvSpPr>
        <p:spPr>
          <a:xfrm rot="0" flipH="0" flipV="0">
            <a:off x="4829175" y="4057650"/>
            <a:ext cx="1285875" cy="1143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713">
                <a:solidFill>
                  <a:srgbClr val="F2F7F8">
                    <a:alpha val="58000"/>
                  </a:srgbClr>
                </a:solidFill>
                <a:latin typeface="Consolas"/>
                <a:ea typeface="Consolas"/>
              </a:rPr>
              <a:t>见证链</a:t>
            </a:r>
            <a:r>
              <a:rPr lang="en-US" sz="713">
                <a:solidFill>
                  <a:srgbClr val="F2F7F8">
                    <a:alpha val="58000"/>
                  </a:srgbClr>
                </a:solidFill>
                <a:latin typeface="Consolas"/>
                <a:ea typeface="Consolas"/>
              </a:rPr>
              <a:t> + </a:t>
            </a:r>
            <a:r>
              <a:rPr lang="zh-CN" sz="713">
                <a:solidFill>
                  <a:srgbClr val="F2F7F8">
                    <a:alpha val="58000"/>
                  </a:srgbClr>
                </a:solidFill>
                <a:latin typeface="Consolas"/>
                <a:ea typeface="Consolas"/>
              </a:rPr>
              <a:t>最近阻断</a:t>
            </a:r>
            <a:endParaRPr/>
          </a:p>
        </p:txBody>
      </p:sp>
      <p:sp>
        <p:nvSpPr>
          <p:cNvPr id="60" name="" descr="{&quot;isTemplate&quot;:true,&quot;type&quot;:&quot;text&quot;}"/>
          <p:cNvSpPr txBox="1"/>
          <p:nvPr/>
        </p:nvSpPr>
        <p:spPr>
          <a:xfrm rot="0" flipH="0" flipV="0">
            <a:off x="6038850" y="2876550"/>
            <a:ext cx="2286000" cy="1143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713">
                <a:solidFill>
                  <a:srgbClr val="E78172">
                    <a:alpha val="80000"/>
                  </a:srgbClr>
                </a:solidFill>
                <a:latin typeface="Microsoft YaHei"/>
                <a:ea typeface="Microsoft YaHei"/>
              </a:rPr>
              <a:t>仅作为前置条件</a:t>
            </a:r>
            <a:endParaRPr/>
          </a:p>
        </p:txBody>
      </p:sp>
      <p:sp>
        <p:nvSpPr>
          <p:cNvPr id="61" name=""/>
          <p:cNvSpPr/>
          <p:nvPr/>
        </p:nvSpPr>
        <p:spPr>
          <a:xfrm rot="0" flipH="0" flipV="0">
            <a:off x="9029700" y="1390650"/>
            <a:ext cx="2628900" cy="3314700"/>
          </a:xfrm>
          <a:prstGeom prst="roundRect">
            <a:avLst>
              <a:gd name="adj" fmla="val 3623"/>
            </a:avLst>
          </a:prstGeom>
          <a:gradFill>
            <a:gsLst>
              <a:gs pos="0">
                <a:srgbClr val="F2F7F8">
                  <a:alpha val="5000"/>
                </a:srgbClr>
              </a:gs>
              <a:gs pos="100000">
                <a:srgbClr val="F2F7F8">
                  <a:alpha val="2000"/>
                </a:srgbClr>
              </a:gs>
            </a:gsLst>
            <a:lin ang="3300000" scaled="1"/>
          </a:gradFill>
          <a:ln w="12700">
            <a:solidFill>
              <a:srgbClr val="F2F7F8">
                <a:alpha val="10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62" name="" descr="{&quot;isTemplate&quot;:true,&quot;type&quot;:&quot;text&quot;}"/>
          <p:cNvSpPr txBox="1"/>
          <p:nvPr/>
        </p:nvSpPr>
        <p:spPr>
          <a:xfrm rot="0" flipH="0" flipV="0">
            <a:off x="9201150" y="1562100"/>
            <a:ext cx="2286000" cy="1143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713" spc="90">
                <a:solidFill>
                  <a:srgbClr val="F2F7F8">
                    <a:alpha val="42000"/>
                  </a:srgbClr>
                </a:solidFill>
                <a:latin typeface="Consolas"/>
                <a:ea typeface="Consolas"/>
              </a:rPr>
              <a:t>OUTPUT / EVIDENCE</a:t>
            </a:r>
            <a:endParaRPr/>
          </a:p>
        </p:txBody>
      </p:sp>
      <p:sp>
        <p:nvSpPr>
          <p:cNvPr id="63" name="" descr="{&quot;isTemplate&quot;:true,&quot;type&quot;:&quot;text&quot;}"/>
          <p:cNvSpPr txBox="1"/>
          <p:nvPr/>
        </p:nvSpPr>
        <p:spPr>
          <a:xfrm rot="0" flipH="0" flipV="0">
            <a:off x="9201150" y="1790700"/>
            <a:ext cx="2286000" cy="2476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75" b="1">
                <a:solidFill>
                  <a:srgbClr val="F2F7F8"/>
                </a:solidFill>
                <a:latin typeface="Microsoft YaHei"/>
                <a:ea typeface="Microsoft YaHei"/>
              </a:rPr>
              <a:t>可验证结果</a:t>
            </a:r>
            <a:endParaRPr/>
          </a:p>
        </p:txBody>
      </p:sp>
      <p:sp>
        <p:nvSpPr>
          <p:cNvPr id="64" name="" descr="{&quot;isTemplate&quot;:true,&quot;type&quot;:&quot;text&quot;}"/>
          <p:cNvSpPr txBox="1"/>
          <p:nvPr/>
        </p:nvSpPr>
        <p:spPr>
          <a:xfrm rot="0" flipH="0" flipV="0">
            <a:off x="9201150" y="2190750"/>
            <a:ext cx="2286000" cy="295275"/>
          </a:xfrm>
          <a:prstGeom prst="rect"/>
        </p:spPr>
        <p:txBody>
          <a:bodyPr wrap="none" lIns="0" tIns="0" rIns="0" bIns="0"/>
          <a:p>
            <a:pPr>
              <a:lnSpc>
                <a:spcPct val="220000"/>
              </a:lnSpc>
            </a:pPr>
            <a:r>
              <a:rPr lang="zh-CN" sz="863">
                <a:solidFill>
                  <a:srgbClr val="F2F7F8">
                    <a:alpha val="62000"/>
                  </a:srgbClr>
                </a:solidFill>
                <a:latin typeface="Microsoft YaHei"/>
                <a:ea typeface="Microsoft YaHei"/>
              </a:rPr>
              <a:t>事件时间线</a:t>
            </a:r>
            <a:endParaRPr/>
          </a:p>
        </p:txBody>
      </p:sp>
      <p:sp>
        <p:nvSpPr>
          <p:cNvPr id="65" name="" descr="{&quot;isTemplate&quot;:true,&quot;type&quot;:&quot;text&quot;}"/>
          <p:cNvSpPr txBox="1"/>
          <p:nvPr/>
        </p:nvSpPr>
        <p:spPr>
          <a:xfrm rot="0" flipH="0" flipV="0">
            <a:off x="9201150" y="2486025"/>
            <a:ext cx="2286000" cy="295275"/>
          </a:xfrm>
          <a:prstGeom prst="rect"/>
        </p:spPr>
        <p:txBody>
          <a:bodyPr wrap="none" lIns="0" tIns="0" rIns="0" bIns="0"/>
          <a:p>
            <a:pPr>
              <a:lnSpc>
                <a:spcPct val="220000"/>
              </a:lnSpc>
            </a:pPr>
            <a:r>
              <a:rPr lang="zh-CN" sz="863">
                <a:solidFill>
                  <a:srgbClr val="F2F7F8">
                    <a:alpha val="62000"/>
                  </a:srgbClr>
                </a:solidFill>
                <a:latin typeface="Microsoft YaHei"/>
                <a:ea typeface="Microsoft YaHei"/>
              </a:rPr>
              <a:t>代表链与见证</a:t>
            </a:r>
            <a:endParaRPr/>
          </a:p>
        </p:txBody>
      </p:sp>
      <p:sp>
        <p:nvSpPr>
          <p:cNvPr id="66" name="" descr="{&quot;isTemplate&quot;:true,&quot;type&quot;:&quot;text&quot;}"/>
          <p:cNvSpPr txBox="1"/>
          <p:nvPr/>
        </p:nvSpPr>
        <p:spPr>
          <a:xfrm rot="0" flipH="0" flipV="0">
            <a:off x="9201150" y="2781300"/>
            <a:ext cx="2286000" cy="295275"/>
          </a:xfrm>
          <a:prstGeom prst="rect"/>
        </p:spPr>
        <p:txBody>
          <a:bodyPr wrap="none" lIns="0" tIns="0" rIns="0" bIns="0"/>
          <a:p>
            <a:pPr>
              <a:lnSpc>
                <a:spcPct val="220000"/>
              </a:lnSpc>
            </a:pPr>
            <a:r>
              <a:rPr lang="en-US" sz="863">
                <a:solidFill>
                  <a:srgbClr val="F2F7F8">
                    <a:alpha val="62000"/>
                  </a:srgbClr>
                </a:solidFill>
                <a:latin typeface="Microsoft YaHei"/>
                <a:ea typeface="Microsoft YaHei"/>
              </a:rPr>
              <a:t>A/B </a:t>
            </a:r>
            <a:r>
              <a:rPr lang="zh-CN" sz="863">
                <a:solidFill>
                  <a:srgbClr val="F2F7F8">
                    <a:alpha val="62000"/>
                  </a:srgbClr>
                </a:solidFill>
                <a:latin typeface="Microsoft YaHei"/>
                <a:ea typeface="Microsoft YaHei"/>
              </a:rPr>
              <a:t>指标</a:t>
            </a:r>
            <a:endParaRPr/>
          </a:p>
        </p:txBody>
      </p:sp>
      <p:sp>
        <p:nvSpPr>
          <p:cNvPr id="67" name="" descr="{&quot;isTemplate&quot;:true,&quot;type&quot;:&quot;text&quot;}"/>
          <p:cNvSpPr txBox="1"/>
          <p:nvPr/>
        </p:nvSpPr>
        <p:spPr>
          <a:xfrm rot="0" flipH="0" flipV="0">
            <a:off x="9201150" y="3076575"/>
            <a:ext cx="2286000" cy="295275"/>
          </a:xfrm>
          <a:prstGeom prst="rect"/>
        </p:spPr>
        <p:txBody>
          <a:bodyPr wrap="none" lIns="0" tIns="0" rIns="0" bIns="0"/>
          <a:p>
            <a:pPr>
              <a:lnSpc>
                <a:spcPct val="220000"/>
              </a:lnSpc>
            </a:pPr>
            <a:r>
              <a:rPr lang="zh-CN" sz="863">
                <a:solidFill>
                  <a:srgbClr val="F2F7F8">
                    <a:alpha val="62000"/>
                  </a:srgbClr>
                </a:solidFill>
                <a:latin typeface="Microsoft YaHei"/>
                <a:ea typeface="Microsoft YaHei"/>
              </a:rPr>
              <a:t>挑战判定</a:t>
            </a:r>
            <a:endParaRPr/>
          </a:p>
        </p:txBody>
      </p:sp>
      <p:sp>
        <p:nvSpPr>
          <p:cNvPr id="68" name=""/>
          <p:cNvSpPr/>
          <p:nvPr/>
        </p:nvSpPr>
        <p:spPr>
          <a:xfrm rot="0" flipH="0" flipV="0">
            <a:off x="9201150" y="4314825"/>
            <a:ext cx="2286000" cy="228600"/>
          </a:xfrm>
          <a:custGeom>
            <a:pathLst>
              <a:path w="240" h="24">
                <a:moveTo>
                  <a:pt x="0" y="0"/>
                </a:moveTo>
                <a:lnTo>
                  <a:pt x="240" y="0"/>
                </a:lnTo>
                <a:lnTo>
                  <a:pt x="240" y="1"/>
                </a:lnTo>
                <a:lnTo>
                  <a:pt x="0" y="1"/>
                </a:lnTo>
                <a:close/>
              </a:path>
            </a:pathLst>
          </a:custGeom>
          <a:solidFill>
            <a:srgbClr val="F2F7F8">
              <a:alpha val="10000"/>
            </a:srgbClr>
          </a:solidFill>
          <a:ln/>
        </p:spPr>
        <p:txBody>
          <a:bodyPr/>
          <a:p/>
        </p:txBody>
      </p:sp>
      <p:sp>
        <p:nvSpPr>
          <p:cNvPr id="69" name="" descr="{&quot;isTemplate&quot;:true,&quot;type&quot;:&quot;text&quot;}"/>
          <p:cNvSpPr txBox="1"/>
          <p:nvPr/>
        </p:nvSpPr>
        <p:spPr>
          <a:xfrm rot="0" flipH="0" flipV="0">
            <a:off x="9201150" y="4419600"/>
            <a:ext cx="2286000" cy="1143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713" spc="60">
                <a:solidFill>
                  <a:srgbClr val="6BC8D1"/>
                </a:solidFill>
                <a:latin typeface="Consolas"/>
                <a:ea typeface="Consolas"/>
              </a:rPr>
              <a:t>可回放</a:t>
            </a:r>
            <a:r>
              <a:rPr lang="en-US" sz="713" spc="60">
                <a:solidFill>
                  <a:srgbClr val="6BC8D1"/>
                </a:solidFill>
                <a:latin typeface="Consolas"/>
                <a:ea typeface="Consolas"/>
              </a:rPr>
              <a:t> · </a:t>
            </a:r>
            <a:r>
              <a:rPr lang="zh-CN" sz="713" spc="60">
                <a:solidFill>
                  <a:srgbClr val="6BC8D1"/>
                </a:solidFill>
                <a:latin typeface="Consolas"/>
                <a:ea typeface="Consolas"/>
              </a:rPr>
              <a:t>可解释</a:t>
            </a:r>
            <a:endParaRPr/>
          </a:p>
        </p:txBody>
      </p:sp>
      <p:sp>
        <p:nvSpPr>
          <p:cNvPr id="70" name="" descr="{&quot;isTemplate&quot;:true,&quot;type&quot;:&quot;text&quot;}"/>
          <p:cNvSpPr txBox="1"/>
          <p:nvPr/>
        </p:nvSpPr>
        <p:spPr>
          <a:xfrm rot="0" flipH="0" flipV="0">
            <a:off x="533400" y="4876800"/>
            <a:ext cx="457200" cy="990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6450" b="1">
                <a:solidFill>
                  <a:srgbClr val="6BC8D1"/>
                </a:solidFill>
                <a:latin typeface="Consolas"/>
                <a:ea typeface="Consolas"/>
              </a:rPr>
              <a:t>≠</a:t>
            </a:r>
            <a:endParaRPr/>
          </a:p>
        </p:txBody>
      </p:sp>
      <p:sp>
        <p:nvSpPr>
          <p:cNvPr id="71" name="" descr="{&quot;isTemplate&quot;:true,&quot;type&quot;:&quot;text&quot;}"/>
          <p:cNvSpPr txBox="1"/>
          <p:nvPr/>
        </p:nvSpPr>
        <p:spPr>
          <a:xfrm rot="0" flipH="0" flipV="0">
            <a:off x="1504950" y="4972050"/>
            <a:ext cx="3086100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550" b="1" spc="38">
                <a:solidFill>
                  <a:srgbClr val="F2F7F8"/>
                </a:solidFill>
                <a:latin typeface="Microsoft YaHei"/>
                <a:ea typeface="Microsoft YaHei"/>
              </a:rPr>
              <a:t>通信可达</a:t>
            </a:r>
            <a:r>
              <a:rPr lang="en-US" sz="2550" b="1" spc="38">
                <a:solidFill>
                  <a:srgbClr val="F2F7F8"/>
                </a:solidFill>
                <a:latin typeface="Microsoft YaHei"/>
                <a:ea typeface="Microsoft YaHei"/>
              </a:rPr>
              <a:t> ≠ </a:t>
            </a:r>
            <a:r>
              <a:rPr lang="zh-CN" sz="2550" b="1" spc="38">
                <a:solidFill>
                  <a:srgbClr val="F2F7F8"/>
                </a:solidFill>
                <a:latin typeface="Microsoft YaHei"/>
                <a:ea typeface="Microsoft YaHei"/>
              </a:rPr>
              <a:t>状态改变</a:t>
            </a:r>
            <a:endParaRPr/>
          </a:p>
        </p:txBody>
      </p:sp>
      <p:sp>
        <p:nvSpPr>
          <p:cNvPr id="72" name="" descr="{&quot;isTemplate&quot;:true,&quot;type&quot;:&quot;text&quot;}"/>
          <p:cNvSpPr txBox="1"/>
          <p:nvPr/>
        </p:nvSpPr>
        <p:spPr>
          <a:xfrm rot="0" flipH="0" flipV="0">
            <a:off x="1504950" y="5467350"/>
            <a:ext cx="7239000" cy="276225"/>
          </a:xfrm>
          <a:prstGeom prst="rect"/>
        </p:spPr>
        <p:txBody>
          <a:bodyPr wrap="none" lIns="0" tIns="0" rIns="0" bIns="0"/>
          <a:p>
            <a:pPr>
              <a:lnSpc>
                <a:spcPct val="175000"/>
              </a:lnSpc>
            </a:pPr>
            <a:r>
              <a:rPr lang="zh-CN" sz="1013">
                <a:solidFill>
                  <a:srgbClr val="F2F7F8">
                    <a:alpha val="60000"/>
                  </a:srgbClr>
                </a:solidFill>
                <a:latin typeface="Microsoft YaHei"/>
                <a:ea typeface="Microsoft YaHei"/>
              </a:rPr>
              <a:t>网络层只回答“能不能到达”；状态层还要检查来源范围、权限、教学条件与目标安全控制。通信放行不会自动改变目标状态。</a:t>
            </a:r>
            <a:endParaRPr/>
          </a:p>
        </p:txBody>
      </p:sp>
      <p:sp>
        <p:nvSpPr>
          <p:cNvPr id="73" name="" descr="{&quot;isTemplate&quot;:true,&quot;type&quot;:&quot;text&quot;}"/>
          <p:cNvSpPr txBox="1"/>
          <p:nvPr/>
        </p:nvSpPr>
        <p:spPr>
          <a:xfrm rot="0" flipH="0" flipV="0">
            <a:off x="8877300" y="4876800"/>
            <a:ext cx="409575" cy="3429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2250" b="1">
                <a:solidFill>
                  <a:srgbClr val="F2F7F8"/>
                </a:solidFill>
                <a:latin typeface="Consolas"/>
                <a:ea typeface="Consolas"/>
              </a:rPr>
              <a:t>8</a:t>
            </a:r>
            <a:endParaRPr/>
          </a:p>
        </p:txBody>
      </p:sp>
      <p:sp>
        <p:nvSpPr>
          <p:cNvPr id="74" name="" descr="{&quot;isTemplate&quot;:true,&quot;type&quot;:&quot;text&quot;}"/>
          <p:cNvSpPr txBox="1"/>
          <p:nvPr/>
        </p:nvSpPr>
        <p:spPr>
          <a:xfrm rot="0" flipH="0" flipV="0">
            <a:off x="8877300" y="5248275"/>
            <a:ext cx="409575" cy="1047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638">
                <a:solidFill>
                  <a:srgbClr val="F2F7F8">
                    <a:alpha val="40000"/>
                  </a:srgbClr>
                </a:solidFill>
                <a:latin typeface="Consolas"/>
                <a:ea typeface="Consolas"/>
              </a:rPr>
              <a:t>MAX DEPTH</a:t>
            </a:r>
            <a:endParaRPr/>
          </a:p>
        </p:txBody>
      </p:sp>
      <p:sp>
        <p:nvSpPr>
          <p:cNvPr id="75" name="" descr="{&quot;isTemplate&quot;:true,&quot;type&quot;:&quot;text&quot;}"/>
          <p:cNvSpPr txBox="1"/>
          <p:nvPr/>
        </p:nvSpPr>
        <p:spPr>
          <a:xfrm rot="0" flipH="0" flipV="0">
            <a:off x="10077450" y="4876800"/>
            <a:ext cx="476250" cy="3429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2250" b="1">
                <a:solidFill>
                  <a:srgbClr val="F2F7F8"/>
                </a:solidFill>
                <a:latin typeface="Consolas"/>
                <a:ea typeface="Consolas"/>
              </a:rPr>
              <a:t>160</a:t>
            </a:r>
            <a:endParaRPr/>
          </a:p>
        </p:txBody>
      </p:sp>
      <p:sp>
        <p:nvSpPr>
          <p:cNvPr id="76" name="" descr="{&quot;isTemplate&quot;:true,&quot;type&quot;:&quot;text&quot;}"/>
          <p:cNvSpPr txBox="1"/>
          <p:nvPr/>
        </p:nvSpPr>
        <p:spPr>
          <a:xfrm rot="0" flipH="0" flipV="0">
            <a:off x="10077450" y="5248275"/>
            <a:ext cx="476250" cy="1047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638">
                <a:solidFill>
                  <a:srgbClr val="F2F7F8">
                    <a:alpha val="40000"/>
                  </a:srgbClr>
                </a:solidFill>
                <a:latin typeface="Consolas"/>
                <a:ea typeface="Consolas"/>
              </a:rPr>
              <a:t>MAX STATES</a:t>
            </a:r>
            <a:endParaRPr/>
          </a:p>
        </p:txBody>
      </p:sp>
      <p:sp>
        <p:nvSpPr>
          <p:cNvPr id="77" name="" descr="{&quot;isTemplate&quot;:true,&quot;type&quot;:&quot;text&quot;}"/>
          <p:cNvSpPr txBox="1"/>
          <p:nvPr/>
        </p:nvSpPr>
        <p:spPr>
          <a:xfrm rot="0" flipH="0" flipV="0">
            <a:off x="11344275" y="4876800"/>
            <a:ext cx="314325" cy="3429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2250" b="1">
                <a:solidFill>
                  <a:srgbClr val="E78172"/>
                </a:solidFill>
                <a:latin typeface="Consolas"/>
                <a:ea typeface="Consolas"/>
              </a:rPr>
              <a:t>3</a:t>
            </a:r>
            <a:endParaRPr/>
          </a:p>
        </p:txBody>
      </p:sp>
      <p:sp>
        <p:nvSpPr>
          <p:cNvPr id="78" name="" descr="{&quot;isTemplate&quot;:true,&quot;type&quot;:&quot;text&quot;}"/>
          <p:cNvSpPr txBox="1"/>
          <p:nvPr/>
        </p:nvSpPr>
        <p:spPr>
          <a:xfrm rot="0" flipH="0" flipV="0">
            <a:off x="11344275" y="5248275"/>
            <a:ext cx="314325" cy="1047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638">
                <a:solidFill>
                  <a:srgbClr val="F2F7F8">
                    <a:alpha val="40000"/>
                  </a:srgbClr>
                </a:solidFill>
                <a:latin typeface="Consolas"/>
                <a:ea typeface="Consolas"/>
              </a:rPr>
              <a:t>RESULTS</a:t>
            </a:r>
            <a:endParaRPr/>
          </a:p>
        </p:txBody>
      </p:sp>
      <p:sp>
        <p:nvSpPr>
          <p:cNvPr id="79" name=""/>
          <p:cNvSpPr/>
          <p:nvPr/>
        </p:nvSpPr>
        <p:spPr>
          <a:xfrm rot="0" flipH="0" flipV="0">
            <a:off x="533400" y="6324600"/>
            <a:ext cx="11125200" cy="9525"/>
          </a:xfrm>
          <a:prstGeom prst="rect">
            <a:avLst/>
          </a:prstGeom>
          <a:solidFill>
            <a:srgbClr val="F2F7F8">
              <a:alpha val="10000"/>
            </a:srgbClr>
          </a:solidFill>
          <a:ln/>
        </p:spPr>
        <p:txBody>
          <a:bodyPr/>
          <a:p/>
        </p:txBody>
      </p:sp>
      <p:sp>
        <p:nvSpPr>
          <p:cNvPr id="80" name="" descr="{&quot;isTemplate&quot;:true,&quot;type&quot;:&quot;text&quot;}"/>
          <p:cNvSpPr txBox="1"/>
          <p:nvPr/>
        </p:nvSpPr>
        <p:spPr>
          <a:xfrm rot="0" flipH="0" flipV="0">
            <a:off x="533400" y="6457950"/>
            <a:ext cx="3248025" cy="1238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788" spc="60">
                <a:solidFill>
                  <a:srgbClr val="F2F7F8">
                    <a:alpha val="40000"/>
                  </a:srgbClr>
                </a:solidFill>
                <a:latin typeface="Consolas"/>
                <a:ea typeface="Consolas"/>
              </a:rPr>
              <a:t>智御网络</a:t>
            </a:r>
            <a:r>
              <a:rPr lang="en-US" sz="788" spc="60">
                <a:solidFill>
                  <a:srgbClr val="F2F7F8">
                    <a:alpha val="40000"/>
                  </a:srgbClr>
                </a:solidFill>
                <a:latin typeface="Consolas"/>
                <a:ea typeface="Consolas"/>
              </a:rPr>
              <a:t> · </a:t>
            </a:r>
            <a:r>
              <a:rPr lang="zh-CN" sz="788" spc="60">
                <a:solidFill>
                  <a:srgbClr val="F2F7F8">
                    <a:alpha val="40000"/>
                  </a:srgbClr>
                </a:solidFill>
                <a:latin typeface="Consolas"/>
                <a:ea typeface="Consolas"/>
              </a:rPr>
              <a:t>三维网络安全策略交互验证平台</a:t>
            </a:r>
            <a:endParaRPr/>
          </a:p>
        </p:txBody>
      </p:sp>
      <p:sp>
        <p:nvSpPr>
          <p:cNvPr id="81" name="" descr="{&quot;isTemplate&quot;:true,&quot;type&quot;:&quot;text&quot;}"/>
          <p:cNvSpPr txBox="1"/>
          <p:nvPr/>
        </p:nvSpPr>
        <p:spPr>
          <a:xfrm rot="0" flipH="0" flipV="0">
            <a:off x="11268075" y="6457950"/>
            <a:ext cx="390525" cy="1238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788">
                <a:solidFill>
                  <a:srgbClr val="F2F7F8">
                    <a:alpha val="40000"/>
                  </a:srgbClr>
                </a:solidFill>
                <a:latin typeface="Consolas"/>
                <a:ea typeface="Consolas"/>
              </a:rPr>
              <a:t>10 / 22</a:t>
            </a:r>
            <a:endParaRPr/>
          </a:p>
        </p:txBody>
      </p:sp>
    </p:spTree>
  </p:cSld>
</p:sld>
</file>

<file path=ppt/slides/slide11.xml><?xml version="1.0" encoding="utf-8"?>
<p:sld xmlns:p="http://schemas.openxmlformats.org/presentationml/2006/main" xmlns:r="http://schemas.openxmlformats.org/officeDocument/2006/relationships" xmlns:a="http://schemas.openxmlformats.org/drawingml/2006/main" xmlns:asvg="http://schemas.microsoft.com/office/drawing/2016/SVG/main" xmlns:mc="http://schemas.openxmlformats.org/markup-compatibility/2006" mc:Ignorable="asvg">
  <p:cSld>
    <p:spTree>
      <p:nvGrpSpPr>
        <p:cNvPr id="82" name="" descr="&lt;Slide style={{ width: 1280, height: 720, background: '#07111B', padding: 0, position: 'relative', overflow: 'hidden' }}&gt;&#10;    &lt;svg width={1280} height={720} viewBox='0 0 1280 720' style={{ position: 'absolute', left: 0, top: 0 }}&gt;&#10;        &lt;g stroke='rgba(242,247,248,0.022)' strokeWidth='1'&gt;&#10;            &lt;path d='M0 96H1280M0 192H1280M0 288H1280M0 384H1280M0 480H1280M0 576H1280M0 672H1280' /&gt;&#10;        &lt;/g&gt;&#10;    &lt;/svg&gt;&#10;&#10;    &lt;Box style={{ position: 'absolute', left: 56, top: 38 }}&gt;&#10;        &lt;Text style={{ fontFamily: 'Consolas', fontSize: 11, color: '#6BC8D1', letterSpacing: 1.8 }}&gt;03 / 核心机制&lt;/Text&gt;&#10;    &lt;/Box&gt;&#10;    &lt;Text style={{ position: 'absolute', left: 56, top: 62, fontFamily: 'Microsoft YaHei', fontSize: 31, fontWeight: 'bold', color: '#F2F7F8', letterSpacing: 0.5 }}&gt;三维沙盘：路径可以被追踪，而不是被想象&lt;/Text&gt;&#10;    &lt;Text style={{ position: 'absolute', right: 56, top: 76, fontFamily: 'Consolas', fontSize: 10.5, color: 'rgba(242,247,248,0.42)' }}&gt;THREE.JS · EVENT-DRIVEN&lt;/Text&gt;&#10;&#10;    &lt;Box style={{ position: 'absolute', left: 56, top: 150, width: 660, height: 310 }}&gt;&#10;        &lt;Image src=&quot;assets/lab_topology.png&quot; style={{ width: 660, height: 278, objectFit: 'cover', borderRadius: 8, border: '1px solid rgba(107,200,209,0.20)' }} /&gt;&#10;        &lt;Box style={{ position: 'absolute', left: 0, right: 0, bottom: 0, height: 32, paddingLeft: 12, paddingRight: 12, flexDirection: 'row', alignItems: 'center', justifyContent: 'space-between', background: 'rgba(7,17,27,0.84)', borderTop: '1px solid rgba(107,200,209,0.18)' }}&gt;&#10;            &lt;Text style={{ fontFamily: 'Consolas', fontSize: 9.5, color: 'rgba(242,247,248,0.58)', letterSpacing: 0.6 }}&gt;PC-01 → 应用服务 → 客户数据库&lt;/Text&gt;&#10;            &lt;Text style={{ fontFamily: 'Consolas', fontSize: 9.5, color: '#6BC8D1' }}&gt;STATE VIEW&lt;/Text&gt;&#10;        &lt;/Box&gt;&#10;    &lt;/Box&gt;&#10;&#10;    &lt;Box style={{ position: 'absolute', left: 748, top: 142, width: 476 }}&gt;&#10;        &lt;Box style={{ flexDirection: 'row', alignItems: 'flex-start', height: 86, borderTop: '1px solid rgba(242,247,248,0.10)' }}&gt;&#10;            &lt;Text style={{ width: 44, marginTop: 14, fontFamily: 'Consolas', fontSize: 10, color: '#6BC8D1' }}&gt;01&lt;/Text&gt;&#10;            &lt;Box style={{ width: 432 }}&gt;&#10;                &lt;Text style={{ marginTop: 12, fontFamily: 'Microsoft YaHei', fontSize: 14.5, fontWeight: 'bold', color: '#F2F7F8' }}&gt;空间语义&lt;/Text&gt;&#10;                &lt;Text style={{ marginTop: 4, fontFamily: 'Microsoft YaHei', fontSize: 11.5, color: 'rgba(242,247,248,0.54)', lineHeight: 1.65 }}&gt;区域体积、VLAN 色带与设备造型，先看懂“在哪、属于谁”。&lt;/Text&gt;&#10;            &lt;/Box&gt;&#10;        &lt;/Box&gt;&#10;        &lt;Box style={{ flexDirection: 'row', alignItems: 'flex-start', height: 86, borderTop: '1px solid rgba(242,247,248,0.10)' }}&gt;&#10;            &lt;Text style={{ width: 44, marginTop: 14, fontFamily: 'Consolas', fontSize: 10, color: '#6BC8D1' }}&gt;02&lt;/Text&gt;&#10;            &lt;Box style={{ width: 432 }}&gt;&#10;                &lt;Text style={{ marginTop: 12, fontFamily: 'Microsoft YaHei', fontSize: 14.5, fontWeight: 'bold', color: '#F2F7F8' }}&gt;直接操作&lt;/Text&gt;&#10;                &lt;Text style={{ marginTop: 4, fontFamily: 'Microsoft YaHei', fontSize: 11.5, color: 'rgba(242,247,248,0.54)', lineHeight: 1.65 }}&gt;拖动旋转、滚轮缩放、点选设备；节点位置可拖动重排。&lt;/Text&gt;&#10;            &lt;/Box&gt;&#10;        &lt;/Box&gt;&#10;        &lt;Box style={{ flexDirection: 'row', alignItems: 'flex-start', height: 86, borderTop: '1px solid rgba(242,247,248,0.10)' }}&gt;&#10;            &lt;Text style={{ width: 44, marginTop: 14, fontFamily: 'Consolas', fontSize: 10, color: '#6BC8D1' }}&gt;03&lt;/Text&gt;&#10;            &lt;Box style={{ width: 432 }}&gt;&#10;                &lt;Text style={{ marginTop: 12, fontFamily: 'Microsoft YaHei', fontSize: 14.5, fontWeight: 'bold', color: '#F2F7F8' }}&gt;路径可视化&lt;/Text&gt;&#10;                &lt;Text style={{ marginTop: 4, fontFamily: 'Microsoft YaHei', fontSize: 11.5, color: 'rgba(242,247,248,0.54)', lineHeight: 1.65 }}&gt;事件沿真实节点链流光；被阻断的位置单独标记，不画“猜出来”的线。&lt;/Text&gt;&#10;            &lt;/Box&gt;&#10;        &lt;/Box&gt;&#10;        &lt;Box style={{ flexDirection: 'row', alignItems: 'flex-start', height: 86, borderTop: '1px solid rgba(242,247,248,0.10)', borderBottom: '1px solid rgba(242,247,248,0.10)' }}&gt;&#10;            &lt;Text style={{ width: 44, marginTop: 14, fontFamily: 'Consolas', fontSize: 10, color: '#6BC8D1' }}&gt;04&lt;/Text&gt;&#10;            &lt;Box style={{ width: 432 }}&gt;&#10;                &lt;Text style={{ marginTop: 12, fontFamily: 'Microsoft YaHei', fontSize: 14.5, fontWeight: 'bold', color: '#F2F7F8' }}&gt;聚焦与复位&lt;/Text&gt;&#10;                &lt;Text style={{ marginTop: 4, fontFamily: 'Microsoft YaHei', fontSize: 11.5, color: 'rgba(242,247,248,0.54)', lineHeight: 1.65 }}&gt;一键适配视野、聚焦代表链、恢复拓扑布局；标签按视距分级并自动避让。&lt;/Text&gt;&#10;            &lt;/Box&gt;&#10;        &lt;/Box&gt;&#10;    &lt;/Box&gt;&#10;&#10;    &lt;Box style={{ position: 'absolute', left: 56, top: 500, width: 1168, paddingTop: 12, borderTop: '1px solid rgba(107,200,209,0.22)' }}&gt;&#10;        &lt;Text style={{ fontFamily: 'Consolas', fontSize: 10, color: '#6BC8D1', letterSpacing: 1.2 }}&gt;RENDERING RULE&lt;/Text&gt;&#10;        &lt;Text style={{ marginTop: 6, fontFamily: 'Microsoft YaHei', fontSize: 12.5, color: 'rgba(242,247,248,0.54)' }}&gt;动画只消费事件携带的路径与节点；三维层不参与判定，也不自行编造连接。&lt;/Text&gt;&#10;    &lt;/Box&gt;&#10;&#10;    &lt;Box style={{ position: 'absolute', left: 56, top: 664, width: 1168, height: 1, background: 'rgba(242,247,248,0.10)' }} /&gt;&#10;    &lt;Text style={{ position: 'absolute', left: 56, top: 678, fontFamily: 'Consolas', fontSize: 10.5, color: 'rgba(242,247,248,0.40)', letterSpacing: 0.8 }}&gt;智御网络 · 三维网络安全策略交互验证平台&lt;/Text&gt;&#10;    &lt;Text style={{ position: 'absolute', right: 56, top: 678, fontFamily: 'Consolas', fontSize: 10.5, color: 'rgba(242,247,248,0.40)' }}&gt;11 / 22&lt;/Text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07111B"/>
          </a:solidFill>
          <a:ln/>
        </p:spPr>
        <p:txBody>
          <a:bodyPr/>
          <a:p/>
        </p:txBody>
      </p:sp>
      <p:pic>
        <p:nvPicPr>
          <p:cNvPr id="84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1"/>
              </a:ext>
            </a:extLst>
          </a:blip>
          <a:stretch>
            <a:fillRect/>
          </a:stretch>
        </p:blipFill>
        <p:spPr>
          <a:xfrm rot="0" flipH="0" flipV="0">
            <a:off x="0" y="0"/>
            <a:ext cx="12192000" cy="6858000"/>
          </a:xfrm>
          <a:prstGeom prst="rect">
            <a:avLst/>
          </a:prstGeom>
          <a:ln/>
        </p:spPr>
      </p:pic>
      <p:sp>
        <p:nvSpPr>
          <p:cNvPr id="85" name="" descr="{&quot;isTemplate&quot;:true,&quot;type&quot;:&quot;text&quot;}"/>
          <p:cNvSpPr txBox="1"/>
          <p:nvPr/>
        </p:nvSpPr>
        <p:spPr>
          <a:xfrm rot="0" flipH="0" flipV="0">
            <a:off x="533400" y="361950"/>
            <a:ext cx="1095375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825" spc="135">
                <a:solidFill>
                  <a:srgbClr val="6BC8D1"/>
                </a:solidFill>
                <a:latin typeface="Consolas"/>
                <a:ea typeface="Consolas"/>
              </a:rPr>
              <a:t>03 / </a:t>
            </a:r>
            <a:r>
              <a:rPr lang="zh-CN" sz="825" spc="135">
                <a:solidFill>
                  <a:srgbClr val="6BC8D1"/>
                </a:solidFill>
                <a:latin typeface="Consolas"/>
                <a:ea typeface="Consolas"/>
              </a:rPr>
              <a:t>核心机制</a:t>
            </a:r>
            <a:endParaRPr/>
          </a:p>
        </p:txBody>
      </p:sp>
      <p:sp>
        <p:nvSpPr>
          <p:cNvPr id="86" name="" descr="{&quot;isTemplate&quot;:true,&quot;type&quot;:&quot;text&quot;}"/>
          <p:cNvSpPr txBox="1"/>
          <p:nvPr/>
        </p:nvSpPr>
        <p:spPr>
          <a:xfrm rot="0" flipH="0" flipV="0">
            <a:off x="533400" y="590550"/>
            <a:ext cx="5705475" cy="3619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325" b="1" spc="38">
                <a:solidFill>
                  <a:srgbClr val="F2F7F8"/>
                </a:solidFill>
                <a:latin typeface="Microsoft YaHei"/>
                <a:ea typeface="Microsoft YaHei"/>
              </a:rPr>
              <a:t>三维沙盘：路径可以被追踪，而不是被想象</a:t>
            </a:r>
            <a:endParaRPr/>
          </a:p>
        </p:txBody>
      </p:sp>
      <p:sp>
        <p:nvSpPr>
          <p:cNvPr id="87" name="" descr="{&quot;isTemplate&quot;:true,&quot;type&quot;:&quot;text&quot;}"/>
          <p:cNvSpPr txBox="1"/>
          <p:nvPr/>
        </p:nvSpPr>
        <p:spPr>
          <a:xfrm rot="0" flipH="0" flipV="0">
            <a:off x="10391775" y="723900"/>
            <a:ext cx="1266825" cy="1238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788">
                <a:solidFill>
                  <a:srgbClr val="F2F7F8">
                    <a:alpha val="42000"/>
                  </a:srgbClr>
                </a:solidFill>
                <a:latin typeface="Consolas"/>
                <a:ea typeface="Consolas"/>
              </a:rPr>
              <a:t>THREE.JS · EVENT-DRIVEN</a:t>
            </a:r>
            <a:endParaRPr/>
          </a:p>
        </p:txBody>
      </p:sp>
      <p:sp>
        <p:nvSpPr>
          <p:cNvPr id="88" name=""/>
          <p:cNvSpPr/>
          <p:nvPr/>
        </p:nvSpPr>
        <p:spPr>
          <a:xfrm rot="0" flipH="0" flipV="0">
            <a:off x="533400" y="1428750"/>
            <a:ext cx="6286500" cy="2647950"/>
          </a:xfrm>
          <a:prstGeom prst="rect">
            <a:avLst/>
          </a:prstGeom>
          <a:ln w="12700">
            <a:solidFill>
              <a:srgbClr val="6BC8D1">
                <a:alpha val="20000"/>
              </a:srgbClr>
            </a:solidFill>
            <a:prstDash val="solid"/>
          </a:ln>
        </p:spPr>
        <p:txBody>
          <a:bodyPr/>
          <a:p/>
        </p:txBody>
      </p:sp>
      <p:pic>
        <p:nvPicPr>
          <p:cNvPr id="89" name=""/>
          <p:cNvPicPr>
            <a:picLocks noChangeAspect="1"/>
          </p:cNvPicPr>
          <p:nvPr/>
        </p:nvPicPr>
        <p:blipFill>
          <a:blip r:embed="rId2"/>
          <a:srcRect l="65" t="0" r="65" b="0"/>
          <a:stretch>
            <a:fillRect/>
          </a:stretch>
        </p:blipFill>
        <p:spPr>
          <a:xfrm rot="0" flipH="0" flipV="0">
            <a:off x="533400" y="1428750"/>
            <a:ext cx="6286500" cy="2647950"/>
          </a:xfrm>
          <a:prstGeom prst="roundRect">
            <a:avLst>
              <a:gd name="adj" fmla="val 2878"/>
            </a:avLst>
          </a:prstGeom>
          <a:ln/>
        </p:spPr>
      </p:pic>
      <p:sp>
        <p:nvSpPr>
          <p:cNvPr id="90" name=""/>
          <p:cNvSpPr/>
          <p:nvPr/>
        </p:nvSpPr>
        <p:spPr>
          <a:xfrm rot="0" flipH="0" flipV="0">
            <a:off x="533400" y="4086225"/>
            <a:ext cx="6286500" cy="295275"/>
          </a:xfrm>
          <a:prstGeom prst="rect">
            <a:avLst/>
          </a:prstGeom>
          <a:solidFill>
            <a:srgbClr val="07111B">
              <a:alpha val="84000"/>
            </a:srgbClr>
          </a:solidFill>
          <a:ln/>
        </p:spPr>
        <p:txBody>
          <a:bodyPr/>
          <a:p/>
        </p:txBody>
      </p:sp>
      <p:sp>
        <p:nvSpPr>
          <p:cNvPr id="91" name=""/>
          <p:cNvSpPr/>
          <p:nvPr/>
        </p:nvSpPr>
        <p:spPr>
          <a:xfrm rot="0" flipH="0" flipV="0">
            <a:off x="533400" y="4076700"/>
            <a:ext cx="6286500" cy="304800"/>
          </a:xfrm>
          <a:custGeom>
            <a:pathLst>
              <a:path w="660" h="32">
                <a:moveTo>
                  <a:pt x="0" y="0"/>
                </a:moveTo>
                <a:lnTo>
                  <a:pt x="660" y="0"/>
                </a:lnTo>
                <a:lnTo>
                  <a:pt x="660" y="1"/>
                </a:lnTo>
                <a:lnTo>
                  <a:pt x="0" y="1"/>
                </a:lnTo>
                <a:close/>
              </a:path>
            </a:pathLst>
          </a:custGeom>
          <a:solidFill>
            <a:srgbClr val="6BC8D1">
              <a:alpha val="18000"/>
            </a:srgbClr>
          </a:solidFill>
          <a:ln/>
        </p:spPr>
        <p:txBody>
          <a:bodyPr/>
          <a:p/>
        </p:txBody>
      </p:sp>
      <p:sp>
        <p:nvSpPr>
          <p:cNvPr id="92" name="" descr="{&quot;isTemplate&quot;:true,&quot;type&quot;:&quot;text&quot;}"/>
          <p:cNvSpPr txBox="1"/>
          <p:nvPr/>
        </p:nvSpPr>
        <p:spPr>
          <a:xfrm rot="0" flipH="0" flipV="0">
            <a:off x="647700" y="4181475"/>
            <a:ext cx="2124075" cy="1143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713" spc="45">
                <a:solidFill>
                  <a:srgbClr val="F2F7F8">
                    <a:alpha val="58000"/>
                  </a:srgbClr>
                </a:solidFill>
                <a:latin typeface="Consolas"/>
                <a:ea typeface="Consolas"/>
              </a:rPr>
              <a:t>PC-01 → </a:t>
            </a:r>
            <a:r>
              <a:rPr lang="zh-CN" sz="713" spc="45">
                <a:solidFill>
                  <a:srgbClr val="F2F7F8">
                    <a:alpha val="58000"/>
                  </a:srgbClr>
                </a:solidFill>
                <a:latin typeface="Consolas"/>
                <a:ea typeface="Consolas"/>
              </a:rPr>
              <a:t>应用服务</a:t>
            </a:r>
            <a:r>
              <a:rPr lang="en-US" sz="713" spc="45">
                <a:solidFill>
                  <a:srgbClr val="F2F7F8">
                    <a:alpha val="58000"/>
                  </a:srgbClr>
                </a:solidFill>
                <a:latin typeface="Consolas"/>
                <a:ea typeface="Consolas"/>
              </a:rPr>
              <a:t> → </a:t>
            </a:r>
            <a:r>
              <a:rPr lang="zh-CN" sz="713" spc="45">
                <a:solidFill>
                  <a:srgbClr val="F2F7F8">
                    <a:alpha val="58000"/>
                  </a:srgbClr>
                </a:solidFill>
                <a:latin typeface="Consolas"/>
                <a:ea typeface="Consolas"/>
              </a:rPr>
              <a:t>客户数据库</a:t>
            </a:r>
            <a:endParaRPr/>
          </a:p>
        </p:txBody>
      </p:sp>
      <p:sp>
        <p:nvSpPr>
          <p:cNvPr id="93" name="" descr="{&quot;isTemplate&quot;:true,&quot;type&quot;:&quot;text&quot;}"/>
          <p:cNvSpPr txBox="1"/>
          <p:nvPr/>
        </p:nvSpPr>
        <p:spPr>
          <a:xfrm rot="0" flipH="0" flipV="0">
            <a:off x="6200775" y="4181475"/>
            <a:ext cx="504825" cy="1143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713">
                <a:solidFill>
                  <a:srgbClr val="6BC8D1"/>
                </a:solidFill>
                <a:latin typeface="Consolas"/>
                <a:ea typeface="Consolas"/>
              </a:rPr>
              <a:t>STATE VIEW</a:t>
            </a:r>
            <a:endParaRPr/>
          </a:p>
        </p:txBody>
      </p:sp>
      <p:sp>
        <p:nvSpPr>
          <p:cNvPr id="94" name=""/>
          <p:cNvSpPr/>
          <p:nvPr/>
        </p:nvSpPr>
        <p:spPr>
          <a:xfrm rot="0" flipH="0" flipV="0">
            <a:off x="7124700" y="1352550"/>
            <a:ext cx="4533900" cy="819150"/>
          </a:xfrm>
          <a:custGeom>
            <a:pathLst>
              <a:path w="476" h="86">
                <a:moveTo>
                  <a:pt x="0" y="0"/>
                </a:moveTo>
                <a:lnTo>
                  <a:pt x="476" y="0"/>
                </a:lnTo>
                <a:lnTo>
                  <a:pt x="476" y="1"/>
                </a:lnTo>
                <a:lnTo>
                  <a:pt x="0" y="1"/>
                </a:lnTo>
                <a:close/>
              </a:path>
            </a:pathLst>
          </a:custGeom>
          <a:solidFill>
            <a:srgbClr val="F2F7F8">
              <a:alpha val="10000"/>
            </a:srgbClr>
          </a:solidFill>
          <a:ln/>
        </p:spPr>
        <p:txBody>
          <a:bodyPr/>
          <a:p/>
        </p:txBody>
      </p:sp>
      <p:sp>
        <p:nvSpPr>
          <p:cNvPr id="95" name="" descr="{&quot;isTemplate&quot;:true,&quot;type&quot;:&quot;text&quot;}"/>
          <p:cNvSpPr txBox="1"/>
          <p:nvPr/>
        </p:nvSpPr>
        <p:spPr>
          <a:xfrm rot="0" flipH="0" flipV="0">
            <a:off x="7124700" y="1495425"/>
            <a:ext cx="419100" cy="1143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750">
                <a:solidFill>
                  <a:srgbClr val="6BC8D1"/>
                </a:solidFill>
                <a:latin typeface="Consolas"/>
                <a:ea typeface="Consolas"/>
              </a:rPr>
              <a:t>01</a:t>
            </a:r>
            <a:endParaRPr/>
          </a:p>
        </p:txBody>
      </p:sp>
      <p:sp>
        <p:nvSpPr>
          <p:cNvPr id="96" name="" descr="{&quot;isTemplate&quot;:true,&quot;type&quot;:&quot;text&quot;}"/>
          <p:cNvSpPr txBox="1"/>
          <p:nvPr/>
        </p:nvSpPr>
        <p:spPr>
          <a:xfrm rot="0" flipH="0" flipV="0">
            <a:off x="7543800" y="1476375"/>
            <a:ext cx="41148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88" b="1">
                <a:solidFill>
                  <a:srgbClr val="F2F7F8"/>
                </a:solidFill>
                <a:latin typeface="Microsoft YaHei"/>
                <a:ea typeface="Microsoft YaHei"/>
              </a:rPr>
              <a:t>空间语义</a:t>
            </a:r>
            <a:endParaRPr/>
          </a:p>
        </p:txBody>
      </p:sp>
      <p:sp>
        <p:nvSpPr>
          <p:cNvPr id="97" name="" descr="{&quot;isTemplate&quot;:true,&quot;type&quot;:&quot;text&quot;}"/>
          <p:cNvSpPr txBox="1"/>
          <p:nvPr/>
        </p:nvSpPr>
        <p:spPr>
          <a:xfrm rot="0" flipH="0" flipV="0">
            <a:off x="7543800" y="1685925"/>
            <a:ext cx="4114800" cy="219075"/>
          </a:xfrm>
          <a:prstGeom prst="rect"/>
        </p:spPr>
        <p:txBody>
          <a:bodyPr wrap="none" lIns="0" tIns="0" rIns="0" bIns="0"/>
          <a:p>
            <a:pPr>
              <a:lnSpc>
                <a:spcPct val="165000"/>
              </a:lnSpc>
            </a:pPr>
            <a:r>
              <a:rPr lang="zh-CN" sz="863">
                <a:solidFill>
                  <a:srgbClr val="F2F7F8">
                    <a:alpha val="54000"/>
                  </a:srgbClr>
                </a:solidFill>
                <a:latin typeface="Microsoft YaHei"/>
                <a:ea typeface="Microsoft YaHei"/>
              </a:rPr>
              <a:t>区域体积、</a:t>
            </a:r>
            <a:r>
              <a:rPr lang="en-US" sz="863">
                <a:solidFill>
                  <a:srgbClr val="F2F7F8">
                    <a:alpha val="54000"/>
                  </a:srgbClr>
                </a:solidFill>
                <a:latin typeface="Microsoft YaHei"/>
                <a:ea typeface="Microsoft YaHei"/>
              </a:rPr>
              <a:t>VLAN </a:t>
            </a:r>
            <a:r>
              <a:rPr lang="zh-CN" sz="863">
                <a:solidFill>
                  <a:srgbClr val="F2F7F8">
                    <a:alpha val="54000"/>
                  </a:srgbClr>
                </a:solidFill>
                <a:latin typeface="Microsoft YaHei"/>
                <a:ea typeface="Microsoft YaHei"/>
              </a:rPr>
              <a:t>色带与设备造型，先看懂“在哪、属于谁”。</a:t>
            </a:r>
            <a:endParaRPr/>
          </a:p>
        </p:txBody>
      </p:sp>
      <p:sp>
        <p:nvSpPr>
          <p:cNvPr id="98" name=""/>
          <p:cNvSpPr/>
          <p:nvPr/>
        </p:nvSpPr>
        <p:spPr>
          <a:xfrm rot="0" flipH="0" flipV="0">
            <a:off x="7124700" y="2171700"/>
            <a:ext cx="4533900" cy="819150"/>
          </a:xfrm>
          <a:custGeom>
            <a:pathLst>
              <a:path w="476" h="86">
                <a:moveTo>
                  <a:pt x="0" y="0"/>
                </a:moveTo>
                <a:lnTo>
                  <a:pt x="476" y="0"/>
                </a:lnTo>
                <a:lnTo>
                  <a:pt x="476" y="1"/>
                </a:lnTo>
                <a:lnTo>
                  <a:pt x="0" y="1"/>
                </a:lnTo>
                <a:close/>
              </a:path>
            </a:pathLst>
          </a:custGeom>
          <a:solidFill>
            <a:srgbClr val="F2F7F8">
              <a:alpha val="10000"/>
            </a:srgbClr>
          </a:solidFill>
          <a:ln/>
        </p:spPr>
        <p:txBody>
          <a:bodyPr/>
          <a:p/>
        </p:txBody>
      </p:sp>
      <p:sp>
        <p:nvSpPr>
          <p:cNvPr id="99" name="" descr="{&quot;isTemplate&quot;:true,&quot;type&quot;:&quot;text&quot;}"/>
          <p:cNvSpPr txBox="1"/>
          <p:nvPr/>
        </p:nvSpPr>
        <p:spPr>
          <a:xfrm rot="0" flipH="0" flipV="0">
            <a:off x="7124700" y="2314575"/>
            <a:ext cx="419100" cy="1143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750">
                <a:solidFill>
                  <a:srgbClr val="6BC8D1"/>
                </a:solidFill>
                <a:latin typeface="Consolas"/>
                <a:ea typeface="Consolas"/>
              </a:rPr>
              <a:t>02</a:t>
            </a:r>
            <a:endParaRPr/>
          </a:p>
        </p:txBody>
      </p:sp>
      <p:sp>
        <p:nvSpPr>
          <p:cNvPr id="100" name="" descr="{&quot;isTemplate&quot;:true,&quot;type&quot;:&quot;text&quot;}"/>
          <p:cNvSpPr txBox="1"/>
          <p:nvPr/>
        </p:nvSpPr>
        <p:spPr>
          <a:xfrm rot="0" flipH="0" flipV="0">
            <a:off x="7543800" y="2295525"/>
            <a:ext cx="41148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88" b="1">
                <a:solidFill>
                  <a:srgbClr val="F2F7F8"/>
                </a:solidFill>
                <a:latin typeface="Microsoft YaHei"/>
                <a:ea typeface="Microsoft YaHei"/>
              </a:rPr>
              <a:t>直接操作</a:t>
            </a:r>
            <a:endParaRPr/>
          </a:p>
        </p:txBody>
      </p:sp>
      <p:sp>
        <p:nvSpPr>
          <p:cNvPr id="101" name="" descr="{&quot;isTemplate&quot;:true,&quot;type&quot;:&quot;text&quot;}"/>
          <p:cNvSpPr txBox="1"/>
          <p:nvPr/>
        </p:nvSpPr>
        <p:spPr>
          <a:xfrm rot="0" flipH="0" flipV="0">
            <a:off x="7543800" y="2505075"/>
            <a:ext cx="4114800" cy="219075"/>
          </a:xfrm>
          <a:prstGeom prst="rect"/>
        </p:spPr>
        <p:txBody>
          <a:bodyPr wrap="none" lIns="0" tIns="0" rIns="0" bIns="0"/>
          <a:p>
            <a:pPr>
              <a:lnSpc>
                <a:spcPct val="165000"/>
              </a:lnSpc>
            </a:pPr>
            <a:r>
              <a:rPr lang="zh-CN" sz="863">
                <a:solidFill>
                  <a:srgbClr val="F2F7F8">
                    <a:alpha val="54000"/>
                  </a:srgbClr>
                </a:solidFill>
                <a:latin typeface="Microsoft YaHei"/>
                <a:ea typeface="Microsoft YaHei"/>
              </a:rPr>
              <a:t>拖动旋转、滚轮缩放、点选设备；节点位置可拖动重排。</a:t>
            </a:r>
            <a:endParaRPr/>
          </a:p>
        </p:txBody>
      </p:sp>
      <p:sp>
        <p:nvSpPr>
          <p:cNvPr id="102" name=""/>
          <p:cNvSpPr/>
          <p:nvPr/>
        </p:nvSpPr>
        <p:spPr>
          <a:xfrm rot="0" flipH="0" flipV="0">
            <a:off x="7124700" y="2990850"/>
            <a:ext cx="4533900" cy="819150"/>
          </a:xfrm>
          <a:custGeom>
            <a:pathLst>
              <a:path w="476" h="86">
                <a:moveTo>
                  <a:pt x="0" y="0"/>
                </a:moveTo>
                <a:lnTo>
                  <a:pt x="476" y="0"/>
                </a:lnTo>
                <a:lnTo>
                  <a:pt x="476" y="1"/>
                </a:lnTo>
                <a:lnTo>
                  <a:pt x="0" y="1"/>
                </a:lnTo>
                <a:close/>
              </a:path>
            </a:pathLst>
          </a:custGeom>
          <a:solidFill>
            <a:srgbClr val="F2F7F8">
              <a:alpha val="10000"/>
            </a:srgbClr>
          </a:solidFill>
          <a:ln/>
        </p:spPr>
        <p:txBody>
          <a:bodyPr/>
          <a:p/>
        </p:txBody>
      </p:sp>
      <p:sp>
        <p:nvSpPr>
          <p:cNvPr id="103" name="" descr="{&quot;isTemplate&quot;:true,&quot;type&quot;:&quot;text&quot;}"/>
          <p:cNvSpPr txBox="1"/>
          <p:nvPr/>
        </p:nvSpPr>
        <p:spPr>
          <a:xfrm rot="0" flipH="0" flipV="0">
            <a:off x="7124700" y="3133725"/>
            <a:ext cx="419100" cy="1143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750">
                <a:solidFill>
                  <a:srgbClr val="6BC8D1"/>
                </a:solidFill>
                <a:latin typeface="Consolas"/>
                <a:ea typeface="Consolas"/>
              </a:rPr>
              <a:t>03</a:t>
            </a:r>
            <a:endParaRPr/>
          </a:p>
        </p:txBody>
      </p:sp>
      <p:sp>
        <p:nvSpPr>
          <p:cNvPr id="104" name="" descr="{&quot;isTemplate&quot;:true,&quot;type&quot;:&quot;text&quot;}"/>
          <p:cNvSpPr txBox="1"/>
          <p:nvPr/>
        </p:nvSpPr>
        <p:spPr>
          <a:xfrm rot="0" flipH="0" flipV="0">
            <a:off x="7543800" y="3114675"/>
            <a:ext cx="41148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88" b="1">
                <a:solidFill>
                  <a:srgbClr val="F2F7F8"/>
                </a:solidFill>
                <a:latin typeface="Microsoft YaHei"/>
                <a:ea typeface="Microsoft YaHei"/>
              </a:rPr>
              <a:t>路径可视化</a:t>
            </a:r>
            <a:endParaRPr/>
          </a:p>
        </p:txBody>
      </p:sp>
      <p:sp>
        <p:nvSpPr>
          <p:cNvPr id="105" name="" descr="{&quot;isTemplate&quot;:true,&quot;type&quot;:&quot;text&quot;}"/>
          <p:cNvSpPr txBox="1"/>
          <p:nvPr/>
        </p:nvSpPr>
        <p:spPr>
          <a:xfrm rot="0" flipH="0" flipV="0">
            <a:off x="7543800" y="3324225"/>
            <a:ext cx="4114800" cy="219075"/>
          </a:xfrm>
          <a:prstGeom prst="rect"/>
        </p:spPr>
        <p:txBody>
          <a:bodyPr wrap="none" lIns="0" tIns="0" rIns="0" bIns="0"/>
          <a:p>
            <a:pPr>
              <a:lnSpc>
                <a:spcPct val="165000"/>
              </a:lnSpc>
            </a:pPr>
            <a:r>
              <a:rPr lang="zh-CN" sz="863">
                <a:solidFill>
                  <a:srgbClr val="F2F7F8">
                    <a:alpha val="54000"/>
                  </a:srgbClr>
                </a:solidFill>
                <a:latin typeface="Microsoft YaHei"/>
                <a:ea typeface="Microsoft YaHei"/>
              </a:rPr>
              <a:t>事件沿真实节点链流光；被阻断的位置单独标记，不画“猜出来”的线。</a:t>
            </a:r>
            <a:endParaRPr/>
          </a:p>
        </p:txBody>
      </p:sp>
      <p:sp>
        <p:nvSpPr>
          <p:cNvPr id="106" name=""/>
          <p:cNvSpPr/>
          <p:nvPr/>
        </p:nvSpPr>
        <p:spPr>
          <a:xfrm rot="0" flipH="0" flipV="0">
            <a:off x="7124700" y="3810000"/>
            <a:ext cx="4533900" cy="819150"/>
          </a:xfrm>
          <a:custGeom>
            <a:pathLst>
              <a:path w="476" h="86">
                <a:moveTo>
                  <a:pt x="0" y="0"/>
                </a:moveTo>
                <a:lnTo>
                  <a:pt x="476" y="0"/>
                </a:lnTo>
                <a:lnTo>
                  <a:pt x="476" y="1"/>
                </a:lnTo>
                <a:lnTo>
                  <a:pt x="0" y="1"/>
                </a:lnTo>
                <a:close/>
              </a:path>
            </a:pathLst>
          </a:custGeom>
          <a:solidFill>
            <a:srgbClr val="F2F7F8">
              <a:alpha val="10000"/>
            </a:srgbClr>
          </a:solidFill>
          <a:ln/>
        </p:spPr>
        <p:txBody>
          <a:bodyPr/>
          <a:p/>
        </p:txBody>
      </p:sp>
      <p:sp>
        <p:nvSpPr>
          <p:cNvPr id="107" name=""/>
          <p:cNvSpPr/>
          <p:nvPr/>
        </p:nvSpPr>
        <p:spPr>
          <a:xfrm rot="0" flipH="0" flipV="0">
            <a:off x="7124700" y="3810000"/>
            <a:ext cx="4533900" cy="819150"/>
          </a:xfrm>
          <a:custGeom>
            <a:pathLst>
              <a:path w="476" h="86">
                <a:moveTo>
                  <a:pt x="0" y="85"/>
                </a:moveTo>
                <a:lnTo>
                  <a:pt x="476" y="85"/>
                </a:lnTo>
                <a:lnTo>
                  <a:pt x="476" y="86"/>
                </a:lnTo>
                <a:lnTo>
                  <a:pt x="0" y="86"/>
                </a:lnTo>
                <a:close/>
              </a:path>
            </a:pathLst>
          </a:custGeom>
          <a:solidFill>
            <a:srgbClr val="F2F7F8">
              <a:alpha val="10000"/>
            </a:srgbClr>
          </a:solidFill>
          <a:ln/>
        </p:spPr>
        <p:txBody>
          <a:bodyPr/>
          <a:p/>
        </p:txBody>
      </p:sp>
      <p:sp>
        <p:nvSpPr>
          <p:cNvPr id="108" name="" descr="{&quot;isTemplate&quot;:true,&quot;type&quot;:&quot;text&quot;}"/>
          <p:cNvSpPr txBox="1"/>
          <p:nvPr/>
        </p:nvSpPr>
        <p:spPr>
          <a:xfrm rot="0" flipH="0" flipV="0">
            <a:off x="7124700" y="3952875"/>
            <a:ext cx="419100" cy="1143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750">
                <a:solidFill>
                  <a:srgbClr val="6BC8D1"/>
                </a:solidFill>
                <a:latin typeface="Consolas"/>
                <a:ea typeface="Consolas"/>
              </a:rPr>
              <a:t>04</a:t>
            </a:r>
            <a:endParaRPr/>
          </a:p>
        </p:txBody>
      </p:sp>
      <p:sp>
        <p:nvSpPr>
          <p:cNvPr id="109" name="" descr="{&quot;isTemplate&quot;:true,&quot;type&quot;:&quot;text&quot;}"/>
          <p:cNvSpPr txBox="1"/>
          <p:nvPr/>
        </p:nvSpPr>
        <p:spPr>
          <a:xfrm rot="0" flipH="0" flipV="0">
            <a:off x="7543800" y="3933825"/>
            <a:ext cx="41148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88" b="1">
                <a:solidFill>
                  <a:srgbClr val="F2F7F8"/>
                </a:solidFill>
                <a:latin typeface="Microsoft YaHei"/>
                <a:ea typeface="Microsoft YaHei"/>
              </a:rPr>
              <a:t>聚焦与复位</a:t>
            </a:r>
            <a:endParaRPr/>
          </a:p>
        </p:txBody>
      </p:sp>
      <p:sp>
        <p:nvSpPr>
          <p:cNvPr id="110" name="" descr="{&quot;isTemplate&quot;:true,&quot;type&quot;:&quot;text&quot;}"/>
          <p:cNvSpPr txBox="1"/>
          <p:nvPr/>
        </p:nvSpPr>
        <p:spPr>
          <a:xfrm rot="0" flipH="0" flipV="0">
            <a:off x="7543800" y="4143375"/>
            <a:ext cx="4114800" cy="219075"/>
          </a:xfrm>
          <a:prstGeom prst="rect"/>
        </p:spPr>
        <p:txBody>
          <a:bodyPr wrap="none" lIns="0" tIns="0" rIns="0" bIns="0"/>
          <a:p>
            <a:pPr>
              <a:lnSpc>
                <a:spcPct val="165000"/>
              </a:lnSpc>
            </a:pPr>
            <a:r>
              <a:rPr lang="zh-CN" sz="863">
                <a:solidFill>
                  <a:srgbClr val="F2F7F8">
                    <a:alpha val="54000"/>
                  </a:srgbClr>
                </a:solidFill>
                <a:latin typeface="Microsoft YaHei"/>
                <a:ea typeface="Microsoft YaHei"/>
              </a:rPr>
              <a:t>一键适配视野、聚焦代表链、恢复拓扑布局；标签按视距分级并自动避让。</a:t>
            </a:r>
            <a:endParaRPr/>
          </a:p>
        </p:txBody>
      </p:sp>
      <p:sp>
        <p:nvSpPr>
          <p:cNvPr id="111" name=""/>
          <p:cNvSpPr/>
          <p:nvPr/>
        </p:nvSpPr>
        <p:spPr>
          <a:xfrm rot="0" flipH="0" flipV="0">
            <a:off x="533400" y="4762500"/>
            <a:ext cx="11125200" cy="447675"/>
          </a:xfrm>
          <a:custGeom>
            <a:pathLst>
              <a:path w="1168" h="47">
                <a:moveTo>
                  <a:pt x="0" y="0"/>
                </a:moveTo>
                <a:lnTo>
                  <a:pt x="1168" y="0"/>
                </a:lnTo>
                <a:lnTo>
                  <a:pt x="1168" y="1"/>
                </a:lnTo>
                <a:lnTo>
                  <a:pt x="0" y="1"/>
                </a:lnTo>
                <a:close/>
              </a:path>
            </a:pathLst>
          </a:custGeom>
          <a:solidFill>
            <a:srgbClr val="6BC8D1">
              <a:alpha val="22000"/>
            </a:srgbClr>
          </a:solidFill>
          <a:ln/>
        </p:spPr>
        <p:txBody>
          <a:bodyPr/>
          <a:p/>
        </p:txBody>
      </p:sp>
      <p:sp>
        <p:nvSpPr>
          <p:cNvPr id="112" name="" descr="{&quot;isTemplate&quot;:true,&quot;type&quot;:&quot;text&quot;}"/>
          <p:cNvSpPr txBox="1"/>
          <p:nvPr/>
        </p:nvSpPr>
        <p:spPr>
          <a:xfrm rot="0" flipH="0" flipV="0">
            <a:off x="533400" y="4886325"/>
            <a:ext cx="11125200" cy="1143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750" spc="90">
                <a:solidFill>
                  <a:srgbClr val="6BC8D1"/>
                </a:solidFill>
                <a:latin typeface="Consolas"/>
                <a:ea typeface="Consolas"/>
              </a:rPr>
              <a:t>RENDERING RULE</a:t>
            </a:r>
            <a:endParaRPr/>
          </a:p>
        </p:txBody>
      </p:sp>
      <p:sp>
        <p:nvSpPr>
          <p:cNvPr id="113" name="" descr="{&quot;isTemplate&quot;:true,&quot;type&quot;:&quot;text&quot;}"/>
          <p:cNvSpPr txBox="1"/>
          <p:nvPr/>
        </p:nvSpPr>
        <p:spPr>
          <a:xfrm rot="0" flipH="0" flipV="0">
            <a:off x="533400" y="5057775"/>
            <a:ext cx="1112520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38">
                <a:solidFill>
                  <a:srgbClr val="F2F7F8">
                    <a:alpha val="54000"/>
                  </a:srgbClr>
                </a:solidFill>
                <a:latin typeface="Microsoft YaHei"/>
                <a:ea typeface="Microsoft YaHei"/>
              </a:rPr>
              <a:t>动画只消费事件携带的路径与节点；三维层不参与判定，也不自行编造连接。</a:t>
            </a:r>
            <a:endParaRPr/>
          </a:p>
        </p:txBody>
      </p:sp>
      <p:sp>
        <p:nvSpPr>
          <p:cNvPr id="114" name=""/>
          <p:cNvSpPr/>
          <p:nvPr/>
        </p:nvSpPr>
        <p:spPr>
          <a:xfrm rot="0" flipH="0" flipV="0">
            <a:off x="533400" y="6324600"/>
            <a:ext cx="11125200" cy="9525"/>
          </a:xfrm>
          <a:prstGeom prst="rect">
            <a:avLst/>
          </a:prstGeom>
          <a:solidFill>
            <a:srgbClr val="F2F7F8">
              <a:alpha val="10000"/>
            </a:srgbClr>
          </a:solidFill>
          <a:ln/>
        </p:spPr>
        <p:txBody>
          <a:bodyPr/>
          <a:p/>
        </p:txBody>
      </p:sp>
      <p:sp>
        <p:nvSpPr>
          <p:cNvPr id="115" name="" descr="{&quot;isTemplate&quot;:true,&quot;type&quot;:&quot;text&quot;}"/>
          <p:cNvSpPr txBox="1"/>
          <p:nvPr/>
        </p:nvSpPr>
        <p:spPr>
          <a:xfrm rot="0" flipH="0" flipV="0">
            <a:off x="533400" y="6457950"/>
            <a:ext cx="3248025" cy="1238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788" spc="60">
                <a:solidFill>
                  <a:srgbClr val="F2F7F8">
                    <a:alpha val="40000"/>
                  </a:srgbClr>
                </a:solidFill>
                <a:latin typeface="Consolas"/>
                <a:ea typeface="Consolas"/>
              </a:rPr>
              <a:t>智御网络</a:t>
            </a:r>
            <a:r>
              <a:rPr lang="en-US" sz="788" spc="60">
                <a:solidFill>
                  <a:srgbClr val="F2F7F8">
                    <a:alpha val="40000"/>
                  </a:srgbClr>
                </a:solidFill>
                <a:latin typeface="Consolas"/>
                <a:ea typeface="Consolas"/>
              </a:rPr>
              <a:t> · </a:t>
            </a:r>
            <a:r>
              <a:rPr lang="zh-CN" sz="788" spc="60">
                <a:solidFill>
                  <a:srgbClr val="F2F7F8">
                    <a:alpha val="40000"/>
                  </a:srgbClr>
                </a:solidFill>
                <a:latin typeface="Consolas"/>
                <a:ea typeface="Consolas"/>
              </a:rPr>
              <a:t>三维网络安全策略交互验证平台</a:t>
            </a:r>
            <a:endParaRPr/>
          </a:p>
        </p:txBody>
      </p:sp>
      <p:sp>
        <p:nvSpPr>
          <p:cNvPr id="116" name="" descr="{&quot;isTemplate&quot;:true,&quot;type&quot;:&quot;text&quot;}"/>
          <p:cNvSpPr txBox="1"/>
          <p:nvPr/>
        </p:nvSpPr>
        <p:spPr>
          <a:xfrm rot="0" flipH="0" flipV="0">
            <a:off x="11268075" y="6457950"/>
            <a:ext cx="390525" cy="1238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788">
                <a:solidFill>
                  <a:srgbClr val="F2F7F8">
                    <a:alpha val="40000"/>
                  </a:srgbClr>
                </a:solidFill>
                <a:latin typeface="Consolas"/>
                <a:ea typeface="Consolas"/>
              </a:rPr>
              <a:t>11 / 22</a:t>
            </a:r>
            <a:endParaRPr/>
          </a:p>
        </p:txBody>
      </p:sp>
    </p:spTree>
  </p:cSld>
</p:sld>
</file>

<file path=ppt/slides/slide12.xml><?xml version="1.0" encoding="utf-8"?>
<p:sld xmlns:p="http://schemas.openxmlformats.org/presentationml/2006/main" xmlns:r="http://schemas.openxmlformats.org/officeDocument/2006/relationships" xmlns:a="http://schemas.openxmlformats.org/drawingml/2006/main" xmlns:asvg="http://schemas.microsoft.com/office/drawing/2016/SVG/main" xmlns:mc="http://schemas.openxmlformats.org/markup-compatibility/2006" mc:Ignorable="asvg">
  <p:cSld>
    <p:spTree>
      <p:nvGrpSpPr>
        <p:cNvPr id="117" name="" descr="&lt;Slide style={{ width: 1280, height: 720, background: '#07111B', padding: 0, position: 'relative', overflow: 'hidden' }}&gt;&#10;    &lt;svg width={1280} height={720} viewBox='0 0 1280 720' style={{ position: 'absolute', left: 0, top: 0 }}&gt;&#10;        &lt;g stroke='rgba(242,247,248,0.022)' strokeWidth='1'&gt;&#10;            &lt;path d='M0 96H1280M0 192H1280M0 288H1280M0 384H1280M0 480H1280M0 576H1280M0 672H1280' /&gt;&#10;        &lt;/g&gt;&#10;    &lt;/svg&gt;&#10;&#10;    &lt;Box style={{ position: 'absolute', left: 56, top: 38 }}&gt;&#10;        &lt;Text style={{ fontFamily: 'Consolas', fontSize: 11, color: '#6BC8D1', letterSpacing: 1.8 }}&gt;03 / 核心机制&lt;/Text&gt;&#10;    &lt;/Box&gt;&#10;    &lt;Text style={{ position: 'absolute', left: 56, top: 62, fontFamily: 'Microsoft YaHei', fontSize: 32, fontWeight: 'bold', color: '#F2F7F8', letterSpacing: 0.5 }}&gt;策略工作台：顺序就是语义&lt;/Text&gt;&#10;    &lt;Text style={{ position: 'absolute', right: 56, top: 76, fontFamily: 'Consolas', fontSize: 10.5, color: 'rgba(242,247,248,0.42)' }}&gt;FIRST MATCH · DEFAULT DENY&lt;/Text&gt;&#10;&#10;    &lt;Box style={{ position: 'absolute', left: 56, top: 140, width: 440 }}&gt;&#10;        &lt;Box style={{ flexDirection: 'row', justifyContent: 'space-between', alignItems: 'center' }}&gt;&#10;            &lt;Text style={{ fontFamily: 'Consolas', fontSize: 9.5, color: '#6BC8D1', letterSpacing: 1.2 }}&gt;INTERNAL FIREWALL / RULES&lt;/Text&gt;&#10;            &lt;Text style={{ fontFamily: 'Consolas', fontSize: 9.5, color: 'rgba(242,247,248,0.38)' }}&gt;Default DENY&lt;/Text&gt;&#10;        &lt;/Box&gt;&#10;&#10;        &lt;Box style={{ marginTop: 14, height: 62, paddingLeft: 12, paddingRight: 12, flexDirection: 'row', alignItems: 'center', background: 'rgba(107,200,209,0.09)', border: '1px solid rgba(107,200,209,0.32)', borderRadius: 6 }}&gt;&#10;            &lt;Text style={{ width: 30, fontFamily: 'Consolas', fontSize: 12, color: '#6BC8D1' }}&gt;10&lt;/Text&gt;&#10;            &lt;Box style={{ width: 54, paddingTop: 3, paddingBottom: 3, alignItems: 'center', background: 'rgba(107,200,209,0.16)', borderRadius: 3 }}&gt;&#10;                &lt;Text style={{ fontFamily: 'Consolas', fontSize: 9, color: '#6BC8D1' }}&gt;ALLOW&lt;/Text&gt;&#10;            &lt;/Box&gt;&#10;            &lt;Box style={{ marginLeft: 10, width: 250 }}&gt;&#10;                &lt;Text style={{ fontFamily: 'Microsoft YaHei', fontSize: 12, fontWeight: 'bold', color: '#F2F7F8' }}&gt;应用服务 → 客户数据库&lt;/Text&gt;&#10;                &lt;Text style={{ marginTop: 3, fontFamily: 'Consolas', fontSize: 9.5, color: 'rgba(242,247,248,0.48)' }}&gt;DATABASE · 应用业务&lt;/Text&gt;&#10;            &lt;/Box&gt;&#10;            &lt;Text style={{ marginLeft: 'auto', fontFamily: 'Microsoft YaHei', fontSize: 9.5, color: '#6BC8D1' }}&gt;命中&lt;/Text&gt;&#10;        &lt;/Box&gt;&#10;&#10;        &lt;Box style={{ marginTop: 8, height: 62, paddingLeft: 12, paddingRight: 12, flexDirection: 'row', alignItems: 'center', background: 'rgba(242,247,248,0.03)', border: '1px solid rgba(242,247,248,0.10)', borderRadius: 6 }}&gt;&#10;            &lt;Text style={{ width: 30, fontFamily: 'Consolas', fontSize: 12, color: 'rgba(242,247,248,0.52)' }}&gt;20&lt;/Text&gt;&#10;            &lt;Box style={{ width: 54, paddingTop: 3, paddingBottom: 3, alignItems: 'center', background: 'rgba(242,247,248,0.06)', borderRadius: 3 }}&gt;&#10;                &lt;Text style={{ fontFamily: 'Consolas', fontSize: 9, color: 'rgba(242,247,248,0.70)' }}&gt;ALLOW&lt;/Text&gt;&#10;            &lt;/Box&gt;&#10;            &lt;Box style={{ marginLeft: 10, width: 250 }}&gt;&#10;                &lt;Text style={{ fontFamily: 'Microsoft YaHei', fontSize: 12, fontWeight: 'bold', color: 'rgba(242,247,248,0.86)' }}&gt;办公区 → 客户数据库&lt;/Text&gt;&#10;                &lt;Text style={{ marginTop: 3, fontFamily: 'Consolas', fontSize: 9.5, color: 'rgba(231,129,114,0.80)' }}&gt;DATABASE · 顺序错误&lt;/Text&gt;&#10;            &lt;/Box&gt;&#10;        &lt;/Box&gt;&#10;&#10;        &lt;Box style={{ marginTop: 8, height: 62, paddingLeft: 12, paddingRight: 12, flexDirection: 'row', alignItems: 'center', background: 'rgba(242,247,248,0.03)', border: '1px solid rgba(242,247,248,0.10)', borderRadius: 6 }}&gt;&#10;            &lt;Text style={{ width: 30, fontFamily: 'Consolas', fontSize: 12, color: 'rgba(242,247,248,0.52)' }}&gt;25&lt;/Text&gt;&#10;            &lt;Box style={{ width: 54, paddingTop: 3, paddingBottom: 3, alignItems: 'center', background: 'rgba(242,247,248,0.06)', borderRadius: 3 }}&gt;&#10;                &lt;Text style={{ fontFamily: 'Consolas', fontSize: 9, color: 'rgba(242,247,248,0.70)' }}&gt;ALLOW&lt;/Text&gt;&#10;            &lt;/Box&gt;&#10;            &lt;Box style={{ marginLeft: 10, width: 250 }}&gt;&#10;                &lt;Text style={{ fontFamily: 'Microsoft YaHei', fontSize: 12, fontWeight: 'bold', color: 'rgba(242,247,248,0.86)' }}&gt;办公区 → 应用服务&lt;/Text&gt;&#10;                &lt;Text style={{ marginTop: 3, fontFamily: 'Consolas', fontSize: 9.5, color: 'rgba(242,247,248,0.48)' }}&gt;WEB · 教学路径&lt;/Text&gt;&#10;            &lt;/Box&gt;&#10;        &lt;/Box&gt;&#10;&#10;        &lt;Box style={{ marginTop: 8, height: 62, paddingLeft: 12, paddingRight: 12, flexDirection: 'row', alignItems: 'center', background: 'rgba(231,129,114,0.035)', border: '1px solid rgba(231,129,114,0.22)', borderRadius: 6 }}&gt;&#10;            &lt;Text style={{ width: 30, fontFamily: 'Consolas', fontSize: 12, color: 'rgba(242,247,248,0.52)' }}&gt;30&lt;/Text&gt;&#10;            &lt;Box style={{ width: 54, paddingTop: 3, paddingBottom: 3, alignItems: 'center', background: 'rgba(231,129,114,0.10)', borderRadius: 3 }}&gt;&#10;                &lt;Text style={{ fontFamily: 'Consolas', fontSize: 9, color: '#E78172' }}&gt;DENY&lt;/Text&gt;&#10;            &lt;/Box&gt;&#10;            &lt;Box style={{ marginLeft: 10, width: 250 }}&gt;&#10;                &lt;Text style={{ fontFamily: 'Microsoft YaHei', fontSize: 12, fontWeight: 'bold', color: 'rgba(242,247,248,0.86)' }}&gt;办公区 → 数据库区&lt;/Text&gt;&#10;                &lt;Text style={{ marginTop: 3, fontFamily: 'Consolas', fontSize: 9.5, color: 'rgba(242,247,248,0.48)' }}&gt;ANY · 永远到不了&lt;/Text&gt;&#10;            &lt;/Box&gt;&#10;        &lt;/Box&gt;&#10;&#10;        &lt;Box style={{ marginTop: 14, paddingLeft: 12, borderLeft: '2px solid #6BC8D1' }}&gt;&#10;            &lt;Text style={{ fontFamily: 'Microsoft YaHei', fontSize: 11.5, color: 'rgba(242,247,248,0.58)', lineHeight: 1.7 }}&gt;&#10;                第 1 条命中即停止；第 30 条的拒绝不会被检查。&lt;br /&gt;规则的“位置”，本身就是策略的一部分。&#10;            &lt;/Text&gt;&#10;        &lt;/Box&gt;&#10;    &lt;/Box&gt;&#10;&#10;    &lt;Box style={{ position: 'absolute', left: 536, top: 140, width: 688 }}&gt;&#10;        &lt;Box style={{ flexDirection: 'row', alignItems: 'flex-start', height: 78, borderTop: '1px solid rgba(242,247,248,0.10)' }}&gt;&#10;            &lt;Text style={{ width: 42, marginTop: 12, fontFamily: 'Consolas', fontSize: 10, color: '#6BC8D1' }}&gt;01&lt;/Text&gt;&#10;            &lt;Box style={{ width: 630 }}&gt;&#10;                &lt;Text style={{ marginTop: 10, fontFamily: 'Microsoft YaHei', fontSize: 14.5, fontWeight: 'bold', color: '#F2F7F8' }}&gt;规则可编辑&lt;/Text&gt;&#10;                &lt;Text style={{ marginTop: 3, fontFamily: 'Microsoft YaHei', fontSize: 11.5, color: 'rgba(242,247,248,0.54)', lineHeight: 1.65 }}&gt;新增、删除、上移、下移、启停；来源与目标支持 ANY / ZONE / NODE 三种粒度。&lt;/Text&gt;&#10;            &lt;/Box&gt;&#10;        &lt;/Box&gt;&#10;        &lt;Box style={{ flexDirection: 'row', alignItems: 'flex-start', height: 78, borderTop: '1px solid rgba(242,247,248,0.10)' }}&gt;&#10;            &lt;Text style={{ width: 42, marginTop: 12, fontFamily: 'Consolas', fontSize: 10, color: '#6BC8D1' }}&gt;02&lt;/Text&gt;&#10;            &lt;Box style={{ width: 630 }}&gt;&#10;                &lt;Text style={{ marginTop: 10, fontFamily: 'Microsoft YaHei', fontSize: 14.5, fontWeight: 'bold', color: '#F2F7F8' }}&gt;判定可追溯&lt;/Text&gt;&#10;                &lt;Text style={{ marginTop: 3, fontFamily: 'Microsoft YaHei', fontSize: 11.5, color: 'rgba(242,247,248,0.54)', lineHeight: 1.65 }}&gt;通信 → Firewall → 规则 → 结果；命中规则、阻断位置与前后状态都写进事件。&lt;/Text&gt;&#10;            &lt;/Box&gt;&#10;        &lt;/Box&gt;&#10;        &lt;Box style={{ flexDirection: 'row', alignItems: 'flex-start', height: 78, borderTop: '1px solid rgba(242,247,248,0.10)' }}&gt;&#10;            &lt;Text style={{ width: 42, marginTop: 12, fontFamily: 'Consolas', fontSize: 10, color: '#6BC8D1' }}&gt;03&lt;/Text&gt;&#10;            &lt;Box style={{ width: 630 }}&gt;&#10;                &lt;Text style={{ marginTop: 10, fontFamily: 'Microsoft YaHei', fontSize: 14.5, fontWeight: 'bold', color: '#F2F7F8' }}&gt;失效可感知&lt;/Text&gt;&#10;                &lt;Text style={{ marginTop: 3, fontFamily: 'Microsoft YaHei', fontSize: 11.5, color: 'rgba(242,247,248,0.54)', lineHeight: 1.65 }}&gt;拓扑、策略或安全控制一变，上一轮结果立即标记过期；只改布局不会误触发。&lt;/Text&gt;&#10;            &lt;/Box&gt;&#10;        &lt;/Box&gt;&#10;        &lt;Box style={{ flexDirection: 'row', alignItems: 'flex-start', height: 78, borderTop: '1px solid rgba(242,247,248,0.10)', borderBottom: '1px solid rgba(242,247,248,0.10)' }}&gt;&#10;            &lt;Text style={{ width: 42, marginTop: 12, fontFamily: 'Consolas', fontSize: 10, color: '#6BC8D1' }}&gt;04&lt;/Text&gt;&#10;            &lt;Box style={{ width: 630 }}&gt;&#10;                &lt;Text style={{ marginTop: 10, fontFamily: 'Microsoft YaHei', fontSize: 14.5, fontWeight: 'bold', color: '#F2F7F8' }}&gt;默认拒绝&lt;/Text&gt;&#10;                &lt;Text style={{ marginTop: 3, fontFamily: 'Microsoft YaHei', fontSize: 11.5, color: 'rgba(242,247,248,0.54)', lineHeight: 1.65 }}&gt;没有规则命中时使用本机 Default Policy；系统不提供“默认放行”的捷径。&lt;/Text&gt;&#10;            &lt;/Box&gt;&#10;        &lt;/Box&gt;&#10;&#10;        &lt;Box style={{ marginTop: 26, padding: 16, background: 'rgba(107,200,209,0.055)', borderLeft: '2px solid #6BC8D1' }}&gt;&#10;            &lt;Text style={{ fontFamily: 'Microsoft YaHei', fontSize: 16, fontWeight: 'bold', color: 'rgba(242,247,248,0.88)', lineHeight: 1.6 }}&gt;&#10;                不是规则越多越安全，&lt;br /&gt;而是顺序与作用域共同决定结果。&#10;            &lt;/Text&gt;&#10;        &lt;/Box&gt;&#10;    &lt;/Box&gt;&#10;&#10;    &lt;Box style={{ position: 'absolute', left: 56, top: 552, width: 1168, paddingTop: 14, borderTop: '1px solid rgba(242,247,248,0.10)' }}&gt;&#10;        &lt;Box style={{ flexDirection: 'row', alignItems: 'center', gap: 12 }}&gt;&#10;            &lt;Text style={{ width: 90, fontFamily: 'Consolas', fontSize: 9, color: 'rgba(242,247,248,0.34)', letterSpacing: 1 }}&gt;STATE FLOW&lt;/Text&gt;&#10;            &lt;Box style={{ width: 168, paddingLeft: 12, paddingRight: 12, paddingTop: 8, paddingBottom: 8, border: '1px solid rgba(242,247,248,0.12)', borderRadius: 4 }}&gt;&#10;                &lt;Text style={{ fontFamily: 'Microsoft YaHei', fontSize: 11, color: 'rgba(242,247,248,0.62)' }}&gt;改一条规则&lt;/Text&gt;&#10;            &lt;/Box&gt;&#10;            &lt;Text style={{ fontFamily: 'Consolas', fontSize: 13, color: 'rgba(107,200,209,0.55)' }}&gt;→&lt;/Text&gt;&#10;            &lt;Box style={{ width: 168, paddingLeft: 12, paddingRight: 12, paddingTop: 8, paddingBottom: 8, border: '1px solid rgba(231,129,114,0.24)', borderRadius: 4 }}&gt;&#10;                &lt;Text style={{ fontFamily: 'Microsoft YaHei', fontSize: 11, color: '#E78172' }}&gt;上一轮结果过期&lt;/Text&gt;&#10;            &lt;/Box&gt;&#10;            &lt;Text style={{ fontFamily: 'Consolas', fontSize: 13, color: 'rgba(107,200,209,0.55)' }}&gt;→&lt;/Text&gt;&#10;            &lt;Box style={{ width: 168, paddingLeft: 12, paddingRight: 12, paddingTop: 8, paddingBottom: 8, border: '1px solid rgba(107,200,209,0.26)', borderRadius: 4, background: 'rgba(107,200,209,0.06)' }}&gt;&#10;                &lt;Text style={{ fontFamily: 'Microsoft YaHei', fontSize: 11, color: '#6BC8D1' }}&gt;重新验证&lt;/Text&gt;&#10;            &lt;/Box&gt;&#10;            &lt;Text style={{ fontFamily: 'Consolas', fontSize: 13, color: 'rgba(107,200,209,0.55)' }}&gt;→&lt;/Text&gt;&#10;            &lt;Box style={{ width: 208, paddingLeft: 12, paddingRight: 12, paddingTop: 8, paddingBottom: 8, border: '1px solid rgba(242,247,248,0.12)', borderRadius: 4 }}&gt;&#10;                &lt;Text style={{ fontFamily: 'Microsoft YaHei', fontSize: 11, color: 'rgba(242,247,248,0.62)' }}&gt;新事件 / 新指标&lt;/Text&gt;&#10;            &lt;/Box&gt;&#10;        &lt;/Box&gt;&#10;    &lt;/Box&gt;&#10;&#10;    &lt;Box style={{ position: 'absolute', left: 56, top: 664, width: 1168, height: 1, background: 'rgba(242,247,248,0.10)' }} /&gt;&#10;    &lt;Text style={{ position: 'absolute', left: 56, top: 678, fontFamily: 'Consolas', fontSize: 10.5, color: 'rgba(242,247,248,0.40)', letterSpacing: 0.8 }}&gt;智御网络 · 三维网络安全策略交互验证平台&lt;/Text&gt;&#10;    &lt;Text style={{ position: 'absolute', right: 56, top: 678, fontFamily: 'Consolas', fontSize: 10.5, color: 'rgba(242,247,248,0.40)' }}&gt;12 / 22&lt;/Text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07111B"/>
          </a:solidFill>
          <a:ln/>
        </p:spPr>
        <p:txBody>
          <a:bodyPr/>
          <a:p/>
        </p:txBody>
      </p:sp>
      <p:pic>
        <p:nvPicPr>
          <p:cNvPr id="119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1"/>
              </a:ext>
            </a:extLst>
          </a:blip>
          <a:stretch>
            <a:fillRect/>
          </a:stretch>
        </p:blipFill>
        <p:spPr>
          <a:xfrm rot="0" flipH="0" flipV="0">
            <a:off x="0" y="0"/>
            <a:ext cx="12192000" cy="6858000"/>
          </a:xfrm>
          <a:prstGeom prst="rect">
            <a:avLst/>
          </a:prstGeom>
          <a:ln/>
        </p:spPr>
      </p:pic>
      <p:sp>
        <p:nvSpPr>
          <p:cNvPr id="120" name="" descr="{&quot;isTemplate&quot;:true,&quot;type&quot;:&quot;text&quot;}"/>
          <p:cNvSpPr txBox="1"/>
          <p:nvPr/>
        </p:nvSpPr>
        <p:spPr>
          <a:xfrm rot="0" flipH="0" flipV="0">
            <a:off x="533400" y="361950"/>
            <a:ext cx="1095375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825" spc="135">
                <a:solidFill>
                  <a:srgbClr val="6BC8D1"/>
                </a:solidFill>
                <a:latin typeface="Consolas"/>
                <a:ea typeface="Consolas"/>
              </a:rPr>
              <a:t>03 / </a:t>
            </a:r>
            <a:r>
              <a:rPr lang="zh-CN" sz="825" spc="135">
                <a:solidFill>
                  <a:srgbClr val="6BC8D1"/>
                </a:solidFill>
                <a:latin typeface="Consolas"/>
                <a:ea typeface="Consolas"/>
              </a:rPr>
              <a:t>核心机制</a:t>
            </a:r>
            <a:endParaRPr/>
          </a:p>
        </p:txBody>
      </p:sp>
      <p:sp>
        <p:nvSpPr>
          <p:cNvPr id="121" name="" descr="{&quot;isTemplate&quot;:true,&quot;type&quot;:&quot;text&quot;}"/>
          <p:cNvSpPr txBox="1"/>
          <p:nvPr/>
        </p:nvSpPr>
        <p:spPr>
          <a:xfrm rot="0" flipH="0" flipV="0">
            <a:off x="533400" y="590550"/>
            <a:ext cx="3714750" cy="3714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400" b="1" spc="38">
                <a:solidFill>
                  <a:srgbClr val="F2F7F8"/>
                </a:solidFill>
                <a:latin typeface="Microsoft YaHei"/>
                <a:ea typeface="Microsoft YaHei"/>
              </a:rPr>
              <a:t>策略工作台：顺序就是语义</a:t>
            </a:r>
            <a:endParaRPr/>
          </a:p>
        </p:txBody>
      </p:sp>
      <p:sp>
        <p:nvSpPr>
          <p:cNvPr id="122" name="" descr="{&quot;isTemplate&quot;:true,&quot;type&quot;:&quot;text&quot;}"/>
          <p:cNvSpPr txBox="1"/>
          <p:nvPr/>
        </p:nvSpPr>
        <p:spPr>
          <a:xfrm rot="0" flipH="0" flipV="0">
            <a:off x="10220325" y="723900"/>
            <a:ext cx="1438275" cy="1238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788">
                <a:solidFill>
                  <a:srgbClr val="F2F7F8">
                    <a:alpha val="42000"/>
                  </a:srgbClr>
                </a:solidFill>
                <a:latin typeface="Consolas"/>
                <a:ea typeface="Consolas"/>
              </a:rPr>
              <a:t>FIRST MATCH · DEFAULT DENY</a:t>
            </a:r>
            <a:endParaRPr/>
          </a:p>
        </p:txBody>
      </p:sp>
      <p:sp>
        <p:nvSpPr>
          <p:cNvPr id="123" name="" descr="{&quot;isTemplate&quot;:true,&quot;type&quot;:&quot;text&quot;}"/>
          <p:cNvSpPr txBox="1"/>
          <p:nvPr/>
        </p:nvSpPr>
        <p:spPr>
          <a:xfrm rot="0" flipH="0" flipV="0">
            <a:off x="533400" y="1333500"/>
            <a:ext cx="1533525" cy="1143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713" spc="90">
                <a:solidFill>
                  <a:srgbClr val="6BC8D1"/>
                </a:solidFill>
                <a:latin typeface="Consolas"/>
                <a:ea typeface="Consolas"/>
              </a:rPr>
              <a:t>INTERNAL FIREWALL / RULES</a:t>
            </a:r>
            <a:endParaRPr/>
          </a:p>
        </p:txBody>
      </p:sp>
      <p:sp>
        <p:nvSpPr>
          <p:cNvPr id="124" name="" descr="{&quot;isTemplate&quot;:true,&quot;type&quot;:&quot;text&quot;}"/>
          <p:cNvSpPr txBox="1"/>
          <p:nvPr/>
        </p:nvSpPr>
        <p:spPr>
          <a:xfrm rot="0" flipH="0" flipV="0">
            <a:off x="4124325" y="1333500"/>
            <a:ext cx="600075" cy="1143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713">
                <a:solidFill>
                  <a:srgbClr val="F2F7F8">
                    <a:alpha val="38000"/>
                  </a:srgbClr>
                </a:solidFill>
                <a:latin typeface="Consolas"/>
                <a:ea typeface="Consolas"/>
              </a:rPr>
              <a:t>Default DENY</a:t>
            </a:r>
            <a:endParaRPr/>
          </a:p>
        </p:txBody>
      </p:sp>
      <p:sp>
        <p:nvSpPr>
          <p:cNvPr id="125" name=""/>
          <p:cNvSpPr/>
          <p:nvPr/>
        </p:nvSpPr>
        <p:spPr>
          <a:xfrm rot="0" flipH="0" flipV="0">
            <a:off x="533400" y="1581150"/>
            <a:ext cx="4191000" cy="590550"/>
          </a:xfrm>
          <a:prstGeom prst="roundRect">
            <a:avLst>
              <a:gd name="adj" fmla="val 9677"/>
            </a:avLst>
          </a:prstGeom>
          <a:solidFill>
            <a:srgbClr val="6BC8D1">
              <a:alpha val="9000"/>
            </a:srgbClr>
          </a:solidFill>
          <a:ln w="12700">
            <a:solidFill>
              <a:srgbClr val="6BC8D1">
                <a:alpha val="32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26" name="" descr="{&quot;isTemplate&quot;:true,&quot;type&quot;:&quot;text&quot;}"/>
          <p:cNvSpPr txBox="1"/>
          <p:nvPr/>
        </p:nvSpPr>
        <p:spPr>
          <a:xfrm rot="0" flipH="0" flipV="0">
            <a:off x="647700" y="1809750"/>
            <a:ext cx="28575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00">
                <a:solidFill>
                  <a:srgbClr val="6BC8D1"/>
                </a:solidFill>
                <a:latin typeface="Consolas"/>
                <a:ea typeface="Consolas"/>
              </a:rPr>
              <a:t>10</a:t>
            </a:r>
            <a:endParaRPr/>
          </a:p>
        </p:txBody>
      </p:sp>
      <p:sp>
        <p:nvSpPr>
          <p:cNvPr id="127" name=""/>
          <p:cNvSpPr/>
          <p:nvPr/>
        </p:nvSpPr>
        <p:spPr>
          <a:xfrm rot="0" flipH="0" flipV="0">
            <a:off x="933450" y="1800225"/>
            <a:ext cx="514350" cy="161925"/>
          </a:xfrm>
          <a:prstGeom prst="roundRect">
            <a:avLst>
              <a:gd name="adj" fmla="val 17647"/>
            </a:avLst>
          </a:prstGeom>
          <a:solidFill>
            <a:srgbClr val="6BC8D1">
              <a:alpha val="16000"/>
            </a:srgbClr>
          </a:solidFill>
          <a:ln/>
        </p:spPr>
        <p:txBody>
          <a:bodyPr/>
          <a:p/>
        </p:txBody>
      </p:sp>
      <p:sp>
        <p:nvSpPr>
          <p:cNvPr id="128" name="" descr="{&quot;isTemplate&quot;:true,&quot;type&quot;:&quot;text&quot;}"/>
          <p:cNvSpPr txBox="1"/>
          <p:nvPr/>
        </p:nvSpPr>
        <p:spPr>
          <a:xfrm rot="0" flipH="0" flipV="0">
            <a:off x="1076325" y="1828800"/>
            <a:ext cx="238125" cy="1047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675">
                <a:solidFill>
                  <a:srgbClr val="6BC8D1"/>
                </a:solidFill>
                <a:latin typeface="Consolas"/>
                <a:ea typeface="Consolas"/>
              </a:rPr>
              <a:t>ALLOW</a:t>
            </a:r>
            <a:endParaRPr/>
          </a:p>
        </p:txBody>
      </p:sp>
      <p:sp>
        <p:nvSpPr>
          <p:cNvPr id="129" name="" descr="{&quot;isTemplate&quot;:true,&quot;type&quot;:&quot;text&quot;}"/>
          <p:cNvSpPr txBox="1"/>
          <p:nvPr/>
        </p:nvSpPr>
        <p:spPr>
          <a:xfrm rot="0" flipH="0" flipV="0">
            <a:off x="1543050" y="1733550"/>
            <a:ext cx="238125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00" b="1">
                <a:solidFill>
                  <a:srgbClr val="F2F7F8"/>
                </a:solidFill>
                <a:latin typeface="Microsoft YaHei"/>
                <a:ea typeface="Microsoft YaHei"/>
              </a:rPr>
              <a:t>应用服务</a:t>
            </a:r>
            <a:r>
              <a:rPr lang="en-US" sz="900" b="1">
                <a:solidFill>
                  <a:srgbClr val="F2F7F8"/>
                </a:solidFill>
                <a:latin typeface="Microsoft YaHei"/>
                <a:ea typeface="Microsoft YaHei"/>
              </a:rPr>
              <a:t> → </a:t>
            </a:r>
            <a:r>
              <a:rPr lang="zh-CN" sz="900" b="1">
                <a:solidFill>
                  <a:srgbClr val="F2F7F8"/>
                </a:solidFill>
                <a:latin typeface="Microsoft YaHei"/>
                <a:ea typeface="Microsoft YaHei"/>
              </a:rPr>
              <a:t>客户数据库</a:t>
            </a:r>
            <a:endParaRPr/>
          </a:p>
        </p:txBody>
      </p:sp>
      <p:sp>
        <p:nvSpPr>
          <p:cNvPr id="130" name="" descr="{&quot;isTemplate&quot;:true,&quot;type&quot;:&quot;text&quot;}"/>
          <p:cNvSpPr txBox="1"/>
          <p:nvPr/>
        </p:nvSpPr>
        <p:spPr>
          <a:xfrm rot="0" flipH="0" flipV="0">
            <a:off x="1543050" y="1905000"/>
            <a:ext cx="2381250" cy="1143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713">
                <a:solidFill>
                  <a:srgbClr val="F2F7F8">
                    <a:alpha val="48000"/>
                  </a:srgbClr>
                </a:solidFill>
                <a:latin typeface="Consolas"/>
                <a:ea typeface="Consolas"/>
              </a:rPr>
              <a:t>DATABASE · </a:t>
            </a:r>
            <a:r>
              <a:rPr lang="zh-CN" sz="713">
                <a:solidFill>
                  <a:srgbClr val="F2F7F8">
                    <a:alpha val="48000"/>
                  </a:srgbClr>
                </a:solidFill>
                <a:latin typeface="Consolas"/>
                <a:ea typeface="Consolas"/>
              </a:rPr>
              <a:t>应用业务</a:t>
            </a:r>
            <a:endParaRPr/>
          </a:p>
        </p:txBody>
      </p:sp>
      <p:sp>
        <p:nvSpPr>
          <p:cNvPr id="131" name="" descr="{&quot;isTemplate&quot;:true,&quot;type&quot;:&quot;text&quot;}"/>
          <p:cNvSpPr txBox="1"/>
          <p:nvPr/>
        </p:nvSpPr>
        <p:spPr>
          <a:xfrm rot="0" flipH="0" flipV="0">
            <a:off x="4429125" y="1819275"/>
            <a:ext cx="180975" cy="1143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713">
                <a:solidFill>
                  <a:srgbClr val="6BC8D1"/>
                </a:solidFill>
                <a:latin typeface="Microsoft YaHei"/>
                <a:ea typeface="Microsoft YaHei"/>
              </a:rPr>
              <a:t>命中</a:t>
            </a:r>
            <a:endParaRPr/>
          </a:p>
        </p:txBody>
      </p:sp>
      <p:sp>
        <p:nvSpPr>
          <p:cNvPr id="132" name=""/>
          <p:cNvSpPr/>
          <p:nvPr/>
        </p:nvSpPr>
        <p:spPr>
          <a:xfrm rot="0" flipH="0" flipV="0">
            <a:off x="533400" y="2247900"/>
            <a:ext cx="4191000" cy="590550"/>
          </a:xfrm>
          <a:prstGeom prst="roundRect">
            <a:avLst>
              <a:gd name="adj" fmla="val 9677"/>
            </a:avLst>
          </a:prstGeom>
          <a:solidFill>
            <a:srgbClr val="F2F7F8">
              <a:alpha val="3000"/>
            </a:srgbClr>
          </a:solidFill>
          <a:ln w="12700">
            <a:solidFill>
              <a:srgbClr val="F2F7F8">
                <a:alpha val="10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33" name="" descr="{&quot;isTemplate&quot;:true,&quot;type&quot;:&quot;text&quot;}"/>
          <p:cNvSpPr txBox="1"/>
          <p:nvPr/>
        </p:nvSpPr>
        <p:spPr>
          <a:xfrm rot="0" flipH="0" flipV="0">
            <a:off x="647700" y="2476500"/>
            <a:ext cx="28575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00">
                <a:solidFill>
                  <a:srgbClr val="F2F7F8">
                    <a:alpha val="52000"/>
                  </a:srgbClr>
                </a:solidFill>
                <a:latin typeface="Consolas"/>
                <a:ea typeface="Consolas"/>
              </a:rPr>
              <a:t>20</a:t>
            </a:r>
            <a:endParaRPr/>
          </a:p>
        </p:txBody>
      </p:sp>
      <p:sp>
        <p:nvSpPr>
          <p:cNvPr id="134" name=""/>
          <p:cNvSpPr/>
          <p:nvPr/>
        </p:nvSpPr>
        <p:spPr>
          <a:xfrm rot="0" flipH="0" flipV="0">
            <a:off x="933450" y="2466975"/>
            <a:ext cx="514350" cy="161925"/>
          </a:xfrm>
          <a:prstGeom prst="roundRect">
            <a:avLst>
              <a:gd name="adj" fmla="val 17647"/>
            </a:avLst>
          </a:prstGeom>
          <a:solidFill>
            <a:srgbClr val="F2F7F8">
              <a:alpha val="6000"/>
            </a:srgbClr>
          </a:solidFill>
          <a:ln/>
        </p:spPr>
        <p:txBody>
          <a:bodyPr/>
          <a:p/>
        </p:txBody>
      </p:sp>
      <p:sp>
        <p:nvSpPr>
          <p:cNvPr id="135" name="" descr="{&quot;isTemplate&quot;:true,&quot;type&quot;:&quot;text&quot;}"/>
          <p:cNvSpPr txBox="1"/>
          <p:nvPr/>
        </p:nvSpPr>
        <p:spPr>
          <a:xfrm rot="0" flipH="0" flipV="0">
            <a:off x="1076325" y="2495550"/>
            <a:ext cx="238125" cy="1047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675">
                <a:solidFill>
                  <a:srgbClr val="F2F7F8">
                    <a:alpha val="70000"/>
                  </a:srgbClr>
                </a:solidFill>
                <a:latin typeface="Consolas"/>
                <a:ea typeface="Consolas"/>
              </a:rPr>
              <a:t>ALLOW</a:t>
            </a:r>
            <a:endParaRPr/>
          </a:p>
        </p:txBody>
      </p:sp>
      <p:sp>
        <p:nvSpPr>
          <p:cNvPr id="136" name="" descr="{&quot;isTemplate&quot;:true,&quot;type&quot;:&quot;text&quot;}"/>
          <p:cNvSpPr txBox="1"/>
          <p:nvPr/>
        </p:nvSpPr>
        <p:spPr>
          <a:xfrm rot="0" flipH="0" flipV="0">
            <a:off x="1543050" y="2400300"/>
            <a:ext cx="238125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00" b="1">
                <a:solidFill>
                  <a:srgbClr val="F2F7F8">
                    <a:alpha val="86000"/>
                  </a:srgbClr>
                </a:solidFill>
                <a:latin typeface="Microsoft YaHei"/>
                <a:ea typeface="Microsoft YaHei"/>
              </a:rPr>
              <a:t>办公区</a:t>
            </a:r>
            <a:r>
              <a:rPr lang="en-US" sz="900" b="1">
                <a:solidFill>
                  <a:srgbClr val="F2F7F8">
                    <a:alpha val="86000"/>
                  </a:srgbClr>
                </a:solidFill>
                <a:latin typeface="Microsoft YaHei"/>
                <a:ea typeface="Microsoft YaHei"/>
              </a:rPr>
              <a:t> → </a:t>
            </a:r>
            <a:r>
              <a:rPr lang="zh-CN" sz="900" b="1">
                <a:solidFill>
                  <a:srgbClr val="F2F7F8">
                    <a:alpha val="86000"/>
                  </a:srgbClr>
                </a:solidFill>
                <a:latin typeface="Microsoft YaHei"/>
                <a:ea typeface="Microsoft YaHei"/>
              </a:rPr>
              <a:t>客户数据库</a:t>
            </a:r>
            <a:endParaRPr/>
          </a:p>
        </p:txBody>
      </p:sp>
      <p:sp>
        <p:nvSpPr>
          <p:cNvPr id="137" name="" descr="{&quot;isTemplate&quot;:true,&quot;type&quot;:&quot;text&quot;}"/>
          <p:cNvSpPr txBox="1"/>
          <p:nvPr/>
        </p:nvSpPr>
        <p:spPr>
          <a:xfrm rot="0" flipH="0" flipV="0">
            <a:off x="1543050" y="2571750"/>
            <a:ext cx="2381250" cy="1143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713">
                <a:solidFill>
                  <a:srgbClr val="E78172">
                    <a:alpha val="80000"/>
                  </a:srgbClr>
                </a:solidFill>
                <a:latin typeface="Consolas"/>
                <a:ea typeface="Consolas"/>
              </a:rPr>
              <a:t>DATABASE · </a:t>
            </a:r>
            <a:r>
              <a:rPr lang="zh-CN" sz="713">
                <a:solidFill>
                  <a:srgbClr val="E78172">
                    <a:alpha val="80000"/>
                  </a:srgbClr>
                </a:solidFill>
                <a:latin typeface="Consolas"/>
                <a:ea typeface="Consolas"/>
              </a:rPr>
              <a:t>顺序错误</a:t>
            </a:r>
            <a:endParaRPr/>
          </a:p>
        </p:txBody>
      </p:sp>
      <p:sp>
        <p:nvSpPr>
          <p:cNvPr id="138" name=""/>
          <p:cNvSpPr/>
          <p:nvPr/>
        </p:nvSpPr>
        <p:spPr>
          <a:xfrm rot="0" flipH="0" flipV="0">
            <a:off x="533400" y="2914650"/>
            <a:ext cx="4191000" cy="590550"/>
          </a:xfrm>
          <a:prstGeom prst="roundRect">
            <a:avLst>
              <a:gd name="adj" fmla="val 9677"/>
            </a:avLst>
          </a:prstGeom>
          <a:solidFill>
            <a:srgbClr val="F2F7F8">
              <a:alpha val="3000"/>
            </a:srgbClr>
          </a:solidFill>
          <a:ln w="12700">
            <a:solidFill>
              <a:srgbClr val="F2F7F8">
                <a:alpha val="10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39" name="" descr="{&quot;isTemplate&quot;:true,&quot;type&quot;:&quot;text&quot;}"/>
          <p:cNvSpPr txBox="1"/>
          <p:nvPr/>
        </p:nvSpPr>
        <p:spPr>
          <a:xfrm rot="0" flipH="0" flipV="0">
            <a:off x="647700" y="3143250"/>
            <a:ext cx="28575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00">
                <a:solidFill>
                  <a:srgbClr val="F2F7F8">
                    <a:alpha val="52000"/>
                  </a:srgbClr>
                </a:solidFill>
                <a:latin typeface="Consolas"/>
                <a:ea typeface="Consolas"/>
              </a:rPr>
              <a:t>25</a:t>
            </a:r>
            <a:endParaRPr/>
          </a:p>
        </p:txBody>
      </p:sp>
      <p:sp>
        <p:nvSpPr>
          <p:cNvPr id="140" name=""/>
          <p:cNvSpPr/>
          <p:nvPr/>
        </p:nvSpPr>
        <p:spPr>
          <a:xfrm rot="0" flipH="0" flipV="0">
            <a:off x="933450" y="3133725"/>
            <a:ext cx="514350" cy="161925"/>
          </a:xfrm>
          <a:prstGeom prst="roundRect">
            <a:avLst>
              <a:gd name="adj" fmla="val 17647"/>
            </a:avLst>
          </a:prstGeom>
          <a:solidFill>
            <a:srgbClr val="F2F7F8">
              <a:alpha val="6000"/>
            </a:srgbClr>
          </a:solidFill>
          <a:ln/>
        </p:spPr>
        <p:txBody>
          <a:bodyPr/>
          <a:p/>
        </p:txBody>
      </p:sp>
      <p:sp>
        <p:nvSpPr>
          <p:cNvPr id="141" name="" descr="{&quot;isTemplate&quot;:true,&quot;type&quot;:&quot;text&quot;}"/>
          <p:cNvSpPr txBox="1"/>
          <p:nvPr/>
        </p:nvSpPr>
        <p:spPr>
          <a:xfrm rot="0" flipH="0" flipV="0">
            <a:off x="1076325" y="3162300"/>
            <a:ext cx="238125" cy="1047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675">
                <a:solidFill>
                  <a:srgbClr val="F2F7F8">
                    <a:alpha val="70000"/>
                  </a:srgbClr>
                </a:solidFill>
                <a:latin typeface="Consolas"/>
                <a:ea typeface="Consolas"/>
              </a:rPr>
              <a:t>ALLOW</a:t>
            </a:r>
            <a:endParaRPr/>
          </a:p>
        </p:txBody>
      </p:sp>
      <p:sp>
        <p:nvSpPr>
          <p:cNvPr id="142" name="" descr="{&quot;isTemplate&quot;:true,&quot;type&quot;:&quot;text&quot;}"/>
          <p:cNvSpPr txBox="1"/>
          <p:nvPr/>
        </p:nvSpPr>
        <p:spPr>
          <a:xfrm rot="0" flipH="0" flipV="0">
            <a:off x="1543050" y="3067050"/>
            <a:ext cx="238125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00" b="1">
                <a:solidFill>
                  <a:srgbClr val="F2F7F8">
                    <a:alpha val="86000"/>
                  </a:srgbClr>
                </a:solidFill>
                <a:latin typeface="Microsoft YaHei"/>
                <a:ea typeface="Microsoft YaHei"/>
              </a:rPr>
              <a:t>办公区</a:t>
            </a:r>
            <a:r>
              <a:rPr lang="en-US" sz="900" b="1">
                <a:solidFill>
                  <a:srgbClr val="F2F7F8">
                    <a:alpha val="86000"/>
                  </a:srgbClr>
                </a:solidFill>
                <a:latin typeface="Microsoft YaHei"/>
                <a:ea typeface="Microsoft YaHei"/>
              </a:rPr>
              <a:t> → </a:t>
            </a:r>
            <a:r>
              <a:rPr lang="zh-CN" sz="900" b="1">
                <a:solidFill>
                  <a:srgbClr val="F2F7F8">
                    <a:alpha val="86000"/>
                  </a:srgbClr>
                </a:solidFill>
                <a:latin typeface="Microsoft YaHei"/>
                <a:ea typeface="Microsoft YaHei"/>
              </a:rPr>
              <a:t>应用服务</a:t>
            </a:r>
            <a:endParaRPr/>
          </a:p>
        </p:txBody>
      </p:sp>
      <p:sp>
        <p:nvSpPr>
          <p:cNvPr id="143" name="" descr="{&quot;isTemplate&quot;:true,&quot;type&quot;:&quot;text&quot;}"/>
          <p:cNvSpPr txBox="1"/>
          <p:nvPr/>
        </p:nvSpPr>
        <p:spPr>
          <a:xfrm rot="0" flipH="0" flipV="0">
            <a:off x="1543050" y="3238500"/>
            <a:ext cx="2381250" cy="1143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713">
                <a:solidFill>
                  <a:srgbClr val="F2F7F8">
                    <a:alpha val="48000"/>
                  </a:srgbClr>
                </a:solidFill>
                <a:latin typeface="Consolas"/>
                <a:ea typeface="Consolas"/>
              </a:rPr>
              <a:t>WEB · </a:t>
            </a:r>
            <a:r>
              <a:rPr lang="zh-CN" sz="713">
                <a:solidFill>
                  <a:srgbClr val="F2F7F8">
                    <a:alpha val="48000"/>
                  </a:srgbClr>
                </a:solidFill>
                <a:latin typeface="Consolas"/>
                <a:ea typeface="Consolas"/>
              </a:rPr>
              <a:t>教学路径</a:t>
            </a:r>
            <a:endParaRPr/>
          </a:p>
        </p:txBody>
      </p:sp>
      <p:sp>
        <p:nvSpPr>
          <p:cNvPr id="144" name=""/>
          <p:cNvSpPr/>
          <p:nvPr/>
        </p:nvSpPr>
        <p:spPr>
          <a:xfrm rot="0" flipH="0" flipV="0">
            <a:off x="533400" y="3581400"/>
            <a:ext cx="4191000" cy="590550"/>
          </a:xfrm>
          <a:prstGeom prst="roundRect">
            <a:avLst>
              <a:gd name="adj" fmla="val 9677"/>
            </a:avLst>
          </a:prstGeom>
          <a:solidFill>
            <a:srgbClr val="E78172">
              <a:alpha val="3500"/>
            </a:srgbClr>
          </a:solidFill>
          <a:ln w="12700">
            <a:solidFill>
              <a:srgbClr val="E78172">
                <a:alpha val="22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45" name="" descr="{&quot;isTemplate&quot;:true,&quot;type&quot;:&quot;text&quot;}"/>
          <p:cNvSpPr txBox="1"/>
          <p:nvPr/>
        </p:nvSpPr>
        <p:spPr>
          <a:xfrm rot="0" flipH="0" flipV="0">
            <a:off x="647700" y="3810000"/>
            <a:ext cx="28575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00">
                <a:solidFill>
                  <a:srgbClr val="F2F7F8">
                    <a:alpha val="52000"/>
                  </a:srgbClr>
                </a:solidFill>
                <a:latin typeface="Consolas"/>
                <a:ea typeface="Consolas"/>
              </a:rPr>
              <a:t>30</a:t>
            </a:r>
            <a:endParaRPr/>
          </a:p>
        </p:txBody>
      </p:sp>
      <p:sp>
        <p:nvSpPr>
          <p:cNvPr id="146" name=""/>
          <p:cNvSpPr/>
          <p:nvPr/>
        </p:nvSpPr>
        <p:spPr>
          <a:xfrm rot="0" flipH="0" flipV="0">
            <a:off x="933450" y="3800475"/>
            <a:ext cx="514350" cy="161925"/>
          </a:xfrm>
          <a:prstGeom prst="roundRect">
            <a:avLst>
              <a:gd name="adj" fmla="val 17647"/>
            </a:avLst>
          </a:prstGeom>
          <a:solidFill>
            <a:srgbClr val="E78172">
              <a:alpha val="10000"/>
            </a:srgbClr>
          </a:solidFill>
          <a:ln/>
        </p:spPr>
        <p:txBody>
          <a:bodyPr/>
          <a:p/>
        </p:txBody>
      </p:sp>
      <p:sp>
        <p:nvSpPr>
          <p:cNvPr id="147" name="" descr="{&quot;isTemplate&quot;:true,&quot;type&quot;:&quot;text&quot;}"/>
          <p:cNvSpPr txBox="1"/>
          <p:nvPr/>
        </p:nvSpPr>
        <p:spPr>
          <a:xfrm rot="0" flipH="0" flipV="0">
            <a:off x="1095375" y="3829050"/>
            <a:ext cx="190500" cy="1047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675">
                <a:solidFill>
                  <a:srgbClr val="E78172"/>
                </a:solidFill>
                <a:latin typeface="Consolas"/>
                <a:ea typeface="Consolas"/>
              </a:rPr>
              <a:t>DENY</a:t>
            </a:r>
            <a:endParaRPr/>
          </a:p>
        </p:txBody>
      </p:sp>
      <p:sp>
        <p:nvSpPr>
          <p:cNvPr id="148" name="" descr="{&quot;isTemplate&quot;:true,&quot;type&quot;:&quot;text&quot;}"/>
          <p:cNvSpPr txBox="1"/>
          <p:nvPr/>
        </p:nvSpPr>
        <p:spPr>
          <a:xfrm rot="0" flipH="0" flipV="0">
            <a:off x="1543050" y="3733800"/>
            <a:ext cx="238125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00" b="1">
                <a:solidFill>
                  <a:srgbClr val="F2F7F8">
                    <a:alpha val="86000"/>
                  </a:srgbClr>
                </a:solidFill>
                <a:latin typeface="Microsoft YaHei"/>
                <a:ea typeface="Microsoft YaHei"/>
              </a:rPr>
              <a:t>办公区</a:t>
            </a:r>
            <a:r>
              <a:rPr lang="en-US" sz="900" b="1">
                <a:solidFill>
                  <a:srgbClr val="F2F7F8">
                    <a:alpha val="86000"/>
                  </a:srgbClr>
                </a:solidFill>
                <a:latin typeface="Microsoft YaHei"/>
                <a:ea typeface="Microsoft YaHei"/>
              </a:rPr>
              <a:t> → </a:t>
            </a:r>
            <a:r>
              <a:rPr lang="zh-CN" sz="900" b="1">
                <a:solidFill>
                  <a:srgbClr val="F2F7F8">
                    <a:alpha val="86000"/>
                  </a:srgbClr>
                </a:solidFill>
                <a:latin typeface="Microsoft YaHei"/>
                <a:ea typeface="Microsoft YaHei"/>
              </a:rPr>
              <a:t>数据库区</a:t>
            </a:r>
            <a:endParaRPr/>
          </a:p>
        </p:txBody>
      </p:sp>
      <p:sp>
        <p:nvSpPr>
          <p:cNvPr id="149" name="" descr="{&quot;isTemplate&quot;:true,&quot;type&quot;:&quot;text&quot;}"/>
          <p:cNvSpPr txBox="1"/>
          <p:nvPr/>
        </p:nvSpPr>
        <p:spPr>
          <a:xfrm rot="0" flipH="0" flipV="0">
            <a:off x="1543050" y="3905250"/>
            <a:ext cx="2381250" cy="1143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713">
                <a:solidFill>
                  <a:srgbClr val="F2F7F8">
                    <a:alpha val="48000"/>
                  </a:srgbClr>
                </a:solidFill>
                <a:latin typeface="Consolas"/>
                <a:ea typeface="Consolas"/>
              </a:rPr>
              <a:t>ANY · </a:t>
            </a:r>
            <a:r>
              <a:rPr lang="zh-CN" sz="713">
                <a:solidFill>
                  <a:srgbClr val="F2F7F8">
                    <a:alpha val="48000"/>
                  </a:srgbClr>
                </a:solidFill>
                <a:latin typeface="Consolas"/>
                <a:ea typeface="Consolas"/>
              </a:rPr>
              <a:t>永远到不了</a:t>
            </a:r>
            <a:endParaRPr/>
          </a:p>
        </p:txBody>
      </p:sp>
      <p:sp>
        <p:nvSpPr>
          <p:cNvPr id="150" name=""/>
          <p:cNvSpPr/>
          <p:nvPr/>
        </p:nvSpPr>
        <p:spPr>
          <a:xfrm rot="0" flipH="0" flipV="0">
            <a:off x="533400" y="4305300"/>
            <a:ext cx="4210050" cy="447675"/>
          </a:xfrm>
          <a:custGeom>
            <a:pathLst>
              <a:path w="442" h="47">
                <a:moveTo>
                  <a:pt x="0" y="0"/>
                </a:moveTo>
                <a:lnTo>
                  <a:pt x="2" y="0"/>
                </a:lnTo>
                <a:lnTo>
                  <a:pt x="2" y="47"/>
                </a:lnTo>
                <a:lnTo>
                  <a:pt x="0" y="47"/>
                </a:lnTo>
                <a:close/>
              </a:path>
            </a:pathLst>
          </a:custGeom>
          <a:solidFill>
            <a:srgbClr val="6BC8D1"/>
          </a:solidFill>
          <a:ln/>
        </p:spPr>
        <p:txBody>
          <a:bodyPr/>
          <a:p/>
        </p:txBody>
      </p:sp>
      <p:sp>
        <p:nvSpPr>
          <p:cNvPr id="151" name="" descr="{&quot;isTemplate&quot;:true,&quot;type&quot;:&quot;text&quot;}"/>
          <p:cNvSpPr txBox="1"/>
          <p:nvPr/>
        </p:nvSpPr>
        <p:spPr>
          <a:xfrm rot="0" flipH="0" flipV="0">
            <a:off x="666750" y="4305300"/>
            <a:ext cx="4057650" cy="447675"/>
          </a:xfrm>
          <a:prstGeom prst="rect"/>
        </p:spPr>
        <p:txBody>
          <a:bodyPr wrap="none" lIns="0" tIns="0" rIns="0" bIns="0"/>
          <a:p>
            <a:pPr>
              <a:lnSpc>
                <a:spcPct val="170000"/>
              </a:lnSpc>
            </a:pPr>
            <a:r>
              <a:rPr lang="zh-CN" sz="863">
                <a:solidFill>
                  <a:srgbClr val="F2F7F8">
                    <a:alpha val="58000"/>
                  </a:srgbClr>
                </a:solidFill>
                <a:latin typeface="Microsoft YaHei"/>
                <a:ea typeface="Microsoft YaHei"/>
              </a:rPr>
              <a:t>第</a:t>
            </a:r>
            <a:r>
              <a:rPr lang="en-US" sz="863">
                <a:solidFill>
                  <a:srgbClr val="F2F7F8">
                    <a:alpha val="58000"/>
                  </a:srgbClr>
                </a:solidFill>
                <a:latin typeface="Microsoft YaHei"/>
                <a:ea typeface="Microsoft YaHei"/>
              </a:rPr>
              <a:t> 1 </a:t>
            </a:r>
            <a:r>
              <a:rPr lang="zh-CN" sz="863">
                <a:solidFill>
                  <a:srgbClr val="F2F7F8">
                    <a:alpha val="58000"/>
                  </a:srgbClr>
                </a:solidFill>
                <a:latin typeface="Microsoft YaHei"/>
                <a:ea typeface="Microsoft YaHei"/>
              </a:rPr>
              <a:t>条命中即停止；第</a:t>
            </a:r>
            <a:r>
              <a:rPr lang="en-US" sz="863">
                <a:solidFill>
                  <a:srgbClr val="F2F7F8">
                    <a:alpha val="58000"/>
                  </a:srgbClr>
                </a:solidFill>
                <a:latin typeface="Microsoft YaHei"/>
                <a:ea typeface="Microsoft YaHei"/>
              </a:rPr>
              <a:t> 30 </a:t>
            </a:r>
            <a:r>
              <a:rPr lang="zh-CN" sz="863">
                <a:solidFill>
                  <a:srgbClr val="F2F7F8">
                    <a:alpha val="58000"/>
                  </a:srgbClr>
                </a:solidFill>
                <a:latin typeface="Microsoft YaHei"/>
                <a:ea typeface="Microsoft YaHei"/>
              </a:rPr>
              <a:t>条的拒绝不会被检查。</a:t>
            </a:r>
            <a:endParaRPr/>
          </a:p>
          <a:p>
            <a:pPr>
              <a:lnSpc>
                <a:spcPct val="170000"/>
              </a:lnSpc>
            </a:pPr>
            <a:r>
              <a:rPr lang="zh-CN" sz="863">
                <a:solidFill>
                  <a:srgbClr val="F2F7F8">
                    <a:alpha val="58000"/>
                  </a:srgbClr>
                </a:solidFill>
                <a:latin typeface="Microsoft YaHei"/>
                <a:ea typeface="Microsoft YaHei"/>
              </a:rPr>
              <a:t>规则的“位置”，本身就是策略的一部分。</a:t>
            </a:r>
            <a:endParaRPr/>
          </a:p>
        </p:txBody>
      </p:sp>
      <p:sp>
        <p:nvSpPr>
          <p:cNvPr id="152" name=""/>
          <p:cNvSpPr/>
          <p:nvPr/>
        </p:nvSpPr>
        <p:spPr>
          <a:xfrm rot="0" flipH="0" flipV="0">
            <a:off x="5105400" y="1333500"/>
            <a:ext cx="6553200" cy="742950"/>
          </a:xfrm>
          <a:custGeom>
            <a:pathLst>
              <a:path w="688" h="78">
                <a:moveTo>
                  <a:pt x="0" y="0"/>
                </a:moveTo>
                <a:lnTo>
                  <a:pt x="688" y="0"/>
                </a:lnTo>
                <a:lnTo>
                  <a:pt x="688" y="1"/>
                </a:lnTo>
                <a:lnTo>
                  <a:pt x="0" y="1"/>
                </a:lnTo>
                <a:close/>
              </a:path>
            </a:pathLst>
          </a:custGeom>
          <a:solidFill>
            <a:srgbClr val="F2F7F8">
              <a:alpha val="10000"/>
            </a:srgbClr>
          </a:solidFill>
          <a:ln/>
        </p:spPr>
        <p:txBody>
          <a:bodyPr/>
          <a:p/>
        </p:txBody>
      </p:sp>
      <p:sp>
        <p:nvSpPr>
          <p:cNvPr id="153" name="" descr="{&quot;isTemplate&quot;:true,&quot;type&quot;:&quot;text&quot;}"/>
          <p:cNvSpPr txBox="1"/>
          <p:nvPr/>
        </p:nvSpPr>
        <p:spPr>
          <a:xfrm rot="0" flipH="0" flipV="0">
            <a:off x="5105400" y="1457325"/>
            <a:ext cx="400050" cy="1143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750">
                <a:solidFill>
                  <a:srgbClr val="6BC8D1"/>
                </a:solidFill>
                <a:latin typeface="Consolas"/>
                <a:ea typeface="Consolas"/>
              </a:rPr>
              <a:t>01</a:t>
            </a:r>
            <a:endParaRPr/>
          </a:p>
        </p:txBody>
      </p:sp>
      <p:sp>
        <p:nvSpPr>
          <p:cNvPr id="154" name="" descr="{&quot;isTemplate&quot;:true,&quot;type&quot;:&quot;text&quot;}"/>
          <p:cNvSpPr txBox="1"/>
          <p:nvPr/>
        </p:nvSpPr>
        <p:spPr>
          <a:xfrm rot="0" flipH="0" flipV="0">
            <a:off x="5505450" y="1438275"/>
            <a:ext cx="60007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88" b="1">
                <a:solidFill>
                  <a:srgbClr val="F2F7F8"/>
                </a:solidFill>
                <a:latin typeface="Microsoft YaHei"/>
                <a:ea typeface="Microsoft YaHei"/>
              </a:rPr>
              <a:t>规则可编辑</a:t>
            </a:r>
            <a:endParaRPr/>
          </a:p>
        </p:txBody>
      </p:sp>
      <p:sp>
        <p:nvSpPr>
          <p:cNvPr id="155" name="" descr="{&quot;isTemplate&quot;:true,&quot;type&quot;:&quot;text&quot;}"/>
          <p:cNvSpPr txBox="1"/>
          <p:nvPr/>
        </p:nvSpPr>
        <p:spPr>
          <a:xfrm rot="0" flipH="0" flipV="0">
            <a:off x="5505450" y="1638300"/>
            <a:ext cx="6000750" cy="219075"/>
          </a:xfrm>
          <a:prstGeom prst="rect"/>
        </p:spPr>
        <p:txBody>
          <a:bodyPr wrap="none" lIns="0" tIns="0" rIns="0" bIns="0"/>
          <a:p>
            <a:pPr>
              <a:lnSpc>
                <a:spcPct val="165000"/>
              </a:lnSpc>
            </a:pPr>
            <a:r>
              <a:rPr lang="zh-CN" sz="863">
                <a:solidFill>
                  <a:srgbClr val="F2F7F8">
                    <a:alpha val="54000"/>
                  </a:srgbClr>
                </a:solidFill>
                <a:latin typeface="Microsoft YaHei"/>
                <a:ea typeface="Microsoft YaHei"/>
              </a:rPr>
              <a:t>新增、删除、上移、下移、启停；来源与目标支持</a:t>
            </a:r>
            <a:r>
              <a:rPr lang="en-US" sz="863">
                <a:solidFill>
                  <a:srgbClr val="F2F7F8">
                    <a:alpha val="54000"/>
                  </a:srgbClr>
                </a:solidFill>
                <a:latin typeface="Microsoft YaHei"/>
                <a:ea typeface="Microsoft YaHei"/>
              </a:rPr>
              <a:t> ANY / ZONE / NODE </a:t>
            </a:r>
            <a:r>
              <a:rPr lang="zh-CN" sz="863">
                <a:solidFill>
                  <a:srgbClr val="F2F7F8">
                    <a:alpha val="54000"/>
                  </a:srgbClr>
                </a:solidFill>
                <a:latin typeface="Microsoft YaHei"/>
                <a:ea typeface="Microsoft YaHei"/>
              </a:rPr>
              <a:t>三种粒度。</a:t>
            </a:r>
            <a:endParaRPr/>
          </a:p>
        </p:txBody>
      </p:sp>
      <p:sp>
        <p:nvSpPr>
          <p:cNvPr id="156" name=""/>
          <p:cNvSpPr/>
          <p:nvPr/>
        </p:nvSpPr>
        <p:spPr>
          <a:xfrm rot="0" flipH="0" flipV="0">
            <a:off x="5105400" y="2076450"/>
            <a:ext cx="6553200" cy="742950"/>
          </a:xfrm>
          <a:custGeom>
            <a:pathLst>
              <a:path w="688" h="78">
                <a:moveTo>
                  <a:pt x="0" y="0"/>
                </a:moveTo>
                <a:lnTo>
                  <a:pt x="688" y="0"/>
                </a:lnTo>
                <a:lnTo>
                  <a:pt x="688" y="1"/>
                </a:lnTo>
                <a:lnTo>
                  <a:pt x="0" y="1"/>
                </a:lnTo>
                <a:close/>
              </a:path>
            </a:pathLst>
          </a:custGeom>
          <a:solidFill>
            <a:srgbClr val="F2F7F8">
              <a:alpha val="10000"/>
            </a:srgbClr>
          </a:solidFill>
          <a:ln/>
        </p:spPr>
        <p:txBody>
          <a:bodyPr/>
          <a:p/>
        </p:txBody>
      </p:sp>
      <p:sp>
        <p:nvSpPr>
          <p:cNvPr id="157" name="" descr="{&quot;isTemplate&quot;:true,&quot;type&quot;:&quot;text&quot;}"/>
          <p:cNvSpPr txBox="1"/>
          <p:nvPr/>
        </p:nvSpPr>
        <p:spPr>
          <a:xfrm rot="0" flipH="0" flipV="0">
            <a:off x="5105400" y="2200275"/>
            <a:ext cx="400050" cy="1143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750">
                <a:solidFill>
                  <a:srgbClr val="6BC8D1"/>
                </a:solidFill>
                <a:latin typeface="Consolas"/>
                <a:ea typeface="Consolas"/>
              </a:rPr>
              <a:t>02</a:t>
            </a:r>
            <a:endParaRPr/>
          </a:p>
        </p:txBody>
      </p:sp>
      <p:sp>
        <p:nvSpPr>
          <p:cNvPr id="158" name="" descr="{&quot;isTemplate&quot;:true,&quot;type&quot;:&quot;text&quot;}"/>
          <p:cNvSpPr txBox="1"/>
          <p:nvPr/>
        </p:nvSpPr>
        <p:spPr>
          <a:xfrm rot="0" flipH="0" flipV="0">
            <a:off x="5505450" y="2181225"/>
            <a:ext cx="60007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88" b="1">
                <a:solidFill>
                  <a:srgbClr val="F2F7F8"/>
                </a:solidFill>
                <a:latin typeface="Microsoft YaHei"/>
                <a:ea typeface="Microsoft YaHei"/>
              </a:rPr>
              <a:t>判定可追溯</a:t>
            </a:r>
            <a:endParaRPr/>
          </a:p>
        </p:txBody>
      </p:sp>
      <p:sp>
        <p:nvSpPr>
          <p:cNvPr id="159" name="" descr="{&quot;isTemplate&quot;:true,&quot;type&quot;:&quot;text&quot;}"/>
          <p:cNvSpPr txBox="1"/>
          <p:nvPr/>
        </p:nvSpPr>
        <p:spPr>
          <a:xfrm rot="0" flipH="0" flipV="0">
            <a:off x="5505450" y="2381250"/>
            <a:ext cx="6000750" cy="219075"/>
          </a:xfrm>
          <a:prstGeom prst="rect"/>
        </p:spPr>
        <p:txBody>
          <a:bodyPr wrap="none" lIns="0" tIns="0" rIns="0" bIns="0"/>
          <a:p>
            <a:pPr>
              <a:lnSpc>
                <a:spcPct val="165000"/>
              </a:lnSpc>
            </a:pPr>
            <a:r>
              <a:rPr lang="zh-CN" sz="863">
                <a:solidFill>
                  <a:srgbClr val="F2F7F8">
                    <a:alpha val="54000"/>
                  </a:srgbClr>
                </a:solidFill>
                <a:latin typeface="Microsoft YaHei"/>
                <a:ea typeface="Microsoft YaHei"/>
              </a:rPr>
              <a:t>通信</a:t>
            </a:r>
            <a:r>
              <a:rPr lang="en-US" sz="863">
                <a:solidFill>
                  <a:srgbClr val="F2F7F8">
                    <a:alpha val="54000"/>
                  </a:srgbClr>
                </a:solidFill>
                <a:latin typeface="Microsoft YaHei"/>
                <a:ea typeface="Microsoft YaHei"/>
              </a:rPr>
              <a:t> → Firewall → </a:t>
            </a:r>
            <a:r>
              <a:rPr lang="zh-CN" sz="863">
                <a:solidFill>
                  <a:srgbClr val="F2F7F8">
                    <a:alpha val="54000"/>
                  </a:srgbClr>
                </a:solidFill>
                <a:latin typeface="Microsoft YaHei"/>
                <a:ea typeface="Microsoft YaHei"/>
              </a:rPr>
              <a:t>规则</a:t>
            </a:r>
            <a:r>
              <a:rPr lang="en-US" sz="863">
                <a:solidFill>
                  <a:srgbClr val="F2F7F8">
                    <a:alpha val="54000"/>
                  </a:srgbClr>
                </a:solidFill>
                <a:latin typeface="Microsoft YaHei"/>
                <a:ea typeface="Microsoft YaHei"/>
              </a:rPr>
              <a:t> → </a:t>
            </a:r>
            <a:r>
              <a:rPr lang="zh-CN" sz="863">
                <a:solidFill>
                  <a:srgbClr val="F2F7F8">
                    <a:alpha val="54000"/>
                  </a:srgbClr>
                </a:solidFill>
                <a:latin typeface="Microsoft YaHei"/>
                <a:ea typeface="Microsoft YaHei"/>
              </a:rPr>
              <a:t>结果；命中规则、阻断位置与前后状态都写进事件。</a:t>
            </a:r>
            <a:endParaRPr/>
          </a:p>
        </p:txBody>
      </p:sp>
      <p:sp>
        <p:nvSpPr>
          <p:cNvPr id="160" name=""/>
          <p:cNvSpPr/>
          <p:nvPr/>
        </p:nvSpPr>
        <p:spPr>
          <a:xfrm rot="0" flipH="0" flipV="0">
            <a:off x="5105400" y="2819400"/>
            <a:ext cx="6553200" cy="742950"/>
          </a:xfrm>
          <a:custGeom>
            <a:pathLst>
              <a:path w="688" h="78">
                <a:moveTo>
                  <a:pt x="0" y="0"/>
                </a:moveTo>
                <a:lnTo>
                  <a:pt x="688" y="0"/>
                </a:lnTo>
                <a:lnTo>
                  <a:pt x="688" y="1"/>
                </a:lnTo>
                <a:lnTo>
                  <a:pt x="0" y="1"/>
                </a:lnTo>
                <a:close/>
              </a:path>
            </a:pathLst>
          </a:custGeom>
          <a:solidFill>
            <a:srgbClr val="F2F7F8">
              <a:alpha val="10000"/>
            </a:srgbClr>
          </a:solidFill>
          <a:ln/>
        </p:spPr>
        <p:txBody>
          <a:bodyPr/>
          <a:p/>
        </p:txBody>
      </p:sp>
      <p:sp>
        <p:nvSpPr>
          <p:cNvPr id="161" name="" descr="{&quot;isTemplate&quot;:true,&quot;type&quot;:&quot;text&quot;}"/>
          <p:cNvSpPr txBox="1"/>
          <p:nvPr/>
        </p:nvSpPr>
        <p:spPr>
          <a:xfrm rot="0" flipH="0" flipV="0">
            <a:off x="5105400" y="2943225"/>
            <a:ext cx="400050" cy="1143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750">
                <a:solidFill>
                  <a:srgbClr val="6BC8D1"/>
                </a:solidFill>
                <a:latin typeface="Consolas"/>
                <a:ea typeface="Consolas"/>
              </a:rPr>
              <a:t>03</a:t>
            </a:r>
            <a:endParaRPr/>
          </a:p>
        </p:txBody>
      </p:sp>
      <p:sp>
        <p:nvSpPr>
          <p:cNvPr id="162" name="" descr="{&quot;isTemplate&quot;:true,&quot;type&quot;:&quot;text&quot;}"/>
          <p:cNvSpPr txBox="1"/>
          <p:nvPr/>
        </p:nvSpPr>
        <p:spPr>
          <a:xfrm rot="0" flipH="0" flipV="0">
            <a:off x="5505450" y="2924175"/>
            <a:ext cx="60007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88" b="1">
                <a:solidFill>
                  <a:srgbClr val="F2F7F8"/>
                </a:solidFill>
                <a:latin typeface="Microsoft YaHei"/>
                <a:ea typeface="Microsoft YaHei"/>
              </a:rPr>
              <a:t>失效可感知</a:t>
            </a:r>
            <a:endParaRPr/>
          </a:p>
        </p:txBody>
      </p:sp>
      <p:sp>
        <p:nvSpPr>
          <p:cNvPr id="163" name="" descr="{&quot;isTemplate&quot;:true,&quot;type&quot;:&quot;text&quot;}"/>
          <p:cNvSpPr txBox="1"/>
          <p:nvPr/>
        </p:nvSpPr>
        <p:spPr>
          <a:xfrm rot="0" flipH="0" flipV="0">
            <a:off x="5505450" y="3124200"/>
            <a:ext cx="6000750" cy="219075"/>
          </a:xfrm>
          <a:prstGeom prst="rect"/>
        </p:spPr>
        <p:txBody>
          <a:bodyPr wrap="none" lIns="0" tIns="0" rIns="0" bIns="0"/>
          <a:p>
            <a:pPr>
              <a:lnSpc>
                <a:spcPct val="165000"/>
              </a:lnSpc>
            </a:pPr>
            <a:r>
              <a:rPr lang="zh-CN" sz="863">
                <a:solidFill>
                  <a:srgbClr val="F2F7F8">
                    <a:alpha val="54000"/>
                  </a:srgbClr>
                </a:solidFill>
                <a:latin typeface="Microsoft YaHei"/>
                <a:ea typeface="Microsoft YaHei"/>
              </a:rPr>
              <a:t>拓扑、策略或安全控制一变，上一轮结果立即标记过期；只改布局不会误触发。</a:t>
            </a:r>
            <a:endParaRPr/>
          </a:p>
        </p:txBody>
      </p:sp>
      <p:sp>
        <p:nvSpPr>
          <p:cNvPr id="164" name=""/>
          <p:cNvSpPr/>
          <p:nvPr/>
        </p:nvSpPr>
        <p:spPr>
          <a:xfrm rot="0" flipH="0" flipV="0">
            <a:off x="5105400" y="3562350"/>
            <a:ext cx="6553200" cy="742950"/>
          </a:xfrm>
          <a:custGeom>
            <a:pathLst>
              <a:path w="688" h="78">
                <a:moveTo>
                  <a:pt x="0" y="0"/>
                </a:moveTo>
                <a:lnTo>
                  <a:pt x="688" y="0"/>
                </a:lnTo>
                <a:lnTo>
                  <a:pt x="688" y="1"/>
                </a:lnTo>
                <a:lnTo>
                  <a:pt x="0" y="1"/>
                </a:lnTo>
                <a:close/>
              </a:path>
            </a:pathLst>
          </a:custGeom>
          <a:solidFill>
            <a:srgbClr val="F2F7F8">
              <a:alpha val="10000"/>
            </a:srgbClr>
          </a:solidFill>
          <a:ln/>
        </p:spPr>
        <p:txBody>
          <a:bodyPr/>
          <a:p/>
        </p:txBody>
      </p:sp>
      <p:sp>
        <p:nvSpPr>
          <p:cNvPr id="165" name=""/>
          <p:cNvSpPr/>
          <p:nvPr/>
        </p:nvSpPr>
        <p:spPr>
          <a:xfrm rot="0" flipH="0" flipV="0">
            <a:off x="5105400" y="3562350"/>
            <a:ext cx="6553200" cy="742950"/>
          </a:xfrm>
          <a:custGeom>
            <a:pathLst>
              <a:path w="688" h="78">
                <a:moveTo>
                  <a:pt x="0" y="77"/>
                </a:moveTo>
                <a:lnTo>
                  <a:pt x="688" y="77"/>
                </a:lnTo>
                <a:lnTo>
                  <a:pt x="688" y="78"/>
                </a:lnTo>
                <a:lnTo>
                  <a:pt x="0" y="78"/>
                </a:lnTo>
                <a:close/>
              </a:path>
            </a:pathLst>
          </a:custGeom>
          <a:solidFill>
            <a:srgbClr val="F2F7F8">
              <a:alpha val="10000"/>
            </a:srgbClr>
          </a:solidFill>
          <a:ln/>
        </p:spPr>
        <p:txBody>
          <a:bodyPr/>
          <a:p/>
        </p:txBody>
      </p:sp>
      <p:sp>
        <p:nvSpPr>
          <p:cNvPr id="166" name="" descr="{&quot;isTemplate&quot;:true,&quot;type&quot;:&quot;text&quot;}"/>
          <p:cNvSpPr txBox="1"/>
          <p:nvPr/>
        </p:nvSpPr>
        <p:spPr>
          <a:xfrm rot="0" flipH="0" flipV="0">
            <a:off x="5105400" y="3686175"/>
            <a:ext cx="400050" cy="1143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750">
                <a:solidFill>
                  <a:srgbClr val="6BC8D1"/>
                </a:solidFill>
                <a:latin typeface="Consolas"/>
                <a:ea typeface="Consolas"/>
              </a:rPr>
              <a:t>04</a:t>
            </a:r>
            <a:endParaRPr/>
          </a:p>
        </p:txBody>
      </p:sp>
      <p:sp>
        <p:nvSpPr>
          <p:cNvPr id="167" name="" descr="{&quot;isTemplate&quot;:true,&quot;type&quot;:&quot;text&quot;}"/>
          <p:cNvSpPr txBox="1"/>
          <p:nvPr/>
        </p:nvSpPr>
        <p:spPr>
          <a:xfrm rot="0" flipH="0" flipV="0">
            <a:off x="5505450" y="3667125"/>
            <a:ext cx="60007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88" b="1">
                <a:solidFill>
                  <a:srgbClr val="F2F7F8"/>
                </a:solidFill>
                <a:latin typeface="Microsoft YaHei"/>
                <a:ea typeface="Microsoft YaHei"/>
              </a:rPr>
              <a:t>默认拒绝</a:t>
            </a:r>
            <a:endParaRPr/>
          </a:p>
        </p:txBody>
      </p:sp>
      <p:sp>
        <p:nvSpPr>
          <p:cNvPr id="168" name="" descr="{&quot;isTemplate&quot;:true,&quot;type&quot;:&quot;text&quot;}"/>
          <p:cNvSpPr txBox="1"/>
          <p:nvPr/>
        </p:nvSpPr>
        <p:spPr>
          <a:xfrm rot="0" flipH="0" flipV="0">
            <a:off x="5505450" y="3867150"/>
            <a:ext cx="6000750" cy="219075"/>
          </a:xfrm>
          <a:prstGeom prst="rect"/>
        </p:spPr>
        <p:txBody>
          <a:bodyPr wrap="none" lIns="0" tIns="0" rIns="0" bIns="0"/>
          <a:p>
            <a:pPr>
              <a:lnSpc>
                <a:spcPct val="165000"/>
              </a:lnSpc>
            </a:pPr>
            <a:r>
              <a:rPr lang="zh-CN" sz="863">
                <a:solidFill>
                  <a:srgbClr val="F2F7F8">
                    <a:alpha val="54000"/>
                  </a:srgbClr>
                </a:solidFill>
                <a:latin typeface="Microsoft YaHei"/>
                <a:ea typeface="Microsoft YaHei"/>
              </a:rPr>
              <a:t>没有规则命中时使用本机</a:t>
            </a:r>
            <a:r>
              <a:rPr lang="en-US" sz="863">
                <a:solidFill>
                  <a:srgbClr val="F2F7F8">
                    <a:alpha val="54000"/>
                  </a:srgbClr>
                </a:solidFill>
                <a:latin typeface="Microsoft YaHei"/>
                <a:ea typeface="Microsoft YaHei"/>
              </a:rPr>
              <a:t> Default Policy</a:t>
            </a:r>
            <a:r>
              <a:rPr lang="zh-CN" sz="863">
                <a:solidFill>
                  <a:srgbClr val="F2F7F8">
                    <a:alpha val="54000"/>
                  </a:srgbClr>
                </a:solidFill>
                <a:latin typeface="Microsoft YaHei"/>
                <a:ea typeface="Microsoft YaHei"/>
              </a:rPr>
              <a:t>；系统不提供“默认放行”的捷径。</a:t>
            </a:r>
            <a:endParaRPr/>
          </a:p>
        </p:txBody>
      </p:sp>
      <p:sp>
        <p:nvSpPr>
          <p:cNvPr id="169" name=""/>
          <p:cNvSpPr/>
          <p:nvPr/>
        </p:nvSpPr>
        <p:spPr>
          <a:xfrm rot="0" flipH="0" flipV="0">
            <a:off x="5124450" y="4552950"/>
            <a:ext cx="6553200" cy="895350"/>
          </a:xfrm>
          <a:prstGeom prst="rect">
            <a:avLst/>
          </a:prstGeom>
          <a:solidFill>
            <a:srgbClr val="6BC8D1">
              <a:alpha val="5500"/>
            </a:srgbClr>
          </a:solidFill>
          <a:ln/>
        </p:spPr>
        <p:txBody>
          <a:bodyPr/>
          <a:p/>
        </p:txBody>
      </p:sp>
      <p:sp>
        <p:nvSpPr>
          <p:cNvPr id="170" name=""/>
          <p:cNvSpPr/>
          <p:nvPr/>
        </p:nvSpPr>
        <p:spPr>
          <a:xfrm rot="0" flipH="0" flipV="0">
            <a:off x="5105400" y="4552950"/>
            <a:ext cx="6572250" cy="895350"/>
          </a:xfrm>
          <a:custGeom>
            <a:pathLst>
              <a:path w="690" h="94">
                <a:moveTo>
                  <a:pt x="0" y="0"/>
                </a:moveTo>
                <a:lnTo>
                  <a:pt x="2" y="0"/>
                </a:lnTo>
                <a:lnTo>
                  <a:pt x="2" y="94"/>
                </a:lnTo>
                <a:lnTo>
                  <a:pt x="0" y="94"/>
                </a:lnTo>
                <a:close/>
              </a:path>
            </a:pathLst>
          </a:custGeom>
          <a:solidFill>
            <a:srgbClr val="6BC8D1"/>
          </a:solidFill>
          <a:ln/>
        </p:spPr>
        <p:txBody>
          <a:bodyPr/>
          <a:p/>
        </p:txBody>
      </p:sp>
      <p:sp>
        <p:nvSpPr>
          <p:cNvPr id="171" name="" descr="{&quot;isTemplate&quot;:true,&quot;type&quot;:&quot;text&quot;}"/>
          <p:cNvSpPr txBox="1"/>
          <p:nvPr/>
        </p:nvSpPr>
        <p:spPr>
          <a:xfrm rot="0" flipH="0" flipV="0">
            <a:off x="5276850" y="4705350"/>
            <a:ext cx="6229350" cy="590550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1200" b="1">
                <a:solidFill>
                  <a:srgbClr val="F2F7F8">
                    <a:alpha val="88000"/>
                  </a:srgbClr>
                </a:solidFill>
                <a:latin typeface="Microsoft YaHei"/>
                <a:ea typeface="Microsoft YaHei"/>
              </a:rPr>
              <a:t>不是规则越多越安全，</a:t>
            </a:r>
            <a:endParaRPr/>
          </a:p>
          <a:p>
            <a:pPr>
              <a:lnSpc>
                <a:spcPct val="160000"/>
              </a:lnSpc>
            </a:pPr>
            <a:r>
              <a:rPr lang="zh-CN" sz="1200" b="1">
                <a:solidFill>
                  <a:srgbClr val="F2F7F8">
                    <a:alpha val="88000"/>
                  </a:srgbClr>
                </a:solidFill>
                <a:latin typeface="Microsoft YaHei"/>
                <a:ea typeface="Microsoft YaHei"/>
              </a:rPr>
              <a:t>而是顺序与作用域共同决定结果。</a:t>
            </a:r>
            <a:endParaRPr/>
          </a:p>
        </p:txBody>
      </p:sp>
      <p:sp>
        <p:nvSpPr>
          <p:cNvPr id="172" name=""/>
          <p:cNvSpPr/>
          <p:nvPr/>
        </p:nvSpPr>
        <p:spPr>
          <a:xfrm rot="0" flipH="0" flipV="0">
            <a:off x="533400" y="5257800"/>
            <a:ext cx="11125200" cy="438150"/>
          </a:xfrm>
          <a:custGeom>
            <a:pathLst>
              <a:path w="1168" h="46">
                <a:moveTo>
                  <a:pt x="0" y="0"/>
                </a:moveTo>
                <a:lnTo>
                  <a:pt x="1168" y="0"/>
                </a:lnTo>
                <a:lnTo>
                  <a:pt x="1168" y="1"/>
                </a:lnTo>
                <a:lnTo>
                  <a:pt x="0" y="1"/>
                </a:lnTo>
                <a:close/>
              </a:path>
            </a:pathLst>
          </a:custGeom>
          <a:solidFill>
            <a:srgbClr val="F2F7F8">
              <a:alpha val="10000"/>
            </a:srgbClr>
          </a:solidFill>
          <a:ln/>
        </p:spPr>
        <p:txBody>
          <a:bodyPr/>
          <a:p/>
        </p:txBody>
      </p:sp>
      <p:sp>
        <p:nvSpPr>
          <p:cNvPr id="173" name="" descr="{&quot;isTemplate&quot;:true,&quot;type&quot;:&quot;text&quot;}"/>
          <p:cNvSpPr txBox="1"/>
          <p:nvPr/>
        </p:nvSpPr>
        <p:spPr>
          <a:xfrm rot="0" flipH="0" flipV="0">
            <a:off x="533400" y="5495925"/>
            <a:ext cx="857250" cy="1047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675" spc="75">
                <a:solidFill>
                  <a:srgbClr val="F2F7F8">
                    <a:alpha val="34000"/>
                  </a:srgbClr>
                </a:solidFill>
                <a:latin typeface="Consolas"/>
                <a:ea typeface="Consolas"/>
              </a:rPr>
              <a:t>STATE FLOW</a:t>
            </a:r>
            <a:endParaRPr/>
          </a:p>
        </p:txBody>
      </p:sp>
      <p:sp>
        <p:nvSpPr>
          <p:cNvPr id="174" name=""/>
          <p:cNvSpPr/>
          <p:nvPr/>
        </p:nvSpPr>
        <p:spPr>
          <a:xfrm rot="0" flipH="0" flipV="0">
            <a:off x="1504950" y="5400675"/>
            <a:ext cx="1600200" cy="285750"/>
          </a:xfrm>
          <a:prstGeom prst="roundRect">
            <a:avLst>
              <a:gd name="adj" fmla="val 13333"/>
            </a:avLst>
          </a:prstGeom>
          <a:ln w="12700">
            <a:solidFill>
              <a:srgbClr val="F2F7F8">
                <a:alpha val="12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75" name="" descr="{&quot;isTemplate&quot;:true,&quot;type&quot;:&quot;text&quot;}"/>
          <p:cNvSpPr txBox="1"/>
          <p:nvPr/>
        </p:nvSpPr>
        <p:spPr>
          <a:xfrm rot="0" flipH="0" flipV="0">
            <a:off x="1619250" y="5476875"/>
            <a:ext cx="1371600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825">
                <a:solidFill>
                  <a:srgbClr val="F2F7F8">
                    <a:alpha val="62000"/>
                  </a:srgbClr>
                </a:solidFill>
                <a:latin typeface="Microsoft YaHei"/>
                <a:ea typeface="Microsoft YaHei"/>
              </a:rPr>
              <a:t>改一条规则</a:t>
            </a:r>
            <a:endParaRPr/>
          </a:p>
        </p:txBody>
      </p:sp>
      <p:sp>
        <p:nvSpPr>
          <p:cNvPr id="176" name="" descr="{&quot;isTemplate&quot;:true,&quot;type&quot;:&quot;text&quot;}"/>
          <p:cNvSpPr txBox="1"/>
          <p:nvPr/>
        </p:nvSpPr>
        <p:spPr>
          <a:xfrm rot="0" flipH="0" flipV="0">
            <a:off x="3219450" y="5467350"/>
            <a:ext cx="762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975">
                <a:solidFill>
                  <a:srgbClr val="6BC8D1">
                    <a:alpha val="55000"/>
                  </a:srgbClr>
                </a:solidFill>
                <a:latin typeface="Consolas"/>
                <a:ea typeface="Consolas"/>
              </a:rPr>
              <a:t>→</a:t>
            </a:r>
            <a:endParaRPr/>
          </a:p>
        </p:txBody>
      </p:sp>
      <p:sp>
        <p:nvSpPr>
          <p:cNvPr id="177" name=""/>
          <p:cNvSpPr/>
          <p:nvPr/>
        </p:nvSpPr>
        <p:spPr>
          <a:xfrm rot="0" flipH="0" flipV="0">
            <a:off x="3409950" y="5400675"/>
            <a:ext cx="1600200" cy="285750"/>
          </a:xfrm>
          <a:prstGeom prst="roundRect">
            <a:avLst>
              <a:gd name="adj" fmla="val 13333"/>
            </a:avLst>
          </a:prstGeom>
          <a:ln w="12700">
            <a:solidFill>
              <a:srgbClr val="E78172">
                <a:alpha val="24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78" name="" descr="{&quot;isTemplate&quot;:true,&quot;type&quot;:&quot;text&quot;}"/>
          <p:cNvSpPr txBox="1"/>
          <p:nvPr/>
        </p:nvSpPr>
        <p:spPr>
          <a:xfrm rot="0" flipH="0" flipV="0">
            <a:off x="3524250" y="5476875"/>
            <a:ext cx="1371600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825">
                <a:solidFill>
                  <a:srgbClr val="E78172"/>
                </a:solidFill>
                <a:latin typeface="Microsoft YaHei"/>
                <a:ea typeface="Microsoft YaHei"/>
              </a:rPr>
              <a:t>上一轮结果过期</a:t>
            </a:r>
            <a:endParaRPr/>
          </a:p>
        </p:txBody>
      </p:sp>
      <p:sp>
        <p:nvSpPr>
          <p:cNvPr id="179" name="" descr="{&quot;isTemplate&quot;:true,&quot;type&quot;:&quot;text&quot;}"/>
          <p:cNvSpPr txBox="1"/>
          <p:nvPr/>
        </p:nvSpPr>
        <p:spPr>
          <a:xfrm rot="0" flipH="0" flipV="0">
            <a:off x="5124450" y="5467350"/>
            <a:ext cx="762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975">
                <a:solidFill>
                  <a:srgbClr val="6BC8D1">
                    <a:alpha val="55000"/>
                  </a:srgbClr>
                </a:solidFill>
                <a:latin typeface="Consolas"/>
                <a:ea typeface="Consolas"/>
              </a:rPr>
              <a:t>→</a:t>
            </a:r>
            <a:endParaRPr/>
          </a:p>
        </p:txBody>
      </p:sp>
      <p:sp>
        <p:nvSpPr>
          <p:cNvPr id="180" name=""/>
          <p:cNvSpPr/>
          <p:nvPr/>
        </p:nvSpPr>
        <p:spPr>
          <a:xfrm rot="0" flipH="0" flipV="0">
            <a:off x="5314950" y="5400675"/>
            <a:ext cx="1600200" cy="285750"/>
          </a:xfrm>
          <a:prstGeom prst="roundRect">
            <a:avLst>
              <a:gd name="adj" fmla="val 13333"/>
            </a:avLst>
          </a:prstGeom>
          <a:solidFill>
            <a:srgbClr val="6BC8D1">
              <a:alpha val="6000"/>
            </a:srgbClr>
          </a:solidFill>
          <a:ln w="12700">
            <a:solidFill>
              <a:srgbClr val="6BC8D1">
                <a:alpha val="26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81" name="" descr="{&quot;isTemplate&quot;:true,&quot;type&quot;:&quot;text&quot;}"/>
          <p:cNvSpPr txBox="1"/>
          <p:nvPr/>
        </p:nvSpPr>
        <p:spPr>
          <a:xfrm rot="0" flipH="0" flipV="0">
            <a:off x="5429250" y="5476875"/>
            <a:ext cx="1371600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825">
                <a:solidFill>
                  <a:srgbClr val="6BC8D1"/>
                </a:solidFill>
                <a:latin typeface="Microsoft YaHei"/>
                <a:ea typeface="Microsoft YaHei"/>
              </a:rPr>
              <a:t>重新验证</a:t>
            </a:r>
            <a:endParaRPr/>
          </a:p>
        </p:txBody>
      </p:sp>
      <p:sp>
        <p:nvSpPr>
          <p:cNvPr id="182" name="" descr="{&quot;isTemplate&quot;:true,&quot;type&quot;:&quot;text&quot;}"/>
          <p:cNvSpPr txBox="1"/>
          <p:nvPr/>
        </p:nvSpPr>
        <p:spPr>
          <a:xfrm rot="0" flipH="0" flipV="0">
            <a:off x="7029450" y="5467350"/>
            <a:ext cx="762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975">
                <a:solidFill>
                  <a:srgbClr val="6BC8D1">
                    <a:alpha val="55000"/>
                  </a:srgbClr>
                </a:solidFill>
                <a:latin typeface="Consolas"/>
                <a:ea typeface="Consolas"/>
              </a:rPr>
              <a:t>→</a:t>
            </a:r>
            <a:endParaRPr/>
          </a:p>
        </p:txBody>
      </p:sp>
      <p:sp>
        <p:nvSpPr>
          <p:cNvPr id="183" name=""/>
          <p:cNvSpPr/>
          <p:nvPr/>
        </p:nvSpPr>
        <p:spPr>
          <a:xfrm rot="0" flipH="0" flipV="0">
            <a:off x="7219950" y="5400675"/>
            <a:ext cx="1981200" cy="285750"/>
          </a:xfrm>
          <a:prstGeom prst="roundRect">
            <a:avLst>
              <a:gd name="adj" fmla="val 13333"/>
            </a:avLst>
          </a:prstGeom>
          <a:ln w="12700">
            <a:solidFill>
              <a:srgbClr val="F2F7F8">
                <a:alpha val="12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84" name="" descr="{&quot;isTemplate&quot;:true,&quot;type&quot;:&quot;text&quot;}"/>
          <p:cNvSpPr txBox="1"/>
          <p:nvPr/>
        </p:nvSpPr>
        <p:spPr>
          <a:xfrm rot="0" flipH="0" flipV="0">
            <a:off x="7334250" y="5476875"/>
            <a:ext cx="1752600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825">
                <a:solidFill>
                  <a:srgbClr val="F2F7F8">
                    <a:alpha val="62000"/>
                  </a:srgbClr>
                </a:solidFill>
                <a:latin typeface="Microsoft YaHei"/>
                <a:ea typeface="Microsoft YaHei"/>
              </a:rPr>
              <a:t>新事件</a:t>
            </a:r>
            <a:r>
              <a:rPr lang="en-US" sz="825">
                <a:solidFill>
                  <a:srgbClr val="F2F7F8">
                    <a:alpha val="62000"/>
                  </a:srgbClr>
                </a:solidFill>
                <a:latin typeface="Microsoft YaHei"/>
                <a:ea typeface="Microsoft YaHei"/>
              </a:rPr>
              <a:t> / </a:t>
            </a:r>
            <a:r>
              <a:rPr lang="zh-CN" sz="825">
                <a:solidFill>
                  <a:srgbClr val="F2F7F8">
                    <a:alpha val="62000"/>
                  </a:srgbClr>
                </a:solidFill>
                <a:latin typeface="Microsoft YaHei"/>
                <a:ea typeface="Microsoft YaHei"/>
              </a:rPr>
              <a:t>新指标</a:t>
            </a:r>
            <a:endParaRPr/>
          </a:p>
        </p:txBody>
      </p:sp>
      <p:sp>
        <p:nvSpPr>
          <p:cNvPr id="185" name=""/>
          <p:cNvSpPr/>
          <p:nvPr/>
        </p:nvSpPr>
        <p:spPr>
          <a:xfrm rot="0" flipH="0" flipV="0">
            <a:off x="533400" y="6324600"/>
            <a:ext cx="11125200" cy="9525"/>
          </a:xfrm>
          <a:prstGeom prst="rect">
            <a:avLst/>
          </a:prstGeom>
          <a:solidFill>
            <a:srgbClr val="F2F7F8">
              <a:alpha val="10000"/>
            </a:srgbClr>
          </a:solidFill>
          <a:ln/>
        </p:spPr>
        <p:txBody>
          <a:bodyPr/>
          <a:p/>
        </p:txBody>
      </p:sp>
      <p:sp>
        <p:nvSpPr>
          <p:cNvPr id="186" name="" descr="{&quot;isTemplate&quot;:true,&quot;type&quot;:&quot;text&quot;}"/>
          <p:cNvSpPr txBox="1"/>
          <p:nvPr/>
        </p:nvSpPr>
        <p:spPr>
          <a:xfrm rot="0" flipH="0" flipV="0">
            <a:off x="533400" y="6457950"/>
            <a:ext cx="3248025" cy="1238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788" spc="60">
                <a:solidFill>
                  <a:srgbClr val="F2F7F8">
                    <a:alpha val="40000"/>
                  </a:srgbClr>
                </a:solidFill>
                <a:latin typeface="Consolas"/>
                <a:ea typeface="Consolas"/>
              </a:rPr>
              <a:t>智御网络</a:t>
            </a:r>
            <a:r>
              <a:rPr lang="en-US" sz="788" spc="60">
                <a:solidFill>
                  <a:srgbClr val="F2F7F8">
                    <a:alpha val="40000"/>
                  </a:srgbClr>
                </a:solidFill>
                <a:latin typeface="Consolas"/>
                <a:ea typeface="Consolas"/>
              </a:rPr>
              <a:t> · </a:t>
            </a:r>
            <a:r>
              <a:rPr lang="zh-CN" sz="788" spc="60">
                <a:solidFill>
                  <a:srgbClr val="F2F7F8">
                    <a:alpha val="40000"/>
                  </a:srgbClr>
                </a:solidFill>
                <a:latin typeface="Consolas"/>
                <a:ea typeface="Consolas"/>
              </a:rPr>
              <a:t>三维网络安全策略交互验证平台</a:t>
            </a:r>
            <a:endParaRPr/>
          </a:p>
        </p:txBody>
      </p:sp>
      <p:sp>
        <p:nvSpPr>
          <p:cNvPr id="187" name="" descr="{&quot;isTemplate&quot;:true,&quot;type&quot;:&quot;text&quot;}"/>
          <p:cNvSpPr txBox="1"/>
          <p:nvPr/>
        </p:nvSpPr>
        <p:spPr>
          <a:xfrm rot="0" flipH="0" flipV="0">
            <a:off x="11268075" y="6457950"/>
            <a:ext cx="390525" cy="1238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788">
                <a:solidFill>
                  <a:srgbClr val="F2F7F8">
                    <a:alpha val="40000"/>
                  </a:srgbClr>
                </a:solidFill>
                <a:latin typeface="Consolas"/>
                <a:ea typeface="Consolas"/>
              </a:rPr>
              <a:t>12 / 22</a:t>
            </a:r>
            <a:endParaRPr/>
          </a:p>
        </p:txBody>
      </p:sp>
    </p:spTree>
  </p:cSld>
</p:sld>
</file>

<file path=ppt/slides/slide13.xml><?xml version="1.0" encoding="utf-8"?>
<p:sld xmlns:p="http://schemas.openxmlformats.org/presentationml/2006/main" xmlns:r="http://schemas.openxmlformats.org/officeDocument/2006/relationships" xmlns:a="http://schemas.openxmlformats.org/drawingml/2006/main" xmlns:asvg="http://schemas.microsoft.com/office/drawing/2016/SVG/main" xmlns:mc="http://schemas.openxmlformats.org/markup-compatibility/2006" mc:Ignorable="asvg">
  <p:cSld>
    <p:spTree>
      <p:nvGrpSpPr>
        <p:cNvPr id="188" name="" descr="&lt;Slide style={{ width: 1280, height: 720, background: '#07111B', padding: 0, position: 'relative', overflow: 'hidden' }}&gt;&#13;&#10;    &lt;svg width={1280} height={720} viewBox='0 0 1280 720' style={{ position: 'absolute', left: 0, top: 0 }}&gt;&#13;&#10;        &lt;g stroke='rgba(242,247,248,0.022)' strokeWidth='1'&gt;&#13;&#10;            &lt;path d='M0 96H1280M0 192H1280M0 288H1280M0 384H1280M0 480H1280M0 576H1280M0 672H1280' /&gt;&#13;&#10;        &lt;/g&gt;&#13;&#10;        &lt;circle cx='1180' cy='100' r='240' fill='rgba(231,129,114,0.035)' /&gt;&#13;&#10;    &lt;/svg&gt;&#13;&#10;&#13;&#10;    &lt;Box style={{ position: 'absolute', left: 56, top: 38 }}&gt;&#13;&#10;        &lt;Text style={{ fontFamily: 'Consolas', fontSize: 11, color: '#6BC8D1', letterSpacing: 1.8 }}&gt;03 / 核心机制&lt;/Text&gt;&#13;&#10;    &lt;/Box&gt;&#13;&#10;    &lt;Text style={{ position: 'absolute', left: 56, top: 62, fontFamily: 'Microsoft YaHei', fontSize: 32, fontWeight: 'bold', color: '#F2F7F8', letterSpacing: 0.5 }}&gt;一条代表链，四个状态节点&lt;/Text&gt;&#13;&#10;    &lt;Text style={{ position: 'absolute', right: 56, top: 76, fontFamily: 'Consolas', fontSize: 10.5, color: 'rgba(242,247,248,0.42)' }}&gt;ATTACK_STATE · REPRESENTATIVE CHAIN&lt;/Text&gt;&#13;&#10;&#13;&#10;    &lt;Box style={{ position: 'absolute', left: 56, top: 138, flexDirection: 'row', alignItems: 'center', gap: 10 }}&gt;&#13;&#10;        &lt;Text style={{ fontFamily: 'Consolas', fontSize: 9.5, color: '#6BC8D1', letterSpacing: 1.2 }}&gt;T0 → T3&lt;/Text&gt;&#13;&#10;        &lt;Box style={{ width: 24, height: 1, background: 'rgba(107,200,209,0.36)' }} /&gt;&#13;&#10;        &lt;Text style={{ fontFamily: 'Microsoft YaHei', fontSize: 11, color: 'rgba(242,247,248,0.46)' }}&gt;T1–T3 各改变一种状态：控制端点、提升权限、授予数据访问 · T0 为初始条件&lt;/Text&gt;&#13;&#10;    &lt;/Box&gt;&#13;&#10;&#13;&#10;    &lt;Box style={{ position: 'absolute', left: 56, top: 170, width: 1168, height: 206 }}&gt;&#13;&#10;        &lt;svg width={1168} height={206} viewBox='0 0 1168 206' style={{ position: 'absolute', left: 0, top: 0 }}&gt;&#13;&#10;            &lt;g stroke='rgba(107,200,209,0.42)' strokeWidth='1.2'&gt;&#13;&#10;                &lt;path d='M252 104H272' /&gt;&#13;&#10;                &lt;path d='M526 104H546' /&gt;&#13;&#10;                &lt;path d='M800 104H820' /&gt;&#13;&#10;            &lt;/g&gt;&#13;&#10;            &lt;g fill='rgba(107,200,209,0.60)'&gt;&#13;&#10;                &lt;path d='M272 100L280 104L272 108Z' /&gt;&#13;&#10;                &lt;path d='M546 100L554 104L546 108Z' /&gt;&#13;&#10;                &lt;path d='M820 100L828 104L820 108Z' /&gt;&#13;&#10;            &lt;/g&gt;&#13;&#10;        &lt;/svg&gt;&#13;&#10;&#13;&#10;        &lt;Box style={{ position: 'absolute', left: 0, top: 0, width: 252, height: 200, padding: 16, background: 'linear-gradient(145deg, rgba(242,247,248,0.05) 0%, rgba(242,247,248,0.02) 100%)', border: '1px solid rgba(242,247,248,0.12)', borderRadius: 8 }}&gt;&#13;&#10;            &lt;Box style={{ flexDirection: 'row', justifyContent: 'space-between', alignItems: 'center' }}&gt;&#13;&#10;                &lt;Text style={{ fontFamily: 'Consolas', fontSize: 9.5, color: 'rgba(242,247,248,0.42)', letterSpacing: 1 }}&gt;T0 / SEED&lt;/Text&gt;&#13;&#10;                &lt;Text style={{ fontFamily: 'Consolas', fontSize: 9, color: 'rgba(242,247,248,0.34)' }}&gt;初始&lt;/Text&gt;&#13;&#10;            &lt;/Box&gt;&#13;&#10;            &lt;Text style={{ marginTop: 14, fontFamily: 'Microsoft YaHei', fontSize: 13.5, fontWeight: 'bold', color: '#F2F7F8' }}&gt;Office-PC-01&lt;/Text&gt;&#13;&#10;            &lt;Text style={{ marginTop: 8, fontFamily: 'Consolas', fontSize: 24, fontWeight: 'bold', color: 'rgba(242,247,248,0.74)', lineHeight: 1 }}&gt;USER&lt;/Text&gt;&#13;&#10;            &lt;Text style={{ marginTop: 10, fontFamily: 'Microsoft YaHei', fontSize: 10.5, color: 'rgba(242,247,248,0.48)', lineHeight: 1.65 }}&gt;实验开始前已被教学状态标记为受控；不是本轮行为。&lt;/Text&gt;&#13;&#10;            &lt;Box style={{ marginTop: 'auto', paddingTop: 8, borderTop: '1px solid rgba(242,247,248,0.10)' }}&gt;&#13;&#10;                &lt;Text style={{ fontFamily: 'Consolas', fontSize: 9, color: 'rgba(242,247,248,0.38)' }}&gt;SEED · 不计入传播步骤&lt;/Text&gt;&#13;&#10;            &lt;/Box&gt;&#13;&#10;        &lt;/Box&gt;&#13;&#10;&#13;&#10;        &lt;Box style={{ position: 'absolute', left: 274, top: 0, width: 252, height: 200, padding: 16, background: 'linear-gradient(145deg, rgba(107,200,209,0.08) 0%, rgba(242,247,248,0.02) 100%)', border: '1px solid rgba(107,200,209,0.26)', borderRadius: 8 }}&gt;&#13;&#10;            &lt;Box style={{ flexDirection: 'row', justifyContent: 'space-between', alignItems: 'center' }}&gt;&#13;&#10;                &lt;Text style={{ fontFamily: 'Consolas', fontSize: 9.5, color: '#6BC8D1', letterSpacing: 1 }}&gt;T1 / MOVE&lt;/Text&gt;&#13;&#10;                &lt;Text style={{ fontFamily: 'Consolas', fontSize: 9, color: 'rgba(242,247,248,0.34)' }}&gt;端点&lt;/Text&gt;&#13;&#10;            &lt;/Box&gt;&#13;&#10;            &lt;Text style={{ marginTop: 14, fontFamily: 'Microsoft YaHei', fontSize: 13.5, fontWeight: 'bold', color: '#F2F7F8' }}&gt;Application Server&lt;/Text&gt;&#13;&#10;            &lt;Text style={{ marginTop: 8, fontFamily: 'Consolas', fontSize: 24, fontWeight: 'bold', color: '#6BC8D1', lineHeight: 1 }}&gt;USER&lt;/Text&gt;&#13;&#10;            &lt;Text style={{ marginTop: 10, fontFamily: 'Microsoft YaHei', fontSize: 10.5, color: 'rgba(242,247,248,0.48)', lineHeight: 1.65 }}&gt;应用服务访问：WEB 通信允许 + 远程入口条件满足。&lt;/Text&gt;&#13;&#10;            &lt;Box style={{ marginTop: 'auto', paddingTop: 8, borderTop: '1px solid rgba(107,200,209,0.18)' }}&gt;&#13;&#10;                &lt;Text style={{ fontFamily: 'Consolas', fontSize: 9, color: '#6BC8D1' }}&gt;CONTROL_GRANTED&lt;/Text&gt;&#13;&#10;            &lt;/Box&gt;&#13;&#10;        &lt;/Box&gt;&#13;&#10;&#13;&#10;        &lt;Box style={{ position: 'absolute', left: 548, top: 0, width: 252, height: 200, padding: 16, background: 'linear-gradient(145deg, rgba(231,129,114,0.065) 0%, rgba(242,247,248,0.02) 100%)', border: '1px solid rgba(231,129,114,0.22)', borderRadius: 8 }}&gt;&#13;&#10;            &lt;Box style={{ flexDirection: 'row', justifyContent: 'space-between', alignItems: 'center' }}&gt;&#13;&#10;                &lt;Text style={{ fontFamily: 'Consolas', fontSize: 9.5, color: '#E78172', letterSpacing: 1 }}&gt;T2 / ESCALATE&lt;/Text&gt;&#13;&#10;                &lt;Text style={{ fontFamily: 'Consolas', fontSize: 9, color: 'rgba(242,247,248,0.34)' }}&gt;权限&lt;/Text&gt;&#13;&#10;            &lt;/Box&gt;&#13;&#10;            &lt;Text style={{ marginTop: 14, fontFamily: 'Microsoft YaHei', fontSize: 13.5, fontWeight: 'bold', color: '#F2F7F8' }}&gt;Application Server&lt;/Text&gt;&#13;&#10;            &lt;Text style={{ marginTop: 8, fontFamily: 'Consolas', fontSize: 24, fontWeight: 'bold', color: '#E78172', lineHeight: 1 }}&gt;ADMIN&lt;/Text&gt;&#13;&#10;            &lt;Text style={{ marginTop: 10, fontFamily: 'Microsoft YaHei', fontSize: 10.5, color: 'rgba(242,247,248,0.48)', lineHeight: 1.65 }}&gt;本地权限提升：具备权限变化条件，且未启用服务加固。&lt;/Text&gt;&#13;&#10;            &lt;Box style={{ marginTop: 'auto', paddingTop: 8, borderTop: '1px solid rgba(231,129,114,0.18)' }}&gt;&#13;&#10;                &lt;Text style={{ fontFamily: 'Consolas', fontSize: 9, color: '#E78172' }}&gt;PRIVILEGE_ESCALATED&lt;/Text&gt;&#13;&#10;            &lt;/Box&gt;&#13;&#10;        &lt;/Box&gt;&#13;&#10;&#13;&#10;        &lt;Box style={{ position: 'absolute', left: 822, top: 0, width: 252, height: 200, padding: 16, background: 'linear-gradient(145deg, rgba(231,129,114,0.09) 0%, rgba(242,247,248,0.02) 100%)', border: '1px solid rgba(231,129,114,0.30)', borderRadius: 8 }}&gt;&#13;&#10;            &lt;Box style={{ flexDirection: 'row', justifyContent: 'space-between', alignItems: 'center' }}&gt;&#13;&#10;                &lt;Text style={{ fontFamily: 'Consolas', fontSize: 9.5, color: '#E78172', letterSpacing: 1 }}&gt;T3 / ACCESS&lt;/Text&gt;&#13;&#10;                &lt;Text style={{ fontFamily: 'Consolas', fontSize: 9, color: 'rgba(242,247,248,0.34)' }}&gt;数据&lt;/Text&gt;&#13;&#10;            &lt;/Box&gt;&#13;&#10;            &lt;Text style={{ marginTop: 14, fontFamily: 'Microsoft YaHei', fontSize: 13.5, fontWeight: 'bold', color: '#F2F7F8' }}&gt;Customer Database&lt;/Text&gt;&#13;&#10;            &lt;Text style={{ marginTop: 8, fontFamily: 'Consolas', fontSize: 20, fontWeight: 'bold', color: '#E78172', lineHeight: 1 }}&gt;DATA_ACCESS&lt;/Text&gt;&#13;&#10;            &lt;Text style={{ marginTop: 10, fontFamily: 'Microsoft YaHei', fontSize: 10.5, color: 'rgba(242,247,248,0.48)', lineHeight: 1.65 }}&gt;数据库数据访问：需 ADMIN + 应用角色 + 数据条件 + DATABASE 通信。&lt;/Text&gt;&#13;&#10;            &lt;Box style={{ marginTop: 'auto', paddingTop: 8, borderTop: '1px solid rgba(231,129,114,0.18)' }}&gt;&#13;&#10;                &lt;Text style={{ fontFamily: 'Consolas', fontSize: 9, color: '#E78172' }}&gt;可被数据访问控制阻断&lt;/Text&gt;&#13;&#10;            &lt;/Box&gt;&#13;&#10;        &lt;/Box&gt;&#13;&#10;    &lt;/Box&gt;&#13;&#10;&#13;&#10;    &lt;Box style={{ position: 'absolute', left: 56, top: 404, width: 286 }}&gt;&#13;&#10;        &lt;Text style={{ fontFamily: 'Consolas', fontSize: 9.5, color: 'rgba(242,247,248,0.42)', letterSpacing: 1.2 }}&gt;SEARCH BOUNDARY&lt;/Text&gt;&#13;&#10;        &lt;Box style={{ marginTop: 4, flexDirection: 'row', alignItems: 'flex-end' }}&gt;&#13;&#10;            &lt;Text style={{ fontFamily: 'Consolas', fontSize: 62, fontWeight: 'bold', color: '#F2F7F8', lineHeight: 1 }}&gt;8&lt;/Text&gt;&#13;&#10;            &lt;Text style={{ fontFamily: 'Consolas', fontSize: 24, color: 'rgba(242,247,248,0.30)', marginBottom: 6, marginLeft: 4 }}&gt;/ 160&lt;/Text&gt;&#13;&#10;        &lt;/Box&gt;&#13;&#10;        &lt;Text style={{ marginTop: 4, fontFamily: 'Microsoft YaHei', fontSize: 10.5, color: 'rgba(242,247,248,0.44)' }}&gt;最大深度 / 状态上限&lt;/Text&gt;&#13;&#10;        &lt;Box style={{ marginTop: 14, flexDirection: 'row', gap: 6 }}&gt;&#13;&#10;            &lt;Box style={{ paddingLeft: 7, paddingRight: 7, paddingTop: 3, paddingBottom: 3, border: '1px solid rgba(107,200,209,0.28)', borderRadius: 3 }}&gt;&#13;&#10;                &lt;Text style={{ fontFamily: 'Consolas', fontSize: 8.5, color: '#6BC8D1' }}&gt;SUCCESS&lt;/Text&gt;&#13;&#10;            &lt;/Box&gt;&#13;&#10;            &lt;Box style={{ paddingLeft: 7, paddingRight: 7, paddingTop: 3, paddingBottom: 3, border: '1px solid rgba(231,129,114,0.30)', borderRadius: 3 }}&gt;&#13;&#10;                &lt;Text style={{ fontFamily: 'Consolas', fontSize: 8.5, color: '#E78172' }}&gt;BLOCKED&lt;/Text&gt;&#13;&#10;            &lt;/Box&gt;&#13;&#10;            &lt;Box style={{ paddingLeft: 7, paddingRight: 7, paddingTop: 3, paddingBottom: 3, border: '1px solid rgba(242,247,248,0.16)', borderRadius: 3 }}&gt;&#13;&#10;                &lt;Text style={{ fontFamily: 'Consolas', fontSize: 8.5, color: 'rgba(242,247,248,0.50)' }}&gt;N.A.&lt;/Text&gt;&#13;&#10;            &lt;/Box&gt;&#13;&#10;        &lt;/Box&gt;&#13;&#10;    &lt;/Box&gt;&#13;&#10;&#13;&#10;    &lt;Box style={{ position: 'absolute', left: 390, top: 404, width: 834, height: 206, padding: 20, background: 'linear-gradient(145deg, rgba(231,129,114,0.05) 0%, rgba(242,247,248,0.02) 100%)', border: '1px solid rgba(231,129,114,0.18)', borderRadius: 10 }}&gt;&#13;&#10;        &lt;Text style={{ fontFamily: 'Microsoft YaHei', fontSize: 17, fontWeight: 'bold', color: '#F2F7F8' }}&gt;为什么 PC-01 直连数据库也不行？&lt;/Text&gt;&#13;&#10;        &lt;Text style={{ marginTop: 9, fontFamily: 'Microsoft YaHei', fontSize: 12, color: 'rgba(242,247,248,0.58)', lineHeight: 1.8 }}&gt;&#13;&#10;            行为来源范围只允许应用服务器；源权限、源条件、目标条件与目标安全控制要逐项检查。通信放行只是前置条件，不是状态结果。&#13;&#10;        &lt;/Text&gt;&#13;&#10;        &lt;Text style={{ marginTop: 8, fontFamily: 'Microsoft YaHei', fontSize: 12, color: 'rgba(231,129,114,0.82)', lineHeight: 1.8 }}&gt;&#13;&#10;            启用数据访问控制后，T3 记为 BLOCKED；应用到数据库的网络通信仍然正常——这正是“保护数据”和“切断业务”的区别。&#13;&#10;        &lt;/Text&gt;&#13;&#10;        &lt;Box style={{ marginTop: 10, flexDirection: 'row', alignItems: 'center', gap: 8 }}&gt;&#13;&#10;            &lt;Box style={{ width: 16, height: 1, background: 'rgba(231,129,114,0.50)' }} /&gt;&#13;&#10;            &lt;Text style={{ fontFamily: 'Consolas', fontSize: 9, color: 'rgba(242,247,248,0.38)' }}&gt;SEARCH IS BOUNDED · INCOMPLETE IS NOT “SAFE”&lt;/Text&gt;&#13;&#10;        &lt;/Box&gt;&#13;&#10;    &lt;/Box&gt;&#13;&#10;&#13;&#10;    &lt;Box style={{ position: 'absolute', left: 56, top: 664, width: 1168, height: 1, background: 'rgba(242,247,248,0.10)' }} /&gt;&#13;&#10;    &lt;Text style={{ position: 'absolute', left: 56, top: 678, fontFamily: 'Consolas', fontSize: 10.5, color: 'rgba(242,247,248,0.40)', letterSpacing: 0.8 }}&gt;智御网络 · 三维网络安全策略交互验证平台&lt;/Text&gt;&#13;&#10;    &lt;Text style={{ position: 'absolute', right: 56, top: 678, fontFamily: 'Consolas', fontSize: 10.5, color: 'rgba(242,247,248,0.40)' }}&gt;13 / 22&lt;/Text&gt;&#13;&#10;&lt;/Slide&gt;&#13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07111B"/>
          </a:solidFill>
          <a:ln/>
        </p:spPr>
        <p:txBody>
          <a:bodyPr/>
          <a:p/>
        </p:txBody>
      </p:sp>
      <p:pic>
        <p:nvPicPr>
          <p:cNvPr id="190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1"/>
              </a:ext>
            </a:extLst>
          </a:blip>
          <a:stretch>
            <a:fillRect/>
          </a:stretch>
        </p:blipFill>
        <p:spPr>
          <a:xfrm rot="0" flipH="0" flipV="0">
            <a:off x="0" y="0"/>
            <a:ext cx="12192000" cy="6858000"/>
          </a:xfrm>
          <a:prstGeom prst="rect">
            <a:avLst/>
          </a:prstGeom>
          <a:ln/>
        </p:spPr>
      </p:pic>
      <p:sp>
        <p:nvSpPr>
          <p:cNvPr id="191" name="" descr="{&quot;isTemplate&quot;:true,&quot;type&quot;:&quot;text&quot;}"/>
          <p:cNvSpPr txBox="1"/>
          <p:nvPr/>
        </p:nvSpPr>
        <p:spPr>
          <a:xfrm rot="0" flipH="0" flipV="0">
            <a:off x="533400" y="361950"/>
            <a:ext cx="1095375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825" spc="135">
                <a:solidFill>
                  <a:srgbClr val="6BC8D1"/>
                </a:solidFill>
                <a:latin typeface="Consolas"/>
                <a:ea typeface="Consolas"/>
              </a:rPr>
              <a:t>03 / </a:t>
            </a:r>
            <a:r>
              <a:rPr lang="zh-CN" sz="825" spc="135">
                <a:solidFill>
                  <a:srgbClr val="6BC8D1"/>
                </a:solidFill>
                <a:latin typeface="Consolas"/>
                <a:ea typeface="Consolas"/>
              </a:rPr>
              <a:t>核心机制</a:t>
            </a:r>
            <a:endParaRPr/>
          </a:p>
        </p:txBody>
      </p:sp>
      <p:sp>
        <p:nvSpPr>
          <p:cNvPr id="192" name="" descr="{&quot;isTemplate&quot;:true,&quot;type&quot;:&quot;text&quot;}"/>
          <p:cNvSpPr txBox="1"/>
          <p:nvPr/>
        </p:nvSpPr>
        <p:spPr>
          <a:xfrm rot="0" flipH="0" flipV="0">
            <a:off x="533400" y="590550"/>
            <a:ext cx="3714750" cy="3714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400" b="1" spc="38">
                <a:solidFill>
                  <a:srgbClr val="F2F7F8"/>
                </a:solidFill>
                <a:latin typeface="Microsoft YaHei"/>
                <a:ea typeface="Microsoft YaHei"/>
              </a:rPr>
              <a:t>一条代表链，四个状态节点</a:t>
            </a:r>
            <a:endParaRPr/>
          </a:p>
        </p:txBody>
      </p:sp>
      <p:sp>
        <p:nvSpPr>
          <p:cNvPr id="193" name="" descr="{&quot;isTemplate&quot;:true,&quot;type&quot;:&quot;text&quot;}"/>
          <p:cNvSpPr txBox="1"/>
          <p:nvPr/>
        </p:nvSpPr>
        <p:spPr>
          <a:xfrm rot="0" flipH="0" flipV="0">
            <a:off x="9725025" y="723900"/>
            <a:ext cx="1933575" cy="1238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788">
                <a:solidFill>
                  <a:srgbClr val="F2F7F8">
                    <a:alpha val="42000"/>
                  </a:srgbClr>
                </a:solidFill>
                <a:latin typeface="Consolas"/>
                <a:ea typeface="Consolas"/>
              </a:rPr>
              <a:t>ATTACK_STATE · REPRESENTATIVE CHAIN</a:t>
            </a:r>
            <a:endParaRPr/>
          </a:p>
        </p:txBody>
      </p:sp>
      <p:sp>
        <p:nvSpPr>
          <p:cNvPr id="194" name="" descr="{&quot;isTemplate&quot;:true,&quot;type&quot;:&quot;text&quot;}"/>
          <p:cNvSpPr txBox="1"/>
          <p:nvPr/>
        </p:nvSpPr>
        <p:spPr>
          <a:xfrm rot="0" flipH="0" flipV="0">
            <a:off x="533400" y="1323975"/>
            <a:ext cx="428625" cy="1143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713" spc="90">
                <a:solidFill>
                  <a:srgbClr val="6BC8D1"/>
                </a:solidFill>
                <a:latin typeface="Consolas"/>
                <a:ea typeface="Consolas"/>
              </a:rPr>
              <a:t>T0 → T3</a:t>
            </a:r>
            <a:endParaRPr/>
          </a:p>
        </p:txBody>
      </p:sp>
      <p:sp>
        <p:nvSpPr>
          <p:cNvPr id="195" name=""/>
          <p:cNvSpPr/>
          <p:nvPr/>
        </p:nvSpPr>
        <p:spPr>
          <a:xfrm rot="0" flipH="0" flipV="0">
            <a:off x="1057275" y="1381125"/>
            <a:ext cx="228600" cy="9525"/>
          </a:xfrm>
          <a:prstGeom prst="rect">
            <a:avLst/>
          </a:prstGeom>
          <a:solidFill>
            <a:srgbClr val="6BC8D1">
              <a:alpha val="36000"/>
            </a:srgbClr>
          </a:solidFill>
          <a:ln/>
        </p:spPr>
        <p:txBody>
          <a:bodyPr/>
          <a:p/>
        </p:txBody>
      </p:sp>
      <p:sp>
        <p:nvSpPr>
          <p:cNvPr id="196" name="" descr="{&quot;isTemplate&quot;:true,&quot;type&quot;:&quot;text&quot;}"/>
          <p:cNvSpPr txBox="1"/>
          <p:nvPr/>
        </p:nvSpPr>
        <p:spPr>
          <a:xfrm rot="0" flipH="0" flipV="0">
            <a:off x="1381125" y="1314450"/>
            <a:ext cx="3609975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825">
                <a:solidFill>
                  <a:srgbClr val="F2F7F8">
                    <a:alpha val="46000"/>
                  </a:srgbClr>
                </a:solidFill>
                <a:latin typeface="Microsoft YaHei"/>
                <a:ea typeface="Microsoft YaHei"/>
              </a:rPr>
              <a:t>T1–T3 </a:t>
            </a:r>
            <a:r>
              <a:rPr lang="zh-CN" sz="825">
                <a:solidFill>
                  <a:srgbClr val="F2F7F8">
                    <a:alpha val="46000"/>
                  </a:srgbClr>
                </a:solidFill>
                <a:latin typeface="Microsoft YaHei"/>
                <a:ea typeface="Microsoft YaHei"/>
              </a:rPr>
              <a:t>各改变一种状态：控制端点、提升权限、授予数据访问</a:t>
            </a:r>
            <a:r>
              <a:rPr lang="en-US" sz="825">
                <a:solidFill>
                  <a:srgbClr val="F2F7F8">
                    <a:alpha val="46000"/>
                  </a:srgbClr>
                </a:solidFill>
                <a:latin typeface="Microsoft YaHei"/>
                <a:ea typeface="Microsoft YaHei"/>
              </a:rPr>
              <a:t> · T0 </a:t>
            </a:r>
            <a:r>
              <a:rPr lang="zh-CN" sz="825">
                <a:solidFill>
                  <a:srgbClr val="F2F7F8">
                    <a:alpha val="46000"/>
                  </a:srgbClr>
                </a:solidFill>
                <a:latin typeface="Microsoft YaHei"/>
                <a:ea typeface="Microsoft YaHei"/>
              </a:rPr>
              <a:t>为初始条件</a:t>
            </a:r>
            <a:endParaRPr/>
          </a:p>
        </p:txBody>
      </p:sp>
      <p:pic>
        <p:nvPicPr>
          <p:cNvPr id="197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2"/>
              </a:ext>
            </a:extLst>
          </a:blip>
          <a:stretch>
            <a:fillRect/>
          </a:stretch>
        </p:blipFill>
        <p:spPr>
          <a:xfrm rot="0" flipH="0" flipV="0">
            <a:off x="533400" y="1619250"/>
            <a:ext cx="11125200" cy="1962150"/>
          </a:xfrm>
          <a:prstGeom prst="rect">
            <a:avLst/>
          </a:prstGeom>
          <a:ln/>
        </p:spPr>
      </p:pic>
      <p:sp>
        <p:nvSpPr>
          <p:cNvPr id="198" name=""/>
          <p:cNvSpPr/>
          <p:nvPr/>
        </p:nvSpPr>
        <p:spPr>
          <a:xfrm rot="0" flipH="0" flipV="0">
            <a:off x="533400" y="1619250"/>
            <a:ext cx="2400300" cy="1905000"/>
          </a:xfrm>
          <a:prstGeom prst="roundRect">
            <a:avLst>
              <a:gd name="adj" fmla="val 4000"/>
            </a:avLst>
          </a:prstGeom>
          <a:gradFill>
            <a:gsLst>
              <a:gs pos="0">
                <a:srgbClr val="F2F7F8">
                  <a:alpha val="5000"/>
                </a:srgbClr>
              </a:gs>
              <a:gs pos="100000">
                <a:srgbClr val="F2F7F8">
                  <a:alpha val="2000"/>
                </a:srgbClr>
              </a:gs>
            </a:gsLst>
            <a:lin ang="3300000" scaled="1"/>
          </a:gradFill>
          <a:ln w="12700">
            <a:solidFill>
              <a:srgbClr val="F2F7F8">
                <a:alpha val="12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99" name="" descr="{&quot;isTemplate&quot;:true,&quot;type&quot;:&quot;text&quot;}"/>
          <p:cNvSpPr txBox="1"/>
          <p:nvPr/>
        </p:nvSpPr>
        <p:spPr>
          <a:xfrm rot="0" flipH="0" flipV="0">
            <a:off x="685800" y="1771650"/>
            <a:ext cx="542925" cy="1143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713" spc="75">
                <a:solidFill>
                  <a:srgbClr val="F2F7F8">
                    <a:alpha val="42000"/>
                  </a:srgbClr>
                </a:solidFill>
                <a:latin typeface="Consolas"/>
                <a:ea typeface="Consolas"/>
              </a:rPr>
              <a:t>T0 / SEED</a:t>
            </a:r>
            <a:endParaRPr/>
          </a:p>
        </p:txBody>
      </p:sp>
      <p:sp>
        <p:nvSpPr>
          <p:cNvPr id="200" name="" descr="{&quot;isTemplate&quot;:true,&quot;type&quot;:&quot;text&quot;}"/>
          <p:cNvSpPr txBox="1"/>
          <p:nvPr/>
        </p:nvSpPr>
        <p:spPr>
          <a:xfrm rot="0" flipH="0" flipV="0">
            <a:off x="2457450" y="1781175"/>
            <a:ext cx="323850" cy="1047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675">
                <a:solidFill>
                  <a:srgbClr val="F2F7F8">
                    <a:alpha val="34000"/>
                  </a:srgbClr>
                </a:solidFill>
                <a:latin typeface="Consolas"/>
                <a:ea typeface="Consolas"/>
              </a:rPr>
              <a:t>初始</a:t>
            </a:r>
            <a:endParaRPr/>
          </a:p>
        </p:txBody>
      </p:sp>
      <p:sp>
        <p:nvSpPr>
          <p:cNvPr id="201" name="" descr="{&quot;isTemplate&quot;:true,&quot;type&quot;:&quot;text&quot;}"/>
          <p:cNvSpPr txBox="1"/>
          <p:nvPr/>
        </p:nvSpPr>
        <p:spPr>
          <a:xfrm rot="0" flipH="0" flipV="0">
            <a:off x="685800" y="2019300"/>
            <a:ext cx="20955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13" b="1">
                <a:solidFill>
                  <a:srgbClr val="F2F7F8"/>
                </a:solidFill>
                <a:latin typeface="Microsoft YaHei"/>
                <a:ea typeface="Microsoft YaHei"/>
              </a:rPr>
              <a:t>Office-PC-01</a:t>
            </a:r>
            <a:endParaRPr/>
          </a:p>
        </p:txBody>
      </p:sp>
      <p:sp>
        <p:nvSpPr>
          <p:cNvPr id="202" name="" descr="{&quot;isTemplate&quot;:true,&quot;type&quot;:&quot;text&quot;}"/>
          <p:cNvSpPr txBox="1"/>
          <p:nvPr/>
        </p:nvSpPr>
        <p:spPr>
          <a:xfrm rot="0" flipH="0" flipV="0">
            <a:off x="685800" y="2257425"/>
            <a:ext cx="2095500" cy="2762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800" b="1">
                <a:solidFill>
                  <a:srgbClr val="F2F7F8">
                    <a:alpha val="74000"/>
                  </a:srgbClr>
                </a:solidFill>
                <a:latin typeface="Consolas"/>
                <a:ea typeface="Consolas"/>
              </a:rPr>
              <a:t>USER</a:t>
            </a:r>
            <a:endParaRPr/>
          </a:p>
        </p:txBody>
      </p:sp>
      <p:sp>
        <p:nvSpPr>
          <p:cNvPr id="203" name="" descr="{&quot;isTemplate&quot;:true,&quot;type&quot;:&quot;text&quot;}"/>
          <p:cNvSpPr txBox="1"/>
          <p:nvPr/>
        </p:nvSpPr>
        <p:spPr>
          <a:xfrm rot="0" flipH="0" flipV="0">
            <a:off x="685800" y="2628900"/>
            <a:ext cx="2095500" cy="4000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5000"/>
              </a:lnSpc>
            </a:pPr>
            <a:r>
              <a:rPr lang="zh-CN" sz="788">
                <a:solidFill>
                  <a:srgbClr val="F2F7F8">
                    <a:alpha val="48000"/>
                  </a:srgbClr>
                </a:solidFill>
                <a:latin typeface="Microsoft YaHei"/>
                <a:ea typeface="Microsoft YaHei"/>
              </a:rPr>
              <a:t>实验开始前已被教学状态标记为受控；不是本轮行为。</a:t>
            </a:r>
            <a:endParaRPr/>
          </a:p>
        </p:txBody>
      </p:sp>
      <p:sp>
        <p:nvSpPr>
          <p:cNvPr id="204" name=""/>
          <p:cNvSpPr/>
          <p:nvPr/>
        </p:nvSpPr>
        <p:spPr>
          <a:xfrm rot="0" flipH="0" flipV="0">
            <a:off x="685800" y="3181350"/>
            <a:ext cx="2095500" cy="200025"/>
          </a:xfrm>
          <a:custGeom>
            <a:pathLst>
              <a:path w="220" h="21">
                <a:moveTo>
                  <a:pt x="0" y="0"/>
                </a:moveTo>
                <a:lnTo>
                  <a:pt x="220" y="0"/>
                </a:lnTo>
                <a:lnTo>
                  <a:pt x="220" y="1"/>
                </a:lnTo>
                <a:lnTo>
                  <a:pt x="0" y="1"/>
                </a:lnTo>
                <a:close/>
              </a:path>
            </a:pathLst>
          </a:custGeom>
          <a:solidFill>
            <a:srgbClr val="F2F7F8">
              <a:alpha val="10000"/>
            </a:srgbClr>
          </a:solidFill>
          <a:ln/>
        </p:spPr>
        <p:txBody>
          <a:bodyPr/>
          <a:p/>
        </p:txBody>
      </p:sp>
      <p:sp>
        <p:nvSpPr>
          <p:cNvPr id="205" name="" descr="{&quot;isTemplate&quot;:true,&quot;type&quot;:&quot;text&quot;}"/>
          <p:cNvSpPr txBox="1"/>
          <p:nvPr/>
        </p:nvSpPr>
        <p:spPr>
          <a:xfrm rot="0" flipH="0" flipV="0">
            <a:off x="685800" y="3267075"/>
            <a:ext cx="2095500" cy="1047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675">
                <a:solidFill>
                  <a:srgbClr val="F2F7F8">
                    <a:alpha val="38000"/>
                  </a:srgbClr>
                </a:solidFill>
                <a:latin typeface="Consolas"/>
                <a:ea typeface="Consolas"/>
              </a:rPr>
              <a:t>SEED · </a:t>
            </a:r>
            <a:r>
              <a:rPr lang="zh-CN" sz="675">
                <a:solidFill>
                  <a:srgbClr val="F2F7F8">
                    <a:alpha val="38000"/>
                  </a:srgbClr>
                </a:solidFill>
                <a:latin typeface="Consolas"/>
                <a:ea typeface="Consolas"/>
              </a:rPr>
              <a:t>不计入传播步骤</a:t>
            </a:r>
            <a:endParaRPr/>
          </a:p>
        </p:txBody>
      </p:sp>
      <p:sp>
        <p:nvSpPr>
          <p:cNvPr id="206" name=""/>
          <p:cNvSpPr/>
          <p:nvPr/>
        </p:nvSpPr>
        <p:spPr>
          <a:xfrm rot="0" flipH="0" flipV="0">
            <a:off x="3143250" y="1619250"/>
            <a:ext cx="2400300" cy="1905000"/>
          </a:xfrm>
          <a:prstGeom prst="roundRect">
            <a:avLst>
              <a:gd name="adj" fmla="val 4000"/>
            </a:avLst>
          </a:prstGeom>
          <a:gradFill>
            <a:gsLst>
              <a:gs pos="0">
                <a:srgbClr val="6BC8D1">
                  <a:alpha val="8000"/>
                </a:srgbClr>
              </a:gs>
              <a:gs pos="100000">
                <a:srgbClr val="F2F7F8">
                  <a:alpha val="2000"/>
                </a:srgbClr>
              </a:gs>
            </a:gsLst>
            <a:lin ang="3300000" scaled="1"/>
          </a:gradFill>
          <a:ln w="12700">
            <a:solidFill>
              <a:srgbClr val="6BC8D1">
                <a:alpha val="26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207" name="" descr="{&quot;isTemplate&quot;:true,&quot;type&quot;:&quot;text&quot;}"/>
          <p:cNvSpPr txBox="1"/>
          <p:nvPr/>
        </p:nvSpPr>
        <p:spPr>
          <a:xfrm rot="0" flipH="0" flipV="0">
            <a:off x="3295650" y="1771650"/>
            <a:ext cx="542925" cy="1143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713" spc="75">
                <a:solidFill>
                  <a:srgbClr val="6BC8D1"/>
                </a:solidFill>
                <a:latin typeface="Consolas"/>
                <a:ea typeface="Consolas"/>
              </a:rPr>
              <a:t>T1 / MOVE</a:t>
            </a:r>
            <a:endParaRPr/>
          </a:p>
        </p:txBody>
      </p:sp>
      <p:sp>
        <p:nvSpPr>
          <p:cNvPr id="208" name="" descr="{&quot;isTemplate&quot;:true,&quot;type&quot;:&quot;text&quot;}"/>
          <p:cNvSpPr txBox="1"/>
          <p:nvPr/>
        </p:nvSpPr>
        <p:spPr>
          <a:xfrm rot="0" flipH="0" flipV="0">
            <a:off x="5067300" y="1781175"/>
            <a:ext cx="323850" cy="1047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675">
                <a:solidFill>
                  <a:srgbClr val="F2F7F8">
                    <a:alpha val="34000"/>
                  </a:srgbClr>
                </a:solidFill>
                <a:latin typeface="Consolas"/>
                <a:ea typeface="Consolas"/>
              </a:rPr>
              <a:t>端点</a:t>
            </a:r>
            <a:endParaRPr/>
          </a:p>
        </p:txBody>
      </p:sp>
      <p:sp>
        <p:nvSpPr>
          <p:cNvPr id="209" name="" descr="{&quot;isTemplate&quot;:true,&quot;type&quot;:&quot;text&quot;}"/>
          <p:cNvSpPr txBox="1"/>
          <p:nvPr/>
        </p:nvSpPr>
        <p:spPr>
          <a:xfrm rot="0" flipH="0" flipV="0">
            <a:off x="3295650" y="2019300"/>
            <a:ext cx="20955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13" b="1">
                <a:solidFill>
                  <a:srgbClr val="F2F7F8"/>
                </a:solidFill>
                <a:latin typeface="Microsoft YaHei"/>
                <a:ea typeface="Microsoft YaHei"/>
              </a:rPr>
              <a:t>Application Server</a:t>
            </a:r>
            <a:endParaRPr/>
          </a:p>
        </p:txBody>
      </p:sp>
      <p:sp>
        <p:nvSpPr>
          <p:cNvPr id="210" name="" descr="{&quot;isTemplate&quot;:true,&quot;type&quot;:&quot;text&quot;}"/>
          <p:cNvSpPr txBox="1"/>
          <p:nvPr/>
        </p:nvSpPr>
        <p:spPr>
          <a:xfrm rot="0" flipH="0" flipV="0">
            <a:off x="3295650" y="2257425"/>
            <a:ext cx="2095500" cy="2762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800" b="1">
                <a:solidFill>
                  <a:srgbClr val="6BC8D1"/>
                </a:solidFill>
                <a:latin typeface="Consolas"/>
                <a:ea typeface="Consolas"/>
              </a:rPr>
              <a:t>USER</a:t>
            </a:r>
            <a:endParaRPr/>
          </a:p>
        </p:txBody>
      </p:sp>
      <p:sp>
        <p:nvSpPr>
          <p:cNvPr id="211" name="" descr="{&quot;isTemplate&quot;:true,&quot;type&quot;:&quot;text&quot;}"/>
          <p:cNvSpPr txBox="1"/>
          <p:nvPr/>
        </p:nvSpPr>
        <p:spPr>
          <a:xfrm rot="0" flipH="0" flipV="0">
            <a:off x="3295650" y="2628900"/>
            <a:ext cx="2095500" cy="4000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5000"/>
              </a:lnSpc>
            </a:pPr>
            <a:r>
              <a:rPr lang="zh-CN" sz="788">
                <a:solidFill>
                  <a:srgbClr val="F2F7F8">
                    <a:alpha val="48000"/>
                  </a:srgbClr>
                </a:solidFill>
                <a:latin typeface="Microsoft YaHei"/>
                <a:ea typeface="Microsoft YaHei"/>
              </a:rPr>
              <a:t>应用服务访问：</a:t>
            </a:r>
            <a:r>
              <a:rPr lang="en-US" sz="788">
                <a:solidFill>
                  <a:srgbClr val="F2F7F8">
                    <a:alpha val="48000"/>
                  </a:srgbClr>
                </a:solidFill>
                <a:latin typeface="Microsoft YaHei"/>
                <a:ea typeface="Microsoft YaHei"/>
              </a:rPr>
              <a:t>WEB </a:t>
            </a:r>
            <a:r>
              <a:rPr lang="zh-CN" sz="788">
                <a:solidFill>
                  <a:srgbClr val="F2F7F8">
                    <a:alpha val="48000"/>
                  </a:srgbClr>
                </a:solidFill>
                <a:latin typeface="Microsoft YaHei"/>
                <a:ea typeface="Microsoft YaHei"/>
              </a:rPr>
              <a:t>通信允许</a:t>
            </a:r>
            <a:r>
              <a:rPr lang="en-US" sz="788">
                <a:solidFill>
                  <a:srgbClr val="F2F7F8">
                    <a:alpha val="48000"/>
                  </a:srgbClr>
                </a:solidFill>
                <a:latin typeface="Microsoft YaHei"/>
                <a:ea typeface="Microsoft YaHei"/>
              </a:rPr>
              <a:t> + </a:t>
            </a:r>
            <a:r>
              <a:rPr lang="zh-CN" sz="788">
                <a:solidFill>
                  <a:srgbClr val="F2F7F8">
                    <a:alpha val="48000"/>
                  </a:srgbClr>
                </a:solidFill>
                <a:latin typeface="Microsoft YaHei"/>
                <a:ea typeface="Microsoft YaHei"/>
              </a:rPr>
              <a:t>远程入口条件满足。</a:t>
            </a:r>
            <a:endParaRPr/>
          </a:p>
        </p:txBody>
      </p:sp>
      <p:sp>
        <p:nvSpPr>
          <p:cNvPr id="212" name=""/>
          <p:cNvSpPr/>
          <p:nvPr/>
        </p:nvSpPr>
        <p:spPr>
          <a:xfrm rot="0" flipH="0" flipV="0">
            <a:off x="3295650" y="3181350"/>
            <a:ext cx="2095500" cy="200025"/>
          </a:xfrm>
          <a:custGeom>
            <a:pathLst>
              <a:path w="220" h="21">
                <a:moveTo>
                  <a:pt x="0" y="0"/>
                </a:moveTo>
                <a:lnTo>
                  <a:pt x="220" y="0"/>
                </a:lnTo>
                <a:lnTo>
                  <a:pt x="220" y="1"/>
                </a:lnTo>
                <a:lnTo>
                  <a:pt x="0" y="1"/>
                </a:lnTo>
                <a:close/>
              </a:path>
            </a:pathLst>
          </a:custGeom>
          <a:solidFill>
            <a:srgbClr val="6BC8D1">
              <a:alpha val="18000"/>
            </a:srgbClr>
          </a:solidFill>
          <a:ln/>
        </p:spPr>
        <p:txBody>
          <a:bodyPr/>
          <a:p/>
        </p:txBody>
      </p:sp>
      <p:sp>
        <p:nvSpPr>
          <p:cNvPr id="213" name="" descr="{&quot;isTemplate&quot;:true,&quot;type&quot;:&quot;text&quot;}"/>
          <p:cNvSpPr txBox="1"/>
          <p:nvPr/>
        </p:nvSpPr>
        <p:spPr>
          <a:xfrm rot="0" flipH="0" flipV="0">
            <a:off x="3295650" y="3267075"/>
            <a:ext cx="2095500" cy="1047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675">
                <a:solidFill>
                  <a:srgbClr val="6BC8D1"/>
                </a:solidFill>
                <a:latin typeface="Consolas"/>
                <a:ea typeface="Consolas"/>
              </a:rPr>
              <a:t>CONTROL_GRANTED</a:t>
            </a:r>
            <a:endParaRPr/>
          </a:p>
        </p:txBody>
      </p:sp>
      <p:sp>
        <p:nvSpPr>
          <p:cNvPr id="214" name=""/>
          <p:cNvSpPr/>
          <p:nvPr/>
        </p:nvSpPr>
        <p:spPr>
          <a:xfrm rot="0" flipH="0" flipV="0">
            <a:off x="5753100" y="1619250"/>
            <a:ext cx="2400300" cy="1905000"/>
          </a:xfrm>
          <a:prstGeom prst="roundRect">
            <a:avLst>
              <a:gd name="adj" fmla="val 4000"/>
            </a:avLst>
          </a:prstGeom>
          <a:gradFill>
            <a:gsLst>
              <a:gs pos="0">
                <a:srgbClr val="E78172">
                  <a:alpha val="6500"/>
                </a:srgbClr>
              </a:gs>
              <a:gs pos="100000">
                <a:srgbClr val="F2F7F8">
                  <a:alpha val="2000"/>
                </a:srgbClr>
              </a:gs>
            </a:gsLst>
            <a:lin ang="3300000" scaled="1"/>
          </a:gradFill>
          <a:ln w="12700">
            <a:solidFill>
              <a:srgbClr val="E78172">
                <a:alpha val="22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215" name="" descr="{&quot;isTemplate&quot;:true,&quot;type&quot;:&quot;text&quot;}"/>
          <p:cNvSpPr txBox="1"/>
          <p:nvPr/>
        </p:nvSpPr>
        <p:spPr>
          <a:xfrm rot="0" flipH="0" flipV="0">
            <a:off x="5905500" y="1771650"/>
            <a:ext cx="771525" cy="1143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713" spc="75">
                <a:solidFill>
                  <a:srgbClr val="E78172"/>
                </a:solidFill>
                <a:latin typeface="Consolas"/>
                <a:ea typeface="Consolas"/>
              </a:rPr>
              <a:t>T2 / ESCALATE</a:t>
            </a:r>
            <a:endParaRPr/>
          </a:p>
        </p:txBody>
      </p:sp>
      <p:sp>
        <p:nvSpPr>
          <p:cNvPr id="216" name="" descr="{&quot;isTemplate&quot;:true,&quot;type&quot;:&quot;text&quot;}"/>
          <p:cNvSpPr txBox="1"/>
          <p:nvPr/>
        </p:nvSpPr>
        <p:spPr>
          <a:xfrm rot="0" flipH="0" flipV="0">
            <a:off x="7677150" y="1781175"/>
            <a:ext cx="323850" cy="1047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675">
                <a:solidFill>
                  <a:srgbClr val="F2F7F8">
                    <a:alpha val="34000"/>
                  </a:srgbClr>
                </a:solidFill>
                <a:latin typeface="Consolas"/>
                <a:ea typeface="Consolas"/>
              </a:rPr>
              <a:t>权限</a:t>
            </a:r>
            <a:endParaRPr/>
          </a:p>
        </p:txBody>
      </p:sp>
      <p:sp>
        <p:nvSpPr>
          <p:cNvPr id="217" name="" descr="{&quot;isTemplate&quot;:true,&quot;type&quot;:&quot;text&quot;}"/>
          <p:cNvSpPr txBox="1"/>
          <p:nvPr/>
        </p:nvSpPr>
        <p:spPr>
          <a:xfrm rot="0" flipH="0" flipV="0">
            <a:off x="5905500" y="2019300"/>
            <a:ext cx="20955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13" b="1">
                <a:solidFill>
                  <a:srgbClr val="F2F7F8"/>
                </a:solidFill>
                <a:latin typeface="Microsoft YaHei"/>
                <a:ea typeface="Microsoft YaHei"/>
              </a:rPr>
              <a:t>Application Server</a:t>
            </a:r>
            <a:endParaRPr/>
          </a:p>
        </p:txBody>
      </p:sp>
      <p:sp>
        <p:nvSpPr>
          <p:cNvPr id="218" name="" descr="{&quot;isTemplate&quot;:true,&quot;type&quot;:&quot;text&quot;}"/>
          <p:cNvSpPr txBox="1"/>
          <p:nvPr/>
        </p:nvSpPr>
        <p:spPr>
          <a:xfrm rot="0" flipH="0" flipV="0">
            <a:off x="5905500" y="2257425"/>
            <a:ext cx="2095500" cy="2762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800" b="1">
                <a:solidFill>
                  <a:srgbClr val="E78172"/>
                </a:solidFill>
                <a:latin typeface="Consolas"/>
                <a:ea typeface="Consolas"/>
              </a:rPr>
              <a:t>ADMIN</a:t>
            </a:r>
            <a:endParaRPr/>
          </a:p>
        </p:txBody>
      </p:sp>
      <p:sp>
        <p:nvSpPr>
          <p:cNvPr id="219" name="" descr="{&quot;isTemplate&quot;:true,&quot;type&quot;:&quot;text&quot;}"/>
          <p:cNvSpPr txBox="1"/>
          <p:nvPr/>
        </p:nvSpPr>
        <p:spPr>
          <a:xfrm rot="0" flipH="0" flipV="0">
            <a:off x="5905500" y="2628900"/>
            <a:ext cx="2095500" cy="4000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5000"/>
              </a:lnSpc>
            </a:pPr>
            <a:r>
              <a:rPr lang="zh-CN" sz="788">
                <a:solidFill>
                  <a:srgbClr val="F2F7F8">
                    <a:alpha val="48000"/>
                  </a:srgbClr>
                </a:solidFill>
                <a:latin typeface="Microsoft YaHei"/>
                <a:ea typeface="Microsoft YaHei"/>
              </a:rPr>
              <a:t>本地权限提升：具备权限变化条件，且未启用服务加固。</a:t>
            </a:r>
            <a:endParaRPr/>
          </a:p>
        </p:txBody>
      </p:sp>
      <p:sp>
        <p:nvSpPr>
          <p:cNvPr id="220" name=""/>
          <p:cNvSpPr/>
          <p:nvPr/>
        </p:nvSpPr>
        <p:spPr>
          <a:xfrm rot="0" flipH="0" flipV="0">
            <a:off x="5905500" y="3181350"/>
            <a:ext cx="2095500" cy="200025"/>
          </a:xfrm>
          <a:custGeom>
            <a:pathLst>
              <a:path w="220" h="21">
                <a:moveTo>
                  <a:pt x="0" y="0"/>
                </a:moveTo>
                <a:lnTo>
                  <a:pt x="220" y="0"/>
                </a:lnTo>
                <a:lnTo>
                  <a:pt x="220" y="1"/>
                </a:lnTo>
                <a:lnTo>
                  <a:pt x="0" y="1"/>
                </a:lnTo>
                <a:close/>
              </a:path>
            </a:pathLst>
          </a:custGeom>
          <a:solidFill>
            <a:srgbClr val="E78172">
              <a:alpha val="18000"/>
            </a:srgbClr>
          </a:solidFill>
          <a:ln/>
        </p:spPr>
        <p:txBody>
          <a:bodyPr/>
          <a:p/>
        </p:txBody>
      </p:sp>
      <p:sp>
        <p:nvSpPr>
          <p:cNvPr id="221" name="" descr="{&quot;isTemplate&quot;:true,&quot;type&quot;:&quot;text&quot;}"/>
          <p:cNvSpPr txBox="1"/>
          <p:nvPr/>
        </p:nvSpPr>
        <p:spPr>
          <a:xfrm rot="0" flipH="0" flipV="0">
            <a:off x="5905500" y="3267075"/>
            <a:ext cx="2095500" cy="1047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675">
                <a:solidFill>
                  <a:srgbClr val="E78172"/>
                </a:solidFill>
                <a:latin typeface="Consolas"/>
                <a:ea typeface="Consolas"/>
              </a:rPr>
              <a:t>PRIVILEGE_ESCALATED</a:t>
            </a:r>
            <a:endParaRPr/>
          </a:p>
        </p:txBody>
      </p:sp>
      <p:sp>
        <p:nvSpPr>
          <p:cNvPr id="222" name=""/>
          <p:cNvSpPr/>
          <p:nvPr/>
        </p:nvSpPr>
        <p:spPr>
          <a:xfrm rot="0" flipH="0" flipV="0">
            <a:off x="8362950" y="1619250"/>
            <a:ext cx="2400300" cy="1905000"/>
          </a:xfrm>
          <a:prstGeom prst="roundRect">
            <a:avLst>
              <a:gd name="adj" fmla="val 4000"/>
            </a:avLst>
          </a:prstGeom>
          <a:gradFill>
            <a:gsLst>
              <a:gs pos="0">
                <a:srgbClr val="E78172">
                  <a:alpha val="9000"/>
                </a:srgbClr>
              </a:gs>
              <a:gs pos="100000">
                <a:srgbClr val="F2F7F8">
                  <a:alpha val="2000"/>
                </a:srgbClr>
              </a:gs>
            </a:gsLst>
            <a:lin ang="3300000" scaled="1"/>
          </a:gradFill>
          <a:ln w="12700">
            <a:solidFill>
              <a:srgbClr val="E78172">
                <a:alpha val="30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223" name="" descr="{&quot;isTemplate&quot;:true,&quot;type&quot;:&quot;text&quot;}"/>
          <p:cNvSpPr txBox="1"/>
          <p:nvPr/>
        </p:nvSpPr>
        <p:spPr>
          <a:xfrm rot="0" flipH="0" flipV="0">
            <a:off x="8515350" y="1771650"/>
            <a:ext cx="657225" cy="1143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713" spc="75">
                <a:solidFill>
                  <a:srgbClr val="E78172"/>
                </a:solidFill>
                <a:latin typeface="Consolas"/>
                <a:ea typeface="Consolas"/>
              </a:rPr>
              <a:t>T3 / ACCESS</a:t>
            </a:r>
            <a:endParaRPr/>
          </a:p>
        </p:txBody>
      </p:sp>
      <p:sp>
        <p:nvSpPr>
          <p:cNvPr id="224" name="" descr="{&quot;isTemplate&quot;:true,&quot;type&quot;:&quot;text&quot;}"/>
          <p:cNvSpPr txBox="1"/>
          <p:nvPr/>
        </p:nvSpPr>
        <p:spPr>
          <a:xfrm rot="0" flipH="0" flipV="0">
            <a:off x="10287000" y="1781175"/>
            <a:ext cx="323850" cy="1047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675">
                <a:solidFill>
                  <a:srgbClr val="F2F7F8">
                    <a:alpha val="34000"/>
                  </a:srgbClr>
                </a:solidFill>
                <a:latin typeface="Consolas"/>
                <a:ea typeface="Consolas"/>
              </a:rPr>
              <a:t>数据</a:t>
            </a:r>
            <a:endParaRPr/>
          </a:p>
        </p:txBody>
      </p:sp>
      <p:sp>
        <p:nvSpPr>
          <p:cNvPr id="225" name="" descr="{&quot;isTemplate&quot;:true,&quot;type&quot;:&quot;text&quot;}"/>
          <p:cNvSpPr txBox="1"/>
          <p:nvPr/>
        </p:nvSpPr>
        <p:spPr>
          <a:xfrm rot="0" flipH="0" flipV="0">
            <a:off x="8515350" y="2019300"/>
            <a:ext cx="20955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13" b="1">
                <a:solidFill>
                  <a:srgbClr val="F2F7F8"/>
                </a:solidFill>
                <a:latin typeface="Microsoft YaHei"/>
                <a:ea typeface="Microsoft YaHei"/>
              </a:rPr>
              <a:t>Customer Database</a:t>
            </a:r>
            <a:endParaRPr/>
          </a:p>
        </p:txBody>
      </p:sp>
      <p:sp>
        <p:nvSpPr>
          <p:cNvPr id="226" name="" descr="{&quot;isTemplate&quot;:true,&quot;type&quot;:&quot;text&quot;}"/>
          <p:cNvSpPr txBox="1"/>
          <p:nvPr/>
        </p:nvSpPr>
        <p:spPr>
          <a:xfrm rot="0" flipH="0" flipV="0">
            <a:off x="8515350" y="2257425"/>
            <a:ext cx="20955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500" b="1">
                <a:solidFill>
                  <a:srgbClr val="E78172"/>
                </a:solidFill>
                <a:latin typeface="Consolas"/>
                <a:ea typeface="Consolas"/>
              </a:rPr>
              <a:t>DATA_ACCESS</a:t>
            </a:r>
            <a:endParaRPr/>
          </a:p>
        </p:txBody>
      </p:sp>
      <p:sp>
        <p:nvSpPr>
          <p:cNvPr id="227" name="" descr="{&quot;isTemplate&quot;:true,&quot;type&quot;:&quot;text&quot;}"/>
          <p:cNvSpPr txBox="1"/>
          <p:nvPr/>
        </p:nvSpPr>
        <p:spPr>
          <a:xfrm rot="0" flipH="0" flipV="0">
            <a:off x="8515350" y="2581275"/>
            <a:ext cx="2095500" cy="4000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5000"/>
              </a:lnSpc>
            </a:pPr>
            <a:r>
              <a:rPr lang="zh-CN" sz="788">
                <a:solidFill>
                  <a:srgbClr val="F2F7F8">
                    <a:alpha val="48000"/>
                  </a:srgbClr>
                </a:solidFill>
                <a:latin typeface="Microsoft YaHei"/>
                <a:ea typeface="Microsoft YaHei"/>
              </a:rPr>
              <a:t>数据库数据访问：需</a:t>
            </a:r>
            <a:r>
              <a:rPr lang="en-US" sz="788">
                <a:solidFill>
                  <a:srgbClr val="F2F7F8">
                    <a:alpha val="48000"/>
                  </a:srgbClr>
                </a:solidFill>
                <a:latin typeface="Microsoft YaHei"/>
                <a:ea typeface="Microsoft YaHei"/>
              </a:rPr>
              <a:t> ADMIN + </a:t>
            </a:r>
            <a:r>
              <a:rPr lang="zh-CN" sz="788">
                <a:solidFill>
                  <a:srgbClr val="F2F7F8">
                    <a:alpha val="48000"/>
                  </a:srgbClr>
                </a:solidFill>
                <a:latin typeface="Microsoft YaHei"/>
                <a:ea typeface="Microsoft YaHei"/>
              </a:rPr>
              <a:t>应用角色</a:t>
            </a:r>
            <a:r>
              <a:rPr lang="en-US" sz="788">
                <a:solidFill>
                  <a:srgbClr val="F2F7F8">
                    <a:alpha val="48000"/>
                  </a:srgbClr>
                </a:solidFill>
                <a:latin typeface="Microsoft YaHei"/>
                <a:ea typeface="Microsoft YaHei"/>
              </a:rPr>
              <a:t> + </a:t>
            </a:r>
            <a:r>
              <a:rPr lang="zh-CN" sz="788">
                <a:solidFill>
                  <a:srgbClr val="F2F7F8">
                    <a:alpha val="48000"/>
                  </a:srgbClr>
                </a:solidFill>
                <a:latin typeface="Microsoft YaHei"/>
                <a:ea typeface="Microsoft YaHei"/>
              </a:rPr>
              <a:t>数据条件</a:t>
            </a:r>
            <a:r>
              <a:rPr lang="en-US" sz="788">
                <a:solidFill>
                  <a:srgbClr val="F2F7F8">
                    <a:alpha val="48000"/>
                  </a:srgbClr>
                </a:solidFill>
                <a:latin typeface="Microsoft YaHei"/>
                <a:ea typeface="Microsoft YaHei"/>
              </a:rPr>
              <a:t> + DATABASE </a:t>
            </a:r>
            <a:r>
              <a:rPr lang="zh-CN" sz="788">
                <a:solidFill>
                  <a:srgbClr val="F2F7F8">
                    <a:alpha val="48000"/>
                  </a:srgbClr>
                </a:solidFill>
                <a:latin typeface="Microsoft YaHei"/>
                <a:ea typeface="Microsoft YaHei"/>
              </a:rPr>
              <a:t>通信。</a:t>
            </a:r>
            <a:endParaRPr/>
          </a:p>
        </p:txBody>
      </p:sp>
      <p:sp>
        <p:nvSpPr>
          <p:cNvPr id="228" name=""/>
          <p:cNvSpPr/>
          <p:nvPr/>
        </p:nvSpPr>
        <p:spPr>
          <a:xfrm rot="0" flipH="0" flipV="0">
            <a:off x="8515350" y="3181350"/>
            <a:ext cx="2095500" cy="200025"/>
          </a:xfrm>
          <a:custGeom>
            <a:pathLst>
              <a:path w="220" h="21">
                <a:moveTo>
                  <a:pt x="0" y="0"/>
                </a:moveTo>
                <a:lnTo>
                  <a:pt x="220" y="0"/>
                </a:lnTo>
                <a:lnTo>
                  <a:pt x="220" y="1"/>
                </a:lnTo>
                <a:lnTo>
                  <a:pt x="0" y="1"/>
                </a:lnTo>
                <a:close/>
              </a:path>
            </a:pathLst>
          </a:custGeom>
          <a:solidFill>
            <a:srgbClr val="E78172">
              <a:alpha val="18000"/>
            </a:srgbClr>
          </a:solidFill>
          <a:ln/>
        </p:spPr>
        <p:txBody>
          <a:bodyPr/>
          <a:p/>
        </p:txBody>
      </p:sp>
      <p:sp>
        <p:nvSpPr>
          <p:cNvPr id="229" name="" descr="{&quot;isTemplate&quot;:true,&quot;type&quot;:&quot;text&quot;}"/>
          <p:cNvSpPr txBox="1"/>
          <p:nvPr/>
        </p:nvSpPr>
        <p:spPr>
          <a:xfrm rot="0" flipH="0" flipV="0">
            <a:off x="8515350" y="3267075"/>
            <a:ext cx="2095500" cy="1047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675">
                <a:solidFill>
                  <a:srgbClr val="E78172"/>
                </a:solidFill>
                <a:latin typeface="Consolas"/>
                <a:ea typeface="Consolas"/>
              </a:rPr>
              <a:t>可被数据访问控制阻断</a:t>
            </a:r>
            <a:endParaRPr/>
          </a:p>
        </p:txBody>
      </p:sp>
      <p:sp>
        <p:nvSpPr>
          <p:cNvPr id="230" name="" descr="{&quot;isTemplate&quot;:true,&quot;type&quot;:&quot;text&quot;}"/>
          <p:cNvSpPr txBox="1"/>
          <p:nvPr/>
        </p:nvSpPr>
        <p:spPr>
          <a:xfrm rot="0" flipH="0" flipV="0">
            <a:off x="533400" y="3848100"/>
            <a:ext cx="2724150" cy="1143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713" spc="90">
                <a:solidFill>
                  <a:srgbClr val="F2F7F8">
                    <a:alpha val="42000"/>
                  </a:srgbClr>
                </a:solidFill>
                <a:latin typeface="Consolas"/>
                <a:ea typeface="Consolas"/>
              </a:rPr>
              <a:t>SEARCH BOUNDARY</a:t>
            </a:r>
            <a:endParaRPr/>
          </a:p>
        </p:txBody>
      </p:sp>
      <p:sp>
        <p:nvSpPr>
          <p:cNvPr id="231" name="" descr="{&quot;isTemplate&quot;:true,&quot;type&quot;:&quot;text&quot;}"/>
          <p:cNvSpPr txBox="1"/>
          <p:nvPr/>
        </p:nvSpPr>
        <p:spPr>
          <a:xfrm rot="0" flipH="0" flipV="0">
            <a:off x="533400" y="4000500"/>
            <a:ext cx="333375" cy="7143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4650" b="1">
                <a:solidFill>
                  <a:srgbClr val="F2F7F8"/>
                </a:solidFill>
                <a:latin typeface="Consolas"/>
                <a:ea typeface="Consolas"/>
              </a:rPr>
              <a:t>8</a:t>
            </a:r>
            <a:endParaRPr/>
          </a:p>
        </p:txBody>
      </p:sp>
      <p:sp>
        <p:nvSpPr>
          <p:cNvPr id="232" name="" descr="{&quot;isTemplate&quot;:true,&quot;type&quot;:&quot;text&quot;}"/>
          <p:cNvSpPr txBox="1"/>
          <p:nvPr/>
        </p:nvSpPr>
        <p:spPr>
          <a:xfrm rot="0" flipH="0" flipV="0">
            <a:off x="904875" y="4381500"/>
            <a:ext cx="628650" cy="2762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800">
                <a:solidFill>
                  <a:srgbClr val="F2F7F8">
                    <a:alpha val="30000"/>
                  </a:srgbClr>
                </a:solidFill>
                <a:latin typeface="Consolas"/>
                <a:ea typeface="Consolas"/>
              </a:rPr>
              <a:t>/ 160</a:t>
            </a:r>
            <a:endParaRPr/>
          </a:p>
        </p:txBody>
      </p:sp>
      <p:sp>
        <p:nvSpPr>
          <p:cNvPr id="233" name="" descr="{&quot;isTemplate&quot;:true,&quot;type&quot;:&quot;text&quot;}"/>
          <p:cNvSpPr txBox="1"/>
          <p:nvPr/>
        </p:nvSpPr>
        <p:spPr>
          <a:xfrm rot="0" flipH="0" flipV="0">
            <a:off x="533400" y="4752975"/>
            <a:ext cx="2724150" cy="1238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788">
                <a:solidFill>
                  <a:srgbClr val="F2F7F8">
                    <a:alpha val="44000"/>
                  </a:srgbClr>
                </a:solidFill>
                <a:latin typeface="Microsoft YaHei"/>
                <a:ea typeface="Microsoft YaHei"/>
              </a:rPr>
              <a:t>最大深度</a:t>
            </a:r>
            <a:r>
              <a:rPr lang="en-US" sz="788">
                <a:solidFill>
                  <a:srgbClr val="F2F7F8">
                    <a:alpha val="44000"/>
                  </a:srgbClr>
                </a:solidFill>
                <a:latin typeface="Microsoft YaHei"/>
                <a:ea typeface="Microsoft YaHei"/>
              </a:rPr>
              <a:t> / </a:t>
            </a:r>
            <a:r>
              <a:rPr lang="zh-CN" sz="788">
                <a:solidFill>
                  <a:srgbClr val="F2F7F8">
                    <a:alpha val="44000"/>
                  </a:srgbClr>
                </a:solidFill>
                <a:latin typeface="Microsoft YaHei"/>
                <a:ea typeface="Microsoft YaHei"/>
              </a:rPr>
              <a:t>状态上限</a:t>
            </a:r>
            <a:endParaRPr/>
          </a:p>
        </p:txBody>
      </p:sp>
      <p:sp>
        <p:nvSpPr>
          <p:cNvPr id="234" name=""/>
          <p:cNvSpPr/>
          <p:nvPr/>
        </p:nvSpPr>
        <p:spPr>
          <a:xfrm rot="0" flipH="0" flipV="0">
            <a:off x="533400" y="5010150"/>
            <a:ext cx="447675" cy="161925"/>
          </a:xfrm>
          <a:prstGeom prst="roundRect">
            <a:avLst>
              <a:gd name="adj" fmla="val 17647"/>
            </a:avLst>
          </a:prstGeom>
          <a:ln w="12700">
            <a:solidFill>
              <a:srgbClr val="6BC8D1">
                <a:alpha val="28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235" name="" descr="{&quot;isTemplate&quot;:true,&quot;type&quot;:&quot;text&quot;}"/>
          <p:cNvSpPr txBox="1"/>
          <p:nvPr/>
        </p:nvSpPr>
        <p:spPr>
          <a:xfrm rot="0" flipH="0" flipV="0">
            <a:off x="600075" y="5038725"/>
            <a:ext cx="314325" cy="1047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638">
                <a:solidFill>
                  <a:srgbClr val="6BC8D1"/>
                </a:solidFill>
                <a:latin typeface="Consolas"/>
                <a:ea typeface="Consolas"/>
              </a:rPr>
              <a:t>SUCCESS</a:t>
            </a:r>
            <a:endParaRPr/>
          </a:p>
        </p:txBody>
      </p:sp>
      <p:sp>
        <p:nvSpPr>
          <p:cNvPr id="236" name=""/>
          <p:cNvSpPr/>
          <p:nvPr/>
        </p:nvSpPr>
        <p:spPr>
          <a:xfrm rot="0" flipH="0" flipV="0">
            <a:off x="1038225" y="5010150"/>
            <a:ext cx="447675" cy="161925"/>
          </a:xfrm>
          <a:prstGeom prst="roundRect">
            <a:avLst>
              <a:gd name="adj" fmla="val 17647"/>
            </a:avLst>
          </a:prstGeom>
          <a:ln w="12700">
            <a:solidFill>
              <a:srgbClr val="E78172">
                <a:alpha val="30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237" name="" descr="{&quot;isTemplate&quot;:true,&quot;type&quot;:&quot;text&quot;}"/>
          <p:cNvSpPr txBox="1"/>
          <p:nvPr/>
        </p:nvSpPr>
        <p:spPr>
          <a:xfrm rot="0" flipH="0" flipV="0">
            <a:off x="1104900" y="5038725"/>
            <a:ext cx="314325" cy="1047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638">
                <a:solidFill>
                  <a:srgbClr val="E78172"/>
                </a:solidFill>
                <a:latin typeface="Consolas"/>
                <a:ea typeface="Consolas"/>
              </a:rPr>
              <a:t>BLOCKED</a:t>
            </a:r>
            <a:endParaRPr/>
          </a:p>
        </p:txBody>
      </p:sp>
      <p:sp>
        <p:nvSpPr>
          <p:cNvPr id="238" name=""/>
          <p:cNvSpPr/>
          <p:nvPr/>
        </p:nvSpPr>
        <p:spPr>
          <a:xfrm rot="0" flipH="0" flipV="0">
            <a:off x="1543050" y="5010150"/>
            <a:ext cx="314325" cy="161925"/>
          </a:xfrm>
          <a:prstGeom prst="roundRect">
            <a:avLst>
              <a:gd name="adj" fmla="val 17647"/>
            </a:avLst>
          </a:prstGeom>
          <a:ln w="12700">
            <a:solidFill>
              <a:srgbClr val="F2F7F8">
                <a:alpha val="16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239" name="" descr="{&quot;isTemplate&quot;:true,&quot;type&quot;:&quot;text&quot;}"/>
          <p:cNvSpPr txBox="1"/>
          <p:nvPr/>
        </p:nvSpPr>
        <p:spPr>
          <a:xfrm rot="0" flipH="0" flipV="0">
            <a:off x="1609725" y="5038725"/>
            <a:ext cx="180975" cy="1047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638">
                <a:solidFill>
                  <a:srgbClr val="F2F7F8">
                    <a:alpha val="50000"/>
                  </a:srgbClr>
                </a:solidFill>
                <a:latin typeface="Consolas"/>
                <a:ea typeface="Consolas"/>
              </a:rPr>
              <a:t>N.A.</a:t>
            </a:r>
            <a:endParaRPr/>
          </a:p>
        </p:txBody>
      </p:sp>
      <p:sp>
        <p:nvSpPr>
          <p:cNvPr id="240" name=""/>
          <p:cNvSpPr/>
          <p:nvPr/>
        </p:nvSpPr>
        <p:spPr>
          <a:xfrm rot="0" flipH="0" flipV="0">
            <a:off x="3714750" y="3848100"/>
            <a:ext cx="7943850" cy="1962150"/>
          </a:xfrm>
          <a:prstGeom prst="roundRect">
            <a:avLst>
              <a:gd name="adj" fmla="val 4854"/>
            </a:avLst>
          </a:prstGeom>
          <a:gradFill>
            <a:gsLst>
              <a:gs pos="0">
                <a:srgbClr val="E78172">
                  <a:alpha val="5000"/>
                </a:srgbClr>
              </a:gs>
              <a:gs pos="100000">
                <a:srgbClr val="F2F7F8">
                  <a:alpha val="2000"/>
                </a:srgbClr>
              </a:gs>
            </a:gsLst>
            <a:lin ang="3300000" scaled="1"/>
          </a:gradFill>
          <a:ln w="12700">
            <a:solidFill>
              <a:srgbClr val="E78172">
                <a:alpha val="18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241" name="" descr="{&quot;isTemplate&quot;:true,&quot;type&quot;:&quot;text&quot;}"/>
          <p:cNvSpPr txBox="1"/>
          <p:nvPr/>
        </p:nvSpPr>
        <p:spPr>
          <a:xfrm rot="0" flipH="0" flipV="0">
            <a:off x="3905250" y="4038600"/>
            <a:ext cx="756285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F2F7F8"/>
                </a:solidFill>
                <a:latin typeface="Microsoft YaHei"/>
                <a:ea typeface="Microsoft YaHei"/>
              </a:rPr>
              <a:t>为什么</a:t>
            </a:r>
            <a:r>
              <a:rPr lang="en-US" sz="1275" b="1">
                <a:solidFill>
                  <a:srgbClr val="F2F7F8"/>
                </a:solidFill>
                <a:latin typeface="Microsoft YaHei"/>
                <a:ea typeface="Microsoft YaHei"/>
              </a:rPr>
              <a:t> PC-01 </a:t>
            </a:r>
            <a:r>
              <a:rPr lang="zh-CN" sz="1275" b="1">
                <a:solidFill>
                  <a:srgbClr val="F2F7F8"/>
                </a:solidFill>
                <a:latin typeface="Microsoft YaHei"/>
                <a:ea typeface="Microsoft YaHei"/>
              </a:rPr>
              <a:t>直连数据库也不行？</a:t>
            </a:r>
            <a:endParaRPr/>
          </a:p>
        </p:txBody>
      </p:sp>
      <p:sp>
        <p:nvSpPr>
          <p:cNvPr id="242" name="" descr="{&quot;isTemplate&quot;:true,&quot;type&quot;:&quot;text&quot;}"/>
          <p:cNvSpPr txBox="1"/>
          <p:nvPr/>
        </p:nvSpPr>
        <p:spPr>
          <a:xfrm rot="0" flipH="0" flipV="0">
            <a:off x="3905250" y="4324350"/>
            <a:ext cx="7562850" cy="247650"/>
          </a:xfrm>
          <a:prstGeom prst="rect"/>
        </p:spPr>
        <p:txBody>
          <a:bodyPr wrap="none" lIns="0" tIns="0" rIns="0" bIns="0"/>
          <a:p>
            <a:pPr>
              <a:lnSpc>
                <a:spcPct val="180000"/>
              </a:lnSpc>
            </a:pPr>
            <a:r>
              <a:rPr lang="zh-CN" sz="900">
                <a:solidFill>
                  <a:srgbClr val="F2F7F8">
                    <a:alpha val="58000"/>
                  </a:srgbClr>
                </a:solidFill>
                <a:latin typeface="Microsoft YaHei"/>
                <a:ea typeface="Microsoft YaHei"/>
              </a:rPr>
              <a:t>行为来源范围只允许应用服务器；源权限、源条件、目标条件与目标安全控制要逐项检查。通信放行只是前置条件，不是状态结果。</a:t>
            </a:r>
            <a:endParaRPr/>
          </a:p>
        </p:txBody>
      </p:sp>
      <p:sp>
        <p:nvSpPr>
          <p:cNvPr id="243" name="" descr="{&quot;isTemplate&quot;:true,&quot;type&quot;:&quot;text&quot;}"/>
          <p:cNvSpPr txBox="1"/>
          <p:nvPr/>
        </p:nvSpPr>
        <p:spPr>
          <a:xfrm rot="0" flipH="0" flipV="0">
            <a:off x="3905250" y="4648200"/>
            <a:ext cx="7562850" cy="247650"/>
          </a:xfrm>
          <a:prstGeom prst="rect"/>
        </p:spPr>
        <p:txBody>
          <a:bodyPr wrap="none" lIns="0" tIns="0" rIns="0" bIns="0"/>
          <a:p>
            <a:pPr>
              <a:lnSpc>
                <a:spcPct val="180000"/>
              </a:lnSpc>
            </a:pPr>
            <a:r>
              <a:rPr lang="zh-CN" sz="900">
                <a:solidFill>
                  <a:srgbClr val="E78172">
                    <a:alpha val="82000"/>
                  </a:srgbClr>
                </a:solidFill>
                <a:latin typeface="Microsoft YaHei"/>
                <a:ea typeface="Microsoft YaHei"/>
              </a:rPr>
              <a:t>启用数据访问控制后，</a:t>
            </a:r>
            <a:r>
              <a:rPr lang="en-US" sz="900">
                <a:solidFill>
                  <a:srgbClr val="E78172">
                    <a:alpha val="82000"/>
                  </a:srgbClr>
                </a:solidFill>
                <a:latin typeface="Microsoft YaHei"/>
                <a:ea typeface="Microsoft YaHei"/>
              </a:rPr>
              <a:t>T3 </a:t>
            </a:r>
            <a:r>
              <a:rPr lang="zh-CN" sz="900">
                <a:solidFill>
                  <a:srgbClr val="E78172">
                    <a:alpha val="82000"/>
                  </a:srgbClr>
                </a:solidFill>
                <a:latin typeface="Microsoft YaHei"/>
                <a:ea typeface="Microsoft YaHei"/>
              </a:rPr>
              <a:t>记为</a:t>
            </a:r>
            <a:r>
              <a:rPr lang="en-US" sz="900">
                <a:solidFill>
                  <a:srgbClr val="E78172">
                    <a:alpha val="82000"/>
                  </a:srgbClr>
                </a:solidFill>
                <a:latin typeface="Microsoft YaHei"/>
                <a:ea typeface="Microsoft YaHei"/>
              </a:rPr>
              <a:t> BLOCKED</a:t>
            </a:r>
            <a:r>
              <a:rPr lang="zh-CN" sz="900">
                <a:solidFill>
                  <a:srgbClr val="E78172">
                    <a:alpha val="82000"/>
                  </a:srgbClr>
                </a:solidFill>
                <a:latin typeface="Microsoft YaHei"/>
                <a:ea typeface="Microsoft YaHei"/>
              </a:rPr>
              <a:t>；应用到数据库的网络通信仍然正常——这正是“保护数据”和“切断业务”的区别。</a:t>
            </a:r>
            <a:endParaRPr/>
          </a:p>
        </p:txBody>
      </p:sp>
      <p:sp>
        <p:nvSpPr>
          <p:cNvPr id="244" name=""/>
          <p:cNvSpPr/>
          <p:nvPr/>
        </p:nvSpPr>
        <p:spPr>
          <a:xfrm rot="0" flipH="0" flipV="0">
            <a:off x="3905250" y="5038725"/>
            <a:ext cx="152400" cy="9525"/>
          </a:xfrm>
          <a:prstGeom prst="rect">
            <a:avLst/>
          </a:prstGeom>
          <a:solidFill>
            <a:srgbClr val="E78172">
              <a:alpha val="50000"/>
            </a:srgbClr>
          </a:solidFill>
          <a:ln/>
        </p:spPr>
        <p:txBody>
          <a:bodyPr/>
          <a:p/>
        </p:txBody>
      </p:sp>
      <p:sp>
        <p:nvSpPr>
          <p:cNvPr id="245" name="" descr="{&quot;isTemplate&quot;:true,&quot;type&quot;:&quot;text&quot;}"/>
          <p:cNvSpPr txBox="1"/>
          <p:nvPr/>
        </p:nvSpPr>
        <p:spPr>
          <a:xfrm rot="0" flipH="0" flipV="0">
            <a:off x="4133850" y="4991100"/>
            <a:ext cx="2076450" cy="1047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675">
                <a:solidFill>
                  <a:srgbClr val="F2F7F8">
                    <a:alpha val="38000"/>
                  </a:srgbClr>
                </a:solidFill>
                <a:latin typeface="Consolas"/>
                <a:ea typeface="Consolas"/>
              </a:rPr>
              <a:t>SEARCH IS BOUNDED · INCOMPLETE IS NOT “SAFE”</a:t>
            </a:r>
            <a:endParaRPr/>
          </a:p>
        </p:txBody>
      </p:sp>
      <p:sp>
        <p:nvSpPr>
          <p:cNvPr id="246" name=""/>
          <p:cNvSpPr/>
          <p:nvPr/>
        </p:nvSpPr>
        <p:spPr>
          <a:xfrm rot="0" flipH="0" flipV="0">
            <a:off x="533400" y="6324600"/>
            <a:ext cx="11125200" cy="9525"/>
          </a:xfrm>
          <a:prstGeom prst="rect">
            <a:avLst/>
          </a:prstGeom>
          <a:solidFill>
            <a:srgbClr val="F2F7F8">
              <a:alpha val="10000"/>
            </a:srgbClr>
          </a:solidFill>
          <a:ln/>
        </p:spPr>
        <p:txBody>
          <a:bodyPr/>
          <a:p/>
        </p:txBody>
      </p:sp>
      <p:sp>
        <p:nvSpPr>
          <p:cNvPr id="247" name="" descr="{&quot;isTemplate&quot;:true,&quot;type&quot;:&quot;text&quot;}"/>
          <p:cNvSpPr txBox="1"/>
          <p:nvPr/>
        </p:nvSpPr>
        <p:spPr>
          <a:xfrm rot="0" flipH="0" flipV="0">
            <a:off x="533400" y="6457950"/>
            <a:ext cx="3248025" cy="1238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788" spc="60">
                <a:solidFill>
                  <a:srgbClr val="F2F7F8">
                    <a:alpha val="40000"/>
                  </a:srgbClr>
                </a:solidFill>
                <a:latin typeface="Consolas"/>
                <a:ea typeface="Consolas"/>
              </a:rPr>
              <a:t>智御网络</a:t>
            </a:r>
            <a:r>
              <a:rPr lang="en-US" sz="788" spc="60">
                <a:solidFill>
                  <a:srgbClr val="F2F7F8">
                    <a:alpha val="40000"/>
                  </a:srgbClr>
                </a:solidFill>
                <a:latin typeface="Consolas"/>
                <a:ea typeface="Consolas"/>
              </a:rPr>
              <a:t> · </a:t>
            </a:r>
            <a:r>
              <a:rPr lang="zh-CN" sz="788" spc="60">
                <a:solidFill>
                  <a:srgbClr val="F2F7F8">
                    <a:alpha val="40000"/>
                  </a:srgbClr>
                </a:solidFill>
                <a:latin typeface="Consolas"/>
                <a:ea typeface="Consolas"/>
              </a:rPr>
              <a:t>三维网络安全策略交互验证平台</a:t>
            </a:r>
            <a:endParaRPr/>
          </a:p>
        </p:txBody>
      </p:sp>
      <p:sp>
        <p:nvSpPr>
          <p:cNvPr id="248" name="" descr="{&quot;isTemplate&quot;:true,&quot;type&quot;:&quot;text&quot;}"/>
          <p:cNvSpPr txBox="1"/>
          <p:nvPr/>
        </p:nvSpPr>
        <p:spPr>
          <a:xfrm rot="0" flipH="0" flipV="0">
            <a:off x="11268075" y="6457950"/>
            <a:ext cx="390525" cy="1238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788">
                <a:solidFill>
                  <a:srgbClr val="F2F7F8">
                    <a:alpha val="40000"/>
                  </a:srgbClr>
                </a:solidFill>
                <a:latin typeface="Consolas"/>
                <a:ea typeface="Consolas"/>
              </a:rPr>
              <a:t>13 / 22</a:t>
            </a:r>
            <a:endParaRPr/>
          </a:p>
        </p:txBody>
      </p:sp>
    </p:spTree>
  </p:cSld>
</p:sld>
</file>

<file path=ppt/slides/slide14.xml><?xml version="1.0" encoding="utf-8"?>
<p:sld xmlns:p="http://schemas.openxmlformats.org/presentationml/2006/main" xmlns:r="http://schemas.openxmlformats.org/officeDocument/2006/relationships" xmlns:a="http://schemas.openxmlformats.org/drawingml/2006/main" xmlns:asvg="http://schemas.microsoft.com/office/drawing/2016/SVG/main" xmlns:mc="http://schemas.openxmlformats.org/markup-compatibility/2006" mc:Ignorable="asvg">
  <p:cSld>
    <p:spTree>
      <p:nvGrpSpPr>
        <p:cNvPr id="249" name="" descr="&lt;Slide style={{ width: 1280, height: 720, background: '#07111B', padding: 0, position: 'relative', overflow: 'hidden' }}&gt;&#10;    &lt;svg width={1280} height={720} viewBox='0 0 1280 720' style={{ position: 'absolute', left: 0, top: 0 }}&gt;&#10;        &lt;g stroke='rgba(242,247,248,0.022)' strokeWidth='1'&gt;&#10;            &lt;path d='M0 96H1280M0 192H1280M0 288H1280M0 384H1280M0 480H1280M0 576H1280M0 672H1280' /&gt;&#10;        &lt;/g&gt;&#10;    &lt;/svg&gt;&#10;&#10;    &lt;Box style={{ position: 'absolute', left: 56, top: 38 }}&gt;&#10;        &lt;Text style={{ fontFamily: 'Consolas', fontSize: 11, color: '#6BC8D1', letterSpacing: 1.8 }}&gt;03 / 核心机制&lt;/Text&gt;&#10;    &lt;/Box&gt;&#10;    &lt;Text style={{ position: 'absolute', left: 56, top: 62, fontFamily: 'Microsoft YaHei', fontSize: 31, fontWeight: 'bold', color: '#F2F7F8', letterSpacing: 0.5 }}&gt;从 A/B 到实验分析：结果要能读懂&lt;/Text&gt;&#10;    &lt;Text style={{ position: 'absolute', right: 56, top: 76, fontFamily: 'Consolas', fontSize: 10.5, color: 'rgba(242,247,248,0.42)' }}&gt;SAME INPUT · TWO RUNS&lt;/Text&gt;&#10;&#10;    &lt;Box style={{ position: 'absolute', left: 56, top: 140, width: 620, height: 268, padding: 18, background: 'linear-gradient(145deg, rgba(242,247,248,0.05) 0%, rgba(242,247,248,0.02) 100%)', border: '1px solid rgba(242,247,248,0.10)', borderRadius: 10 }}&gt;&#10;        &lt;Box style={{ flexDirection: 'row', justifyContent: 'space-between', alignItems: 'center' }}&gt;&#10;            &lt;Text style={{ fontFamily: 'Microsoft YaHei', fontSize: 15, fontWeight: 'bold', color: '#F2F7F8' }}&gt;A/B 对照&lt;/Text&gt;&#10;            &lt;Text style={{ fontFamily: 'Consolas', fontSize: 9, color: 'rgba(242,247,248,0.36)' }}&gt;同源重算&lt;/Text&gt;&#10;        &lt;/Box&gt;&#10;&#10;        &lt;Box style={{ marginTop: 10, flexDirection: 'row', alignItems: 'flex-end', height: 26 }}&gt;&#10;            &lt;Text style={{ width: 190, fontFamily: 'Consolas', fontSize: 9, color: 'rgba(242,247,248,0.30)' }}&gt;METRIC&lt;/Text&gt;&#10;            &lt;Box style={{ width: 150 }}&gt;&#10;                &lt;Text style={{ fontFamily: 'Consolas', fontSize: 9, color: 'rgba(242,247,248,0.40)', letterSpacing: 1 }}&gt;A / ORIGINAL&lt;/Text&gt;&#10;                &lt;Text style={{ marginTop: 1, fontFamily: 'Microsoft YaHei', fontSize: 10, color: 'rgba(242,247,248,0.44)' }}&gt;原始配置&lt;/Text&gt;&#10;            &lt;/Box&gt;&#10;            &lt;Text style={{ width: 40, textAlign: 'center', fontFamily: 'Consolas', fontSize: 12, color: 'rgba(107,200,209,0.50)' }}&gt;→&lt;/Text&gt;&#10;            &lt;Box style={{ width: 190 }}&gt;&#10;                &lt;Text style={{ fontFamily: 'Consolas', fontSize: 9, color: '#6BC8D1', letterSpacing: 1 }}&gt;B / CURRENT&lt;/Text&gt;&#10;                &lt;Text style={{ marginTop: 1, fontFamily: 'Microsoft YaHei', fontSize: 10, color: 'rgba(242,247,248,0.44)' }}&gt;当前安全策略&lt;/Text&gt;&#10;            &lt;/Box&gt;&#10;        &lt;/Box&gt;&#10;&#10;        &lt;Box style={{ marginTop: 6, flexDirection: 'row', alignItems: 'center', height: 34, borderTop: '1px solid rgba(242,247,248,0.10)' }}&gt;&#10;            &lt;Text style={{ width: 190, fontFamily: 'Microsoft YaHei', fontSize: 11, color: 'rgba(242,247,248,0.52)' }}&gt;关键数据目标&lt;/Text&gt;&#10;            &lt;Text style={{ width: 150, fontFamily: 'Microsoft YaHei', fontSize: 13, fontWeight: 'bold', color: '#E78172' }}&gt;可达&lt;/Text&gt;&#10;            &lt;Text style={{ width: 40, textAlign: 'center', fontFamily: 'Consolas', fontSize: 11, color: 'rgba(242,247,248,0.34)' }}&gt;→&lt;/Text&gt;&#10;            &lt;Text style={{ width: 190, fontFamily: 'Microsoft YaHei', fontSize: 13, fontWeight: 'bold', color: '#6BC8D1' }}&gt;受保护&lt;/Text&gt;&#10;        &lt;/Box&gt;&#10;        &lt;Box style={{ flexDirection: 'row', alignItems: 'center', height: 34, borderTop: '1px solid rgba(242,247,248,0.10)' }}&gt;&#10;            &lt;Text style={{ width: 190, fontFamily: 'Microsoft YaHei', fontSize: 11, color: 'rgba(242,247,248,0.52)' }}&gt;必要业务可达&lt;/Text&gt;&#10;            &lt;Text style={{ width: 150, fontFamily: 'Consolas', fontSize: 13, fontWeight: 'bold', color: '#F2F7F8' }}&gt;100%&lt;/Text&gt;&#10;            &lt;Text style={{ width: 40, textAlign: 'center', fontFamily: 'Consolas', fontSize: 11, color: 'rgba(242,247,248,0.34)' }}&gt;→&lt;/Text&gt;&#10;            &lt;Text style={{ width: 190, fontFamily: 'Consolas', fontSize: 13, fontWeight: 'bold', color: '#6BC8D1' }}&gt;100%&lt;/Text&gt;&#10;        &lt;/Box&gt;&#10;        &lt;Box style={{ flexDirection: 'row', alignItems: 'center', height: 34, borderTop: '1px solid rgba(242,247,248,0.10)' }}&gt;&#10;            &lt;Text style={{ width: 190, fontFamily: 'Microsoft YaHei', fontSize: 11, color: 'rgba(242,247,248,0.52)' }}&gt;代表链长度&lt;/Text&gt;&#10;            &lt;Text style={{ width: 150, fontFamily: 'Consolas', fontSize: 13, fontWeight: 'bold', color: '#F2F7F8' }}&gt;3&lt;/Text&gt;&#10;            &lt;Text style={{ width: 40, textAlign: 'center', fontFamily: 'Consolas', fontSize: 11, color: 'rgba(242,247,248,0.34)' }}&gt;→&lt;/Text&gt;&#10;            &lt;Text style={{ width: 190, fontFamily: 'Consolas', fontSize: 13, fontWeight: 'bold', color: '#F2F7F8' }}&gt;3&lt;/Text&gt;&#10;        &lt;/Box&gt;&#10;        &lt;Box style={{ flexDirection: 'row', alignItems: 'center', height: 34, borderTop: '1px solid rgba(242,247,248,0.10)' }}&gt;&#10;            &lt;Text style={{ width: 190, fontFamily: 'Microsoft YaHei', fontSize: 11, color: 'rgba(242,247,248,0.52)' }}&gt;搜索完整性&lt;/Text&gt;&#10;            &lt;Text style={{ width: 150, fontFamily: 'Microsoft YaHei', fontSize: 13, fontWeight: 'bold', color: '#F2F7F8' }}&gt;完整&lt;/Text&gt;&#10;            &lt;Text style={{ width: 40, textAlign: 'center', fontFamily: 'Consolas', fontSize: 11, color: 'rgba(242,247,248,0.34)' }}&gt;→&lt;/Text&gt;&#10;            &lt;Text style={{ width: 190, fontFamily: 'Microsoft YaHei', fontSize: 13, fontWeight: 'bold', color: '#6BC8D1' }}&gt;完整&lt;/Text&gt;&#10;        &lt;/Box&gt;&#10;        &lt;Text style={{ marginTop: 8, fontFamily: 'Microsoft YaHei', fontSize: 10.5, color: 'rgba(242,247,248,0.44)', lineHeight: 1.6 }}&gt;唯一变化：启用客户数据库的数据访问控制；应用 → 数据库的网络通信不变。&lt;/Text&gt;&#10;    &lt;/Box&gt;&#10;&#10;    &lt;Box style={{ position: 'absolute', left: 710, top: 140, width: 514 }}&gt;&#10;        &lt;Image src=&quot;assets/analysis.png&quot; style={{ width: 514, height: 206, objectFit: 'cover', borderRadius: 8, border: '1px solid rgba(107,200,209,0.20)' }} /&gt;&#10;        &lt;Box style={{ marginTop: 8, flexDirection: 'row', justifyContent: 'space-between', alignItems: 'center' }}&gt;&#10;            &lt;Text style={{ fontFamily: 'Microsoft YaHei', fontSize: 10.5, color: 'rgba(242,247,248,0.44)' }}&gt;实验分析：结论、代表链、状态分布&lt;/Text&gt;&#10;            &lt;Text style={{ fontFamily: 'Consolas', fontSize: 9, color: '#6BC8D1' }}&gt;REAL RESULT&lt;/Text&gt;&#10;        &lt;/Box&gt;&#10;    &lt;/Box&gt;&#10;&#10;    &lt;Box style={{ position: 'absolute', left: 56, top: 428, width: 1168, height: 1, background: 'rgba(242,247,248,0.10)' }} /&gt;&#10;&#10;    &lt;Box style={{ position: 'absolute', left: 56, top: 452, width: 370 }}&gt;&#10;        &lt;Text style={{ fontFamily: 'Consolas', fontSize: 26, fontWeight: 'bold', color: '#6BC8D1', lineHeight: 1 }}&gt;01&lt;/Text&gt;&#10;        &lt;Text style={{ marginTop: 10, fontFamily: 'Microsoft YaHei', fontSize: 14.5, fontWeight: 'bold', color: '#F2F7F8' }}&gt;可信基线&lt;/Text&gt;&#10;        &lt;Text style={{ marginTop: 6, fontFamily: 'Microsoft YaHei', fontSize: 11.5, color: 'rgba(242,247,248,0.54)', lineHeight: 1.7 }}&gt;只有内置场景才有原始基线；自定义场景禁用 A/B，避免“自己和自己比”的伪对照。&lt;/Text&gt;&#10;    &lt;/Box&gt;&#10;    &lt;Box style={{ position: 'absolute', left: 456, top: 452, width: 370 }}&gt;&#10;        &lt;Text style={{ fontFamily: 'Consolas', fontSize: 26, fontWeight: 'bold', color: '#6BC8D1', lineHeight: 1 }}&gt;02&lt;/Text&gt;&#10;        &lt;Text style={{ marginTop: 10, fontFamily: 'Microsoft YaHei', fontSize: 14.5, fontWeight: 'bold', color: '#F2F7F8' }}&gt;指纹失效&lt;/Text&gt;&#10;        &lt;Text style={{ marginTop: 6, fontFamily: 'Microsoft YaHei', fontSize: 11.5, color: 'rgba(242,247,248,0.54)', lineHeight: 1.7 }}&gt;拓扑、策略或安全控制一变，结果立即过期；只调整三维布局不会让计算结果失效。&lt;/Text&gt;&#10;    &lt;/Box&gt;&#10;    &lt;Box style={{ position: 'absolute', left: 856, top: 452, width: 370 }}&gt;&#10;        &lt;Text style={{ fontFamily: 'Consolas', fontSize: 26, fontWeight: 'bold', color: '#6BC8D1', lineHeight: 1 }}&gt;03&lt;/Text&gt;&#10;        &lt;Text style={{ marginTop: 10, fontFamily: 'Microsoft YaHei', fontSize: 14.5, fontWeight: 'bold', color: '#F2F7F8' }}&gt;链接与报告&lt;/Text&gt;&#10;        &lt;Text style={{ marginTop: 6, fontFamily: 'Microsoft YaHei', fontSize: 11.5, color: 'rgba(242,247,248,0.54)', lineHeight: 1.7 }}&gt;场景压缩进 URL，接收方本地重算；实验报告可一键打开打印，不依赖后端。&lt;/Text&gt;&#10;    &lt;/Box&gt;&#10;&#10;    &lt;Box style={{ position: 'absolute', left: 56, top: 572, width: 1168, paddingTop: 12, borderTop: '1px solid rgba(242,247,248,0.10)', flexDirection: 'row', alignItems: 'center', gap: 10 }}&gt;&#10;        &lt;Box style={{ width: 20, height: 1, background: '#6BC8D1' }} /&gt;&#10;        &lt;Text style={{ fontFamily: 'Microsoft YaHei', fontSize: 11.5, color: 'rgba(242,247,248,0.48)' }}&gt;A/B 解释“变了多少”，分析页解释“为什么变”；两者都引用同一轮计算结果。&lt;/Text&gt;&#10;    &lt;/Box&gt;&#10;&#10;    &lt;Box style={{ position: 'absolute', left: 56, top: 664, width: 1168, height: 1, background: 'rgba(242,247,248,0.10)' }} /&gt;&#10;    &lt;Text style={{ position: 'absolute', left: 56, top: 678, fontFamily: 'Consolas', fontSize: 10.5, color: 'rgba(242,247,248,0.40)', letterSpacing: 0.8 }}&gt;智御网络 · 三维网络安全策略交互验证平台&lt;/Text&gt;&#10;    &lt;Text style={{ position: 'absolute', right: 56, top: 678, fontFamily: 'Consolas', fontSize: 10.5, color: 'rgba(242,247,248,0.40)' }}&gt;14 / 22&lt;/Text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07111B"/>
          </a:solidFill>
          <a:ln/>
        </p:spPr>
        <p:txBody>
          <a:bodyPr/>
          <a:p/>
        </p:txBody>
      </p:sp>
      <p:pic>
        <p:nvPicPr>
          <p:cNvPr id="251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1"/>
              </a:ext>
            </a:extLst>
          </a:blip>
          <a:stretch>
            <a:fillRect/>
          </a:stretch>
        </p:blipFill>
        <p:spPr>
          <a:xfrm rot="0" flipH="0" flipV="0">
            <a:off x="0" y="0"/>
            <a:ext cx="12192000" cy="6858000"/>
          </a:xfrm>
          <a:prstGeom prst="rect">
            <a:avLst/>
          </a:prstGeom>
          <a:ln/>
        </p:spPr>
      </p:pic>
      <p:sp>
        <p:nvSpPr>
          <p:cNvPr id="252" name="" descr="{&quot;isTemplate&quot;:true,&quot;type&quot;:&quot;text&quot;}"/>
          <p:cNvSpPr txBox="1"/>
          <p:nvPr/>
        </p:nvSpPr>
        <p:spPr>
          <a:xfrm rot="0" flipH="0" flipV="0">
            <a:off x="533400" y="361950"/>
            <a:ext cx="1095375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825" spc="135">
                <a:solidFill>
                  <a:srgbClr val="6BC8D1"/>
                </a:solidFill>
                <a:latin typeface="Consolas"/>
                <a:ea typeface="Consolas"/>
              </a:rPr>
              <a:t>03 / </a:t>
            </a:r>
            <a:r>
              <a:rPr lang="zh-CN" sz="825" spc="135">
                <a:solidFill>
                  <a:srgbClr val="6BC8D1"/>
                </a:solidFill>
                <a:latin typeface="Consolas"/>
                <a:ea typeface="Consolas"/>
              </a:rPr>
              <a:t>核心机制</a:t>
            </a:r>
            <a:endParaRPr/>
          </a:p>
        </p:txBody>
      </p:sp>
      <p:sp>
        <p:nvSpPr>
          <p:cNvPr id="253" name="" descr="{&quot;isTemplate&quot;:true,&quot;type&quot;:&quot;text&quot;}"/>
          <p:cNvSpPr txBox="1"/>
          <p:nvPr/>
        </p:nvSpPr>
        <p:spPr>
          <a:xfrm rot="0" flipH="0" flipV="0">
            <a:off x="533400" y="590550"/>
            <a:ext cx="4667250" cy="3619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325" b="1" spc="38">
                <a:solidFill>
                  <a:srgbClr val="F2F7F8"/>
                </a:solidFill>
                <a:latin typeface="Microsoft YaHei"/>
                <a:ea typeface="Microsoft YaHei"/>
              </a:rPr>
              <a:t>从</a:t>
            </a:r>
            <a:r>
              <a:rPr lang="en-US" sz="2325" b="1" spc="38">
                <a:solidFill>
                  <a:srgbClr val="F2F7F8"/>
                </a:solidFill>
                <a:latin typeface="Microsoft YaHei"/>
                <a:ea typeface="Microsoft YaHei"/>
              </a:rPr>
              <a:t> A/B </a:t>
            </a:r>
            <a:r>
              <a:rPr lang="zh-CN" sz="2325" b="1" spc="38">
                <a:solidFill>
                  <a:srgbClr val="F2F7F8"/>
                </a:solidFill>
                <a:latin typeface="Microsoft YaHei"/>
                <a:ea typeface="Microsoft YaHei"/>
              </a:rPr>
              <a:t>到实验分析：结果要能读懂</a:t>
            </a:r>
            <a:endParaRPr/>
          </a:p>
        </p:txBody>
      </p:sp>
      <p:sp>
        <p:nvSpPr>
          <p:cNvPr id="254" name="" descr="{&quot;isTemplate&quot;:true,&quot;type&quot;:&quot;text&quot;}"/>
          <p:cNvSpPr txBox="1"/>
          <p:nvPr/>
        </p:nvSpPr>
        <p:spPr>
          <a:xfrm rot="0" flipH="0" flipV="0">
            <a:off x="10496550" y="723900"/>
            <a:ext cx="1162050" cy="1238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788">
                <a:solidFill>
                  <a:srgbClr val="F2F7F8">
                    <a:alpha val="42000"/>
                  </a:srgbClr>
                </a:solidFill>
                <a:latin typeface="Consolas"/>
                <a:ea typeface="Consolas"/>
              </a:rPr>
              <a:t>SAME INPUT · TWO RUNS</a:t>
            </a:r>
            <a:endParaRPr/>
          </a:p>
        </p:txBody>
      </p:sp>
      <p:sp>
        <p:nvSpPr>
          <p:cNvPr id="255" name=""/>
          <p:cNvSpPr/>
          <p:nvPr/>
        </p:nvSpPr>
        <p:spPr>
          <a:xfrm rot="0" flipH="0" flipV="0">
            <a:off x="533400" y="1333500"/>
            <a:ext cx="5905500" cy="2552700"/>
          </a:xfrm>
          <a:prstGeom prst="roundRect">
            <a:avLst>
              <a:gd name="adj" fmla="val 3731"/>
            </a:avLst>
          </a:prstGeom>
          <a:gradFill>
            <a:gsLst>
              <a:gs pos="0">
                <a:srgbClr val="F2F7F8">
                  <a:alpha val="5000"/>
                </a:srgbClr>
              </a:gs>
              <a:gs pos="100000">
                <a:srgbClr val="F2F7F8">
                  <a:alpha val="2000"/>
                </a:srgbClr>
              </a:gs>
            </a:gsLst>
            <a:lin ang="3300000" scaled="1"/>
          </a:gradFill>
          <a:ln w="12700">
            <a:solidFill>
              <a:srgbClr val="F2F7F8">
                <a:alpha val="10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256" name="" descr="{&quot;isTemplate&quot;:true,&quot;type&quot;:&quot;text&quot;}"/>
          <p:cNvSpPr txBox="1"/>
          <p:nvPr/>
        </p:nvSpPr>
        <p:spPr>
          <a:xfrm rot="0" flipH="0" flipV="0">
            <a:off x="704850" y="1504950"/>
            <a:ext cx="6096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 b="1">
                <a:solidFill>
                  <a:srgbClr val="F2F7F8"/>
                </a:solidFill>
                <a:latin typeface="Microsoft YaHei"/>
                <a:ea typeface="Microsoft YaHei"/>
              </a:rPr>
              <a:t>A/B </a:t>
            </a:r>
            <a:r>
              <a:rPr lang="zh-CN" sz="1125" b="1">
                <a:solidFill>
                  <a:srgbClr val="F2F7F8"/>
                </a:solidFill>
                <a:latin typeface="Microsoft YaHei"/>
                <a:ea typeface="Microsoft YaHei"/>
              </a:rPr>
              <a:t>对照</a:t>
            </a:r>
            <a:endParaRPr/>
          </a:p>
        </p:txBody>
      </p:sp>
      <p:sp>
        <p:nvSpPr>
          <p:cNvPr id="257" name="" descr="{&quot;isTemplate&quot;:true,&quot;type&quot;:&quot;text&quot;}"/>
          <p:cNvSpPr txBox="1"/>
          <p:nvPr/>
        </p:nvSpPr>
        <p:spPr>
          <a:xfrm rot="0" flipH="0" flipV="0">
            <a:off x="5619750" y="1543050"/>
            <a:ext cx="647700" cy="1047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675">
                <a:solidFill>
                  <a:srgbClr val="F2F7F8">
                    <a:alpha val="36000"/>
                  </a:srgbClr>
                </a:solidFill>
                <a:latin typeface="Consolas"/>
                <a:ea typeface="Consolas"/>
              </a:rPr>
              <a:t>同源重算</a:t>
            </a:r>
            <a:endParaRPr/>
          </a:p>
        </p:txBody>
      </p:sp>
      <p:sp>
        <p:nvSpPr>
          <p:cNvPr id="258" name="" descr="{&quot;isTemplate&quot;:true,&quot;type&quot;:&quot;text&quot;}"/>
          <p:cNvSpPr txBox="1"/>
          <p:nvPr/>
        </p:nvSpPr>
        <p:spPr>
          <a:xfrm rot="0" flipH="0" flipV="0">
            <a:off x="704850" y="1914525"/>
            <a:ext cx="1809750" cy="1047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675">
                <a:solidFill>
                  <a:srgbClr val="F2F7F8">
                    <a:alpha val="30000"/>
                  </a:srgbClr>
                </a:solidFill>
                <a:latin typeface="Consolas"/>
                <a:ea typeface="Consolas"/>
              </a:rPr>
              <a:t>METRIC</a:t>
            </a:r>
            <a:endParaRPr/>
          </a:p>
        </p:txBody>
      </p:sp>
      <p:sp>
        <p:nvSpPr>
          <p:cNvPr id="259" name="" descr="{&quot;isTemplate&quot;:true,&quot;type&quot;:&quot;text&quot;}"/>
          <p:cNvSpPr txBox="1"/>
          <p:nvPr/>
        </p:nvSpPr>
        <p:spPr>
          <a:xfrm rot="0" flipH="0" flipV="0">
            <a:off x="2514600" y="1790700"/>
            <a:ext cx="1428750" cy="1047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675" spc="75">
                <a:solidFill>
                  <a:srgbClr val="F2F7F8">
                    <a:alpha val="40000"/>
                  </a:srgbClr>
                </a:solidFill>
                <a:latin typeface="Consolas"/>
                <a:ea typeface="Consolas"/>
              </a:rPr>
              <a:t>A / ORIGINAL</a:t>
            </a:r>
            <a:endParaRPr/>
          </a:p>
        </p:txBody>
      </p:sp>
      <p:sp>
        <p:nvSpPr>
          <p:cNvPr id="260" name="" descr="{&quot;isTemplate&quot;:true,&quot;type&quot;:&quot;text&quot;}"/>
          <p:cNvSpPr txBox="1"/>
          <p:nvPr/>
        </p:nvSpPr>
        <p:spPr>
          <a:xfrm rot="0" flipH="0" flipV="0">
            <a:off x="2514600" y="1905000"/>
            <a:ext cx="1428750" cy="1143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750">
                <a:solidFill>
                  <a:srgbClr val="F2F7F8">
                    <a:alpha val="44000"/>
                  </a:srgbClr>
                </a:solidFill>
                <a:latin typeface="Microsoft YaHei"/>
                <a:ea typeface="Microsoft YaHei"/>
              </a:rPr>
              <a:t>原始配置</a:t>
            </a:r>
            <a:endParaRPr/>
          </a:p>
        </p:txBody>
      </p:sp>
      <p:sp>
        <p:nvSpPr>
          <p:cNvPr id="261" name="" descr="{&quot;isTemplate&quot;:true,&quot;type&quot;:&quot;text&quot;}"/>
          <p:cNvSpPr txBox="1"/>
          <p:nvPr/>
        </p:nvSpPr>
        <p:spPr>
          <a:xfrm rot="0" flipH="0" flipV="0">
            <a:off x="3943350" y="1876425"/>
            <a:ext cx="381000" cy="142875"/>
          </a:xfrm>
          <a:prstGeom prst="rect"/>
        </p:spPr>
        <p:txBody>
          <a:bodyPr wrap="none" lIns="0" tIns="0" rIns="0" bIns="0"/>
          <a:p>
            <a:pPr algn="ctr">
              <a:lnSpc>
                <a:spcPct val="100000"/>
              </a:lnSpc>
            </a:pPr>
            <a:r>
              <a:rPr sz="900">
                <a:solidFill>
                  <a:srgbClr val="6BC8D1">
                    <a:alpha val="50000"/>
                  </a:srgbClr>
                </a:solidFill>
                <a:latin typeface="Consolas"/>
                <a:ea typeface="Consolas"/>
              </a:rPr>
              <a:t>→</a:t>
            </a:r>
            <a:endParaRPr/>
          </a:p>
        </p:txBody>
      </p:sp>
      <p:sp>
        <p:nvSpPr>
          <p:cNvPr id="262" name="" descr="{&quot;isTemplate&quot;:true,&quot;type&quot;:&quot;text&quot;}"/>
          <p:cNvSpPr txBox="1"/>
          <p:nvPr/>
        </p:nvSpPr>
        <p:spPr>
          <a:xfrm rot="0" flipH="0" flipV="0">
            <a:off x="4324350" y="1790700"/>
            <a:ext cx="1809750" cy="1047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675" spc="75">
                <a:solidFill>
                  <a:srgbClr val="6BC8D1"/>
                </a:solidFill>
                <a:latin typeface="Consolas"/>
                <a:ea typeface="Consolas"/>
              </a:rPr>
              <a:t>B / CURRENT</a:t>
            </a:r>
            <a:endParaRPr/>
          </a:p>
        </p:txBody>
      </p:sp>
      <p:sp>
        <p:nvSpPr>
          <p:cNvPr id="263" name="" descr="{&quot;isTemplate&quot;:true,&quot;type&quot;:&quot;text&quot;}"/>
          <p:cNvSpPr txBox="1"/>
          <p:nvPr/>
        </p:nvSpPr>
        <p:spPr>
          <a:xfrm rot="0" flipH="0" flipV="0">
            <a:off x="4324350" y="1905000"/>
            <a:ext cx="1809750" cy="1143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750">
                <a:solidFill>
                  <a:srgbClr val="F2F7F8">
                    <a:alpha val="44000"/>
                  </a:srgbClr>
                </a:solidFill>
                <a:latin typeface="Microsoft YaHei"/>
                <a:ea typeface="Microsoft YaHei"/>
              </a:rPr>
              <a:t>当前安全策略</a:t>
            </a:r>
            <a:endParaRPr/>
          </a:p>
        </p:txBody>
      </p:sp>
      <p:sp>
        <p:nvSpPr>
          <p:cNvPr id="264" name=""/>
          <p:cNvSpPr/>
          <p:nvPr/>
        </p:nvSpPr>
        <p:spPr>
          <a:xfrm rot="0" flipH="0" flipV="0">
            <a:off x="704850" y="2076450"/>
            <a:ext cx="5562600" cy="323850"/>
          </a:xfrm>
          <a:custGeom>
            <a:pathLst>
              <a:path w="584" h="34">
                <a:moveTo>
                  <a:pt x="0" y="0"/>
                </a:moveTo>
                <a:lnTo>
                  <a:pt x="584" y="0"/>
                </a:lnTo>
                <a:lnTo>
                  <a:pt x="584" y="1"/>
                </a:lnTo>
                <a:lnTo>
                  <a:pt x="0" y="1"/>
                </a:lnTo>
                <a:close/>
              </a:path>
            </a:pathLst>
          </a:custGeom>
          <a:solidFill>
            <a:srgbClr val="F2F7F8">
              <a:alpha val="10000"/>
            </a:srgbClr>
          </a:solidFill>
          <a:ln/>
        </p:spPr>
        <p:txBody>
          <a:bodyPr/>
          <a:p/>
        </p:txBody>
      </p:sp>
      <p:sp>
        <p:nvSpPr>
          <p:cNvPr id="265" name="" descr="{&quot;isTemplate&quot;:true,&quot;type&quot;:&quot;text&quot;}"/>
          <p:cNvSpPr txBox="1"/>
          <p:nvPr/>
        </p:nvSpPr>
        <p:spPr>
          <a:xfrm rot="0" flipH="0" flipV="0">
            <a:off x="704850" y="2181225"/>
            <a:ext cx="1809750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825">
                <a:solidFill>
                  <a:srgbClr val="F2F7F8">
                    <a:alpha val="52000"/>
                  </a:srgbClr>
                </a:solidFill>
                <a:latin typeface="Microsoft YaHei"/>
                <a:ea typeface="Microsoft YaHei"/>
              </a:rPr>
              <a:t>关键数据目标</a:t>
            </a:r>
            <a:endParaRPr/>
          </a:p>
        </p:txBody>
      </p:sp>
      <p:sp>
        <p:nvSpPr>
          <p:cNvPr id="266" name="" descr="{&quot;isTemplate&quot;:true,&quot;type&quot;:&quot;text&quot;}"/>
          <p:cNvSpPr txBox="1"/>
          <p:nvPr/>
        </p:nvSpPr>
        <p:spPr>
          <a:xfrm rot="0" flipH="0" flipV="0">
            <a:off x="2514600" y="2171700"/>
            <a:ext cx="142875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 b="1">
                <a:solidFill>
                  <a:srgbClr val="E78172"/>
                </a:solidFill>
                <a:latin typeface="Microsoft YaHei"/>
                <a:ea typeface="Microsoft YaHei"/>
              </a:rPr>
              <a:t>可达</a:t>
            </a:r>
            <a:endParaRPr/>
          </a:p>
        </p:txBody>
      </p:sp>
      <p:sp>
        <p:nvSpPr>
          <p:cNvPr id="267" name="" descr="{&quot;isTemplate&quot;:true,&quot;type&quot;:&quot;text&quot;}"/>
          <p:cNvSpPr txBox="1"/>
          <p:nvPr/>
        </p:nvSpPr>
        <p:spPr>
          <a:xfrm rot="0" flipH="0" flipV="0">
            <a:off x="3943350" y="2181225"/>
            <a:ext cx="381000" cy="133350"/>
          </a:xfrm>
          <a:prstGeom prst="rect"/>
        </p:spPr>
        <p:txBody>
          <a:bodyPr wrap="none" lIns="0" tIns="0" rIns="0" bIns="0"/>
          <a:p>
            <a:pPr algn="ctr">
              <a:lnSpc>
                <a:spcPct val="100000"/>
              </a:lnSpc>
            </a:pPr>
            <a:r>
              <a:rPr sz="825">
                <a:solidFill>
                  <a:srgbClr val="F2F7F8">
                    <a:alpha val="34000"/>
                  </a:srgbClr>
                </a:solidFill>
                <a:latin typeface="Consolas"/>
                <a:ea typeface="Consolas"/>
              </a:rPr>
              <a:t>→</a:t>
            </a:r>
            <a:endParaRPr/>
          </a:p>
        </p:txBody>
      </p:sp>
      <p:sp>
        <p:nvSpPr>
          <p:cNvPr id="268" name="" descr="{&quot;isTemplate&quot;:true,&quot;type&quot;:&quot;text&quot;}"/>
          <p:cNvSpPr txBox="1"/>
          <p:nvPr/>
        </p:nvSpPr>
        <p:spPr>
          <a:xfrm rot="0" flipH="0" flipV="0">
            <a:off x="4324350" y="2171700"/>
            <a:ext cx="180975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 b="1">
                <a:solidFill>
                  <a:srgbClr val="6BC8D1"/>
                </a:solidFill>
                <a:latin typeface="Microsoft YaHei"/>
                <a:ea typeface="Microsoft YaHei"/>
              </a:rPr>
              <a:t>受保护</a:t>
            </a:r>
            <a:endParaRPr/>
          </a:p>
        </p:txBody>
      </p:sp>
      <p:sp>
        <p:nvSpPr>
          <p:cNvPr id="269" name=""/>
          <p:cNvSpPr/>
          <p:nvPr/>
        </p:nvSpPr>
        <p:spPr>
          <a:xfrm rot="0" flipH="0" flipV="0">
            <a:off x="704850" y="2400300"/>
            <a:ext cx="5562600" cy="323850"/>
          </a:xfrm>
          <a:custGeom>
            <a:pathLst>
              <a:path w="584" h="34">
                <a:moveTo>
                  <a:pt x="0" y="0"/>
                </a:moveTo>
                <a:lnTo>
                  <a:pt x="584" y="0"/>
                </a:lnTo>
                <a:lnTo>
                  <a:pt x="584" y="1"/>
                </a:lnTo>
                <a:lnTo>
                  <a:pt x="0" y="1"/>
                </a:lnTo>
                <a:close/>
              </a:path>
            </a:pathLst>
          </a:custGeom>
          <a:solidFill>
            <a:srgbClr val="F2F7F8">
              <a:alpha val="10000"/>
            </a:srgbClr>
          </a:solidFill>
          <a:ln/>
        </p:spPr>
        <p:txBody>
          <a:bodyPr/>
          <a:p/>
        </p:txBody>
      </p:sp>
      <p:sp>
        <p:nvSpPr>
          <p:cNvPr id="270" name="" descr="{&quot;isTemplate&quot;:true,&quot;type&quot;:&quot;text&quot;}"/>
          <p:cNvSpPr txBox="1"/>
          <p:nvPr/>
        </p:nvSpPr>
        <p:spPr>
          <a:xfrm rot="0" flipH="0" flipV="0">
            <a:off x="704850" y="2505075"/>
            <a:ext cx="1809750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825">
                <a:solidFill>
                  <a:srgbClr val="F2F7F8">
                    <a:alpha val="52000"/>
                  </a:srgbClr>
                </a:solidFill>
                <a:latin typeface="Microsoft YaHei"/>
                <a:ea typeface="Microsoft YaHei"/>
              </a:rPr>
              <a:t>必要业务可达</a:t>
            </a:r>
            <a:endParaRPr/>
          </a:p>
        </p:txBody>
      </p:sp>
      <p:sp>
        <p:nvSpPr>
          <p:cNvPr id="271" name="" descr="{&quot;isTemplate&quot;:true,&quot;type&quot;:&quot;text&quot;}"/>
          <p:cNvSpPr txBox="1"/>
          <p:nvPr/>
        </p:nvSpPr>
        <p:spPr>
          <a:xfrm rot="0" flipH="0" flipV="0">
            <a:off x="2514600" y="2495550"/>
            <a:ext cx="142875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 b="1">
                <a:solidFill>
                  <a:srgbClr val="F2F7F8"/>
                </a:solidFill>
                <a:latin typeface="Consolas"/>
                <a:ea typeface="Consolas"/>
              </a:rPr>
              <a:t>100%</a:t>
            </a:r>
            <a:endParaRPr/>
          </a:p>
        </p:txBody>
      </p:sp>
      <p:sp>
        <p:nvSpPr>
          <p:cNvPr id="272" name="" descr="{&quot;isTemplate&quot;:true,&quot;type&quot;:&quot;text&quot;}"/>
          <p:cNvSpPr txBox="1"/>
          <p:nvPr/>
        </p:nvSpPr>
        <p:spPr>
          <a:xfrm rot="0" flipH="0" flipV="0">
            <a:off x="3943350" y="2505075"/>
            <a:ext cx="381000" cy="133350"/>
          </a:xfrm>
          <a:prstGeom prst="rect"/>
        </p:spPr>
        <p:txBody>
          <a:bodyPr wrap="none" lIns="0" tIns="0" rIns="0" bIns="0"/>
          <a:p>
            <a:pPr algn="ctr">
              <a:lnSpc>
                <a:spcPct val="100000"/>
              </a:lnSpc>
            </a:pPr>
            <a:r>
              <a:rPr sz="825">
                <a:solidFill>
                  <a:srgbClr val="F2F7F8">
                    <a:alpha val="34000"/>
                  </a:srgbClr>
                </a:solidFill>
                <a:latin typeface="Consolas"/>
                <a:ea typeface="Consolas"/>
              </a:rPr>
              <a:t>→</a:t>
            </a:r>
            <a:endParaRPr/>
          </a:p>
        </p:txBody>
      </p:sp>
      <p:sp>
        <p:nvSpPr>
          <p:cNvPr id="273" name="" descr="{&quot;isTemplate&quot;:true,&quot;type&quot;:&quot;text&quot;}"/>
          <p:cNvSpPr txBox="1"/>
          <p:nvPr/>
        </p:nvSpPr>
        <p:spPr>
          <a:xfrm rot="0" flipH="0" flipV="0">
            <a:off x="4324350" y="2495550"/>
            <a:ext cx="180975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 b="1">
                <a:solidFill>
                  <a:srgbClr val="6BC8D1"/>
                </a:solidFill>
                <a:latin typeface="Consolas"/>
                <a:ea typeface="Consolas"/>
              </a:rPr>
              <a:t>100%</a:t>
            </a:r>
            <a:endParaRPr/>
          </a:p>
        </p:txBody>
      </p:sp>
      <p:sp>
        <p:nvSpPr>
          <p:cNvPr id="274" name=""/>
          <p:cNvSpPr/>
          <p:nvPr/>
        </p:nvSpPr>
        <p:spPr>
          <a:xfrm rot="0" flipH="0" flipV="0">
            <a:off x="704850" y="2724150"/>
            <a:ext cx="5562600" cy="323850"/>
          </a:xfrm>
          <a:custGeom>
            <a:pathLst>
              <a:path w="584" h="34">
                <a:moveTo>
                  <a:pt x="0" y="0"/>
                </a:moveTo>
                <a:lnTo>
                  <a:pt x="584" y="0"/>
                </a:lnTo>
                <a:lnTo>
                  <a:pt x="584" y="1"/>
                </a:lnTo>
                <a:lnTo>
                  <a:pt x="0" y="1"/>
                </a:lnTo>
                <a:close/>
              </a:path>
            </a:pathLst>
          </a:custGeom>
          <a:solidFill>
            <a:srgbClr val="F2F7F8">
              <a:alpha val="10000"/>
            </a:srgbClr>
          </a:solidFill>
          <a:ln/>
        </p:spPr>
        <p:txBody>
          <a:bodyPr/>
          <a:p/>
        </p:txBody>
      </p:sp>
      <p:sp>
        <p:nvSpPr>
          <p:cNvPr id="275" name="" descr="{&quot;isTemplate&quot;:true,&quot;type&quot;:&quot;text&quot;}"/>
          <p:cNvSpPr txBox="1"/>
          <p:nvPr/>
        </p:nvSpPr>
        <p:spPr>
          <a:xfrm rot="0" flipH="0" flipV="0">
            <a:off x="704850" y="2828925"/>
            <a:ext cx="1809750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825">
                <a:solidFill>
                  <a:srgbClr val="F2F7F8">
                    <a:alpha val="52000"/>
                  </a:srgbClr>
                </a:solidFill>
                <a:latin typeface="Microsoft YaHei"/>
                <a:ea typeface="Microsoft YaHei"/>
              </a:rPr>
              <a:t>代表链长度</a:t>
            </a:r>
            <a:endParaRPr/>
          </a:p>
        </p:txBody>
      </p:sp>
      <p:sp>
        <p:nvSpPr>
          <p:cNvPr id="276" name="" descr="{&quot;isTemplate&quot;:true,&quot;type&quot;:&quot;text&quot;}"/>
          <p:cNvSpPr txBox="1"/>
          <p:nvPr/>
        </p:nvSpPr>
        <p:spPr>
          <a:xfrm rot="0" flipH="0" flipV="0">
            <a:off x="2514600" y="2819400"/>
            <a:ext cx="142875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 b="1">
                <a:solidFill>
                  <a:srgbClr val="F2F7F8"/>
                </a:solidFill>
                <a:latin typeface="Consolas"/>
                <a:ea typeface="Consolas"/>
              </a:rPr>
              <a:t>3</a:t>
            </a:r>
            <a:endParaRPr/>
          </a:p>
        </p:txBody>
      </p:sp>
      <p:sp>
        <p:nvSpPr>
          <p:cNvPr id="277" name="" descr="{&quot;isTemplate&quot;:true,&quot;type&quot;:&quot;text&quot;}"/>
          <p:cNvSpPr txBox="1"/>
          <p:nvPr/>
        </p:nvSpPr>
        <p:spPr>
          <a:xfrm rot="0" flipH="0" flipV="0">
            <a:off x="3943350" y="2828925"/>
            <a:ext cx="381000" cy="133350"/>
          </a:xfrm>
          <a:prstGeom prst="rect"/>
        </p:spPr>
        <p:txBody>
          <a:bodyPr wrap="none" lIns="0" tIns="0" rIns="0" bIns="0"/>
          <a:p>
            <a:pPr algn="ctr">
              <a:lnSpc>
                <a:spcPct val="100000"/>
              </a:lnSpc>
            </a:pPr>
            <a:r>
              <a:rPr sz="825">
                <a:solidFill>
                  <a:srgbClr val="F2F7F8">
                    <a:alpha val="34000"/>
                  </a:srgbClr>
                </a:solidFill>
                <a:latin typeface="Consolas"/>
                <a:ea typeface="Consolas"/>
              </a:rPr>
              <a:t>→</a:t>
            </a:r>
            <a:endParaRPr/>
          </a:p>
        </p:txBody>
      </p:sp>
      <p:sp>
        <p:nvSpPr>
          <p:cNvPr id="278" name="" descr="{&quot;isTemplate&quot;:true,&quot;type&quot;:&quot;text&quot;}"/>
          <p:cNvSpPr txBox="1"/>
          <p:nvPr/>
        </p:nvSpPr>
        <p:spPr>
          <a:xfrm rot="0" flipH="0" flipV="0">
            <a:off x="4324350" y="2819400"/>
            <a:ext cx="180975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 b="1">
                <a:solidFill>
                  <a:srgbClr val="F2F7F8"/>
                </a:solidFill>
                <a:latin typeface="Consolas"/>
                <a:ea typeface="Consolas"/>
              </a:rPr>
              <a:t>3</a:t>
            </a:r>
            <a:endParaRPr/>
          </a:p>
        </p:txBody>
      </p:sp>
      <p:sp>
        <p:nvSpPr>
          <p:cNvPr id="279" name=""/>
          <p:cNvSpPr/>
          <p:nvPr/>
        </p:nvSpPr>
        <p:spPr>
          <a:xfrm rot="0" flipH="0" flipV="0">
            <a:off x="704850" y="3048000"/>
            <a:ext cx="5562600" cy="323850"/>
          </a:xfrm>
          <a:custGeom>
            <a:pathLst>
              <a:path w="584" h="34">
                <a:moveTo>
                  <a:pt x="0" y="0"/>
                </a:moveTo>
                <a:lnTo>
                  <a:pt x="584" y="0"/>
                </a:lnTo>
                <a:lnTo>
                  <a:pt x="584" y="1"/>
                </a:lnTo>
                <a:lnTo>
                  <a:pt x="0" y="1"/>
                </a:lnTo>
                <a:close/>
              </a:path>
            </a:pathLst>
          </a:custGeom>
          <a:solidFill>
            <a:srgbClr val="F2F7F8">
              <a:alpha val="10000"/>
            </a:srgbClr>
          </a:solidFill>
          <a:ln/>
        </p:spPr>
        <p:txBody>
          <a:bodyPr/>
          <a:p/>
        </p:txBody>
      </p:sp>
      <p:sp>
        <p:nvSpPr>
          <p:cNvPr id="280" name="" descr="{&quot;isTemplate&quot;:true,&quot;type&quot;:&quot;text&quot;}"/>
          <p:cNvSpPr txBox="1"/>
          <p:nvPr/>
        </p:nvSpPr>
        <p:spPr>
          <a:xfrm rot="0" flipH="0" flipV="0">
            <a:off x="704850" y="3152775"/>
            <a:ext cx="1809750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825">
                <a:solidFill>
                  <a:srgbClr val="F2F7F8">
                    <a:alpha val="52000"/>
                  </a:srgbClr>
                </a:solidFill>
                <a:latin typeface="Microsoft YaHei"/>
                <a:ea typeface="Microsoft YaHei"/>
              </a:rPr>
              <a:t>搜索完整性</a:t>
            </a:r>
            <a:endParaRPr/>
          </a:p>
        </p:txBody>
      </p:sp>
      <p:sp>
        <p:nvSpPr>
          <p:cNvPr id="281" name="" descr="{&quot;isTemplate&quot;:true,&quot;type&quot;:&quot;text&quot;}"/>
          <p:cNvSpPr txBox="1"/>
          <p:nvPr/>
        </p:nvSpPr>
        <p:spPr>
          <a:xfrm rot="0" flipH="0" flipV="0">
            <a:off x="2514600" y="3143250"/>
            <a:ext cx="142875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 b="1">
                <a:solidFill>
                  <a:srgbClr val="F2F7F8"/>
                </a:solidFill>
                <a:latin typeface="Microsoft YaHei"/>
                <a:ea typeface="Microsoft YaHei"/>
              </a:rPr>
              <a:t>完整</a:t>
            </a:r>
            <a:endParaRPr/>
          </a:p>
        </p:txBody>
      </p:sp>
      <p:sp>
        <p:nvSpPr>
          <p:cNvPr id="282" name="" descr="{&quot;isTemplate&quot;:true,&quot;type&quot;:&quot;text&quot;}"/>
          <p:cNvSpPr txBox="1"/>
          <p:nvPr/>
        </p:nvSpPr>
        <p:spPr>
          <a:xfrm rot="0" flipH="0" flipV="0">
            <a:off x="3943350" y="3152775"/>
            <a:ext cx="381000" cy="133350"/>
          </a:xfrm>
          <a:prstGeom prst="rect"/>
        </p:spPr>
        <p:txBody>
          <a:bodyPr wrap="none" lIns="0" tIns="0" rIns="0" bIns="0"/>
          <a:p>
            <a:pPr algn="ctr">
              <a:lnSpc>
                <a:spcPct val="100000"/>
              </a:lnSpc>
            </a:pPr>
            <a:r>
              <a:rPr sz="825">
                <a:solidFill>
                  <a:srgbClr val="F2F7F8">
                    <a:alpha val="34000"/>
                  </a:srgbClr>
                </a:solidFill>
                <a:latin typeface="Consolas"/>
                <a:ea typeface="Consolas"/>
              </a:rPr>
              <a:t>→</a:t>
            </a:r>
            <a:endParaRPr/>
          </a:p>
        </p:txBody>
      </p:sp>
      <p:sp>
        <p:nvSpPr>
          <p:cNvPr id="283" name="" descr="{&quot;isTemplate&quot;:true,&quot;type&quot;:&quot;text&quot;}"/>
          <p:cNvSpPr txBox="1"/>
          <p:nvPr/>
        </p:nvSpPr>
        <p:spPr>
          <a:xfrm rot="0" flipH="0" flipV="0">
            <a:off x="4324350" y="3143250"/>
            <a:ext cx="180975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 b="1">
                <a:solidFill>
                  <a:srgbClr val="6BC8D1"/>
                </a:solidFill>
                <a:latin typeface="Microsoft YaHei"/>
                <a:ea typeface="Microsoft YaHei"/>
              </a:rPr>
              <a:t>完整</a:t>
            </a:r>
            <a:endParaRPr/>
          </a:p>
        </p:txBody>
      </p:sp>
      <p:sp>
        <p:nvSpPr>
          <p:cNvPr id="284" name="" descr="{&quot;isTemplate&quot;:true,&quot;type&quot;:&quot;text&quot;}"/>
          <p:cNvSpPr txBox="1"/>
          <p:nvPr/>
        </p:nvSpPr>
        <p:spPr>
          <a:xfrm rot="0" flipH="0" flipV="0">
            <a:off x="704850" y="3448050"/>
            <a:ext cx="5562600" cy="200025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788">
                <a:solidFill>
                  <a:srgbClr val="F2F7F8">
                    <a:alpha val="44000"/>
                  </a:srgbClr>
                </a:solidFill>
                <a:latin typeface="Microsoft YaHei"/>
                <a:ea typeface="Microsoft YaHei"/>
              </a:rPr>
              <a:t>唯一变化：启用客户数据库的数据访问控制；应用</a:t>
            </a:r>
            <a:r>
              <a:rPr lang="en-US" sz="788">
                <a:solidFill>
                  <a:srgbClr val="F2F7F8">
                    <a:alpha val="44000"/>
                  </a:srgbClr>
                </a:solidFill>
                <a:latin typeface="Microsoft YaHei"/>
                <a:ea typeface="Microsoft YaHei"/>
              </a:rPr>
              <a:t> → </a:t>
            </a:r>
            <a:r>
              <a:rPr lang="zh-CN" sz="788">
                <a:solidFill>
                  <a:srgbClr val="F2F7F8">
                    <a:alpha val="44000"/>
                  </a:srgbClr>
                </a:solidFill>
                <a:latin typeface="Microsoft YaHei"/>
                <a:ea typeface="Microsoft YaHei"/>
              </a:rPr>
              <a:t>数据库的网络通信不变。</a:t>
            </a:r>
            <a:endParaRPr/>
          </a:p>
        </p:txBody>
      </p:sp>
      <p:sp>
        <p:nvSpPr>
          <p:cNvPr id="285" name=""/>
          <p:cNvSpPr/>
          <p:nvPr/>
        </p:nvSpPr>
        <p:spPr>
          <a:xfrm rot="0" flipH="0" flipV="0">
            <a:off x="6762750" y="1333500"/>
            <a:ext cx="4895850" cy="1962150"/>
          </a:xfrm>
          <a:prstGeom prst="rect">
            <a:avLst/>
          </a:prstGeom>
          <a:ln w="12700">
            <a:solidFill>
              <a:srgbClr val="6BC8D1">
                <a:alpha val="20000"/>
              </a:srgbClr>
            </a:solidFill>
            <a:prstDash val="solid"/>
          </a:ln>
        </p:spPr>
        <p:txBody>
          <a:bodyPr/>
          <a:p/>
        </p:txBody>
      </p:sp>
      <p:pic>
        <p:nvPicPr>
          <p:cNvPr id="286" name=""/>
          <p:cNvPicPr>
            <a:picLocks noChangeAspect="1"/>
          </p:cNvPicPr>
          <p:nvPr/>
        </p:nvPicPr>
        <p:blipFill>
          <a:blip r:embed="rId2"/>
          <a:srcRect l="0" t="15" r="0" b="15"/>
          <a:stretch>
            <a:fillRect/>
          </a:stretch>
        </p:blipFill>
        <p:spPr>
          <a:xfrm rot="0" flipH="0" flipV="0">
            <a:off x="6762750" y="1333500"/>
            <a:ext cx="4895850" cy="1962150"/>
          </a:xfrm>
          <a:prstGeom prst="roundRect">
            <a:avLst>
              <a:gd name="adj" fmla="val 3883"/>
            </a:avLst>
          </a:prstGeom>
          <a:ln/>
        </p:spPr>
      </p:pic>
      <p:sp>
        <p:nvSpPr>
          <p:cNvPr id="287" name="" descr="{&quot;isTemplate&quot;:true,&quot;type&quot;:&quot;text&quot;}"/>
          <p:cNvSpPr txBox="1"/>
          <p:nvPr/>
        </p:nvSpPr>
        <p:spPr>
          <a:xfrm rot="0" flipH="0" flipV="0">
            <a:off x="6762750" y="3371850"/>
            <a:ext cx="1600200" cy="1238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788">
                <a:solidFill>
                  <a:srgbClr val="F2F7F8">
                    <a:alpha val="44000"/>
                  </a:srgbClr>
                </a:solidFill>
                <a:latin typeface="Microsoft YaHei"/>
                <a:ea typeface="Microsoft YaHei"/>
              </a:rPr>
              <a:t>实验分析：结论、代表链、状态分布</a:t>
            </a:r>
            <a:endParaRPr/>
          </a:p>
        </p:txBody>
      </p:sp>
      <p:sp>
        <p:nvSpPr>
          <p:cNvPr id="288" name="" descr="{&quot;isTemplate&quot;:true,&quot;type&quot;:&quot;text&quot;}"/>
          <p:cNvSpPr txBox="1"/>
          <p:nvPr/>
        </p:nvSpPr>
        <p:spPr>
          <a:xfrm rot="0" flipH="0" flipV="0">
            <a:off x="11134725" y="3381375"/>
            <a:ext cx="523875" cy="1047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675">
                <a:solidFill>
                  <a:srgbClr val="6BC8D1"/>
                </a:solidFill>
                <a:latin typeface="Consolas"/>
                <a:ea typeface="Consolas"/>
              </a:rPr>
              <a:t>REAL RESULT</a:t>
            </a:r>
            <a:endParaRPr/>
          </a:p>
        </p:txBody>
      </p:sp>
      <p:sp>
        <p:nvSpPr>
          <p:cNvPr id="289" name=""/>
          <p:cNvSpPr/>
          <p:nvPr/>
        </p:nvSpPr>
        <p:spPr>
          <a:xfrm rot="0" flipH="0" flipV="0">
            <a:off x="533400" y="4076700"/>
            <a:ext cx="11125200" cy="9525"/>
          </a:xfrm>
          <a:prstGeom prst="rect">
            <a:avLst/>
          </a:prstGeom>
          <a:solidFill>
            <a:srgbClr val="F2F7F8">
              <a:alpha val="10000"/>
            </a:srgbClr>
          </a:solidFill>
          <a:ln/>
        </p:spPr>
        <p:txBody>
          <a:bodyPr/>
          <a:p/>
        </p:txBody>
      </p:sp>
      <p:sp>
        <p:nvSpPr>
          <p:cNvPr id="290" name="" descr="{&quot;isTemplate&quot;:true,&quot;type&quot;:&quot;text&quot;}"/>
          <p:cNvSpPr txBox="1"/>
          <p:nvPr/>
        </p:nvSpPr>
        <p:spPr>
          <a:xfrm rot="0" flipH="0" flipV="0">
            <a:off x="533400" y="4305300"/>
            <a:ext cx="3524250" cy="3048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950" b="1">
                <a:solidFill>
                  <a:srgbClr val="6BC8D1"/>
                </a:solidFill>
                <a:latin typeface="Consolas"/>
                <a:ea typeface="Consolas"/>
              </a:rPr>
              <a:t>01</a:t>
            </a:r>
            <a:endParaRPr/>
          </a:p>
        </p:txBody>
      </p:sp>
      <p:sp>
        <p:nvSpPr>
          <p:cNvPr id="291" name="" descr="{&quot;isTemplate&quot;:true,&quot;type&quot;:&quot;text&quot;}"/>
          <p:cNvSpPr txBox="1"/>
          <p:nvPr/>
        </p:nvSpPr>
        <p:spPr>
          <a:xfrm rot="0" flipH="0" flipV="0">
            <a:off x="533400" y="4705350"/>
            <a:ext cx="35242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88" b="1">
                <a:solidFill>
                  <a:srgbClr val="F2F7F8"/>
                </a:solidFill>
                <a:latin typeface="Microsoft YaHei"/>
                <a:ea typeface="Microsoft YaHei"/>
              </a:rPr>
              <a:t>可信基线</a:t>
            </a:r>
            <a:endParaRPr/>
          </a:p>
        </p:txBody>
      </p:sp>
      <p:sp>
        <p:nvSpPr>
          <p:cNvPr id="292" name="" descr="{&quot;isTemplate&quot;:true,&quot;type&quot;:&quot;text&quot;}"/>
          <p:cNvSpPr txBox="1"/>
          <p:nvPr/>
        </p:nvSpPr>
        <p:spPr>
          <a:xfrm rot="0" flipH="0" flipV="0">
            <a:off x="533400" y="4933950"/>
            <a:ext cx="3524250" cy="44767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70000"/>
              </a:lnSpc>
            </a:pPr>
            <a:r>
              <a:rPr lang="zh-CN" sz="863">
                <a:solidFill>
                  <a:srgbClr val="F2F7F8">
                    <a:alpha val="54000"/>
                  </a:srgbClr>
                </a:solidFill>
                <a:latin typeface="Microsoft YaHei"/>
                <a:ea typeface="Microsoft YaHei"/>
              </a:rPr>
              <a:t>只有内置场景才有原始基线；自定义场景禁用</a:t>
            </a:r>
            <a:r>
              <a:rPr lang="en-US" sz="863">
                <a:solidFill>
                  <a:srgbClr val="F2F7F8">
                    <a:alpha val="54000"/>
                  </a:srgbClr>
                </a:solidFill>
                <a:latin typeface="Microsoft YaHei"/>
                <a:ea typeface="Microsoft YaHei"/>
              </a:rPr>
              <a:t> A/B</a:t>
            </a:r>
            <a:r>
              <a:rPr lang="zh-CN" sz="863">
                <a:solidFill>
                  <a:srgbClr val="F2F7F8">
                    <a:alpha val="54000"/>
                  </a:srgbClr>
                </a:solidFill>
                <a:latin typeface="Microsoft YaHei"/>
                <a:ea typeface="Microsoft YaHei"/>
              </a:rPr>
              <a:t>，避免“自己和自己比”的伪对照。</a:t>
            </a:r>
            <a:endParaRPr/>
          </a:p>
        </p:txBody>
      </p:sp>
      <p:sp>
        <p:nvSpPr>
          <p:cNvPr id="293" name="" descr="{&quot;isTemplate&quot;:true,&quot;type&quot;:&quot;text&quot;}"/>
          <p:cNvSpPr txBox="1"/>
          <p:nvPr/>
        </p:nvSpPr>
        <p:spPr>
          <a:xfrm rot="0" flipH="0" flipV="0">
            <a:off x="4343400" y="4305300"/>
            <a:ext cx="3524250" cy="3048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950" b="1">
                <a:solidFill>
                  <a:srgbClr val="6BC8D1"/>
                </a:solidFill>
                <a:latin typeface="Consolas"/>
                <a:ea typeface="Consolas"/>
              </a:rPr>
              <a:t>02</a:t>
            </a:r>
            <a:endParaRPr/>
          </a:p>
        </p:txBody>
      </p:sp>
      <p:sp>
        <p:nvSpPr>
          <p:cNvPr id="294" name="" descr="{&quot;isTemplate&quot;:true,&quot;type&quot;:&quot;text&quot;}"/>
          <p:cNvSpPr txBox="1"/>
          <p:nvPr/>
        </p:nvSpPr>
        <p:spPr>
          <a:xfrm rot="0" flipH="0" flipV="0">
            <a:off x="4343400" y="4705350"/>
            <a:ext cx="35242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88" b="1">
                <a:solidFill>
                  <a:srgbClr val="F2F7F8"/>
                </a:solidFill>
                <a:latin typeface="Microsoft YaHei"/>
                <a:ea typeface="Microsoft YaHei"/>
              </a:rPr>
              <a:t>指纹失效</a:t>
            </a:r>
            <a:endParaRPr/>
          </a:p>
        </p:txBody>
      </p:sp>
      <p:sp>
        <p:nvSpPr>
          <p:cNvPr id="295" name="" descr="{&quot;isTemplate&quot;:true,&quot;type&quot;:&quot;text&quot;}"/>
          <p:cNvSpPr txBox="1"/>
          <p:nvPr/>
        </p:nvSpPr>
        <p:spPr>
          <a:xfrm rot="0" flipH="0" flipV="0">
            <a:off x="4343400" y="4933950"/>
            <a:ext cx="3524250" cy="44767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70000"/>
              </a:lnSpc>
            </a:pPr>
            <a:r>
              <a:rPr lang="zh-CN" sz="863">
                <a:solidFill>
                  <a:srgbClr val="F2F7F8">
                    <a:alpha val="54000"/>
                  </a:srgbClr>
                </a:solidFill>
                <a:latin typeface="Microsoft YaHei"/>
                <a:ea typeface="Microsoft YaHei"/>
              </a:rPr>
              <a:t>拓扑、策略或安全控制一变，结果立即过期；只调整三维布局不会让计算结果失效。</a:t>
            </a:r>
            <a:endParaRPr/>
          </a:p>
        </p:txBody>
      </p:sp>
      <p:sp>
        <p:nvSpPr>
          <p:cNvPr id="296" name="" descr="{&quot;isTemplate&quot;:true,&quot;type&quot;:&quot;text&quot;}"/>
          <p:cNvSpPr txBox="1"/>
          <p:nvPr/>
        </p:nvSpPr>
        <p:spPr>
          <a:xfrm rot="0" flipH="0" flipV="0">
            <a:off x="8153400" y="4305300"/>
            <a:ext cx="3524250" cy="3048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950" b="1">
                <a:solidFill>
                  <a:srgbClr val="6BC8D1"/>
                </a:solidFill>
                <a:latin typeface="Consolas"/>
                <a:ea typeface="Consolas"/>
              </a:rPr>
              <a:t>03</a:t>
            </a:r>
            <a:endParaRPr/>
          </a:p>
        </p:txBody>
      </p:sp>
      <p:sp>
        <p:nvSpPr>
          <p:cNvPr id="297" name="" descr="{&quot;isTemplate&quot;:true,&quot;type&quot;:&quot;text&quot;}"/>
          <p:cNvSpPr txBox="1"/>
          <p:nvPr/>
        </p:nvSpPr>
        <p:spPr>
          <a:xfrm rot="0" flipH="0" flipV="0">
            <a:off x="8153400" y="4705350"/>
            <a:ext cx="35242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88" b="1">
                <a:solidFill>
                  <a:srgbClr val="F2F7F8"/>
                </a:solidFill>
                <a:latin typeface="Microsoft YaHei"/>
                <a:ea typeface="Microsoft YaHei"/>
              </a:rPr>
              <a:t>链接与报告</a:t>
            </a:r>
            <a:endParaRPr/>
          </a:p>
        </p:txBody>
      </p:sp>
      <p:sp>
        <p:nvSpPr>
          <p:cNvPr id="298" name="" descr="{&quot;isTemplate&quot;:true,&quot;type&quot;:&quot;text&quot;}"/>
          <p:cNvSpPr txBox="1"/>
          <p:nvPr/>
        </p:nvSpPr>
        <p:spPr>
          <a:xfrm rot="0" flipH="0" flipV="0">
            <a:off x="8153400" y="4933950"/>
            <a:ext cx="3524250" cy="44767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70000"/>
              </a:lnSpc>
            </a:pPr>
            <a:r>
              <a:rPr lang="zh-CN" sz="863">
                <a:solidFill>
                  <a:srgbClr val="F2F7F8">
                    <a:alpha val="54000"/>
                  </a:srgbClr>
                </a:solidFill>
                <a:latin typeface="Microsoft YaHei"/>
                <a:ea typeface="Microsoft YaHei"/>
              </a:rPr>
              <a:t>场景压缩进</a:t>
            </a:r>
            <a:r>
              <a:rPr lang="en-US" sz="863">
                <a:solidFill>
                  <a:srgbClr val="F2F7F8">
                    <a:alpha val="54000"/>
                  </a:srgbClr>
                </a:solidFill>
                <a:latin typeface="Microsoft YaHei"/>
                <a:ea typeface="Microsoft YaHei"/>
              </a:rPr>
              <a:t> URL</a:t>
            </a:r>
            <a:r>
              <a:rPr lang="zh-CN" sz="863">
                <a:solidFill>
                  <a:srgbClr val="F2F7F8">
                    <a:alpha val="54000"/>
                  </a:srgbClr>
                </a:solidFill>
                <a:latin typeface="Microsoft YaHei"/>
                <a:ea typeface="Microsoft YaHei"/>
              </a:rPr>
              <a:t>，接收方本地重算；实验报告可一键打开打印，不依赖后端。</a:t>
            </a:r>
            <a:endParaRPr/>
          </a:p>
        </p:txBody>
      </p:sp>
      <p:sp>
        <p:nvSpPr>
          <p:cNvPr id="299" name=""/>
          <p:cNvSpPr/>
          <p:nvPr/>
        </p:nvSpPr>
        <p:spPr>
          <a:xfrm rot="0" flipH="0" flipV="0">
            <a:off x="533400" y="5448300"/>
            <a:ext cx="11125200" cy="266700"/>
          </a:xfrm>
          <a:custGeom>
            <a:pathLst>
              <a:path w="1168" h="28">
                <a:moveTo>
                  <a:pt x="0" y="0"/>
                </a:moveTo>
                <a:lnTo>
                  <a:pt x="1168" y="0"/>
                </a:lnTo>
                <a:lnTo>
                  <a:pt x="1168" y="1"/>
                </a:lnTo>
                <a:lnTo>
                  <a:pt x="0" y="1"/>
                </a:lnTo>
                <a:close/>
              </a:path>
            </a:pathLst>
          </a:custGeom>
          <a:solidFill>
            <a:srgbClr val="F2F7F8">
              <a:alpha val="10000"/>
            </a:srgbClr>
          </a:solidFill>
          <a:ln/>
        </p:spPr>
        <p:txBody>
          <a:bodyPr/>
          <a:p/>
        </p:txBody>
      </p:sp>
      <p:sp>
        <p:nvSpPr>
          <p:cNvPr id="300" name=""/>
          <p:cNvSpPr/>
          <p:nvPr/>
        </p:nvSpPr>
        <p:spPr>
          <a:xfrm rot="0" flipH="0" flipV="0">
            <a:off x="533400" y="5638800"/>
            <a:ext cx="190500" cy="9525"/>
          </a:xfrm>
          <a:prstGeom prst="rect">
            <a:avLst/>
          </a:prstGeom>
          <a:solidFill>
            <a:srgbClr val="6BC8D1"/>
          </a:solidFill>
          <a:ln/>
        </p:spPr>
        <p:txBody>
          <a:bodyPr/>
          <a:p/>
        </p:txBody>
      </p:sp>
      <p:sp>
        <p:nvSpPr>
          <p:cNvPr id="301" name="" descr="{&quot;isTemplate&quot;:true,&quot;type&quot;:&quot;text&quot;}"/>
          <p:cNvSpPr txBox="1"/>
          <p:nvPr/>
        </p:nvSpPr>
        <p:spPr>
          <a:xfrm rot="0" flipH="0" flipV="0">
            <a:off x="819150" y="5572125"/>
            <a:ext cx="3952875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863">
                <a:solidFill>
                  <a:srgbClr val="F2F7F8">
                    <a:alpha val="48000"/>
                  </a:srgbClr>
                </a:solidFill>
                <a:latin typeface="Microsoft YaHei"/>
                <a:ea typeface="Microsoft YaHei"/>
              </a:rPr>
              <a:t>A/B </a:t>
            </a:r>
            <a:r>
              <a:rPr lang="zh-CN" sz="863">
                <a:solidFill>
                  <a:srgbClr val="F2F7F8">
                    <a:alpha val="48000"/>
                  </a:srgbClr>
                </a:solidFill>
                <a:latin typeface="Microsoft YaHei"/>
                <a:ea typeface="Microsoft YaHei"/>
              </a:rPr>
              <a:t>解释“变了多少”，分析页解释“为什么变”；两者都引用同一轮计算结果。</a:t>
            </a:r>
            <a:endParaRPr/>
          </a:p>
        </p:txBody>
      </p:sp>
      <p:sp>
        <p:nvSpPr>
          <p:cNvPr id="302" name=""/>
          <p:cNvSpPr/>
          <p:nvPr/>
        </p:nvSpPr>
        <p:spPr>
          <a:xfrm rot="0" flipH="0" flipV="0">
            <a:off x="533400" y="6324600"/>
            <a:ext cx="11125200" cy="9525"/>
          </a:xfrm>
          <a:prstGeom prst="rect">
            <a:avLst/>
          </a:prstGeom>
          <a:solidFill>
            <a:srgbClr val="F2F7F8">
              <a:alpha val="10000"/>
            </a:srgbClr>
          </a:solidFill>
          <a:ln/>
        </p:spPr>
        <p:txBody>
          <a:bodyPr/>
          <a:p/>
        </p:txBody>
      </p:sp>
      <p:sp>
        <p:nvSpPr>
          <p:cNvPr id="303" name="" descr="{&quot;isTemplate&quot;:true,&quot;type&quot;:&quot;text&quot;}"/>
          <p:cNvSpPr txBox="1"/>
          <p:nvPr/>
        </p:nvSpPr>
        <p:spPr>
          <a:xfrm rot="0" flipH="0" flipV="0">
            <a:off x="533400" y="6457950"/>
            <a:ext cx="3248025" cy="1238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788" spc="60">
                <a:solidFill>
                  <a:srgbClr val="F2F7F8">
                    <a:alpha val="40000"/>
                  </a:srgbClr>
                </a:solidFill>
                <a:latin typeface="Consolas"/>
                <a:ea typeface="Consolas"/>
              </a:rPr>
              <a:t>智御网络</a:t>
            </a:r>
            <a:r>
              <a:rPr lang="en-US" sz="788" spc="60">
                <a:solidFill>
                  <a:srgbClr val="F2F7F8">
                    <a:alpha val="40000"/>
                  </a:srgbClr>
                </a:solidFill>
                <a:latin typeface="Consolas"/>
                <a:ea typeface="Consolas"/>
              </a:rPr>
              <a:t> · </a:t>
            </a:r>
            <a:r>
              <a:rPr lang="zh-CN" sz="788" spc="60">
                <a:solidFill>
                  <a:srgbClr val="F2F7F8">
                    <a:alpha val="40000"/>
                  </a:srgbClr>
                </a:solidFill>
                <a:latin typeface="Consolas"/>
                <a:ea typeface="Consolas"/>
              </a:rPr>
              <a:t>三维网络安全策略交互验证平台</a:t>
            </a:r>
            <a:endParaRPr/>
          </a:p>
        </p:txBody>
      </p:sp>
      <p:sp>
        <p:nvSpPr>
          <p:cNvPr id="304" name="" descr="{&quot;isTemplate&quot;:true,&quot;type&quot;:&quot;text&quot;}"/>
          <p:cNvSpPr txBox="1"/>
          <p:nvPr/>
        </p:nvSpPr>
        <p:spPr>
          <a:xfrm rot="0" flipH="0" flipV="0">
            <a:off x="11268075" y="6457950"/>
            <a:ext cx="390525" cy="1238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788">
                <a:solidFill>
                  <a:srgbClr val="F2F7F8">
                    <a:alpha val="40000"/>
                  </a:srgbClr>
                </a:solidFill>
                <a:latin typeface="Consolas"/>
                <a:ea typeface="Consolas"/>
              </a:rPr>
              <a:t>14 / 22</a:t>
            </a:r>
            <a:endParaRPr/>
          </a:p>
        </p:txBody>
      </p:sp>
    </p:spTree>
  </p:cSld>
</p:sld>
</file>

<file path=ppt/slides/slide15.xml><?xml version="1.0" encoding="utf-8"?>
<p:sld xmlns:p="http://schemas.openxmlformats.org/presentationml/2006/main" xmlns:r="http://schemas.openxmlformats.org/officeDocument/2006/relationships" xmlns:a="http://schemas.openxmlformats.org/drawingml/2006/main" xmlns:asvg="http://schemas.microsoft.com/office/drawing/2016/SVG/main" xmlns:mc="http://schemas.openxmlformats.org/markup-compatibility/2006" mc:Ignorable="asvg">
  <p:cSld>
    <p:spTree>
      <p:nvGrpSpPr>
        <p:cNvPr id="305" name="" descr="&lt;Slide style={{ width: 1280, height: 720, background: '#07111B', padding: 0, position: 'relative', overflow: 'hidden' }}&gt;&#13;&#10;    &lt;svg width={1280} height={720} viewBox='0 0 1280 720' style={{ position: 'absolute', left: 0, top: 0 }}&gt;&#13;&#10;        &lt;g stroke='rgba(242,247,248,0.022)' strokeWidth='1'&gt;&#13;&#10;            &lt;path d='M0 96H1280M0 192H1280M0 288H1280M0 384H1280M0 480H1280M0 576H1280M0 672H1280' /&gt;&#13;&#10;        &lt;/g&gt;&#13;&#10;        &lt;circle cx='1180' cy='120' r='250' fill='rgba(107,200,209,0.035)' /&gt;&#13;&#10;    &lt;/svg&gt;&#13;&#10;&#13;&#10;    &lt;Box style={{ position: 'absolute', left: 56, top: 38 }}&gt;&#13;&#10;        &lt;Text style={{ fontFamily: 'Consolas', fontSize: 11, color: '#6BC8D1', letterSpacing: 1.8 }}&gt;03 / 核心机制&lt;/Text&gt;&#13;&#10;    &lt;/Box&gt;&#13;&#10;    &lt;Text style={{ position: 'absolute', left: 56, top: 62, fontFamily: 'Microsoft YaHei', fontSize: 32, fontWeight: 'bold', color: '#F2F7F8', letterSpacing: 0.5 }}&gt;工程实现：纯前端、确定性、可测试&lt;/Text&gt;&#13;&#10;    &lt;Text style={{ position: 'absolute', right: 56, top: 76, fontFamily: 'Consolas', fontSize: 10.5, color: 'rgba(242,247,248,0.42)' }}&gt;VUE 3 · TYPESCRIPT · THREE.JS&lt;/Text&gt;&#13;&#10;&#13;&#10;    &lt;Box style={{ position: 'absolute', left: 56, top: 140, width: 600 }}&gt;&#13;&#10;        &lt;Text style={{ fontFamily: 'Consolas', fontSize: 9.5, color: 'rgba(242,247,248,0.42)', letterSpacing: 1.2 }}&gt;STACK / PURE FRONTEND&lt;/Text&gt;&#13;&#10;        &lt;Box style={{ marginTop: 12 }}&gt;&#13;&#10;            &lt;Box style={{ flexDirection: 'row', alignItems: 'center', height: 52, borderTop: '1px solid rgba(242,247,248,0.10)' }}&gt;&#13;&#10;                &lt;Text style={{ width: 74, fontFamily: 'Consolas', fontSize: 9.5, color: '#6BC8D1' }}&gt;APP&lt;/Text&gt;&#13;&#10;                &lt;Text style={{ width: 190, fontFamily: 'Microsoft YaHei', fontSize: 13, fontWeight: 'bold', color: '#F2F7F8' }}&gt;应用层&lt;/Text&gt;&#13;&#10;                &lt;Text style={{ width: 330, fontFamily: 'Consolas', fontSize: 10.5, color: 'rgba(242,247,248,0.54)' }}&gt;Vue 3 · TypeScript · Vite&lt;/Text&gt;&#13;&#10;            &lt;/Box&gt;&#13;&#10;            &lt;Box style={{ flexDirection: 'row', alignItems: 'center', height: 52, borderTop: '1px solid rgba(242,247,248,0.10)' }}&gt;&#13;&#10;                &lt;Text style={{ width: 74, fontFamily: 'Consolas', fontSize: 9.5, color: '#6BC8D1' }}&gt;3D&lt;/Text&gt;&#13;&#10;                &lt;Text style={{ width: 190, fontFamily: 'Microsoft YaHei', fontSize: 13, fontWeight: 'bold', color: '#F2F7F8' }}&gt;三维层&lt;/Text&gt;&#13;&#10;                &lt;Text style={{ width: 330, fontFamily: 'Consolas', fontSize: 10.5, color: 'rgba(242,247,248,0.54)' }}&gt;Three.js · WebGL · CSS2DRenderer&lt;/Text&gt;&#13;&#10;            &lt;/Box&gt;&#13;&#10;            &lt;Box style={{ flexDirection: 'row', alignItems: 'center', height: 52, borderTop: '1px solid rgba(242,247,248,0.10)' }}&gt;&#13;&#10;                &lt;Text style={{ width: 74, fontFamily: 'Consolas', fontSize: 9.5, color: '#6BC8D1' }}&gt;CHART&lt;/Text&gt;&#13;&#10;                &lt;Text style={{ width: 190, fontFamily: 'Microsoft YaHei', fontSize: 13, fontWeight: 'bold', color: '#F2F7F8' }}&gt;图表层&lt;/Text&gt;&#13;&#10;                &lt;Text style={{ width: 330, fontFamily: 'Consolas', fontSize: 10.5, color: 'rgba(242,247,248,0.54)' }}&gt;ECharts · 折线 / 环图 / 热力&lt;/Text&gt;&#13;&#10;            &lt;/Box&gt;&#13;&#10;            &lt;Box style={{ flexDirection: 'row', alignItems: 'center', height: 52, borderTop: '1px solid rgba(242,247,248,0.10)' }}&gt;&#13;&#10;                &lt;Text style={{ width: 74, fontFamily: 'Consolas', fontSize: 9.5, color: '#6BC8D1' }}&gt;STATE&lt;/Text&gt;&#13;&#10;                &lt;Text style={{ width: 190, fontFamily: 'Microsoft YaHei', fontSize: 13, fontWeight: 'bold', color: '#F2F7F8' }}&gt;状态层&lt;/Text&gt;&#13;&#10;                &lt;Text style={{ width: 330, fontFamily: 'Consolas', fontSize: 10.5, color: 'rgba(242,247,248,0.54)' }}&gt;Pinia · Vue Router · localStorage&lt;/Text&gt;&#13;&#10;            &lt;/Box&gt;&#13;&#10;            &lt;Box style={{ flexDirection: 'row', alignItems: 'center', height: 52, borderTop: '1px solid rgba(242,247,248,0.10)', borderBottom: '1px solid rgba(242,247,248,0.10)' }}&gt;&#13;&#10;                &lt;Text style={{ width: 74, fontFamily: 'Consolas', fontSize: 9.5, color: '#6BC8D1' }}&gt;TEST&lt;/Text&gt;&#13;&#10;                &lt;Text style={{ width: 190, fontFamily: 'Microsoft YaHei', fontSize: 13, fontWeight: 'bold', color: '#F2F7F8' }}&gt;质量层&lt;/Text&gt;&#13;&#10;                &lt;Text style={{ width: 330, fontFamily: 'Consolas', fontSize: 10.5, color: 'rgba(242,247,248,0.54)' }}&gt;Vitest · vue-tsc · 场景一致性校验&lt;/Text&gt;&#13;&#10;            &lt;/Box&gt;&#13;&#10;        &lt;/Box&gt;&#13;&#10;&#13;&#10;        &lt;Box style={{ marginTop: 26, flexDirection: 'row', alignItems: 'center', gap: 8 }}&gt;&#13;&#10;            &lt;Box style={{ paddingLeft: 10, paddingRight: 10, paddingTop: 6, paddingBottom: 6, border: '1px solid rgba(242,247,248,0.14)', borderRadius: 4 }}&gt;&#13;&#10;                &lt;Text style={{ fontFamily: 'Consolas', fontSize: 9.5, color: 'rgba(242,247,248,0.62)' }}&gt;UI&lt;/Text&gt;&#13;&#10;            &lt;/Box&gt;&#13;&#10;            &lt;Text style={{ fontFamily: 'Consolas', fontSize: 12, color: 'rgba(107,200,209,0.60)' }}&gt;→&lt;/Text&gt;&#13;&#10;            &lt;Box style={{ paddingLeft: 10, paddingRight: 10, paddingTop: 6, paddingBottom: 6, border: '1px solid rgba(242,247,248,0.14)', borderRadius: 4 }}&gt;&#13;&#10;                &lt;Text style={{ fontFamily: 'Consolas', fontSize: 9.5, color: 'rgba(242,247,248,0.62)' }}&gt;STORES&lt;/Text&gt;&#13;&#10;            &lt;/Box&gt;&#13;&#10;            &lt;Text style={{ fontFamily: 'Consolas', fontSize: 12, color: 'rgba(107,200,209,0.60)' }}&gt;→&lt;/Text&gt;&#13;&#10;            &lt;Box style={{ paddingLeft: 10, paddingRight: 10, paddingTop: 6, paddingBottom: 6, border: '1px solid rgba(107,200,209,0.32)', borderRadius: 4, background: 'rgba(107,200,209,0.07)' }}&gt;&#13;&#10;                &lt;Text style={{ fontFamily: 'Consolas', fontSize: 9.5, color: '#6BC8D1' }}&gt;ENGINES&lt;/Text&gt;&#13;&#10;            &lt;/Box&gt;&#13;&#10;            &lt;Text style={{ fontFamily: 'Consolas', fontSize: 12, color: 'rgba(107,200,209,0.60)' }}&gt;→&lt;/Text&gt;&#13;&#10;            &lt;Box style={{ paddingLeft: 10, paddingRight: 10, paddingTop: 6, paddingBottom: 6, border: '1px solid rgba(242,247,248,0.14)', borderRadius: 4 }}&gt;&#13;&#10;                &lt;Text style={{ fontFamily: 'Consolas', fontSize: 9.5, color: 'rgba(242,247,248,0.62)' }}&gt;TYPES&lt;/Text&gt;&#13;&#10;            &lt;/Box&gt;&#13;&#10;        &lt;/Box&gt;&#13;&#10;        &lt;Text style={{ marginTop: 10, fontFamily: 'Microsoft YaHei', fontSize: 10.5, color: 'rgba(242,247,248,0.42)', lineHeight: 1.7 }}&gt;判定逻辑全部在引擎层；界面只负责输入与呈现，可被单独测试。&lt;/Text&gt;&#13;&#10;    &lt;/Box&gt;&#13;&#10;&#13;&#10;    &lt;Box style={{ position: 'absolute', left: 704, top: 144, width: 520 }}&gt;&#13;&#10;        &lt;Box style={{ flexDirection: 'row', gap: 16 }}&gt;&#13;&#10;            &lt;Box style={{ width: 252, height: 128, padding: 14, borderTop: '2px solid #6BC8D1' }}&gt;&#13;&#10;                &lt;Text style={{ fontFamily: 'Consolas', fontSize: 50, fontWeight: 'bold', color: '#F2F7F8', lineHeight: 1 }}&gt;10,121&lt;/Text&gt;&#13;&#10;                &lt;Text style={{ marginTop: 8, fontFamily: 'Microsoft YaHei', fontSize: 11, color: 'rgba(242,247,248,0.46)' }}&gt;行源码&lt;/Text&gt;&#13;&#10;            &lt;/Box&gt;&#13;&#10;            &lt;Box style={{ width: 252, height: 128, padding: 14, borderTop: '2px solid rgba(242,247,248,0.18)' }}&gt;&#13;&#10;                &lt;Text style={{ fontFamily: 'Consolas', fontSize: 50, fontWeight: 'bold', color: '#F2F7F8', lineHeight: 1 }}&gt;07&lt;/Text&gt;&#13;&#10;                &lt;Text style={{ marginTop: 8, fontFamily: 'Microsoft YaHei', fontSize: 11, color: 'rgba(242,247,248,0.46)' }}&gt;个实验场景&lt;/Text&gt;&#13;&#10;            &lt;/Box&gt;&#13;&#10;        &lt;/Box&gt;&#13;&#10;        &lt;Box style={{ marginTop: 18, flexDirection: 'row', gap: 16 }}&gt;&#13;&#10;            &lt;Box style={{ width: 252, height: 128, padding: 14, borderTop: '2px solid #6BC8D1' }}&gt;&#13;&#10;                &lt;Text style={{ fontFamily: 'Consolas', fontSize: 50, fontWeight: 'bold', color: '#6BC8D1', lineHeight: 1 }}&gt;111&lt;/Text&gt;&#13;&#10;                &lt;Text style={{ marginTop: 8, fontFamily: 'Microsoft YaHei', fontSize: 11, color: 'rgba(242,247,248,0.46)' }}&gt;项自动化测试&lt;/Text&gt;&#13;&#10;            &lt;/Box&gt;&#13;&#10;            &lt;Box style={{ width: 252, height: 128, padding: 14, borderTop: '2px solid rgba(242,247,248,0.18)' }}&gt;&#13;&#10;                &lt;Text style={{ fontFamily: 'Consolas', fontSize: 50, fontWeight: 'bold', color: '#F2F7F8', lineHeight: 1 }}&gt;0&lt;/Text&gt;&#13;&#10;                &lt;Text style={{ marginTop: 8, fontFamily: 'Microsoft YaHei', fontSize: 11, color: 'rgba(242,247,248,0.46)' }}&gt;后端依赖&lt;/Text&gt;&#13;&#10;            &lt;/Box&gt;&#13;&#10;        &lt;/Box&gt;&#13;&#10;        &lt;Box style={{ marginTop: 20, paddingTop: 12, borderTop: '1px solid rgba(242,247,248,0.10)' }}&gt;&#13;&#10;            &lt;Text style={{ fontFamily: 'Consolas', fontSize: 9.5, color: '#6BC8D1', letterSpacing: 1 }}&gt;9 TEST FILES · ALL PASSING&lt;/Text&gt;&#13;&#10;            &lt;Text style={{ marginTop: 6, fontFamily: 'Microsoft YaHei', fontSize: 11, color: 'rgba(242,247,248,0.46)', lineHeight: 1.7 }}&gt;覆盖通信路径、状态搜索、挑战判定、场景一致性与分享编解码。&lt;/Text&gt;&#13;&#10;        &lt;/Box&gt;&#13;&#10;    &lt;/Box&gt;&#13;&#10;&#13;&#10;    &lt;Box style={{ position: 'absolute', left: 56, top: 530, width: 1168, paddingTop: 14, borderTop: '1px solid rgba(242,247,248,0.10)', flexDirection: 'row', alignItems: 'center', gap: 10 }}&gt;&#13;&#10;        &lt;Box style={{ width: 20, height: 1, background: '#6BC8D1' }} /&gt;&#13;&#10;        &lt;Text style={{ fontFamily: 'Microsoft YaHei', fontSize: 12, color: 'rgba(242,247,248,0.50)' }}&gt;纯前端不是省掉工程，而是把复杂度放进可测试、可复现的引擎；同输入，同结果。&lt;/Text&gt;&#13;&#10;    &lt;/Box&gt;&#13;&#10;    &lt;Box style={{ position: 'absolute', left: 56, top: 590, flexDirection: 'row', alignItems: 'center', gap: 18 }}&gt;&#13;&#10;        &lt;Text style={{ fontFamily: 'Consolas', fontSize: 9.5, color: 'rgba(242,247,248,0.34)' }}&gt;BUILD · npm run build&lt;/Text&gt;&#13;&#10;        &lt;Box style={{ width: 1, height: 10, background: 'rgba(242,247,248,0.14)' }} /&gt;&#13;&#10;        &lt;Text style={{ fontFamily: 'Consolas', fontSize: 9.5, color: 'rgba(242,247,248,0.34)' }}&gt;TEST · npm run test&lt;/Text&gt;&#13;&#10;        &lt;Box style={{ width: 1, height: 10, background: 'rgba(242,247,248,0.14)' }} /&gt;&#13;&#10;        &lt;Text style={{ fontFamily: 'Consolas', fontSize: 9.5, color: 'rgba(242,247,248,0.34)' }}&gt;111 / 111 PASSING&lt;/Text&gt;&#13;&#10;    &lt;/Box&gt;&#13;&#10;&#13;&#10;    &lt;Box style={{ position: 'absolute', left: 56, top: 664, width: 1168, height: 1, background: 'rgba(242,247,248,0.10)' }} /&gt;&#13;&#10;    &lt;Text style={{ position: 'absolute', left: 56, top: 678, fontFamily: 'Consolas', fontSize: 10.5, color: 'rgba(242,247,248,0.40)', letterSpacing: 0.8 }}&gt;智御网络 · 三维网络安全策略交互验证平台&lt;/Text&gt;&#13;&#10;    &lt;Text style={{ position: 'absolute', right: 56, top: 678, fontFamily: 'Consolas', fontSize: 10.5, color: 'rgba(242,247,248,0.40)' }}&gt;15 / 22&lt;/Text&gt;&#13;&#10;&lt;/Slide&gt;&#13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07111B"/>
          </a:solidFill>
          <a:ln/>
        </p:spPr>
        <p:txBody>
          <a:bodyPr/>
          <a:p/>
        </p:txBody>
      </p:sp>
      <p:pic>
        <p:nvPicPr>
          <p:cNvPr id="307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1"/>
              </a:ext>
            </a:extLst>
          </a:blip>
          <a:stretch>
            <a:fillRect/>
          </a:stretch>
        </p:blipFill>
        <p:spPr>
          <a:xfrm rot="0" flipH="0" flipV="0">
            <a:off x="0" y="0"/>
            <a:ext cx="12192000" cy="6858000"/>
          </a:xfrm>
          <a:prstGeom prst="rect">
            <a:avLst/>
          </a:prstGeom>
          <a:ln/>
        </p:spPr>
      </p:pic>
      <p:sp>
        <p:nvSpPr>
          <p:cNvPr id="308" name="" descr="{&quot;isTemplate&quot;:true,&quot;type&quot;:&quot;text&quot;}"/>
          <p:cNvSpPr txBox="1"/>
          <p:nvPr/>
        </p:nvSpPr>
        <p:spPr>
          <a:xfrm rot="0" flipH="0" flipV="0">
            <a:off x="533400" y="361950"/>
            <a:ext cx="1095375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825" spc="135">
                <a:solidFill>
                  <a:srgbClr val="6BC8D1"/>
                </a:solidFill>
                <a:latin typeface="Consolas"/>
                <a:ea typeface="Consolas"/>
              </a:rPr>
              <a:t>03 / </a:t>
            </a:r>
            <a:r>
              <a:rPr lang="zh-CN" sz="825" spc="135">
                <a:solidFill>
                  <a:srgbClr val="6BC8D1"/>
                </a:solidFill>
                <a:latin typeface="Consolas"/>
                <a:ea typeface="Consolas"/>
              </a:rPr>
              <a:t>核心机制</a:t>
            </a:r>
            <a:endParaRPr/>
          </a:p>
        </p:txBody>
      </p:sp>
      <p:sp>
        <p:nvSpPr>
          <p:cNvPr id="309" name="" descr="{&quot;isTemplate&quot;:true,&quot;type&quot;:&quot;text&quot;}"/>
          <p:cNvSpPr txBox="1"/>
          <p:nvPr/>
        </p:nvSpPr>
        <p:spPr>
          <a:xfrm rot="0" flipH="0" flipV="0">
            <a:off x="533400" y="590550"/>
            <a:ext cx="4953000" cy="3714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400" b="1" spc="38">
                <a:solidFill>
                  <a:srgbClr val="F2F7F8"/>
                </a:solidFill>
                <a:latin typeface="Microsoft YaHei"/>
                <a:ea typeface="Microsoft YaHei"/>
              </a:rPr>
              <a:t>工程实现：纯前端、确定性、可测试</a:t>
            </a:r>
            <a:endParaRPr/>
          </a:p>
        </p:txBody>
      </p:sp>
      <p:sp>
        <p:nvSpPr>
          <p:cNvPr id="310" name="" descr="{&quot;isTemplate&quot;:true,&quot;type&quot;:&quot;text&quot;}"/>
          <p:cNvSpPr txBox="1"/>
          <p:nvPr/>
        </p:nvSpPr>
        <p:spPr>
          <a:xfrm rot="0" flipH="0" flipV="0">
            <a:off x="10058400" y="723900"/>
            <a:ext cx="1600200" cy="1238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788">
                <a:solidFill>
                  <a:srgbClr val="F2F7F8">
                    <a:alpha val="42000"/>
                  </a:srgbClr>
                </a:solidFill>
                <a:latin typeface="Consolas"/>
                <a:ea typeface="Consolas"/>
              </a:rPr>
              <a:t>VUE 3 · TYPESCRIPT · THREE.JS</a:t>
            </a:r>
            <a:endParaRPr/>
          </a:p>
        </p:txBody>
      </p:sp>
      <p:sp>
        <p:nvSpPr>
          <p:cNvPr id="311" name="" descr="{&quot;isTemplate&quot;:true,&quot;type&quot;:&quot;text&quot;}"/>
          <p:cNvSpPr txBox="1"/>
          <p:nvPr/>
        </p:nvSpPr>
        <p:spPr>
          <a:xfrm rot="0" flipH="0" flipV="0">
            <a:off x="533400" y="1333500"/>
            <a:ext cx="5715000" cy="21907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00000"/>
              </a:lnSpc>
            </a:pPr>
            <a:r>
              <a:rPr lang="en-US" sz="713" spc="90">
                <a:solidFill>
                  <a:srgbClr val="F2F7F8">
                    <a:alpha val="42000"/>
                  </a:srgbClr>
                </a:solidFill>
                <a:latin typeface="Consolas"/>
                <a:ea typeface="Consolas"/>
              </a:rPr>
              <a:t>STACK / PURE FRONTEND</a:t>
            </a:r>
            <a:endParaRPr/>
          </a:p>
        </p:txBody>
      </p:sp>
      <p:sp>
        <p:nvSpPr>
          <p:cNvPr id="312" name=""/>
          <p:cNvSpPr/>
          <p:nvPr/>
        </p:nvSpPr>
        <p:spPr>
          <a:xfrm rot="0" flipH="0" flipV="0">
            <a:off x="533400" y="1666875"/>
            <a:ext cx="5715000" cy="495300"/>
          </a:xfrm>
          <a:custGeom>
            <a:pathLst>
              <a:path w="600" h="52">
                <a:moveTo>
                  <a:pt x="0" y="0"/>
                </a:moveTo>
                <a:lnTo>
                  <a:pt x="600" y="0"/>
                </a:lnTo>
                <a:lnTo>
                  <a:pt x="600" y="1"/>
                </a:lnTo>
                <a:lnTo>
                  <a:pt x="0" y="1"/>
                </a:lnTo>
                <a:close/>
              </a:path>
            </a:pathLst>
          </a:custGeom>
          <a:solidFill>
            <a:srgbClr val="F2F7F8">
              <a:alpha val="10000"/>
            </a:srgbClr>
          </a:solidFill>
          <a:ln/>
        </p:spPr>
        <p:txBody>
          <a:bodyPr/>
          <a:p/>
        </p:txBody>
      </p:sp>
      <p:sp>
        <p:nvSpPr>
          <p:cNvPr id="313" name="" descr="{&quot;isTemplate&quot;:true,&quot;type&quot;:&quot;text&quot;}"/>
          <p:cNvSpPr txBox="1"/>
          <p:nvPr/>
        </p:nvSpPr>
        <p:spPr>
          <a:xfrm rot="0" flipH="0" flipV="0">
            <a:off x="533400" y="1866900"/>
            <a:ext cx="704850" cy="1143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713">
                <a:solidFill>
                  <a:srgbClr val="6BC8D1"/>
                </a:solidFill>
                <a:latin typeface="Consolas"/>
                <a:ea typeface="Consolas"/>
              </a:rPr>
              <a:t>APP</a:t>
            </a:r>
            <a:endParaRPr/>
          </a:p>
        </p:txBody>
      </p:sp>
      <p:sp>
        <p:nvSpPr>
          <p:cNvPr id="314" name="" descr="{&quot;isTemplate&quot;:true,&quot;type&quot;:&quot;text&quot;}"/>
          <p:cNvSpPr txBox="1"/>
          <p:nvPr/>
        </p:nvSpPr>
        <p:spPr>
          <a:xfrm rot="0" flipH="0" flipV="0">
            <a:off x="1238250" y="1847850"/>
            <a:ext cx="180975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 b="1">
                <a:solidFill>
                  <a:srgbClr val="F2F7F8"/>
                </a:solidFill>
                <a:latin typeface="Microsoft YaHei"/>
                <a:ea typeface="Microsoft YaHei"/>
              </a:rPr>
              <a:t>应用层</a:t>
            </a:r>
            <a:endParaRPr/>
          </a:p>
        </p:txBody>
      </p:sp>
      <p:sp>
        <p:nvSpPr>
          <p:cNvPr id="315" name="" descr="{&quot;isTemplate&quot;:true,&quot;type&quot;:&quot;text&quot;}"/>
          <p:cNvSpPr txBox="1"/>
          <p:nvPr/>
        </p:nvSpPr>
        <p:spPr>
          <a:xfrm rot="0" flipH="0" flipV="0">
            <a:off x="3048000" y="1857375"/>
            <a:ext cx="3143250" cy="1238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788">
                <a:solidFill>
                  <a:srgbClr val="F2F7F8">
                    <a:alpha val="54000"/>
                  </a:srgbClr>
                </a:solidFill>
                <a:latin typeface="Consolas"/>
                <a:ea typeface="Consolas"/>
              </a:rPr>
              <a:t>Vue 3 · TypeScript · Vite</a:t>
            </a:r>
            <a:endParaRPr/>
          </a:p>
        </p:txBody>
      </p:sp>
      <p:sp>
        <p:nvSpPr>
          <p:cNvPr id="316" name=""/>
          <p:cNvSpPr/>
          <p:nvPr/>
        </p:nvSpPr>
        <p:spPr>
          <a:xfrm rot="0" flipH="0" flipV="0">
            <a:off x="533400" y="2162175"/>
            <a:ext cx="5715000" cy="495300"/>
          </a:xfrm>
          <a:custGeom>
            <a:pathLst>
              <a:path w="600" h="52">
                <a:moveTo>
                  <a:pt x="0" y="0"/>
                </a:moveTo>
                <a:lnTo>
                  <a:pt x="600" y="0"/>
                </a:lnTo>
                <a:lnTo>
                  <a:pt x="600" y="1"/>
                </a:lnTo>
                <a:lnTo>
                  <a:pt x="0" y="1"/>
                </a:lnTo>
                <a:close/>
              </a:path>
            </a:pathLst>
          </a:custGeom>
          <a:solidFill>
            <a:srgbClr val="F2F7F8">
              <a:alpha val="10000"/>
            </a:srgbClr>
          </a:solidFill>
          <a:ln/>
        </p:spPr>
        <p:txBody>
          <a:bodyPr/>
          <a:p/>
        </p:txBody>
      </p:sp>
      <p:sp>
        <p:nvSpPr>
          <p:cNvPr id="317" name="" descr="{&quot;isTemplate&quot;:true,&quot;type&quot;:&quot;text&quot;}"/>
          <p:cNvSpPr txBox="1"/>
          <p:nvPr/>
        </p:nvSpPr>
        <p:spPr>
          <a:xfrm rot="0" flipH="0" flipV="0">
            <a:off x="533400" y="2362200"/>
            <a:ext cx="704850" cy="1143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713">
                <a:solidFill>
                  <a:srgbClr val="6BC8D1"/>
                </a:solidFill>
                <a:latin typeface="Consolas"/>
                <a:ea typeface="Consolas"/>
              </a:rPr>
              <a:t>3D</a:t>
            </a:r>
            <a:endParaRPr/>
          </a:p>
        </p:txBody>
      </p:sp>
      <p:sp>
        <p:nvSpPr>
          <p:cNvPr id="318" name="" descr="{&quot;isTemplate&quot;:true,&quot;type&quot;:&quot;text&quot;}"/>
          <p:cNvSpPr txBox="1"/>
          <p:nvPr/>
        </p:nvSpPr>
        <p:spPr>
          <a:xfrm rot="0" flipH="0" flipV="0">
            <a:off x="1238250" y="2343150"/>
            <a:ext cx="180975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 b="1">
                <a:solidFill>
                  <a:srgbClr val="F2F7F8"/>
                </a:solidFill>
                <a:latin typeface="Microsoft YaHei"/>
                <a:ea typeface="Microsoft YaHei"/>
              </a:rPr>
              <a:t>三维层</a:t>
            </a:r>
            <a:endParaRPr/>
          </a:p>
        </p:txBody>
      </p:sp>
      <p:sp>
        <p:nvSpPr>
          <p:cNvPr id="319" name="" descr="{&quot;isTemplate&quot;:true,&quot;type&quot;:&quot;text&quot;}"/>
          <p:cNvSpPr txBox="1"/>
          <p:nvPr/>
        </p:nvSpPr>
        <p:spPr>
          <a:xfrm rot="0" flipH="0" flipV="0">
            <a:off x="3048000" y="2352675"/>
            <a:ext cx="3143250" cy="1238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788">
                <a:solidFill>
                  <a:srgbClr val="F2F7F8">
                    <a:alpha val="54000"/>
                  </a:srgbClr>
                </a:solidFill>
                <a:latin typeface="Consolas"/>
                <a:ea typeface="Consolas"/>
              </a:rPr>
              <a:t>Three.js · WebGL · CSS2DRenderer</a:t>
            </a:r>
            <a:endParaRPr/>
          </a:p>
        </p:txBody>
      </p:sp>
      <p:sp>
        <p:nvSpPr>
          <p:cNvPr id="320" name=""/>
          <p:cNvSpPr/>
          <p:nvPr/>
        </p:nvSpPr>
        <p:spPr>
          <a:xfrm rot="0" flipH="0" flipV="0">
            <a:off x="533400" y="2657475"/>
            <a:ext cx="5715000" cy="495300"/>
          </a:xfrm>
          <a:custGeom>
            <a:pathLst>
              <a:path w="600" h="52">
                <a:moveTo>
                  <a:pt x="0" y="0"/>
                </a:moveTo>
                <a:lnTo>
                  <a:pt x="600" y="0"/>
                </a:lnTo>
                <a:lnTo>
                  <a:pt x="600" y="1"/>
                </a:lnTo>
                <a:lnTo>
                  <a:pt x="0" y="1"/>
                </a:lnTo>
                <a:close/>
              </a:path>
            </a:pathLst>
          </a:custGeom>
          <a:solidFill>
            <a:srgbClr val="F2F7F8">
              <a:alpha val="10000"/>
            </a:srgbClr>
          </a:solidFill>
          <a:ln/>
        </p:spPr>
        <p:txBody>
          <a:bodyPr/>
          <a:p/>
        </p:txBody>
      </p:sp>
      <p:sp>
        <p:nvSpPr>
          <p:cNvPr id="321" name="" descr="{&quot;isTemplate&quot;:true,&quot;type&quot;:&quot;text&quot;}"/>
          <p:cNvSpPr txBox="1"/>
          <p:nvPr/>
        </p:nvSpPr>
        <p:spPr>
          <a:xfrm rot="0" flipH="0" flipV="0">
            <a:off x="533400" y="2857500"/>
            <a:ext cx="704850" cy="1143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713">
                <a:solidFill>
                  <a:srgbClr val="6BC8D1"/>
                </a:solidFill>
                <a:latin typeface="Consolas"/>
                <a:ea typeface="Consolas"/>
              </a:rPr>
              <a:t>CHART</a:t>
            </a:r>
            <a:endParaRPr/>
          </a:p>
        </p:txBody>
      </p:sp>
      <p:sp>
        <p:nvSpPr>
          <p:cNvPr id="322" name="" descr="{&quot;isTemplate&quot;:true,&quot;type&quot;:&quot;text&quot;}"/>
          <p:cNvSpPr txBox="1"/>
          <p:nvPr/>
        </p:nvSpPr>
        <p:spPr>
          <a:xfrm rot="0" flipH="0" flipV="0">
            <a:off x="1238250" y="2838450"/>
            <a:ext cx="180975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 b="1">
                <a:solidFill>
                  <a:srgbClr val="F2F7F8"/>
                </a:solidFill>
                <a:latin typeface="Microsoft YaHei"/>
                <a:ea typeface="Microsoft YaHei"/>
              </a:rPr>
              <a:t>图表层</a:t>
            </a:r>
            <a:endParaRPr/>
          </a:p>
        </p:txBody>
      </p:sp>
      <p:sp>
        <p:nvSpPr>
          <p:cNvPr id="323" name="" descr="{&quot;isTemplate&quot;:true,&quot;type&quot;:&quot;text&quot;}"/>
          <p:cNvSpPr txBox="1"/>
          <p:nvPr/>
        </p:nvSpPr>
        <p:spPr>
          <a:xfrm rot="0" flipH="0" flipV="0">
            <a:off x="3048000" y="2847975"/>
            <a:ext cx="3143250" cy="1238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788">
                <a:solidFill>
                  <a:srgbClr val="F2F7F8">
                    <a:alpha val="54000"/>
                  </a:srgbClr>
                </a:solidFill>
                <a:latin typeface="Consolas"/>
                <a:ea typeface="Consolas"/>
              </a:rPr>
              <a:t>ECharts · </a:t>
            </a:r>
            <a:r>
              <a:rPr lang="zh-CN" sz="788">
                <a:solidFill>
                  <a:srgbClr val="F2F7F8">
                    <a:alpha val="54000"/>
                  </a:srgbClr>
                </a:solidFill>
                <a:latin typeface="Consolas"/>
                <a:ea typeface="Consolas"/>
              </a:rPr>
              <a:t>折线</a:t>
            </a:r>
            <a:r>
              <a:rPr lang="en-US" sz="788">
                <a:solidFill>
                  <a:srgbClr val="F2F7F8">
                    <a:alpha val="54000"/>
                  </a:srgbClr>
                </a:solidFill>
                <a:latin typeface="Consolas"/>
                <a:ea typeface="Consolas"/>
              </a:rPr>
              <a:t> / </a:t>
            </a:r>
            <a:r>
              <a:rPr lang="zh-CN" sz="788">
                <a:solidFill>
                  <a:srgbClr val="F2F7F8">
                    <a:alpha val="54000"/>
                  </a:srgbClr>
                </a:solidFill>
                <a:latin typeface="Consolas"/>
                <a:ea typeface="Consolas"/>
              </a:rPr>
              <a:t>环图</a:t>
            </a:r>
            <a:r>
              <a:rPr lang="en-US" sz="788">
                <a:solidFill>
                  <a:srgbClr val="F2F7F8">
                    <a:alpha val="54000"/>
                  </a:srgbClr>
                </a:solidFill>
                <a:latin typeface="Consolas"/>
                <a:ea typeface="Consolas"/>
              </a:rPr>
              <a:t> / </a:t>
            </a:r>
            <a:r>
              <a:rPr lang="zh-CN" sz="788">
                <a:solidFill>
                  <a:srgbClr val="F2F7F8">
                    <a:alpha val="54000"/>
                  </a:srgbClr>
                </a:solidFill>
                <a:latin typeface="Consolas"/>
                <a:ea typeface="Consolas"/>
              </a:rPr>
              <a:t>热力</a:t>
            </a:r>
            <a:endParaRPr/>
          </a:p>
        </p:txBody>
      </p:sp>
      <p:sp>
        <p:nvSpPr>
          <p:cNvPr id="324" name=""/>
          <p:cNvSpPr/>
          <p:nvPr/>
        </p:nvSpPr>
        <p:spPr>
          <a:xfrm rot="0" flipH="0" flipV="0">
            <a:off x="533400" y="3152775"/>
            <a:ext cx="5715000" cy="495300"/>
          </a:xfrm>
          <a:custGeom>
            <a:pathLst>
              <a:path w="600" h="52">
                <a:moveTo>
                  <a:pt x="0" y="0"/>
                </a:moveTo>
                <a:lnTo>
                  <a:pt x="600" y="0"/>
                </a:lnTo>
                <a:lnTo>
                  <a:pt x="600" y="1"/>
                </a:lnTo>
                <a:lnTo>
                  <a:pt x="0" y="1"/>
                </a:lnTo>
                <a:close/>
              </a:path>
            </a:pathLst>
          </a:custGeom>
          <a:solidFill>
            <a:srgbClr val="F2F7F8">
              <a:alpha val="10000"/>
            </a:srgbClr>
          </a:solidFill>
          <a:ln/>
        </p:spPr>
        <p:txBody>
          <a:bodyPr/>
          <a:p/>
        </p:txBody>
      </p:sp>
      <p:sp>
        <p:nvSpPr>
          <p:cNvPr id="325" name="" descr="{&quot;isTemplate&quot;:true,&quot;type&quot;:&quot;text&quot;}"/>
          <p:cNvSpPr txBox="1"/>
          <p:nvPr/>
        </p:nvSpPr>
        <p:spPr>
          <a:xfrm rot="0" flipH="0" flipV="0">
            <a:off x="533400" y="3352800"/>
            <a:ext cx="704850" cy="1143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713">
                <a:solidFill>
                  <a:srgbClr val="6BC8D1"/>
                </a:solidFill>
                <a:latin typeface="Consolas"/>
                <a:ea typeface="Consolas"/>
              </a:rPr>
              <a:t>STATE</a:t>
            </a:r>
            <a:endParaRPr/>
          </a:p>
        </p:txBody>
      </p:sp>
      <p:sp>
        <p:nvSpPr>
          <p:cNvPr id="326" name="" descr="{&quot;isTemplate&quot;:true,&quot;type&quot;:&quot;text&quot;}"/>
          <p:cNvSpPr txBox="1"/>
          <p:nvPr/>
        </p:nvSpPr>
        <p:spPr>
          <a:xfrm rot="0" flipH="0" flipV="0">
            <a:off x="1238250" y="3333750"/>
            <a:ext cx="180975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 b="1">
                <a:solidFill>
                  <a:srgbClr val="F2F7F8"/>
                </a:solidFill>
                <a:latin typeface="Microsoft YaHei"/>
                <a:ea typeface="Microsoft YaHei"/>
              </a:rPr>
              <a:t>状态层</a:t>
            </a:r>
            <a:endParaRPr/>
          </a:p>
        </p:txBody>
      </p:sp>
      <p:sp>
        <p:nvSpPr>
          <p:cNvPr id="327" name="" descr="{&quot;isTemplate&quot;:true,&quot;type&quot;:&quot;text&quot;}"/>
          <p:cNvSpPr txBox="1"/>
          <p:nvPr/>
        </p:nvSpPr>
        <p:spPr>
          <a:xfrm rot="0" flipH="0" flipV="0">
            <a:off x="3048000" y="3343275"/>
            <a:ext cx="3143250" cy="1238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788">
                <a:solidFill>
                  <a:srgbClr val="F2F7F8">
                    <a:alpha val="54000"/>
                  </a:srgbClr>
                </a:solidFill>
                <a:latin typeface="Consolas"/>
                <a:ea typeface="Consolas"/>
              </a:rPr>
              <a:t>Pinia · Vue Router · localStorage</a:t>
            </a:r>
            <a:endParaRPr/>
          </a:p>
        </p:txBody>
      </p:sp>
      <p:sp>
        <p:nvSpPr>
          <p:cNvPr id="328" name=""/>
          <p:cNvSpPr/>
          <p:nvPr/>
        </p:nvSpPr>
        <p:spPr>
          <a:xfrm rot="0" flipH="0" flipV="0">
            <a:off x="533400" y="3648075"/>
            <a:ext cx="5715000" cy="495300"/>
          </a:xfrm>
          <a:custGeom>
            <a:pathLst>
              <a:path w="600" h="52">
                <a:moveTo>
                  <a:pt x="0" y="0"/>
                </a:moveTo>
                <a:lnTo>
                  <a:pt x="600" y="0"/>
                </a:lnTo>
                <a:lnTo>
                  <a:pt x="600" y="1"/>
                </a:lnTo>
                <a:lnTo>
                  <a:pt x="0" y="1"/>
                </a:lnTo>
                <a:close/>
              </a:path>
            </a:pathLst>
          </a:custGeom>
          <a:solidFill>
            <a:srgbClr val="F2F7F8">
              <a:alpha val="10000"/>
            </a:srgbClr>
          </a:solidFill>
          <a:ln/>
        </p:spPr>
        <p:txBody>
          <a:bodyPr/>
          <a:p/>
        </p:txBody>
      </p:sp>
      <p:sp>
        <p:nvSpPr>
          <p:cNvPr id="329" name=""/>
          <p:cNvSpPr/>
          <p:nvPr/>
        </p:nvSpPr>
        <p:spPr>
          <a:xfrm rot="0" flipH="0" flipV="0">
            <a:off x="533400" y="3648075"/>
            <a:ext cx="5715000" cy="495300"/>
          </a:xfrm>
          <a:custGeom>
            <a:pathLst>
              <a:path w="600" h="52">
                <a:moveTo>
                  <a:pt x="0" y="51"/>
                </a:moveTo>
                <a:lnTo>
                  <a:pt x="600" y="51"/>
                </a:lnTo>
                <a:lnTo>
                  <a:pt x="600" y="52"/>
                </a:lnTo>
                <a:lnTo>
                  <a:pt x="0" y="52"/>
                </a:lnTo>
                <a:close/>
              </a:path>
            </a:pathLst>
          </a:custGeom>
          <a:solidFill>
            <a:srgbClr val="F2F7F8">
              <a:alpha val="10000"/>
            </a:srgbClr>
          </a:solidFill>
          <a:ln/>
        </p:spPr>
        <p:txBody>
          <a:bodyPr/>
          <a:p/>
        </p:txBody>
      </p:sp>
      <p:sp>
        <p:nvSpPr>
          <p:cNvPr id="330" name="" descr="{&quot;isTemplate&quot;:true,&quot;type&quot;:&quot;text&quot;}"/>
          <p:cNvSpPr txBox="1"/>
          <p:nvPr/>
        </p:nvSpPr>
        <p:spPr>
          <a:xfrm rot="0" flipH="0" flipV="0">
            <a:off x="533400" y="3838575"/>
            <a:ext cx="704850" cy="1143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713">
                <a:solidFill>
                  <a:srgbClr val="6BC8D1"/>
                </a:solidFill>
                <a:latin typeface="Consolas"/>
                <a:ea typeface="Consolas"/>
              </a:rPr>
              <a:t>TEST</a:t>
            </a:r>
            <a:endParaRPr/>
          </a:p>
        </p:txBody>
      </p:sp>
      <p:sp>
        <p:nvSpPr>
          <p:cNvPr id="331" name="" descr="{&quot;isTemplate&quot;:true,&quot;type&quot;:&quot;text&quot;}"/>
          <p:cNvSpPr txBox="1"/>
          <p:nvPr/>
        </p:nvSpPr>
        <p:spPr>
          <a:xfrm rot="0" flipH="0" flipV="0">
            <a:off x="1238250" y="3819525"/>
            <a:ext cx="180975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 b="1">
                <a:solidFill>
                  <a:srgbClr val="F2F7F8"/>
                </a:solidFill>
                <a:latin typeface="Microsoft YaHei"/>
                <a:ea typeface="Microsoft YaHei"/>
              </a:rPr>
              <a:t>质量层</a:t>
            </a:r>
            <a:endParaRPr/>
          </a:p>
        </p:txBody>
      </p:sp>
      <p:sp>
        <p:nvSpPr>
          <p:cNvPr id="332" name="" descr="{&quot;isTemplate&quot;:true,&quot;type&quot;:&quot;text&quot;}"/>
          <p:cNvSpPr txBox="1"/>
          <p:nvPr/>
        </p:nvSpPr>
        <p:spPr>
          <a:xfrm rot="0" flipH="0" flipV="0">
            <a:off x="3048000" y="3838575"/>
            <a:ext cx="3143250" cy="1238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788">
                <a:solidFill>
                  <a:srgbClr val="F2F7F8">
                    <a:alpha val="54000"/>
                  </a:srgbClr>
                </a:solidFill>
                <a:latin typeface="Consolas"/>
                <a:ea typeface="Consolas"/>
              </a:rPr>
              <a:t>Vitest · vue-tsc · </a:t>
            </a:r>
            <a:r>
              <a:rPr lang="zh-CN" sz="788">
                <a:solidFill>
                  <a:srgbClr val="F2F7F8">
                    <a:alpha val="54000"/>
                  </a:srgbClr>
                </a:solidFill>
                <a:latin typeface="Consolas"/>
                <a:ea typeface="Consolas"/>
              </a:rPr>
              <a:t>场景一致性校验</a:t>
            </a:r>
            <a:endParaRPr/>
          </a:p>
        </p:txBody>
      </p:sp>
      <p:sp>
        <p:nvSpPr>
          <p:cNvPr id="333" name=""/>
          <p:cNvSpPr/>
          <p:nvPr/>
        </p:nvSpPr>
        <p:spPr>
          <a:xfrm rot="0" flipH="0" flipV="0">
            <a:off x="533400" y="4391025"/>
            <a:ext cx="295275" cy="228600"/>
          </a:xfrm>
          <a:prstGeom prst="roundRect">
            <a:avLst>
              <a:gd name="adj" fmla="val 16667"/>
            </a:avLst>
          </a:prstGeom>
          <a:ln w="12700">
            <a:solidFill>
              <a:srgbClr val="F2F7F8">
                <a:alpha val="14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34" name="" descr="{&quot;isTemplate&quot;:true,&quot;type&quot;:&quot;text&quot;}"/>
          <p:cNvSpPr txBox="1"/>
          <p:nvPr/>
        </p:nvSpPr>
        <p:spPr>
          <a:xfrm rot="0" flipH="0" flipV="0">
            <a:off x="628650" y="4448175"/>
            <a:ext cx="104775" cy="1143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713">
                <a:solidFill>
                  <a:srgbClr val="F2F7F8">
                    <a:alpha val="62000"/>
                  </a:srgbClr>
                </a:solidFill>
                <a:latin typeface="Consolas"/>
                <a:ea typeface="Consolas"/>
              </a:rPr>
              <a:t>UI</a:t>
            </a:r>
            <a:endParaRPr/>
          </a:p>
        </p:txBody>
      </p:sp>
      <p:sp>
        <p:nvSpPr>
          <p:cNvPr id="335" name="" descr="{&quot;isTemplate&quot;:true,&quot;type&quot;:&quot;text&quot;}"/>
          <p:cNvSpPr txBox="1"/>
          <p:nvPr/>
        </p:nvSpPr>
        <p:spPr>
          <a:xfrm rot="0" flipH="0" flipV="0">
            <a:off x="904875" y="4438650"/>
            <a:ext cx="66675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900">
                <a:solidFill>
                  <a:srgbClr val="6BC8D1">
                    <a:alpha val="60000"/>
                  </a:srgbClr>
                </a:solidFill>
                <a:latin typeface="Consolas"/>
                <a:ea typeface="Consolas"/>
              </a:rPr>
              <a:t>→</a:t>
            </a:r>
            <a:endParaRPr/>
          </a:p>
        </p:txBody>
      </p:sp>
      <p:sp>
        <p:nvSpPr>
          <p:cNvPr id="336" name=""/>
          <p:cNvSpPr/>
          <p:nvPr/>
        </p:nvSpPr>
        <p:spPr>
          <a:xfrm rot="0" flipH="0" flipV="0">
            <a:off x="1047750" y="4391025"/>
            <a:ext cx="495300" cy="228600"/>
          </a:xfrm>
          <a:prstGeom prst="roundRect">
            <a:avLst>
              <a:gd name="adj" fmla="val 16667"/>
            </a:avLst>
          </a:prstGeom>
          <a:ln w="12700">
            <a:solidFill>
              <a:srgbClr val="F2F7F8">
                <a:alpha val="14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37" name="" descr="{&quot;isTemplate&quot;:true,&quot;type&quot;:&quot;text&quot;}"/>
          <p:cNvSpPr txBox="1"/>
          <p:nvPr/>
        </p:nvSpPr>
        <p:spPr>
          <a:xfrm rot="0" flipH="0" flipV="0">
            <a:off x="1143000" y="4448175"/>
            <a:ext cx="304800" cy="1143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713">
                <a:solidFill>
                  <a:srgbClr val="F2F7F8">
                    <a:alpha val="62000"/>
                  </a:srgbClr>
                </a:solidFill>
                <a:latin typeface="Consolas"/>
                <a:ea typeface="Consolas"/>
              </a:rPr>
              <a:t>STORES</a:t>
            </a:r>
            <a:endParaRPr/>
          </a:p>
        </p:txBody>
      </p:sp>
      <p:sp>
        <p:nvSpPr>
          <p:cNvPr id="338" name="" descr="{&quot;isTemplate&quot;:true,&quot;type&quot;:&quot;text&quot;}"/>
          <p:cNvSpPr txBox="1"/>
          <p:nvPr/>
        </p:nvSpPr>
        <p:spPr>
          <a:xfrm rot="0" flipH="0" flipV="0">
            <a:off x="1619250" y="4438650"/>
            <a:ext cx="66675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900">
                <a:solidFill>
                  <a:srgbClr val="6BC8D1">
                    <a:alpha val="60000"/>
                  </a:srgbClr>
                </a:solidFill>
                <a:latin typeface="Consolas"/>
                <a:ea typeface="Consolas"/>
              </a:rPr>
              <a:t>→</a:t>
            </a:r>
            <a:endParaRPr/>
          </a:p>
        </p:txBody>
      </p:sp>
      <p:sp>
        <p:nvSpPr>
          <p:cNvPr id="339" name=""/>
          <p:cNvSpPr/>
          <p:nvPr/>
        </p:nvSpPr>
        <p:spPr>
          <a:xfrm rot="0" flipH="0" flipV="0">
            <a:off x="1762125" y="4391025"/>
            <a:ext cx="542925" cy="228600"/>
          </a:xfrm>
          <a:prstGeom prst="roundRect">
            <a:avLst>
              <a:gd name="adj" fmla="val 16667"/>
            </a:avLst>
          </a:prstGeom>
          <a:solidFill>
            <a:srgbClr val="6BC8D1">
              <a:alpha val="7000"/>
            </a:srgbClr>
          </a:solidFill>
          <a:ln w="12700">
            <a:solidFill>
              <a:srgbClr val="6BC8D1">
                <a:alpha val="32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40" name="" descr="{&quot;isTemplate&quot;:true,&quot;type&quot;:&quot;text&quot;}"/>
          <p:cNvSpPr txBox="1"/>
          <p:nvPr/>
        </p:nvSpPr>
        <p:spPr>
          <a:xfrm rot="0" flipH="0" flipV="0">
            <a:off x="1857375" y="4448175"/>
            <a:ext cx="352425" cy="1143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713">
                <a:solidFill>
                  <a:srgbClr val="6BC8D1"/>
                </a:solidFill>
                <a:latin typeface="Consolas"/>
                <a:ea typeface="Consolas"/>
              </a:rPr>
              <a:t>ENGINES</a:t>
            </a:r>
            <a:endParaRPr/>
          </a:p>
        </p:txBody>
      </p:sp>
      <p:sp>
        <p:nvSpPr>
          <p:cNvPr id="341" name="" descr="{&quot;isTemplate&quot;:true,&quot;type&quot;:&quot;text&quot;}"/>
          <p:cNvSpPr txBox="1"/>
          <p:nvPr/>
        </p:nvSpPr>
        <p:spPr>
          <a:xfrm rot="0" flipH="0" flipV="0">
            <a:off x="2381250" y="4438650"/>
            <a:ext cx="66675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900">
                <a:solidFill>
                  <a:srgbClr val="6BC8D1">
                    <a:alpha val="60000"/>
                  </a:srgbClr>
                </a:solidFill>
                <a:latin typeface="Consolas"/>
                <a:ea typeface="Consolas"/>
              </a:rPr>
              <a:t>→</a:t>
            </a:r>
            <a:endParaRPr/>
          </a:p>
        </p:txBody>
      </p:sp>
      <p:sp>
        <p:nvSpPr>
          <p:cNvPr id="342" name=""/>
          <p:cNvSpPr/>
          <p:nvPr/>
        </p:nvSpPr>
        <p:spPr>
          <a:xfrm rot="0" flipH="0" flipV="0">
            <a:off x="2524125" y="4391025"/>
            <a:ext cx="447675" cy="228600"/>
          </a:xfrm>
          <a:prstGeom prst="roundRect">
            <a:avLst>
              <a:gd name="adj" fmla="val 16667"/>
            </a:avLst>
          </a:prstGeom>
          <a:ln w="12700">
            <a:solidFill>
              <a:srgbClr val="F2F7F8">
                <a:alpha val="14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43" name="" descr="{&quot;isTemplate&quot;:true,&quot;type&quot;:&quot;text&quot;}"/>
          <p:cNvSpPr txBox="1"/>
          <p:nvPr/>
        </p:nvSpPr>
        <p:spPr>
          <a:xfrm rot="0" flipH="0" flipV="0">
            <a:off x="2619375" y="4448175"/>
            <a:ext cx="257175" cy="1143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713">
                <a:solidFill>
                  <a:srgbClr val="F2F7F8">
                    <a:alpha val="62000"/>
                  </a:srgbClr>
                </a:solidFill>
                <a:latin typeface="Consolas"/>
                <a:ea typeface="Consolas"/>
              </a:rPr>
              <a:t>TYPES</a:t>
            </a:r>
            <a:endParaRPr/>
          </a:p>
        </p:txBody>
      </p:sp>
      <p:sp>
        <p:nvSpPr>
          <p:cNvPr id="344" name="" descr="{&quot;isTemplate&quot;:true,&quot;type&quot;:&quot;text&quot;}"/>
          <p:cNvSpPr txBox="1"/>
          <p:nvPr/>
        </p:nvSpPr>
        <p:spPr>
          <a:xfrm rot="0" flipH="0" flipV="0">
            <a:off x="533400" y="4714875"/>
            <a:ext cx="5715000" cy="209550"/>
          </a:xfrm>
          <a:prstGeom prst="rect"/>
        </p:spPr>
        <p:txBody>
          <a:bodyPr wrap="none" lIns="0" tIns="0" rIns="0" bIns="0"/>
          <a:p>
            <a:pPr>
              <a:lnSpc>
                <a:spcPct val="170000"/>
              </a:lnSpc>
            </a:pPr>
            <a:r>
              <a:rPr lang="zh-CN" sz="788">
                <a:solidFill>
                  <a:srgbClr val="F2F7F8">
                    <a:alpha val="42000"/>
                  </a:srgbClr>
                </a:solidFill>
                <a:latin typeface="Microsoft YaHei"/>
                <a:ea typeface="Microsoft YaHei"/>
              </a:rPr>
              <a:t>判定逻辑全部在引擎层；界面只负责输入与呈现，可被单独测试。</a:t>
            </a:r>
            <a:endParaRPr/>
          </a:p>
        </p:txBody>
      </p:sp>
      <p:sp>
        <p:nvSpPr>
          <p:cNvPr id="345" name=""/>
          <p:cNvSpPr/>
          <p:nvPr/>
        </p:nvSpPr>
        <p:spPr>
          <a:xfrm rot="0" flipH="0" flipV="0">
            <a:off x="6705600" y="1371600"/>
            <a:ext cx="2400300" cy="1219200"/>
          </a:xfrm>
          <a:custGeom>
            <a:pathLst>
              <a:path w="252" h="128">
                <a:moveTo>
                  <a:pt x="0" y="0"/>
                </a:moveTo>
                <a:lnTo>
                  <a:pt x="252" y="0"/>
                </a:lnTo>
                <a:lnTo>
                  <a:pt x="252" y="2"/>
                </a:lnTo>
                <a:lnTo>
                  <a:pt x="0" y="2"/>
                </a:lnTo>
                <a:close/>
              </a:path>
            </a:pathLst>
          </a:custGeom>
          <a:solidFill>
            <a:srgbClr val="6BC8D1"/>
          </a:solidFill>
          <a:ln/>
        </p:spPr>
        <p:txBody>
          <a:bodyPr/>
          <a:p/>
        </p:txBody>
      </p:sp>
      <p:sp>
        <p:nvSpPr>
          <p:cNvPr id="346" name="" descr="{&quot;isTemplate&quot;:true,&quot;type&quot;:&quot;text&quot;}"/>
          <p:cNvSpPr txBox="1"/>
          <p:nvPr/>
        </p:nvSpPr>
        <p:spPr>
          <a:xfrm rot="0" flipH="0" flipV="0">
            <a:off x="6838950" y="1524000"/>
            <a:ext cx="2133600" cy="571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3750" b="1">
                <a:solidFill>
                  <a:srgbClr val="F2F7F8"/>
                </a:solidFill>
                <a:latin typeface="Consolas"/>
                <a:ea typeface="Consolas"/>
              </a:rPr>
              <a:t>10,121</a:t>
            </a:r>
            <a:endParaRPr/>
          </a:p>
        </p:txBody>
      </p:sp>
      <p:sp>
        <p:nvSpPr>
          <p:cNvPr id="347" name="" descr="{&quot;isTemplate&quot;:true,&quot;type&quot;:&quot;text&quot;}"/>
          <p:cNvSpPr txBox="1"/>
          <p:nvPr/>
        </p:nvSpPr>
        <p:spPr>
          <a:xfrm rot="0" flipH="0" flipV="0">
            <a:off x="6838950" y="2171700"/>
            <a:ext cx="2133600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825">
                <a:solidFill>
                  <a:srgbClr val="F2F7F8">
                    <a:alpha val="46000"/>
                  </a:srgbClr>
                </a:solidFill>
                <a:latin typeface="Microsoft YaHei"/>
                <a:ea typeface="Microsoft YaHei"/>
              </a:rPr>
              <a:t>行源码</a:t>
            </a:r>
            <a:endParaRPr/>
          </a:p>
        </p:txBody>
      </p:sp>
      <p:sp>
        <p:nvSpPr>
          <p:cNvPr id="348" name=""/>
          <p:cNvSpPr/>
          <p:nvPr/>
        </p:nvSpPr>
        <p:spPr>
          <a:xfrm rot="0" flipH="0" flipV="0">
            <a:off x="9258300" y="1371600"/>
            <a:ext cx="2400300" cy="1219200"/>
          </a:xfrm>
          <a:custGeom>
            <a:pathLst>
              <a:path w="252" h="128">
                <a:moveTo>
                  <a:pt x="0" y="0"/>
                </a:moveTo>
                <a:lnTo>
                  <a:pt x="252" y="0"/>
                </a:lnTo>
                <a:lnTo>
                  <a:pt x="252" y="2"/>
                </a:lnTo>
                <a:lnTo>
                  <a:pt x="0" y="2"/>
                </a:lnTo>
                <a:close/>
              </a:path>
            </a:pathLst>
          </a:custGeom>
          <a:solidFill>
            <a:srgbClr val="F2F7F8">
              <a:alpha val="18000"/>
            </a:srgbClr>
          </a:solidFill>
          <a:ln/>
        </p:spPr>
        <p:txBody>
          <a:bodyPr/>
          <a:p/>
        </p:txBody>
      </p:sp>
      <p:sp>
        <p:nvSpPr>
          <p:cNvPr id="349" name="" descr="{&quot;isTemplate&quot;:true,&quot;type&quot;:&quot;text&quot;}"/>
          <p:cNvSpPr txBox="1"/>
          <p:nvPr/>
        </p:nvSpPr>
        <p:spPr>
          <a:xfrm rot="0" flipH="0" flipV="0">
            <a:off x="9391650" y="1524000"/>
            <a:ext cx="2133600" cy="571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3750" b="1">
                <a:solidFill>
                  <a:srgbClr val="F2F7F8"/>
                </a:solidFill>
                <a:latin typeface="Consolas"/>
                <a:ea typeface="Consolas"/>
              </a:rPr>
              <a:t>07</a:t>
            </a:r>
            <a:endParaRPr/>
          </a:p>
        </p:txBody>
      </p:sp>
      <p:sp>
        <p:nvSpPr>
          <p:cNvPr id="350" name="" descr="{&quot;isTemplate&quot;:true,&quot;type&quot;:&quot;text&quot;}"/>
          <p:cNvSpPr txBox="1"/>
          <p:nvPr/>
        </p:nvSpPr>
        <p:spPr>
          <a:xfrm rot="0" flipH="0" flipV="0">
            <a:off x="9391650" y="2171700"/>
            <a:ext cx="2133600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825">
                <a:solidFill>
                  <a:srgbClr val="F2F7F8">
                    <a:alpha val="46000"/>
                  </a:srgbClr>
                </a:solidFill>
                <a:latin typeface="Microsoft YaHei"/>
                <a:ea typeface="Microsoft YaHei"/>
              </a:rPr>
              <a:t>个实验场景</a:t>
            </a:r>
            <a:endParaRPr/>
          </a:p>
        </p:txBody>
      </p:sp>
      <p:sp>
        <p:nvSpPr>
          <p:cNvPr id="351" name=""/>
          <p:cNvSpPr/>
          <p:nvPr/>
        </p:nvSpPr>
        <p:spPr>
          <a:xfrm rot="0" flipH="0" flipV="0">
            <a:off x="6705600" y="2762250"/>
            <a:ext cx="2400300" cy="1219200"/>
          </a:xfrm>
          <a:custGeom>
            <a:pathLst>
              <a:path w="252" h="128">
                <a:moveTo>
                  <a:pt x="0" y="0"/>
                </a:moveTo>
                <a:lnTo>
                  <a:pt x="252" y="0"/>
                </a:lnTo>
                <a:lnTo>
                  <a:pt x="252" y="2"/>
                </a:lnTo>
                <a:lnTo>
                  <a:pt x="0" y="2"/>
                </a:lnTo>
                <a:close/>
              </a:path>
            </a:pathLst>
          </a:custGeom>
          <a:solidFill>
            <a:srgbClr val="6BC8D1"/>
          </a:solidFill>
          <a:ln/>
        </p:spPr>
        <p:txBody>
          <a:bodyPr/>
          <a:p/>
        </p:txBody>
      </p:sp>
      <p:sp>
        <p:nvSpPr>
          <p:cNvPr id="352" name="" descr="{&quot;isTemplate&quot;:true,&quot;type&quot;:&quot;text&quot;}"/>
          <p:cNvSpPr txBox="1"/>
          <p:nvPr/>
        </p:nvSpPr>
        <p:spPr>
          <a:xfrm rot="0" flipH="0" flipV="0">
            <a:off x="6838950" y="2914650"/>
            <a:ext cx="2133600" cy="571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3750" b="1">
                <a:solidFill>
                  <a:srgbClr val="6BC8D1"/>
                </a:solidFill>
                <a:latin typeface="Consolas"/>
                <a:ea typeface="Consolas"/>
              </a:rPr>
              <a:t>111</a:t>
            </a:r>
            <a:endParaRPr/>
          </a:p>
        </p:txBody>
      </p:sp>
      <p:sp>
        <p:nvSpPr>
          <p:cNvPr id="353" name="" descr="{&quot;isTemplate&quot;:true,&quot;type&quot;:&quot;text&quot;}"/>
          <p:cNvSpPr txBox="1"/>
          <p:nvPr/>
        </p:nvSpPr>
        <p:spPr>
          <a:xfrm rot="0" flipH="0" flipV="0">
            <a:off x="6838950" y="3562350"/>
            <a:ext cx="2133600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825">
                <a:solidFill>
                  <a:srgbClr val="F2F7F8">
                    <a:alpha val="46000"/>
                  </a:srgbClr>
                </a:solidFill>
                <a:latin typeface="Microsoft YaHei"/>
                <a:ea typeface="Microsoft YaHei"/>
              </a:rPr>
              <a:t>项自动化测试</a:t>
            </a:r>
            <a:endParaRPr/>
          </a:p>
        </p:txBody>
      </p:sp>
      <p:sp>
        <p:nvSpPr>
          <p:cNvPr id="354" name=""/>
          <p:cNvSpPr/>
          <p:nvPr/>
        </p:nvSpPr>
        <p:spPr>
          <a:xfrm rot="0" flipH="0" flipV="0">
            <a:off x="9258300" y="2762250"/>
            <a:ext cx="2400300" cy="1219200"/>
          </a:xfrm>
          <a:custGeom>
            <a:pathLst>
              <a:path w="252" h="128">
                <a:moveTo>
                  <a:pt x="0" y="0"/>
                </a:moveTo>
                <a:lnTo>
                  <a:pt x="252" y="0"/>
                </a:lnTo>
                <a:lnTo>
                  <a:pt x="252" y="2"/>
                </a:lnTo>
                <a:lnTo>
                  <a:pt x="0" y="2"/>
                </a:lnTo>
                <a:close/>
              </a:path>
            </a:pathLst>
          </a:custGeom>
          <a:solidFill>
            <a:srgbClr val="F2F7F8">
              <a:alpha val="18000"/>
            </a:srgbClr>
          </a:solidFill>
          <a:ln/>
        </p:spPr>
        <p:txBody>
          <a:bodyPr/>
          <a:p/>
        </p:txBody>
      </p:sp>
      <p:sp>
        <p:nvSpPr>
          <p:cNvPr id="355" name="" descr="{&quot;isTemplate&quot;:true,&quot;type&quot;:&quot;text&quot;}"/>
          <p:cNvSpPr txBox="1"/>
          <p:nvPr/>
        </p:nvSpPr>
        <p:spPr>
          <a:xfrm rot="0" flipH="0" flipV="0">
            <a:off x="9391650" y="2914650"/>
            <a:ext cx="2133600" cy="571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3750" b="1">
                <a:solidFill>
                  <a:srgbClr val="F2F7F8"/>
                </a:solidFill>
                <a:latin typeface="Consolas"/>
                <a:ea typeface="Consolas"/>
              </a:rPr>
              <a:t>0</a:t>
            </a:r>
            <a:endParaRPr/>
          </a:p>
        </p:txBody>
      </p:sp>
      <p:sp>
        <p:nvSpPr>
          <p:cNvPr id="356" name="" descr="{&quot;isTemplate&quot;:true,&quot;type&quot;:&quot;text&quot;}"/>
          <p:cNvSpPr txBox="1"/>
          <p:nvPr/>
        </p:nvSpPr>
        <p:spPr>
          <a:xfrm rot="0" flipH="0" flipV="0">
            <a:off x="9391650" y="3562350"/>
            <a:ext cx="2133600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825">
                <a:solidFill>
                  <a:srgbClr val="F2F7F8">
                    <a:alpha val="46000"/>
                  </a:srgbClr>
                </a:solidFill>
                <a:latin typeface="Microsoft YaHei"/>
                <a:ea typeface="Microsoft YaHei"/>
              </a:rPr>
              <a:t>后端依赖</a:t>
            </a:r>
            <a:endParaRPr/>
          </a:p>
        </p:txBody>
      </p:sp>
      <p:sp>
        <p:nvSpPr>
          <p:cNvPr id="357" name=""/>
          <p:cNvSpPr/>
          <p:nvPr/>
        </p:nvSpPr>
        <p:spPr>
          <a:xfrm rot="0" flipH="0" flipV="0">
            <a:off x="6705600" y="4171950"/>
            <a:ext cx="4953000" cy="523875"/>
          </a:xfrm>
          <a:custGeom>
            <a:pathLst>
              <a:path w="520" h="55">
                <a:moveTo>
                  <a:pt x="0" y="0"/>
                </a:moveTo>
                <a:lnTo>
                  <a:pt x="520" y="0"/>
                </a:lnTo>
                <a:lnTo>
                  <a:pt x="520" y="1"/>
                </a:lnTo>
                <a:lnTo>
                  <a:pt x="0" y="1"/>
                </a:lnTo>
                <a:close/>
              </a:path>
            </a:pathLst>
          </a:custGeom>
          <a:solidFill>
            <a:srgbClr val="F2F7F8">
              <a:alpha val="10000"/>
            </a:srgbClr>
          </a:solidFill>
          <a:ln/>
        </p:spPr>
        <p:txBody>
          <a:bodyPr/>
          <a:p/>
        </p:txBody>
      </p:sp>
      <p:sp>
        <p:nvSpPr>
          <p:cNvPr id="358" name="" descr="{&quot;isTemplate&quot;:true,&quot;type&quot;:&quot;text&quot;}"/>
          <p:cNvSpPr txBox="1"/>
          <p:nvPr/>
        </p:nvSpPr>
        <p:spPr>
          <a:xfrm rot="0" flipH="0" flipV="0">
            <a:off x="6705600" y="4295775"/>
            <a:ext cx="4953000" cy="1143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713" spc="75">
                <a:solidFill>
                  <a:srgbClr val="6BC8D1"/>
                </a:solidFill>
                <a:latin typeface="Consolas"/>
                <a:ea typeface="Consolas"/>
              </a:rPr>
              <a:t>9 TEST FILES · ALL PASSING</a:t>
            </a:r>
            <a:endParaRPr/>
          </a:p>
        </p:txBody>
      </p:sp>
      <p:sp>
        <p:nvSpPr>
          <p:cNvPr id="359" name="" descr="{&quot;isTemplate&quot;:true,&quot;type&quot;:&quot;text&quot;}"/>
          <p:cNvSpPr txBox="1"/>
          <p:nvPr/>
        </p:nvSpPr>
        <p:spPr>
          <a:xfrm rot="0" flipH="0" flipV="0">
            <a:off x="6705600" y="4467225"/>
            <a:ext cx="4953000" cy="219075"/>
          </a:xfrm>
          <a:prstGeom prst="rect"/>
        </p:spPr>
        <p:txBody>
          <a:bodyPr wrap="none" lIns="0" tIns="0" rIns="0" bIns="0"/>
          <a:p>
            <a:pPr>
              <a:lnSpc>
                <a:spcPct val="170000"/>
              </a:lnSpc>
            </a:pPr>
            <a:r>
              <a:rPr lang="zh-CN" sz="825">
                <a:solidFill>
                  <a:srgbClr val="F2F7F8">
                    <a:alpha val="46000"/>
                  </a:srgbClr>
                </a:solidFill>
                <a:latin typeface="Microsoft YaHei"/>
                <a:ea typeface="Microsoft YaHei"/>
              </a:rPr>
              <a:t>覆盖通信路径、状态搜索、挑战判定、场景一致性与分享编解码。</a:t>
            </a:r>
            <a:endParaRPr/>
          </a:p>
        </p:txBody>
      </p:sp>
      <p:sp>
        <p:nvSpPr>
          <p:cNvPr id="360" name=""/>
          <p:cNvSpPr/>
          <p:nvPr/>
        </p:nvSpPr>
        <p:spPr>
          <a:xfrm rot="0" flipH="0" flipV="0">
            <a:off x="533400" y="5048250"/>
            <a:ext cx="11125200" cy="295275"/>
          </a:xfrm>
          <a:custGeom>
            <a:pathLst>
              <a:path w="1168" h="31">
                <a:moveTo>
                  <a:pt x="0" y="0"/>
                </a:moveTo>
                <a:lnTo>
                  <a:pt x="1168" y="0"/>
                </a:lnTo>
                <a:lnTo>
                  <a:pt x="1168" y="1"/>
                </a:lnTo>
                <a:lnTo>
                  <a:pt x="0" y="1"/>
                </a:lnTo>
                <a:close/>
              </a:path>
            </a:pathLst>
          </a:custGeom>
          <a:solidFill>
            <a:srgbClr val="F2F7F8">
              <a:alpha val="10000"/>
            </a:srgbClr>
          </a:solidFill>
          <a:ln/>
        </p:spPr>
        <p:txBody>
          <a:bodyPr/>
          <a:p/>
        </p:txBody>
      </p:sp>
      <p:sp>
        <p:nvSpPr>
          <p:cNvPr id="361" name=""/>
          <p:cNvSpPr/>
          <p:nvPr/>
        </p:nvSpPr>
        <p:spPr>
          <a:xfrm rot="0" flipH="0" flipV="0">
            <a:off x="533400" y="5257800"/>
            <a:ext cx="190500" cy="9525"/>
          </a:xfrm>
          <a:prstGeom prst="rect">
            <a:avLst/>
          </a:prstGeom>
          <a:solidFill>
            <a:srgbClr val="6BC8D1"/>
          </a:solidFill>
          <a:ln/>
        </p:spPr>
        <p:txBody>
          <a:bodyPr/>
          <a:p/>
        </p:txBody>
      </p:sp>
      <p:sp>
        <p:nvSpPr>
          <p:cNvPr id="362" name="" descr="{&quot;isTemplate&quot;:true,&quot;type&quot;:&quot;text&quot;}"/>
          <p:cNvSpPr txBox="1"/>
          <p:nvPr/>
        </p:nvSpPr>
        <p:spPr>
          <a:xfrm rot="0" flipH="0" flipV="0">
            <a:off x="819150" y="5191125"/>
            <a:ext cx="422910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00">
                <a:solidFill>
                  <a:srgbClr val="F2F7F8">
                    <a:alpha val="50000"/>
                  </a:srgbClr>
                </a:solidFill>
                <a:latin typeface="Microsoft YaHei"/>
                <a:ea typeface="Microsoft YaHei"/>
              </a:rPr>
              <a:t>纯前端不是省掉工程，而是把复杂度放进可测试、可复现的引擎；同输入，同结果。</a:t>
            </a:r>
            <a:endParaRPr/>
          </a:p>
        </p:txBody>
      </p:sp>
      <p:sp>
        <p:nvSpPr>
          <p:cNvPr id="363" name="" descr="{&quot;isTemplate&quot;:true,&quot;type&quot;:&quot;text&quot;}"/>
          <p:cNvSpPr txBox="1"/>
          <p:nvPr/>
        </p:nvSpPr>
        <p:spPr>
          <a:xfrm rot="0" flipH="0" flipV="0">
            <a:off x="533400" y="5619750"/>
            <a:ext cx="1047750" cy="1143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713">
                <a:solidFill>
                  <a:srgbClr val="F2F7F8">
                    <a:alpha val="34000"/>
                  </a:srgbClr>
                </a:solidFill>
                <a:latin typeface="Consolas"/>
                <a:ea typeface="Consolas"/>
              </a:rPr>
              <a:t>BUILD · npm run build</a:t>
            </a:r>
            <a:endParaRPr/>
          </a:p>
        </p:txBody>
      </p:sp>
      <p:sp>
        <p:nvSpPr>
          <p:cNvPr id="364" name=""/>
          <p:cNvSpPr/>
          <p:nvPr/>
        </p:nvSpPr>
        <p:spPr>
          <a:xfrm rot="0" flipH="0" flipV="0">
            <a:off x="1752600" y="5629275"/>
            <a:ext cx="9525" cy="95250"/>
          </a:xfrm>
          <a:prstGeom prst="rect">
            <a:avLst/>
          </a:prstGeom>
          <a:solidFill>
            <a:srgbClr val="F2F7F8">
              <a:alpha val="14000"/>
            </a:srgbClr>
          </a:solidFill>
          <a:ln/>
        </p:spPr>
        <p:txBody>
          <a:bodyPr/>
          <a:p/>
        </p:txBody>
      </p:sp>
      <p:sp>
        <p:nvSpPr>
          <p:cNvPr id="365" name="" descr="{&quot;isTemplate&quot;:true,&quot;type&quot;:&quot;text&quot;}"/>
          <p:cNvSpPr txBox="1"/>
          <p:nvPr/>
        </p:nvSpPr>
        <p:spPr>
          <a:xfrm rot="0" flipH="0" flipV="0">
            <a:off x="1933575" y="5619750"/>
            <a:ext cx="952500" cy="1143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713">
                <a:solidFill>
                  <a:srgbClr val="F2F7F8">
                    <a:alpha val="34000"/>
                  </a:srgbClr>
                </a:solidFill>
                <a:latin typeface="Consolas"/>
                <a:ea typeface="Consolas"/>
              </a:rPr>
              <a:t>TEST · npm run test</a:t>
            </a:r>
            <a:endParaRPr/>
          </a:p>
        </p:txBody>
      </p:sp>
      <p:sp>
        <p:nvSpPr>
          <p:cNvPr id="366" name=""/>
          <p:cNvSpPr/>
          <p:nvPr/>
        </p:nvSpPr>
        <p:spPr>
          <a:xfrm rot="0" flipH="0" flipV="0">
            <a:off x="3057525" y="5629275"/>
            <a:ext cx="9525" cy="95250"/>
          </a:xfrm>
          <a:prstGeom prst="rect">
            <a:avLst/>
          </a:prstGeom>
          <a:solidFill>
            <a:srgbClr val="F2F7F8">
              <a:alpha val="14000"/>
            </a:srgbClr>
          </a:solidFill>
          <a:ln/>
        </p:spPr>
        <p:txBody>
          <a:bodyPr/>
          <a:p/>
        </p:txBody>
      </p:sp>
      <p:sp>
        <p:nvSpPr>
          <p:cNvPr id="367" name="" descr="{&quot;isTemplate&quot;:true,&quot;type&quot;:&quot;text&quot;}"/>
          <p:cNvSpPr txBox="1"/>
          <p:nvPr/>
        </p:nvSpPr>
        <p:spPr>
          <a:xfrm rot="0" flipH="0" flipV="0">
            <a:off x="3238500" y="5619750"/>
            <a:ext cx="847725" cy="1143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713">
                <a:solidFill>
                  <a:srgbClr val="F2F7F8">
                    <a:alpha val="34000"/>
                  </a:srgbClr>
                </a:solidFill>
                <a:latin typeface="Consolas"/>
                <a:ea typeface="Consolas"/>
              </a:rPr>
              <a:t>111 / 111 PASSING</a:t>
            </a:r>
            <a:endParaRPr/>
          </a:p>
        </p:txBody>
      </p:sp>
      <p:sp>
        <p:nvSpPr>
          <p:cNvPr id="368" name=""/>
          <p:cNvSpPr/>
          <p:nvPr/>
        </p:nvSpPr>
        <p:spPr>
          <a:xfrm rot="0" flipH="0" flipV="0">
            <a:off x="533400" y="6324600"/>
            <a:ext cx="11125200" cy="9525"/>
          </a:xfrm>
          <a:prstGeom prst="rect">
            <a:avLst/>
          </a:prstGeom>
          <a:solidFill>
            <a:srgbClr val="F2F7F8">
              <a:alpha val="10000"/>
            </a:srgbClr>
          </a:solidFill>
          <a:ln/>
        </p:spPr>
        <p:txBody>
          <a:bodyPr/>
          <a:p/>
        </p:txBody>
      </p:sp>
      <p:sp>
        <p:nvSpPr>
          <p:cNvPr id="369" name="" descr="{&quot;isTemplate&quot;:true,&quot;type&quot;:&quot;text&quot;}"/>
          <p:cNvSpPr txBox="1"/>
          <p:nvPr/>
        </p:nvSpPr>
        <p:spPr>
          <a:xfrm rot="0" flipH="0" flipV="0">
            <a:off x="533400" y="6457950"/>
            <a:ext cx="3248025" cy="1238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788" spc="60">
                <a:solidFill>
                  <a:srgbClr val="F2F7F8">
                    <a:alpha val="40000"/>
                  </a:srgbClr>
                </a:solidFill>
                <a:latin typeface="Consolas"/>
                <a:ea typeface="Consolas"/>
              </a:rPr>
              <a:t>智御网络</a:t>
            </a:r>
            <a:r>
              <a:rPr lang="en-US" sz="788" spc="60">
                <a:solidFill>
                  <a:srgbClr val="F2F7F8">
                    <a:alpha val="40000"/>
                  </a:srgbClr>
                </a:solidFill>
                <a:latin typeface="Consolas"/>
                <a:ea typeface="Consolas"/>
              </a:rPr>
              <a:t> · </a:t>
            </a:r>
            <a:r>
              <a:rPr lang="zh-CN" sz="788" spc="60">
                <a:solidFill>
                  <a:srgbClr val="F2F7F8">
                    <a:alpha val="40000"/>
                  </a:srgbClr>
                </a:solidFill>
                <a:latin typeface="Consolas"/>
                <a:ea typeface="Consolas"/>
              </a:rPr>
              <a:t>三维网络安全策略交互验证平台</a:t>
            </a:r>
            <a:endParaRPr/>
          </a:p>
        </p:txBody>
      </p:sp>
      <p:sp>
        <p:nvSpPr>
          <p:cNvPr id="370" name="" descr="{&quot;isTemplate&quot;:true,&quot;type&quot;:&quot;text&quot;}"/>
          <p:cNvSpPr txBox="1"/>
          <p:nvPr/>
        </p:nvSpPr>
        <p:spPr>
          <a:xfrm rot="0" flipH="0" flipV="0">
            <a:off x="11268075" y="6457950"/>
            <a:ext cx="390525" cy="1238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788">
                <a:solidFill>
                  <a:srgbClr val="F2F7F8">
                    <a:alpha val="40000"/>
                  </a:srgbClr>
                </a:solidFill>
                <a:latin typeface="Consolas"/>
                <a:ea typeface="Consolas"/>
              </a:rPr>
              <a:t>15 / 22</a:t>
            </a:r>
            <a:endParaRPr/>
          </a:p>
        </p:txBody>
      </p:sp>
    </p:spTree>
  </p:cSld>
</p:sld>
</file>

<file path=ppt/slides/slide16.xml><?xml version="1.0" encoding="utf-8"?>
<p:sld xmlns:p="http://schemas.openxmlformats.org/presentationml/2006/main" xmlns:r="http://schemas.openxmlformats.org/officeDocument/2006/relationships" xmlns:a="http://schemas.openxmlformats.org/drawingml/2006/main" xmlns:asvg="http://schemas.microsoft.com/office/drawing/2016/SVG/main" xmlns:mc="http://schemas.openxmlformats.org/markup-compatibility/2006" mc:Ignorable="asvg">
  <p:cSld>
    <p:spTree>
      <p:nvGrpSpPr>
        <p:cNvPr id="371" name="" descr="&lt;Slide style={{ width: 1280, height: 720, background: '#07111B', padding: 0, position: 'relative', overflow: 'hidden' }}&gt;&#10;    &lt;svg width={1280} height={720} viewBox='0 0 1280 720' style={{ position: 'absolute', left: 0, top: 0 }}&gt;&#10;        &lt;g stroke='rgba(242,247,248,0.03)' strokeWidth='1'&gt;&#10;            &lt;path d='M0 80H1280M0 160H1280M0 240H1280M0 320H1280M0 400H1280M0 480H1280M0 560H1280M0 640H1280' /&gt;&#10;            &lt;path d='M80 0V720M160 0V720M240 0V720M320 0V720M400 0V720M480 0V720M560 0V720M640 0V720M720 0V720M800 0V720M880 0V720M960 0V720M1040 0V720M1120 0V720M1200 0V720' /&gt;&#10;        &lt;/g&gt;&#10;        &lt;g stroke='rgba(107,200,209,0.18)' strokeWidth='1' fill='none'&gt;&#10;            &lt;path d='M740 300L830 390L950 330L1060 430L1160 360' /&gt;&#10;            &lt;path d='M830 390L900 520L1020 480L1060 430' /&gt;&#10;        &lt;/g&gt;&#10;        &lt;g fill='#6BC8D1'&gt;&#10;            &lt;circle cx='740' cy='300' r='4' opacity='0.45' /&gt;&#10;            &lt;circle cx='830' cy='390' r='6' opacity='0.85' /&gt;&#10;            &lt;circle cx='950' cy='330' r='4.5' opacity='0.6' /&gt;&#10;            &lt;circle cx='1060' cy='430' r='5' opacity='0.7' /&gt;&#10;            &lt;circle cx='1160' cy='360' r='3.5' opacity='0.4' /&gt;&#10;            &lt;circle cx='900' cy='520' r='4' opacity='0.5' /&gt;&#10;            &lt;circle cx='1020' cy='480' r='4' opacity='0.5' /&gt;&#10;        &lt;/g&gt;&#10;    &lt;/svg&gt;&#10;    &lt;Text style={{ position: 'absolute', right: 56, top: 154, width: 520, textAlign: 'right', fontFamily: 'Consolas', fontSize: 290, fontWeight: 'bold', color: '#F2F7F8', opacity: 0.055, lineHeight: 1 }}&gt;04&lt;/Text&gt;&#10;    &lt;Box style={{ position: 'absolute', left: 0, top: 0, width: 5, height: 720, background: '#6BC8D1', opacity: 0.55 }} /&gt;&#10;&#10;    &lt;Box style={{ position: 'absolute', left: 72, top: 46 }}&gt;&#10;        &lt;Text style={{ fontFamily: 'Consolas', fontSize: 11, color: '#6BC8D1', letterSpacing: 2 }}&gt;CHAPTER 04 / 05&lt;/Text&gt;&#10;    &lt;/Box&gt;&#10;    &lt;Box style={{ position: 'absolute', left: 72, top: 176, width: 620 }}&gt;&#10;        &lt;Text style={{ fontFamily: 'Microsoft YaHei', fontSize: 58, fontWeight: 'bold', color: '#F2F7F8', letterSpacing: 2 }}&gt;实验与验证&lt;/Text&gt;&#10;        &lt;Box style={{ marginTop: 22, width: 52, height: 3, background: '#6BC8D1' }} /&gt;&#10;        &lt;Text style={{ marginTop: 24, fontFamily: 'Microsoft YaHei', fontSize: 19, color: 'rgba(242,247,248,0.68)', lineHeight: 1.7, width: 560 }}&gt;&#10;            七个场景、一条教学闭环，以及一套说清楚的模型边界。&#10;        &lt;/Text&gt;&#10;    &lt;/Box&gt;&#10;&#10;    &lt;Box style={{ position: 'absolute', left: 72, top: 420, width: 560 }}&gt;&#10;        &lt;Box style={{ flexDirection: 'row', alignItems: 'center', height: 48, borderTop: '1px solid rgba(242,247,248,0.12)' }}&gt;&#10;            &lt;Text style={{ width: 54, fontFamily: 'Consolas', fontSize: 10, color: '#6BC8D1' }}&gt;04.1&lt;/Text&gt;&#10;            &lt;Text style={{ fontFamily: 'Microsoft YaHei', fontSize: 14, color: 'rgba(242,247,248,0.72)' }}&gt;七个场景：从入门到挑战&lt;/Text&gt;&#10;        &lt;/Box&gt;&#10;        &lt;Box style={{ flexDirection: 'row', alignItems: 'center', height: 48, borderTop: '1px solid rgba(242,247,248,0.12)' }}&gt;&#10;            &lt;Text style={{ width: 54, fontFamily: 'Consolas', fontSize: 10, color: '#6BC8D1' }}&gt;04.2&lt;/Text&gt;&#10;            &lt;Text style={{ fontFamily: 'Microsoft YaHei', fontSize: 14, color: 'rgba(242,247,248,0.72)' }}&gt;从学到考，再到实验验证&lt;/Text&gt;&#10;        &lt;/Box&gt;&#10;        &lt;Box style={{ flexDirection: 'row', alignItems: 'center', height: 48, borderTop: '1px solid rgba(242,247,248,0.12)', borderBottom: '1px solid rgba(242,247,248,0.12)' }}&gt;&#10;            &lt;Text style={{ width: 54, fontFamily: 'Consolas', fontSize: 10, color: '#6BC8D1' }}&gt;04.3&lt;/Text&gt;&#10;            &lt;Text style={{ fontFamily: 'Microsoft YaHei', fontSize: 14, color: 'rgba(242,247,248,0.72)' }}&gt;模型边界与公开文献来源&lt;/Text&gt;&#10;        &lt;/Box&gt;&#10;    &lt;/Box&gt;&#10;&#10;    &lt;Box style={{ position: 'absolute', left: 72, top: 664, flexDirection: 'row', alignItems: 'center', gap: 8 }}&gt;&#10;        &lt;Text style={{ fontFamily: 'Consolas', fontSize: 10.5, color: 'rgba(242,247,248,0.40)' }}&gt;智御网络&lt;/Text&gt;&#10;        &lt;Box style={{ width: 16, height: 1, background: 'rgba(242,247,248,0.20)' }} /&gt;&#10;        &lt;Text style={{ fontFamily: 'Consolas', fontSize: 10.5, color: 'rgba(242,247,248,0.40)' }}&gt;EXPERIMENTS&lt;/Text&gt;&#10;    &lt;/Box&gt;&#10;    &lt;Text style={{ position: 'absolute', right: 56, top: 664, fontFamily: 'Consolas', fontSize: 10.5, color: 'rgba(242,247,248,0.40)' }}&gt;16 / 22&lt;/Text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2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07111B"/>
          </a:solidFill>
          <a:ln/>
        </p:spPr>
        <p:txBody>
          <a:bodyPr/>
          <a:p/>
        </p:txBody>
      </p:sp>
      <p:pic>
        <p:nvPicPr>
          <p:cNvPr id="373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1"/>
              </a:ext>
            </a:extLst>
          </a:blip>
          <a:stretch>
            <a:fillRect/>
          </a:stretch>
        </p:blipFill>
        <p:spPr>
          <a:xfrm rot="0" flipH="0" flipV="0">
            <a:off x="0" y="0"/>
            <a:ext cx="12192000" cy="6858000"/>
          </a:xfrm>
          <a:prstGeom prst="rect">
            <a:avLst/>
          </a:prstGeom>
          <a:ln/>
        </p:spPr>
      </p:pic>
      <p:sp>
        <p:nvSpPr>
          <p:cNvPr id="374" name="" descr="{&quot;isTemplate&quot;:true,&quot;type&quot;:&quot;text&quot;}"/>
          <p:cNvSpPr txBox="1"/>
          <p:nvPr/>
        </p:nvSpPr>
        <p:spPr>
          <a:xfrm rot="0" flipH="0" flipV="0">
            <a:off x="6705600" y="1466850"/>
            <a:ext cx="4953000" cy="3314700"/>
          </a:xfrm>
          <a:prstGeom prst="rect"/>
        </p:spPr>
        <p:txBody>
          <a:bodyPr wrap="none" lIns="0" tIns="0" rIns="0" bIns="0"/>
          <a:p>
            <a:pPr algn="r">
              <a:lnSpc>
                <a:spcPct val="100000"/>
              </a:lnSpc>
            </a:pPr>
            <a:r>
              <a:rPr lang="en-US" sz="21750" b="1">
                <a:solidFill>
                  <a:srgbClr val="F2F7F8">
                    <a:alpha val="5500"/>
                  </a:srgbClr>
                </a:solidFill>
                <a:latin typeface="Consolas"/>
                <a:ea typeface="Consolas"/>
              </a:rPr>
              <a:t>04</a:t>
            </a:r>
            <a:endParaRPr/>
          </a:p>
        </p:txBody>
      </p:sp>
      <p:sp>
        <p:nvSpPr>
          <p:cNvPr id="375" name=""/>
          <p:cNvSpPr/>
          <p:nvPr/>
        </p:nvSpPr>
        <p:spPr>
          <a:xfrm rot="0" flipH="0" flipV="0">
            <a:off x="0" y="0"/>
            <a:ext cx="47625" cy="6858000"/>
          </a:xfrm>
          <a:prstGeom prst="rect">
            <a:avLst/>
          </a:prstGeom>
          <a:solidFill>
            <a:srgbClr val="6BC8D1">
              <a:alpha val="55000"/>
            </a:srgbClr>
          </a:solidFill>
          <a:ln/>
        </p:spPr>
        <p:txBody>
          <a:bodyPr/>
          <a:p/>
        </p:txBody>
      </p:sp>
      <p:sp>
        <p:nvSpPr>
          <p:cNvPr id="376" name="" descr="{&quot;isTemplate&quot;:true,&quot;type&quot;:&quot;text&quot;}"/>
          <p:cNvSpPr txBox="1"/>
          <p:nvPr/>
        </p:nvSpPr>
        <p:spPr>
          <a:xfrm rot="0" flipH="0" flipV="0">
            <a:off x="685800" y="438150"/>
            <a:ext cx="1152525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825" spc="150">
                <a:solidFill>
                  <a:srgbClr val="6BC8D1"/>
                </a:solidFill>
                <a:latin typeface="Consolas"/>
                <a:ea typeface="Consolas"/>
              </a:rPr>
              <a:t>CHAPTER 04 / 05</a:t>
            </a:r>
            <a:endParaRPr/>
          </a:p>
        </p:txBody>
      </p:sp>
      <p:sp>
        <p:nvSpPr>
          <p:cNvPr id="377" name="" descr="{&quot;isTemplate&quot;:true,&quot;type&quot;:&quot;text&quot;}"/>
          <p:cNvSpPr txBox="1"/>
          <p:nvPr/>
        </p:nvSpPr>
        <p:spPr>
          <a:xfrm rot="0" flipH="0" flipV="0">
            <a:off x="685800" y="1676400"/>
            <a:ext cx="5905500" cy="6667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4350" b="1" spc="150">
                <a:solidFill>
                  <a:srgbClr val="F2F7F8"/>
                </a:solidFill>
                <a:latin typeface="Microsoft YaHei"/>
                <a:ea typeface="Microsoft YaHei"/>
              </a:rPr>
              <a:t>实验与验证</a:t>
            </a:r>
            <a:endParaRPr/>
          </a:p>
        </p:txBody>
      </p:sp>
      <p:sp>
        <p:nvSpPr>
          <p:cNvPr id="378" name=""/>
          <p:cNvSpPr/>
          <p:nvPr/>
        </p:nvSpPr>
        <p:spPr>
          <a:xfrm rot="0" flipH="0" flipV="0">
            <a:off x="685800" y="2552700"/>
            <a:ext cx="495300" cy="28575"/>
          </a:xfrm>
          <a:prstGeom prst="rect">
            <a:avLst/>
          </a:prstGeom>
          <a:solidFill>
            <a:srgbClr val="6BC8D1"/>
          </a:solidFill>
          <a:ln/>
        </p:spPr>
        <p:txBody>
          <a:bodyPr/>
          <a:p/>
        </p:txBody>
      </p:sp>
      <p:sp>
        <p:nvSpPr>
          <p:cNvPr id="379" name="" descr="{&quot;isTemplate&quot;:true,&quot;type&quot;:&quot;text&quot;}"/>
          <p:cNvSpPr txBox="1"/>
          <p:nvPr/>
        </p:nvSpPr>
        <p:spPr>
          <a:xfrm rot="0" flipH="0" flipV="0">
            <a:off x="685800" y="2809875"/>
            <a:ext cx="5334000" cy="371475"/>
          </a:xfrm>
          <a:prstGeom prst="rect"/>
        </p:spPr>
        <p:txBody>
          <a:bodyPr wrap="none" lIns="0" tIns="0" rIns="0" bIns="0"/>
          <a:p>
            <a:pPr>
              <a:lnSpc>
                <a:spcPct val="170000"/>
              </a:lnSpc>
            </a:pPr>
            <a:r>
              <a:rPr lang="zh-CN" sz="1425">
                <a:solidFill>
                  <a:srgbClr val="F2F7F8">
                    <a:alpha val="68000"/>
                  </a:srgbClr>
                </a:solidFill>
                <a:latin typeface="Microsoft YaHei"/>
                <a:ea typeface="Microsoft YaHei"/>
              </a:rPr>
              <a:t>七个场景、一条教学闭环，以及一套说清楚的模型边界。</a:t>
            </a:r>
            <a:endParaRPr/>
          </a:p>
        </p:txBody>
      </p:sp>
      <p:sp>
        <p:nvSpPr>
          <p:cNvPr id="380" name=""/>
          <p:cNvSpPr/>
          <p:nvPr/>
        </p:nvSpPr>
        <p:spPr>
          <a:xfrm rot="0" flipH="0" flipV="0">
            <a:off x="685800" y="4000500"/>
            <a:ext cx="5334000" cy="457200"/>
          </a:xfrm>
          <a:custGeom>
            <a:pathLst>
              <a:path w="560" h="48">
                <a:moveTo>
                  <a:pt x="0" y="0"/>
                </a:moveTo>
                <a:lnTo>
                  <a:pt x="560" y="0"/>
                </a:lnTo>
                <a:lnTo>
                  <a:pt x="560" y="1"/>
                </a:lnTo>
                <a:lnTo>
                  <a:pt x="0" y="1"/>
                </a:lnTo>
                <a:close/>
              </a:path>
            </a:pathLst>
          </a:custGeom>
          <a:solidFill>
            <a:srgbClr val="F2F7F8">
              <a:alpha val="12000"/>
            </a:srgbClr>
          </a:solidFill>
          <a:ln/>
        </p:spPr>
        <p:txBody>
          <a:bodyPr/>
          <a:p/>
        </p:txBody>
      </p:sp>
      <p:sp>
        <p:nvSpPr>
          <p:cNvPr id="381" name="" descr="{&quot;isTemplate&quot;:true,&quot;type&quot;:&quot;text&quot;}"/>
          <p:cNvSpPr txBox="1"/>
          <p:nvPr/>
        </p:nvSpPr>
        <p:spPr>
          <a:xfrm rot="0" flipH="0" flipV="0">
            <a:off x="685800" y="4181475"/>
            <a:ext cx="514350" cy="1143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750">
                <a:solidFill>
                  <a:srgbClr val="6BC8D1"/>
                </a:solidFill>
                <a:latin typeface="Consolas"/>
                <a:ea typeface="Consolas"/>
              </a:rPr>
              <a:t>04.1</a:t>
            </a:r>
            <a:endParaRPr/>
          </a:p>
        </p:txBody>
      </p:sp>
      <p:sp>
        <p:nvSpPr>
          <p:cNvPr id="382" name="" descr="{&quot;isTemplate&quot;:true,&quot;type&quot;:&quot;text&quot;}"/>
          <p:cNvSpPr txBox="1"/>
          <p:nvPr/>
        </p:nvSpPr>
        <p:spPr>
          <a:xfrm rot="0" flipH="0" flipV="0">
            <a:off x="1200150" y="4152900"/>
            <a:ext cx="14668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F2F7F8">
                    <a:alpha val="72000"/>
                  </a:srgbClr>
                </a:solidFill>
                <a:latin typeface="Microsoft YaHei"/>
                <a:ea typeface="Microsoft YaHei"/>
              </a:rPr>
              <a:t>七个场景：从入门到挑战</a:t>
            </a:r>
            <a:endParaRPr/>
          </a:p>
        </p:txBody>
      </p:sp>
      <p:sp>
        <p:nvSpPr>
          <p:cNvPr id="383" name=""/>
          <p:cNvSpPr/>
          <p:nvPr/>
        </p:nvSpPr>
        <p:spPr>
          <a:xfrm rot="0" flipH="0" flipV="0">
            <a:off x="685800" y="4457700"/>
            <a:ext cx="5334000" cy="457200"/>
          </a:xfrm>
          <a:custGeom>
            <a:pathLst>
              <a:path w="560" h="48">
                <a:moveTo>
                  <a:pt x="0" y="0"/>
                </a:moveTo>
                <a:lnTo>
                  <a:pt x="560" y="0"/>
                </a:lnTo>
                <a:lnTo>
                  <a:pt x="560" y="1"/>
                </a:lnTo>
                <a:lnTo>
                  <a:pt x="0" y="1"/>
                </a:lnTo>
                <a:close/>
              </a:path>
            </a:pathLst>
          </a:custGeom>
          <a:solidFill>
            <a:srgbClr val="F2F7F8">
              <a:alpha val="12000"/>
            </a:srgbClr>
          </a:solidFill>
          <a:ln/>
        </p:spPr>
        <p:txBody>
          <a:bodyPr/>
          <a:p/>
        </p:txBody>
      </p:sp>
      <p:sp>
        <p:nvSpPr>
          <p:cNvPr id="384" name="" descr="{&quot;isTemplate&quot;:true,&quot;type&quot;:&quot;text&quot;}"/>
          <p:cNvSpPr txBox="1"/>
          <p:nvPr/>
        </p:nvSpPr>
        <p:spPr>
          <a:xfrm rot="0" flipH="0" flipV="0">
            <a:off x="685800" y="4638675"/>
            <a:ext cx="514350" cy="1143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750">
                <a:solidFill>
                  <a:srgbClr val="6BC8D1"/>
                </a:solidFill>
                <a:latin typeface="Consolas"/>
                <a:ea typeface="Consolas"/>
              </a:rPr>
              <a:t>04.2</a:t>
            </a:r>
            <a:endParaRPr/>
          </a:p>
        </p:txBody>
      </p:sp>
      <p:sp>
        <p:nvSpPr>
          <p:cNvPr id="385" name="" descr="{&quot;isTemplate&quot;:true,&quot;type&quot;:&quot;text&quot;}"/>
          <p:cNvSpPr txBox="1"/>
          <p:nvPr/>
        </p:nvSpPr>
        <p:spPr>
          <a:xfrm rot="0" flipH="0" flipV="0">
            <a:off x="1200150" y="4610100"/>
            <a:ext cx="14668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F2F7F8">
                    <a:alpha val="72000"/>
                  </a:srgbClr>
                </a:solidFill>
                <a:latin typeface="Microsoft YaHei"/>
                <a:ea typeface="Microsoft YaHei"/>
              </a:rPr>
              <a:t>从学到考，再到实验验证</a:t>
            </a:r>
            <a:endParaRPr/>
          </a:p>
        </p:txBody>
      </p:sp>
      <p:sp>
        <p:nvSpPr>
          <p:cNvPr id="386" name=""/>
          <p:cNvSpPr/>
          <p:nvPr/>
        </p:nvSpPr>
        <p:spPr>
          <a:xfrm rot="0" flipH="0" flipV="0">
            <a:off x="685800" y="4914900"/>
            <a:ext cx="5334000" cy="457200"/>
          </a:xfrm>
          <a:custGeom>
            <a:pathLst>
              <a:path w="560" h="48">
                <a:moveTo>
                  <a:pt x="0" y="0"/>
                </a:moveTo>
                <a:lnTo>
                  <a:pt x="560" y="0"/>
                </a:lnTo>
                <a:lnTo>
                  <a:pt x="560" y="1"/>
                </a:lnTo>
                <a:lnTo>
                  <a:pt x="0" y="1"/>
                </a:lnTo>
                <a:close/>
              </a:path>
            </a:pathLst>
          </a:custGeom>
          <a:solidFill>
            <a:srgbClr val="F2F7F8">
              <a:alpha val="12000"/>
            </a:srgbClr>
          </a:solidFill>
          <a:ln/>
        </p:spPr>
        <p:txBody>
          <a:bodyPr/>
          <a:p/>
        </p:txBody>
      </p:sp>
      <p:sp>
        <p:nvSpPr>
          <p:cNvPr id="387" name=""/>
          <p:cNvSpPr/>
          <p:nvPr/>
        </p:nvSpPr>
        <p:spPr>
          <a:xfrm rot="0" flipH="0" flipV="0">
            <a:off x="685800" y="4914900"/>
            <a:ext cx="5334000" cy="457200"/>
          </a:xfrm>
          <a:custGeom>
            <a:pathLst>
              <a:path w="560" h="48">
                <a:moveTo>
                  <a:pt x="0" y="47"/>
                </a:moveTo>
                <a:lnTo>
                  <a:pt x="560" y="47"/>
                </a:lnTo>
                <a:lnTo>
                  <a:pt x="560" y="48"/>
                </a:lnTo>
                <a:lnTo>
                  <a:pt x="0" y="48"/>
                </a:lnTo>
                <a:close/>
              </a:path>
            </a:pathLst>
          </a:custGeom>
          <a:solidFill>
            <a:srgbClr val="F2F7F8">
              <a:alpha val="12000"/>
            </a:srgbClr>
          </a:solidFill>
          <a:ln/>
        </p:spPr>
        <p:txBody>
          <a:bodyPr/>
          <a:p/>
        </p:txBody>
      </p:sp>
      <p:sp>
        <p:nvSpPr>
          <p:cNvPr id="388" name="" descr="{&quot;isTemplate&quot;:true,&quot;type&quot;:&quot;text&quot;}"/>
          <p:cNvSpPr txBox="1"/>
          <p:nvPr/>
        </p:nvSpPr>
        <p:spPr>
          <a:xfrm rot="0" flipH="0" flipV="0">
            <a:off x="685800" y="5086350"/>
            <a:ext cx="514350" cy="1143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750">
                <a:solidFill>
                  <a:srgbClr val="6BC8D1"/>
                </a:solidFill>
                <a:latin typeface="Consolas"/>
                <a:ea typeface="Consolas"/>
              </a:rPr>
              <a:t>04.3</a:t>
            </a:r>
            <a:endParaRPr/>
          </a:p>
        </p:txBody>
      </p:sp>
      <p:sp>
        <p:nvSpPr>
          <p:cNvPr id="389" name="" descr="{&quot;isTemplate&quot;:true,&quot;type&quot;:&quot;text&quot;}"/>
          <p:cNvSpPr txBox="1"/>
          <p:nvPr/>
        </p:nvSpPr>
        <p:spPr>
          <a:xfrm rot="0" flipH="0" flipV="0">
            <a:off x="1200150" y="5067300"/>
            <a:ext cx="14668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F2F7F8">
                    <a:alpha val="72000"/>
                  </a:srgbClr>
                </a:solidFill>
                <a:latin typeface="Microsoft YaHei"/>
                <a:ea typeface="Microsoft YaHei"/>
              </a:rPr>
              <a:t>模型边界与公开文献来源</a:t>
            </a:r>
            <a:endParaRPr/>
          </a:p>
        </p:txBody>
      </p:sp>
      <p:sp>
        <p:nvSpPr>
          <p:cNvPr id="390" name="" descr="{&quot;isTemplate&quot;:true,&quot;type&quot;:&quot;text&quot;}"/>
          <p:cNvSpPr txBox="1"/>
          <p:nvPr/>
        </p:nvSpPr>
        <p:spPr>
          <a:xfrm rot="0" flipH="0" flipV="0">
            <a:off x="685800" y="6324600"/>
            <a:ext cx="647700" cy="1238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788">
                <a:solidFill>
                  <a:srgbClr val="F2F7F8">
                    <a:alpha val="40000"/>
                  </a:srgbClr>
                </a:solidFill>
                <a:latin typeface="Consolas"/>
                <a:ea typeface="Consolas"/>
              </a:rPr>
              <a:t>智御网络</a:t>
            </a:r>
            <a:endParaRPr/>
          </a:p>
        </p:txBody>
      </p:sp>
      <p:sp>
        <p:nvSpPr>
          <p:cNvPr id="391" name=""/>
          <p:cNvSpPr/>
          <p:nvPr/>
        </p:nvSpPr>
        <p:spPr>
          <a:xfrm rot="0" flipH="0" flipV="0">
            <a:off x="1409700" y="6381750"/>
            <a:ext cx="152400" cy="9525"/>
          </a:xfrm>
          <a:prstGeom prst="rect">
            <a:avLst/>
          </a:prstGeom>
          <a:solidFill>
            <a:srgbClr val="F2F7F8">
              <a:alpha val="20000"/>
            </a:srgbClr>
          </a:solidFill>
          <a:ln/>
        </p:spPr>
        <p:txBody>
          <a:bodyPr/>
          <a:p/>
        </p:txBody>
      </p:sp>
      <p:sp>
        <p:nvSpPr>
          <p:cNvPr id="392" name="" descr="{&quot;isTemplate&quot;:true,&quot;type&quot;:&quot;text&quot;}"/>
          <p:cNvSpPr txBox="1"/>
          <p:nvPr/>
        </p:nvSpPr>
        <p:spPr>
          <a:xfrm rot="0" flipH="0" flipV="0">
            <a:off x="1638300" y="6324600"/>
            <a:ext cx="609600" cy="1238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788">
                <a:solidFill>
                  <a:srgbClr val="F2F7F8">
                    <a:alpha val="40000"/>
                  </a:srgbClr>
                </a:solidFill>
                <a:latin typeface="Consolas"/>
                <a:ea typeface="Consolas"/>
              </a:rPr>
              <a:t>EXPERIMENTS</a:t>
            </a:r>
            <a:endParaRPr/>
          </a:p>
        </p:txBody>
      </p:sp>
      <p:sp>
        <p:nvSpPr>
          <p:cNvPr id="393" name="" descr="{&quot;isTemplate&quot;:true,&quot;type&quot;:&quot;text&quot;}"/>
          <p:cNvSpPr txBox="1"/>
          <p:nvPr/>
        </p:nvSpPr>
        <p:spPr>
          <a:xfrm rot="0" flipH="0" flipV="0">
            <a:off x="11268075" y="6324600"/>
            <a:ext cx="390525" cy="1238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788">
                <a:solidFill>
                  <a:srgbClr val="F2F7F8">
                    <a:alpha val="40000"/>
                  </a:srgbClr>
                </a:solidFill>
                <a:latin typeface="Consolas"/>
                <a:ea typeface="Consolas"/>
              </a:rPr>
              <a:t>16 / 22</a:t>
            </a:r>
            <a:endParaRPr/>
          </a:p>
        </p:txBody>
      </p:sp>
    </p:spTree>
  </p:cSld>
</p:sld>
</file>

<file path=ppt/slides/slide17.xml><?xml version="1.0" encoding="utf-8"?>
<p:sld xmlns:p="http://schemas.openxmlformats.org/presentationml/2006/main" xmlns:r="http://schemas.openxmlformats.org/officeDocument/2006/relationships" xmlns:a="http://schemas.openxmlformats.org/drawingml/2006/main" xmlns:asvg="http://schemas.microsoft.com/office/drawing/2016/SVG/main" xmlns:mc="http://schemas.openxmlformats.org/markup-compatibility/2006" mc:Ignorable="asvg">
  <p:cSld>
    <p:spTree>
      <p:nvGrpSpPr>
        <p:cNvPr id="394" name="" descr="&lt;Slide style={{ width: 1280, height: 720, background: '#07111B', padding: 0, position: 'relative', overflow: 'hidden' }}&gt;&#10;    &lt;svg width={1280} height={720} viewBox='0 0 1280 720' style={{ position: 'absolute', left: 0, top: 0 }}&gt;&#10;        &lt;g stroke='rgba(242,247,248,0.022)' strokeWidth='1'&gt;&#10;            &lt;path d='M0 96H1280M0 192H1280M0 288H1280M0 384H1280M0 480H1280M0 576H1280M0 672H1280' /&gt;&#10;        &lt;/g&gt;&#10;        &lt;circle cx='1090' cy='120' r='240' fill='rgba(107,200,209,0.03)' /&gt;&#10;    &lt;/svg&gt;&#10;&#10;    &lt;Box style={{ position: 'absolute', left: 56, top: 38 }}&gt;&#10;        &lt;Text style={{ fontFamily: 'Consolas', fontSize: 11, color: '#6BC8D1', letterSpacing: 1.8 }}&gt;04 / 实验与验证&lt;/Text&gt;&#10;    &lt;/Box&gt;&#10;    &lt;Text style={{ position: 'absolute', left: 56, top: 62, fontFamily: 'Microsoft YaHei', fontSize: 31, fontWeight: 'bold', color: '#F2F7F8', letterSpacing: 0.5 }}&gt;七个场景，一条从入门到挑战的路径&lt;/Text&gt;&#10;    &lt;Text style={{ position: 'absolute', right: 56, top: 76, fontFamily: 'Consolas', fontSize: 10.5, color: 'rgba(242,247,248,0.42)' }}&gt;1 CORE + 6 EXTENSIONS&lt;/Text&gt;&#10;&#10;    &lt;Box style={{ position: 'absolute', left: 56, top: 140, width: 238 }}&gt;&#10;        &lt;Text style={{ fontFamily: 'Consolas', fontSize: 122, fontWeight: 'bold', color: '#F2F7F8', lineHeight: 0.95, letterSpacing: -4 }}&gt;07&lt;/Text&gt;&#10;        &lt;Text style={{ marginTop: 6, fontFamily: 'Consolas', fontSize: 10, color: '#6BC8D1', letterSpacing: 2.5 }}&gt;SCENARIOS&lt;/Text&gt;&#10;        &lt;Box style={{ marginTop: 20, width: 34, height: 2, background: 'rgba(107,200,209,0.55)' }} /&gt;&#10;        &lt;Text style={{ marginTop: 18, fontFamily: 'Microsoft YaHei', fontSize: 12.5, color: 'rgba(242,247,248,0.56)', lineHeight: 1.8 }}&gt;&#10;            1 个核心实验&lt;br /&gt;6 个扩展实验&#10;        &lt;/Text&gt;&#10;        &lt;Box style={{ marginTop: 22 }}&gt;&#10;            &lt;Box style={{ flexDirection: 'row', alignItems: 'center', gap: 8, marginBottom: 8 }}&gt;&#10;                &lt;Box style={{ width: 6, height: 6, borderRadius: 3, background: '#E78172' }} /&gt;&#10;                &lt;Text style={{ fontFamily: 'Consolas', fontSize: 8.5, color: 'rgba(242,247,248,0.48)' }}&gt;ATTACK_STATE&lt;/Text&gt;&#10;            &lt;/Box&gt;&#10;            &lt;Box style={{ flexDirection: 'row', alignItems: 'center', gap: 8 }}&gt;&#10;                &lt;Box style={{ width: 6, height: 6, borderRadius: 3, background: '#6BC8D1' }} /&gt;&#10;                &lt;Text style={{ fontFamily: 'Consolas', fontSize: 8.5, color: 'rgba(242,247,248,0.48)' }}&gt;TEACHING&lt;/Text&gt;&#10;            &lt;/Box&gt;&#10;        &lt;/Box&gt;&#10;    &lt;/Box&gt;&#10;&#10;    &lt;Box style={{ position: 'absolute', left: 330, top: 136, width: 894 }}&gt;&#10;        &lt;Box style={{ flexDirection: 'row', alignItems: 'center', height: 22, borderBottom: '1px solid rgba(242,247,248,0.10)' }}&gt;&#10;            &lt;Text style={{ width: 36, fontFamily: 'Consolas', fontSize: 8, color: 'rgba(242,247,248,0.30)' }}&gt;NO.&lt;/Text&gt;&#10;            &lt;Text style={{ width: 470, fontFamily: 'Consolas', fontSize: 8, color: 'rgba(242,247,248,0.30)' }}&gt;SCENARIO / OBJECTIVE&lt;/Text&gt;&#10;            &lt;Text style={{ width: 168, fontFamily: 'Consolas', fontSize: 8, color: 'rgba(242,247,248,0.30)' }}&gt;MODE&lt;/Text&gt;&#10;            &lt;Text style={{ width: 90, fontFamily: 'Consolas', fontSize: 8, color: 'rgba(242,247,248,0.30)' }}&gt;LEVEL&lt;/Text&gt;&#10;            &lt;Text style={{ width: 70, textAlign: 'right', fontFamily: 'Consolas', fontSize: 8, color: 'rgba(242,247,248,0.30)' }}&gt;TIME&lt;/Text&gt;&#10;        &lt;/Box&gt;&#10;&#10;        &lt;Box style={{ flexDirection: 'row', alignItems: 'center', height: 64, background: 'rgba(231,129,114,0.055)', borderBottom: '1px solid rgba(242,247,248,0.08)', paddingLeft: 0 }}&gt;&#10;            &lt;Text style={{ width: 36, fontFamily: 'Consolas', fontSize: 10, color: '#E78172' }}&gt;01&lt;/Text&gt;&#10;            &lt;Box style={{ width: 470 }}&gt;&#10;                &lt;Text style={{ fontFamily: 'Microsoft YaHei', fontSize: 13.5, fontWeight: 'bold', color: '#F2F7F8' }}&gt;终端失陷与横向传播&lt;/Text&gt;&#10;                &lt;Text style={{ marginTop: 3, fontFamily: 'Microsoft YaHei', fontSize: 9.5, color: 'rgba(242,247,248,0.46)' }}&gt;权限、通信与数据访问组成的状态链&lt;/Text&gt;&#10;            &lt;/Box&gt;&#10;            &lt;Box style={{ width: 168 }}&gt;&#10;                &lt;Box style={{ width: 96, paddingTop: 3, paddingBottom: 3, alignItems: 'center', border: '1px solid rgba(231,129,114,0.35)', borderRadius: 3 }}&gt;&#10;                    &lt;Text style={{ fontFamily: 'Consolas', fontSize: 8, color: '#E78172' }}&gt;ATTACK_STATE&lt;/Text&gt;&#10;                &lt;/Box&gt;&#10;            &lt;/Box&gt;&#10;            &lt;Text style={{ width: 90, fontFamily: 'Microsoft YaHei', fontSize: 10, color: 'rgba(242,247,248,0.58)' }}&gt;进阶&lt;/Text&gt;&#10;            &lt;Text style={{ width: 70, textAlign: 'right', fontFamily: 'Consolas', fontSize: 9.5, color: 'rgba(242,247,248,0.44)' }}&gt;8 min&lt;/Text&gt;&#10;        &lt;/Box&gt;&#10;&#10;        &lt;Box style={{ flexDirection: 'row', alignItems: 'center', height: 64, borderBottom: '1px solid rgba(242,247,248,0.08)' }}&gt;&#10;            &lt;Text style={{ width: 36, fontFamily: 'Consolas', fontSize: 10, color: 'rgba(242,247,248,0.42)' }}&gt;02&lt;/Text&gt;&#10;            &lt;Box style={{ width: 470 }}&gt;&#10;                &lt;Text style={{ fontFamily: 'Microsoft YaHei', fontSize: 13.5, fontWeight: 'bold', color: '#F2F7F8' }}&gt;外部访问与防火墙拦截&lt;/Text&gt;&#10;                &lt;Text style={{ marginTop: 3, fontFamily: 'Microsoft YaHei', fontSize: 9.5, color: 'rgba(242,247,248,0.46)' }}&gt;边界规则、显式放行与默认拒绝&lt;/Text&gt;&#10;            &lt;/Box&gt;&#10;            &lt;Box style={{ width: 168 }}&gt;&#10;                &lt;Box style={{ width: 96, paddingTop: 3, paddingBottom: 3, alignItems: 'center', border: '1px solid rgba(107,200,209,0.22)', borderRadius: 3 }}&gt;&#10;                    &lt;Text style={{ fontFamily: 'Consolas', fontSize: 8, color: '#6BC8D1' }}&gt;TEACHING&lt;/Text&gt;&#10;                &lt;/Box&gt;&#10;            &lt;/Box&gt;&#10;            &lt;Text style={{ width: 90, fontFamily: 'Microsoft YaHei', fontSize: 10, color: 'rgba(242,247,248,0.58)' }}&gt;入门&lt;/Text&gt;&#10;            &lt;Text style={{ width: 70, textAlign: 'right', fontFamily: 'Consolas', fontSize: 9.5, color: 'rgba(242,247,248,0.44)' }}&gt;5 min&lt;/Text&gt;&#10;        &lt;/Box&gt;&#10;&#10;        &lt;Box style={{ flexDirection: 'row', alignItems: 'center', height: 64, borderBottom: '1px solid rgba(242,247,248,0.08)' }}&gt;&#10;            &lt;Text style={{ width: 36, fontFamily: 'Consolas', fontSize: 10, color: 'rgba(242,247,248,0.42)' }}&gt;03&lt;/Text&gt;&#10;            &lt;Box style={{ width: 470 }}&gt;&#10;                &lt;Text style={{ fontFamily: 'Microsoft YaHei', fontSize: 13.5, fontWeight: 'bold', color: '#F2F7F8' }}&gt;网络分区防御实验&lt;/Text&gt;&#10;                &lt;Text style={{ marginTop: 3, fontFamily: 'Microsoft YaHei', fontSize: 9.5, color: 'rgba(242,247,248,0.46)' }}&gt;VLAN 与区域边界之间的取舍&lt;/Text&gt;&#10;            &lt;/Box&gt;&#10;            &lt;Box style={{ width: 168 }}&gt;&#10;                &lt;Box style={{ width: 96, paddingTop: 3, paddingBottom: 3, alignItems: 'center', border: '1px solid rgba(107,200,209,0.22)', borderRadius: 3 }}&gt;&#10;                    &lt;Text style={{ fontFamily: 'Consolas', fontSize: 8, color: '#6BC8D1' }}&gt;TEACHING&lt;/Text&gt;&#10;                &lt;/Box&gt;&#10;            &lt;/Box&gt;&#10;            &lt;Text style={{ width: 90, fontFamily: 'Microsoft YaHei', fontSize: 10, color: 'rgba(242,247,248,0.58)' }}&gt;进阶&lt;/Text&gt;&#10;            &lt;Text style={{ width: 70, textAlign: 'right', fontFamily: 'Consolas', fontSize: 9.5, color: 'rgba(242,247,248,0.44)' }}&gt;6 min&lt;/Text&gt;&#10;        &lt;/Box&gt;&#10;&#10;        &lt;Box style={{ flexDirection: 'row', alignItems: 'center', height: 64, borderBottom: '1px solid rgba(242,247,248,0.08)' }}&gt;&#10;            &lt;Text style={{ width: 36, fontFamily: 'Consolas', fontSize: 10, color: 'rgba(242,247,248,0.42)' }}&gt;04&lt;/Text&gt;&#10;            &lt;Box style={{ width: 470 }}&gt;&#10;                &lt;Text style={{ fontFamily: 'Microsoft YaHei', fontSize: 13.5, fontWeight: 'bold', color: '#F2F7F8' }}&gt;供应链入口传播路径&lt;/Text&gt;&#10;                &lt;Text style={{ marginTop: 3, fontFamily: 'Microsoft YaHei', fontSize: 9.5, color: 'rgba(242,247,248,0.46)' }}&gt;跨区必须逐跳命中显式放行&lt;/Text&gt;&#10;            &lt;/Box&gt;&#10;            &lt;Box style={{ width: 168 }}&gt;&#10;                &lt;Box style={{ width: 96, paddingTop: 3, paddingBottom: 3, alignItems: 'center', border: '1px solid rgba(107,200,209,0.22)', borderRadius: 3 }}&gt;&#10;                    &lt;Text style={{ fontFamily: 'Consolas', fontSize: 8, color: '#6BC8D1' }}&gt;TEACHING&lt;/Text&gt;&#10;                &lt;/Box&gt;&#10;            &lt;/Box&gt;&#10;            &lt;Text style={{ width: 90, fontFamily: 'Microsoft YaHei', fontSize: 10, color: '#E78172' }}&gt;挑战&lt;/Text&gt;&#10;            &lt;Text style={{ width: 70, textAlign: 'right', fontFamily: 'Consolas', fontSize: 9.5, color: 'rgba(242,247,248,0.44)' }}&gt;10 min&lt;/Text&gt;&#10;        &lt;/Box&gt;&#10;&#10;        &lt;Box style={{ flexDirection: 'row', alignItems: 'center', height: 64, borderBottom: '1px solid rgba(242,247,248,0.08)' }}&gt;&#10;            &lt;Text style={{ width: 36, fontFamily: 'Consolas', fontSize: 10, color: 'rgba(242,247,248,0.42)' }}&gt;05&lt;/Text&gt;&#10;            &lt;Box style={{ width: 470 }}&gt;&#10;                &lt;Text style={{ fontFamily: 'Microsoft YaHei', fontSize: 13.5, fontWeight: 'bold', color: '#F2F7F8' }}&gt;勒索风险与文件服务保护&lt;/Text&gt;&#10;                &lt;Text style={{ marginTop: 3, fontFamily: 'Microsoft YaHei', fontSize: 9.5, color: 'rgba(242,247,248,0.46)' }}&gt;终端防护与业务连续性的权衡&lt;/Text&gt;&#10;            &lt;/Box&gt;&#10;            &lt;Box style={{ width: 168 }}&gt;&#10;                &lt;Box style={{ width: 96, paddingTop: 3, paddingBottom: 3, alignItems: 'center', border: '1px solid rgba(107,200,209,0.22)', borderRadius: 3 }}&gt;&#10;                    &lt;Text style={{ fontFamily: 'Consolas', fontSize: 8, color: '#6BC8D1' }}&gt;TEACHING&lt;/Text&gt;&#10;                &lt;/Box&gt;&#10;            &lt;/Box&gt;&#10;            &lt;Text style={{ width: 90, fontFamily: 'Microsoft YaHei', fontSize: 10, color: 'rgba(242,247,248,0.58)' }}&gt;进阶&lt;/Text&gt;&#10;            &lt;Text style={{ width: 70, textAlign: 'right', fontFamily: 'Consolas', fontSize: 9.5, color: 'rgba(242,247,248,0.44)' }}&gt;9 min&lt;/Text&gt;&#10;        &lt;/Box&gt;&#10;&#10;        &lt;Box style={{ flexDirection: 'row', alignItems: 'center', height: 64, borderBottom: '1px solid rgba(242,247,248,0.08)' }}&gt;&#10;            &lt;Text style={{ width: 36, fontFamily: 'Consolas', fontSize: 10, color: 'rgba(242,247,248,0.42)' }}&gt;06&lt;/Text&gt;&#10;            &lt;Box style={{ width: 470 }}&gt;&#10;                &lt;Text style={{ fontFamily: 'Microsoft YaHei', fontSize: 13.5, fontWeight: 'bold', color: '#F2F7F8' }}&gt;零信任微隔离：主机对主机&lt;/Text&gt;&#10;                &lt;Text style={{ marginTop: 3, fontFamily: 'Microsoft YaHei', fontSize: 9.5, color: 'rgba(242,247,248,0.46)' }}&gt;取消“同区域即可信”后的最小权限&lt;/Text&gt;&#10;            &lt;/Box&gt;&#10;            &lt;Box style={{ width: 168 }}&gt;&#10;                &lt;Box style={{ width: 96, paddingTop: 3, paddingBottom: 3, alignItems: 'center', border: '1px solid rgba(107,200,209,0.22)', borderRadius: 3 }}&gt;&#10;                    &lt;Text style={{ fontFamily: 'Consolas', fontSize: 8, color: '#6BC8D1' }}&gt;TEACHING&lt;/Text&gt;&#10;                &lt;/Box&gt;&#10;            &lt;/Box&gt;&#10;            &lt;Text style={{ width: 90, fontFamily: 'Microsoft YaHei', fontSize: 10, color: '#E78172' }}&gt;挑战&lt;/Text&gt;&#10;            &lt;Text style={{ width: 70, textAlign: 'right', fontFamily: 'Consolas', fontSize: 9.5, color: 'rgba(242,247,248,0.44)' }}&gt;8 min&lt;/Text&gt;&#10;        &lt;/Box&gt;&#10;&#10;        &lt;Box style={{ flexDirection: 'row', alignItems: 'center', height: 64, borderBottom: '1px solid rgba(242,247,248,0.08)' }}&gt;&#10;            &lt;Text style={{ width: 36, fontFamily: 'Consolas', fontSize: 10, color: 'rgba(242,247,248,0.42)' }}&gt;07&lt;/Text&gt;&#10;            &lt;Box style={{ width: 470 }}&gt;&#10;                &lt;Text style={{ fontFamily: 'Microsoft YaHei', fontSize: 13.5, fontWeight: 'bold', color: '#F2F7F8' }}&gt;工业控制网：SCADA / PLC&lt;/Text&gt;&#10;                &lt;Text style={{ marginTop: 3, fontFamily: 'Microsoft YaHei', fontSize: 9.5, color: 'rgba(242,247,248,0.46)' }}&gt;控制区、现场区与历史数据区&lt;/Text&gt;&#10;            &lt;/Box&gt;&#10;            &lt;Box style={{ width: 168 }}&gt;&#10;                &lt;Box style={{ width: 96, paddingTop: 3, paddingBottom: 3, alignItems: 'center', border: '1px solid rgba(107,200,209,0.22)', borderRadius: 3 }}&gt;&#10;                    &lt;Text style={{ fontFamily: 'Consolas', fontSize: 8, color: '#6BC8D1' }}&gt;TEACHING&lt;/Text&gt;&#10;                &lt;/Box&gt;&#10;            &lt;/Box&gt;&#10;            &lt;Text style={{ width: 90, fontFamily: 'Microsoft YaHei', fontSize: 10, color: '#E78172' }}&gt;挑战&lt;/Text&gt;&#10;            &lt;Text style={{ width: 70, textAlign: 'right', fontFamily: 'Consolas', fontSize: 9.5, color: 'rgba(242,247,248,0.44)' }}&gt;10 min&lt;/Text&gt;&#10;        &lt;/Box&gt;&#10;    &lt;/Box&gt;&#10;&#10;    &lt;Box style={{ position: 'absolute', left: 56, top: 626, width: 1168, flexDirection: 'row', alignItems: 'center', gap: 10 }}&gt;&#10;        &lt;Box style={{ width: 20, height: 1, background: '#6BC8D1' }} /&gt;&#10;        &lt;Text style={{ fontFamily: 'Microsoft YaHei', fontSize: 11, color: 'rgba(242,247,248,0.46)' }}&gt;场景不是七套脚本：拓扑、接口、VLAN、路由、策略与初始条件共同驱动同一套引擎。&lt;/Text&gt;&#10;    &lt;/Box&gt;&#10;&#10;    &lt;Box style={{ position: 'absolute', left: 56, top: 664, width: 1168, height: 1, background: 'rgba(242,247,248,0.10)' }} /&gt;&#10;    &lt;Text style={{ position: 'absolute', left: 56, top: 678, fontFamily: 'Consolas', fontSize: 10.5, color: 'rgba(242,247,248,0.40)', letterSpacing: 0.8 }}&gt;智御网络 · 三维网络安全策略交互验证平台&lt;/Text&gt;&#10;    &lt;Text style={{ position: 'absolute', right: 56, top: 678, fontFamily: 'Consolas', fontSize: 10.5, color: 'rgba(242,247,248,0.40)' }}&gt;17 / 22&lt;/Text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5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07111B"/>
          </a:solidFill>
          <a:ln/>
        </p:spPr>
        <p:txBody>
          <a:bodyPr/>
          <a:p/>
        </p:txBody>
      </p:sp>
      <p:pic>
        <p:nvPicPr>
          <p:cNvPr id="396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1"/>
              </a:ext>
            </a:extLst>
          </a:blip>
          <a:stretch>
            <a:fillRect/>
          </a:stretch>
        </p:blipFill>
        <p:spPr>
          <a:xfrm rot="0" flipH="0" flipV="0">
            <a:off x="0" y="0"/>
            <a:ext cx="12192000" cy="6858000"/>
          </a:xfrm>
          <a:prstGeom prst="rect">
            <a:avLst/>
          </a:prstGeom>
          <a:ln/>
        </p:spPr>
      </p:pic>
      <p:sp>
        <p:nvSpPr>
          <p:cNvPr id="397" name="" descr="{&quot;isTemplate&quot;:true,&quot;type&quot;:&quot;text&quot;}"/>
          <p:cNvSpPr txBox="1"/>
          <p:nvPr/>
        </p:nvSpPr>
        <p:spPr>
          <a:xfrm rot="0" flipH="0" flipV="0">
            <a:off x="533400" y="361950"/>
            <a:ext cx="1276350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825" spc="135">
                <a:solidFill>
                  <a:srgbClr val="6BC8D1"/>
                </a:solidFill>
                <a:latin typeface="Consolas"/>
                <a:ea typeface="Consolas"/>
              </a:rPr>
              <a:t>04 / </a:t>
            </a:r>
            <a:r>
              <a:rPr lang="zh-CN" sz="825" spc="135">
                <a:solidFill>
                  <a:srgbClr val="6BC8D1"/>
                </a:solidFill>
                <a:latin typeface="Consolas"/>
                <a:ea typeface="Consolas"/>
              </a:rPr>
              <a:t>实验与验证</a:t>
            </a:r>
            <a:endParaRPr/>
          </a:p>
        </p:txBody>
      </p:sp>
      <p:sp>
        <p:nvSpPr>
          <p:cNvPr id="398" name="" descr="{&quot;isTemplate&quot;:true,&quot;type&quot;:&quot;text&quot;}"/>
          <p:cNvSpPr txBox="1"/>
          <p:nvPr/>
        </p:nvSpPr>
        <p:spPr>
          <a:xfrm rot="0" flipH="0" flipV="0">
            <a:off x="533400" y="590550"/>
            <a:ext cx="4800600" cy="3619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325" b="1" spc="38">
                <a:solidFill>
                  <a:srgbClr val="F2F7F8"/>
                </a:solidFill>
                <a:latin typeface="Microsoft YaHei"/>
                <a:ea typeface="Microsoft YaHei"/>
              </a:rPr>
              <a:t>七个场景，一条从入门到挑战的路径</a:t>
            </a:r>
            <a:endParaRPr/>
          </a:p>
        </p:txBody>
      </p:sp>
      <p:sp>
        <p:nvSpPr>
          <p:cNvPr id="399" name="" descr="{&quot;isTemplate&quot;:true,&quot;type&quot;:&quot;text&quot;}"/>
          <p:cNvSpPr txBox="1"/>
          <p:nvPr/>
        </p:nvSpPr>
        <p:spPr>
          <a:xfrm rot="0" flipH="0" flipV="0">
            <a:off x="10496550" y="723900"/>
            <a:ext cx="1162050" cy="1238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788">
                <a:solidFill>
                  <a:srgbClr val="F2F7F8">
                    <a:alpha val="42000"/>
                  </a:srgbClr>
                </a:solidFill>
                <a:latin typeface="Consolas"/>
                <a:ea typeface="Consolas"/>
              </a:rPr>
              <a:t>1 CORE + 6 EXTENSIONS</a:t>
            </a:r>
            <a:endParaRPr/>
          </a:p>
        </p:txBody>
      </p:sp>
      <p:sp>
        <p:nvSpPr>
          <p:cNvPr id="400" name="" descr="{&quot;isTemplate&quot;:true,&quot;type&quot;:&quot;text&quot;}"/>
          <p:cNvSpPr txBox="1"/>
          <p:nvPr/>
        </p:nvSpPr>
        <p:spPr>
          <a:xfrm rot="0" flipH="0" flipV="0">
            <a:off x="533400" y="1333500"/>
            <a:ext cx="2266950" cy="1333500"/>
          </a:xfrm>
          <a:prstGeom prst="rect"/>
        </p:spPr>
        <p:txBody>
          <a:bodyPr wrap="none" lIns="0" tIns="0" rIns="0" bIns="0"/>
          <a:p>
            <a:pPr>
              <a:lnSpc>
                <a:spcPct val="95000"/>
              </a:lnSpc>
            </a:pPr>
            <a:r>
              <a:rPr lang="en-US" sz="9150" b="1" spc="-300">
                <a:solidFill>
                  <a:srgbClr val="F2F7F8"/>
                </a:solidFill>
                <a:latin typeface="Consolas"/>
                <a:ea typeface="Consolas"/>
              </a:rPr>
              <a:t>07</a:t>
            </a:r>
            <a:endParaRPr/>
          </a:p>
        </p:txBody>
      </p:sp>
      <p:sp>
        <p:nvSpPr>
          <p:cNvPr id="401" name="" descr="{&quot;isTemplate&quot;:true,&quot;type&quot;:&quot;text&quot;}"/>
          <p:cNvSpPr txBox="1"/>
          <p:nvPr/>
        </p:nvSpPr>
        <p:spPr>
          <a:xfrm rot="0" flipH="0" flipV="0">
            <a:off x="533400" y="2724150"/>
            <a:ext cx="2266950" cy="1143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750" spc="188">
                <a:solidFill>
                  <a:srgbClr val="6BC8D1"/>
                </a:solidFill>
                <a:latin typeface="Consolas"/>
                <a:ea typeface="Consolas"/>
              </a:rPr>
              <a:t>SCENARIOS</a:t>
            </a:r>
            <a:endParaRPr/>
          </a:p>
        </p:txBody>
      </p:sp>
      <p:sp>
        <p:nvSpPr>
          <p:cNvPr id="402" name=""/>
          <p:cNvSpPr/>
          <p:nvPr/>
        </p:nvSpPr>
        <p:spPr>
          <a:xfrm rot="0" flipH="0" flipV="0">
            <a:off x="533400" y="3028950"/>
            <a:ext cx="323850" cy="19050"/>
          </a:xfrm>
          <a:prstGeom prst="rect">
            <a:avLst/>
          </a:prstGeom>
          <a:solidFill>
            <a:srgbClr val="6BC8D1">
              <a:alpha val="55000"/>
            </a:srgbClr>
          </a:solidFill>
          <a:ln/>
        </p:spPr>
        <p:txBody>
          <a:bodyPr/>
          <a:p/>
        </p:txBody>
      </p:sp>
      <p:sp>
        <p:nvSpPr>
          <p:cNvPr id="403" name="" descr="{&quot;isTemplate&quot;:true,&quot;type&quot;:&quot;text&quot;}"/>
          <p:cNvSpPr txBox="1"/>
          <p:nvPr/>
        </p:nvSpPr>
        <p:spPr>
          <a:xfrm rot="0" flipH="0" flipV="0">
            <a:off x="533400" y="3219450"/>
            <a:ext cx="2266950" cy="514350"/>
          </a:xfrm>
          <a:prstGeom prst="rect"/>
        </p:spPr>
        <p:txBody>
          <a:bodyPr wrap="none" lIns="0" tIns="0" rIns="0" bIns="0"/>
          <a:p>
            <a:pPr>
              <a:lnSpc>
                <a:spcPct val="180000"/>
              </a:lnSpc>
            </a:pPr>
            <a:r>
              <a:rPr lang="en-US" sz="938">
                <a:solidFill>
                  <a:srgbClr val="F2F7F8">
                    <a:alpha val="56000"/>
                  </a:srgbClr>
                </a:solidFill>
                <a:latin typeface="Microsoft YaHei"/>
                <a:ea typeface="Microsoft YaHei"/>
              </a:rPr>
              <a:t>1 </a:t>
            </a:r>
            <a:r>
              <a:rPr lang="zh-CN" sz="938">
                <a:solidFill>
                  <a:srgbClr val="F2F7F8">
                    <a:alpha val="56000"/>
                  </a:srgbClr>
                </a:solidFill>
                <a:latin typeface="Microsoft YaHei"/>
                <a:ea typeface="Microsoft YaHei"/>
              </a:rPr>
              <a:t>个核心实验</a:t>
            </a:r>
            <a:endParaRPr/>
          </a:p>
          <a:p>
            <a:pPr>
              <a:lnSpc>
                <a:spcPct val="180000"/>
              </a:lnSpc>
            </a:pPr>
            <a:r>
              <a:rPr lang="en-US" sz="938">
                <a:solidFill>
                  <a:srgbClr val="F2F7F8">
                    <a:alpha val="56000"/>
                  </a:srgbClr>
                </a:solidFill>
                <a:latin typeface="Microsoft YaHei"/>
                <a:ea typeface="Microsoft YaHei"/>
              </a:rPr>
              <a:t>6 </a:t>
            </a:r>
            <a:r>
              <a:rPr lang="zh-CN" sz="938">
                <a:solidFill>
                  <a:srgbClr val="F2F7F8">
                    <a:alpha val="56000"/>
                  </a:srgbClr>
                </a:solidFill>
                <a:latin typeface="Microsoft YaHei"/>
                <a:ea typeface="Microsoft YaHei"/>
              </a:rPr>
              <a:t>个扩展实验</a:t>
            </a:r>
            <a:endParaRPr/>
          </a:p>
        </p:txBody>
      </p:sp>
      <p:sp>
        <p:nvSpPr>
          <p:cNvPr id="404" name=""/>
          <p:cNvSpPr/>
          <p:nvPr/>
        </p:nvSpPr>
        <p:spPr>
          <a:xfrm rot="0" flipH="0" flipV="0">
            <a:off x="533400" y="3971925"/>
            <a:ext cx="57150" cy="57150"/>
          </a:xfrm>
          <a:prstGeom prst="roundRect">
            <a:avLst>
              <a:gd name="adj" fmla="val 50000"/>
            </a:avLst>
          </a:prstGeom>
          <a:solidFill>
            <a:srgbClr val="E78172"/>
          </a:solidFill>
          <a:ln/>
        </p:spPr>
        <p:txBody>
          <a:bodyPr/>
          <a:p/>
        </p:txBody>
      </p:sp>
      <p:sp>
        <p:nvSpPr>
          <p:cNvPr id="405" name="" descr="{&quot;isTemplate&quot;:true,&quot;type&quot;:&quot;text&quot;}"/>
          <p:cNvSpPr txBox="1"/>
          <p:nvPr/>
        </p:nvSpPr>
        <p:spPr>
          <a:xfrm rot="0" flipH="0" flipV="0">
            <a:off x="666750" y="3943350"/>
            <a:ext cx="542925" cy="1047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638">
                <a:solidFill>
                  <a:srgbClr val="F2F7F8">
                    <a:alpha val="48000"/>
                  </a:srgbClr>
                </a:solidFill>
                <a:latin typeface="Consolas"/>
                <a:ea typeface="Consolas"/>
              </a:rPr>
              <a:t>ATTACK_STATE</a:t>
            </a:r>
            <a:endParaRPr/>
          </a:p>
        </p:txBody>
      </p:sp>
      <p:sp>
        <p:nvSpPr>
          <p:cNvPr id="406" name=""/>
          <p:cNvSpPr/>
          <p:nvPr/>
        </p:nvSpPr>
        <p:spPr>
          <a:xfrm rot="0" flipH="0" flipV="0">
            <a:off x="533400" y="4152900"/>
            <a:ext cx="57150" cy="57150"/>
          </a:xfrm>
          <a:prstGeom prst="roundRect">
            <a:avLst>
              <a:gd name="adj" fmla="val 50000"/>
            </a:avLst>
          </a:prstGeom>
          <a:solidFill>
            <a:srgbClr val="6BC8D1"/>
          </a:solidFill>
          <a:ln/>
        </p:spPr>
        <p:txBody>
          <a:bodyPr/>
          <a:p/>
        </p:txBody>
      </p:sp>
      <p:sp>
        <p:nvSpPr>
          <p:cNvPr id="407" name="" descr="{&quot;isTemplate&quot;:true,&quot;type&quot;:&quot;text&quot;}"/>
          <p:cNvSpPr txBox="1"/>
          <p:nvPr/>
        </p:nvSpPr>
        <p:spPr>
          <a:xfrm rot="0" flipH="0" flipV="0">
            <a:off x="666750" y="4124325"/>
            <a:ext cx="361950" cy="1047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638">
                <a:solidFill>
                  <a:srgbClr val="F2F7F8">
                    <a:alpha val="48000"/>
                  </a:srgbClr>
                </a:solidFill>
                <a:latin typeface="Consolas"/>
                <a:ea typeface="Consolas"/>
              </a:rPr>
              <a:t>TEACHING</a:t>
            </a:r>
            <a:endParaRPr/>
          </a:p>
        </p:txBody>
      </p:sp>
      <p:sp>
        <p:nvSpPr>
          <p:cNvPr id="408" name=""/>
          <p:cNvSpPr/>
          <p:nvPr/>
        </p:nvSpPr>
        <p:spPr>
          <a:xfrm rot="0" flipH="0" flipV="0">
            <a:off x="3143250" y="1295400"/>
            <a:ext cx="8515350" cy="209550"/>
          </a:xfrm>
          <a:custGeom>
            <a:pathLst>
              <a:path w="894" h="22">
                <a:moveTo>
                  <a:pt x="0" y="21"/>
                </a:moveTo>
                <a:lnTo>
                  <a:pt x="894" y="21"/>
                </a:lnTo>
                <a:lnTo>
                  <a:pt x="894" y="22"/>
                </a:lnTo>
                <a:lnTo>
                  <a:pt x="0" y="22"/>
                </a:lnTo>
                <a:close/>
              </a:path>
            </a:pathLst>
          </a:custGeom>
          <a:solidFill>
            <a:srgbClr val="F2F7F8">
              <a:alpha val="10000"/>
            </a:srgbClr>
          </a:solidFill>
          <a:ln/>
        </p:spPr>
        <p:txBody>
          <a:bodyPr/>
          <a:p/>
        </p:txBody>
      </p:sp>
      <p:sp>
        <p:nvSpPr>
          <p:cNvPr id="409" name="" descr="{&quot;isTemplate&quot;:true,&quot;type&quot;:&quot;text&quot;}"/>
          <p:cNvSpPr txBox="1"/>
          <p:nvPr/>
        </p:nvSpPr>
        <p:spPr>
          <a:xfrm rot="0" flipH="0" flipV="0">
            <a:off x="3143250" y="1352550"/>
            <a:ext cx="342900" cy="952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600">
                <a:solidFill>
                  <a:srgbClr val="F2F7F8">
                    <a:alpha val="30000"/>
                  </a:srgbClr>
                </a:solidFill>
                <a:latin typeface="Consolas"/>
                <a:ea typeface="Consolas"/>
              </a:rPr>
              <a:t>NO.</a:t>
            </a:r>
            <a:endParaRPr/>
          </a:p>
        </p:txBody>
      </p:sp>
      <p:sp>
        <p:nvSpPr>
          <p:cNvPr id="410" name="" descr="{&quot;isTemplate&quot;:true,&quot;type&quot;:&quot;text&quot;}"/>
          <p:cNvSpPr txBox="1"/>
          <p:nvPr/>
        </p:nvSpPr>
        <p:spPr>
          <a:xfrm rot="0" flipH="0" flipV="0">
            <a:off x="3486150" y="1352550"/>
            <a:ext cx="4476750" cy="952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600">
                <a:solidFill>
                  <a:srgbClr val="F2F7F8">
                    <a:alpha val="30000"/>
                  </a:srgbClr>
                </a:solidFill>
                <a:latin typeface="Consolas"/>
                <a:ea typeface="Consolas"/>
              </a:rPr>
              <a:t>SCENARIO / OBJECTIVE</a:t>
            </a:r>
            <a:endParaRPr/>
          </a:p>
        </p:txBody>
      </p:sp>
      <p:sp>
        <p:nvSpPr>
          <p:cNvPr id="411" name="" descr="{&quot;isTemplate&quot;:true,&quot;type&quot;:&quot;text&quot;}"/>
          <p:cNvSpPr txBox="1"/>
          <p:nvPr/>
        </p:nvSpPr>
        <p:spPr>
          <a:xfrm rot="0" flipH="0" flipV="0">
            <a:off x="7962900" y="1352550"/>
            <a:ext cx="1600200" cy="952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600">
                <a:solidFill>
                  <a:srgbClr val="F2F7F8">
                    <a:alpha val="30000"/>
                  </a:srgbClr>
                </a:solidFill>
                <a:latin typeface="Consolas"/>
                <a:ea typeface="Consolas"/>
              </a:rPr>
              <a:t>MODE</a:t>
            </a:r>
            <a:endParaRPr/>
          </a:p>
        </p:txBody>
      </p:sp>
      <p:sp>
        <p:nvSpPr>
          <p:cNvPr id="412" name="" descr="{&quot;isTemplate&quot;:true,&quot;type&quot;:&quot;text&quot;}"/>
          <p:cNvSpPr txBox="1"/>
          <p:nvPr/>
        </p:nvSpPr>
        <p:spPr>
          <a:xfrm rot="0" flipH="0" flipV="0">
            <a:off x="9563100" y="1352550"/>
            <a:ext cx="857250" cy="952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600">
                <a:solidFill>
                  <a:srgbClr val="F2F7F8">
                    <a:alpha val="30000"/>
                  </a:srgbClr>
                </a:solidFill>
                <a:latin typeface="Consolas"/>
                <a:ea typeface="Consolas"/>
              </a:rPr>
              <a:t>LEVEL</a:t>
            </a:r>
            <a:endParaRPr/>
          </a:p>
        </p:txBody>
      </p:sp>
      <p:sp>
        <p:nvSpPr>
          <p:cNvPr id="413" name="" descr="{&quot;isTemplate&quot;:true,&quot;type&quot;:&quot;text&quot;}"/>
          <p:cNvSpPr txBox="1"/>
          <p:nvPr/>
        </p:nvSpPr>
        <p:spPr>
          <a:xfrm rot="0" flipH="0" flipV="0">
            <a:off x="10420350" y="1352550"/>
            <a:ext cx="666750" cy="95250"/>
          </a:xfrm>
          <a:prstGeom prst="rect"/>
        </p:spPr>
        <p:txBody>
          <a:bodyPr wrap="none" lIns="0" tIns="0" rIns="0" bIns="0"/>
          <a:p>
            <a:pPr algn="r">
              <a:lnSpc>
                <a:spcPct val="100000"/>
              </a:lnSpc>
            </a:pPr>
            <a:r>
              <a:rPr lang="en-US" sz="600">
                <a:solidFill>
                  <a:srgbClr val="F2F7F8">
                    <a:alpha val="30000"/>
                  </a:srgbClr>
                </a:solidFill>
                <a:latin typeface="Consolas"/>
                <a:ea typeface="Consolas"/>
              </a:rPr>
              <a:t>TIME</a:t>
            </a:r>
            <a:endParaRPr/>
          </a:p>
        </p:txBody>
      </p:sp>
      <p:sp>
        <p:nvSpPr>
          <p:cNvPr id="414" name=""/>
          <p:cNvSpPr/>
          <p:nvPr/>
        </p:nvSpPr>
        <p:spPr>
          <a:xfrm rot="0" flipH="0" flipV="0">
            <a:off x="3143250" y="1504950"/>
            <a:ext cx="8515350" cy="600075"/>
          </a:xfrm>
          <a:prstGeom prst="rect">
            <a:avLst/>
          </a:prstGeom>
          <a:solidFill>
            <a:srgbClr val="E78172">
              <a:alpha val="5500"/>
            </a:srgbClr>
          </a:solidFill>
          <a:ln/>
        </p:spPr>
        <p:txBody>
          <a:bodyPr/>
          <a:p/>
        </p:txBody>
      </p:sp>
      <p:sp>
        <p:nvSpPr>
          <p:cNvPr id="415" name=""/>
          <p:cNvSpPr/>
          <p:nvPr/>
        </p:nvSpPr>
        <p:spPr>
          <a:xfrm rot="0" flipH="0" flipV="0">
            <a:off x="3143250" y="1504950"/>
            <a:ext cx="8515350" cy="609600"/>
          </a:xfrm>
          <a:custGeom>
            <a:pathLst>
              <a:path w="894" h="64">
                <a:moveTo>
                  <a:pt x="0" y="63"/>
                </a:moveTo>
                <a:lnTo>
                  <a:pt x="894" y="63"/>
                </a:lnTo>
                <a:lnTo>
                  <a:pt x="894" y="64"/>
                </a:lnTo>
                <a:lnTo>
                  <a:pt x="0" y="64"/>
                </a:lnTo>
                <a:close/>
              </a:path>
            </a:pathLst>
          </a:custGeom>
          <a:solidFill>
            <a:srgbClr val="F2F7F8">
              <a:alpha val="8000"/>
            </a:srgbClr>
          </a:solidFill>
          <a:ln/>
        </p:spPr>
        <p:txBody>
          <a:bodyPr/>
          <a:p/>
        </p:txBody>
      </p:sp>
      <p:sp>
        <p:nvSpPr>
          <p:cNvPr id="416" name="" descr="{&quot;isTemplate&quot;:true,&quot;type&quot;:&quot;text&quot;}"/>
          <p:cNvSpPr txBox="1"/>
          <p:nvPr/>
        </p:nvSpPr>
        <p:spPr>
          <a:xfrm rot="0" flipH="0" flipV="0">
            <a:off x="3143250" y="1752600"/>
            <a:ext cx="342900" cy="1143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750">
                <a:solidFill>
                  <a:srgbClr val="E78172"/>
                </a:solidFill>
                <a:latin typeface="Consolas"/>
                <a:ea typeface="Consolas"/>
              </a:rPr>
              <a:t>01</a:t>
            </a:r>
            <a:endParaRPr/>
          </a:p>
        </p:txBody>
      </p:sp>
      <p:sp>
        <p:nvSpPr>
          <p:cNvPr id="417" name="" descr="{&quot;isTemplate&quot;:true,&quot;type&quot;:&quot;text&quot;}"/>
          <p:cNvSpPr txBox="1"/>
          <p:nvPr/>
        </p:nvSpPr>
        <p:spPr>
          <a:xfrm rot="0" flipH="0" flipV="0">
            <a:off x="3486150" y="1657350"/>
            <a:ext cx="44767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13" b="1">
                <a:solidFill>
                  <a:srgbClr val="F2F7F8"/>
                </a:solidFill>
                <a:latin typeface="Microsoft YaHei"/>
                <a:ea typeface="Microsoft YaHei"/>
              </a:rPr>
              <a:t>终端失陷与横向传播</a:t>
            </a:r>
            <a:endParaRPr/>
          </a:p>
        </p:txBody>
      </p:sp>
      <p:sp>
        <p:nvSpPr>
          <p:cNvPr id="418" name="" descr="{&quot;isTemplate&quot;:true,&quot;type&quot;:&quot;text&quot;}"/>
          <p:cNvSpPr txBox="1"/>
          <p:nvPr/>
        </p:nvSpPr>
        <p:spPr>
          <a:xfrm rot="0" flipH="0" flipV="0">
            <a:off x="3486150" y="1847850"/>
            <a:ext cx="4476750" cy="1143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713">
                <a:solidFill>
                  <a:srgbClr val="F2F7F8">
                    <a:alpha val="46000"/>
                  </a:srgbClr>
                </a:solidFill>
                <a:latin typeface="Microsoft YaHei"/>
                <a:ea typeface="Microsoft YaHei"/>
              </a:rPr>
              <a:t>权限、通信与数据访问组成的状态链</a:t>
            </a:r>
            <a:endParaRPr/>
          </a:p>
        </p:txBody>
      </p:sp>
      <p:sp>
        <p:nvSpPr>
          <p:cNvPr id="419" name=""/>
          <p:cNvSpPr/>
          <p:nvPr/>
        </p:nvSpPr>
        <p:spPr>
          <a:xfrm rot="0" flipH="0" flipV="0">
            <a:off x="7962900" y="1733550"/>
            <a:ext cx="914400" cy="152400"/>
          </a:xfrm>
          <a:prstGeom prst="roundRect">
            <a:avLst>
              <a:gd name="adj" fmla="val 18750"/>
            </a:avLst>
          </a:prstGeom>
          <a:ln w="12700">
            <a:solidFill>
              <a:srgbClr val="E78172">
                <a:alpha val="3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420" name="" descr="{&quot;isTemplate&quot;:true,&quot;type&quot;:&quot;text&quot;}"/>
          <p:cNvSpPr txBox="1"/>
          <p:nvPr/>
        </p:nvSpPr>
        <p:spPr>
          <a:xfrm rot="0" flipH="0" flipV="0">
            <a:off x="8172450" y="1762125"/>
            <a:ext cx="504825" cy="952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600">
                <a:solidFill>
                  <a:srgbClr val="E78172"/>
                </a:solidFill>
                <a:latin typeface="Consolas"/>
                <a:ea typeface="Consolas"/>
              </a:rPr>
              <a:t>ATTACK_STATE</a:t>
            </a:r>
            <a:endParaRPr/>
          </a:p>
        </p:txBody>
      </p:sp>
      <p:sp>
        <p:nvSpPr>
          <p:cNvPr id="421" name="" descr="{&quot;isTemplate&quot;:true,&quot;type&quot;:&quot;text&quot;}"/>
          <p:cNvSpPr txBox="1"/>
          <p:nvPr/>
        </p:nvSpPr>
        <p:spPr>
          <a:xfrm rot="0" flipH="0" flipV="0">
            <a:off x="9563100" y="1752600"/>
            <a:ext cx="857250" cy="1143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750">
                <a:solidFill>
                  <a:srgbClr val="F2F7F8">
                    <a:alpha val="58000"/>
                  </a:srgbClr>
                </a:solidFill>
                <a:latin typeface="Microsoft YaHei"/>
                <a:ea typeface="Microsoft YaHei"/>
              </a:rPr>
              <a:t>进阶</a:t>
            </a:r>
            <a:endParaRPr/>
          </a:p>
        </p:txBody>
      </p:sp>
      <p:sp>
        <p:nvSpPr>
          <p:cNvPr id="422" name="" descr="{&quot;isTemplate&quot;:true,&quot;type&quot;:&quot;text&quot;}"/>
          <p:cNvSpPr txBox="1"/>
          <p:nvPr/>
        </p:nvSpPr>
        <p:spPr>
          <a:xfrm rot="0" flipH="0" flipV="0">
            <a:off x="10420350" y="1752600"/>
            <a:ext cx="666750" cy="114300"/>
          </a:xfrm>
          <a:prstGeom prst="rect"/>
        </p:spPr>
        <p:txBody>
          <a:bodyPr wrap="none" lIns="0" tIns="0" rIns="0" bIns="0"/>
          <a:p>
            <a:pPr algn="r">
              <a:lnSpc>
                <a:spcPct val="100000"/>
              </a:lnSpc>
            </a:pPr>
            <a:r>
              <a:rPr lang="en-US" sz="713">
                <a:solidFill>
                  <a:srgbClr val="F2F7F8">
                    <a:alpha val="44000"/>
                  </a:srgbClr>
                </a:solidFill>
                <a:latin typeface="Consolas"/>
                <a:ea typeface="Consolas"/>
              </a:rPr>
              <a:t>8 min</a:t>
            </a:r>
            <a:endParaRPr/>
          </a:p>
        </p:txBody>
      </p:sp>
      <p:sp>
        <p:nvSpPr>
          <p:cNvPr id="423" name=""/>
          <p:cNvSpPr/>
          <p:nvPr/>
        </p:nvSpPr>
        <p:spPr>
          <a:xfrm rot="0" flipH="0" flipV="0">
            <a:off x="3143250" y="2114550"/>
            <a:ext cx="8515350" cy="609600"/>
          </a:xfrm>
          <a:custGeom>
            <a:pathLst>
              <a:path w="894" h="64">
                <a:moveTo>
                  <a:pt x="0" y="63"/>
                </a:moveTo>
                <a:lnTo>
                  <a:pt x="894" y="63"/>
                </a:lnTo>
                <a:lnTo>
                  <a:pt x="894" y="64"/>
                </a:lnTo>
                <a:lnTo>
                  <a:pt x="0" y="64"/>
                </a:lnTo>
                <a:close/>
              </a:path>
            </a:pathLst>
          </a:custGeom>
          <a:solidFill>
            <a:srgbClr val="F2F7F8">
              <a:alpha val="8000"/>
            </a:srgbClr>
          </a:solidFill>
          <a:ln/>
        </p:spPr>
        <p:txBody>
          <a:bodyPr/>
          <a:p/>
        </p:txBody>
      </p:sp>
      <p:sp>
        <p:nvSpPr>
          <p:cNvPr id="424" name="" descr="{&quot;isTemplate&quot;:true,&quot;type&quot;:&quot;text&quot;}"/>
          <p:cNvSpPr txBox="1"/>
          <p:nvPr/>
        </p:nvSpPr>
        <p:spPr>
          <a:xfrm rot="0" flipH="0" flipV="0">
            <a:off x="3143250" y="2362200"/>
            <a:ext cx="342900" cy="1143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750">
                <a:solidFill>
                  <a:srgbClr val="F2F7F8">
                    <a:alpha val="42000"/>
                  </a:srgbClr>
                </a:solidFill>
                <a:latin typeface="Consolas"/>
                <a:ea typeface="Consolas"/>
              </a:rPr>
              <a:t>02</a:t>
            </a:r>
            <a:endParaRPr/>
          </a:p>
        </p:txBody>
      </p:sp>
      <p:sp>
        <p:nvSpPr>
          <p:cNvPr id="425" name="" descr="{&quot;isTemplate&quot;:true,&quot;type&quot;:&quot;text&quot;}"/>
          <p:cNvSpPr txBox="1"/>
          <p:nvPr/>
        </p:nvSpPr>
        <p:spPr>
          <a:xfrm rot="0" flipH="0" flipV="0">
            <a:off x="3486150" y="2266950"/>
            <a:ext cx="44767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13" b="1">
                <a:solidFill>
                  <a:srgbClr val="F2F7F8"/>
                </a:solidFill>
                <a:latin typeface="Microsoft YaHei"/>
                <a:ea typeface="Microsoft YaHei"/>
              </a:rPr>
              <a:t>外部访问与防火墙拦截</a:t>
            </a:r>
            <a:endParaRPr/>
          </a:p>
        </p:txBody>
      </p:sp>
      <p:sp>
        <p:nvSpPr>
          <p:cNvPr id="426" name="" descr="{&quot;isTemplate&quot;:true,&quot;type&quot;:&quot;text&quot;}"/>
          <p:cNvSpPr txBox="1"/>
          <p:nvPr/>
        </p:nvSpPr>
        <p:spPr>
          <a:xfrm rot="0" flipH="0" flipV="0">
            <a:off x="3486150" y="2457450"/>
            <a:ext cx="4476750" cy="1143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713">
                <a:solidFill>
                  <a:srgbClr val="F2F7F8">
                    <a:alpha val="46000"/>
                  </a:srgbClr>
                </a:solidFill>
                <a:latin typeface="Microsoft YaHei"/>
                <a:ea typeface="Microsoft YaHei"/>
              </a:rPr>
              <a:t>边界规则、显式放行与默认拒绝</a:t>
            </a:r>
            <a:endParaRPr/>
          </a:p>
        </p:txBody>
      </p:sp>
      <p:sp>
        <p:nvSpPr>
          <p:cNvPr id="427" name=""/>
          <p:cNvSpPr/>
          <p:nvPr/>
        </p:nvSpPr>
        <p:spPr>
          <a:xfrm rot="0" flipH="0" flipV="0">
            <a:off x="7962900" y="2343150"/>
            <a:ext cx="914400" cy="152400"/>
          </a:xfrm>
          <a:prstGeom prst="roundRect">
            <a:avLst>
              <a:gd name="adj" fmla="val 18750"/>
            </a:avLst>
          </a:prstGeom>
          <a:ln w="12700">
            <a:solidFill>
              <a:srgbClr val="6BC8D1">
                <a:alpha val="22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428" name="" descr="{&quot;isTemplate&quot;:true,&quot;type&quot;:&quot;text&quot;}"/>
          <p:cNvSpPr txBox="1"/>
          <p:nvPr/>
        </p:nvSpPr>
        <p:spPr>
          <a:xfrm rot="0" flipH="0" flipV="0">
            <a:off x="8248650" y="2371725"/>
            <a:ext cx="342900" cy="952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600">
                <a:solidFill>
                  <a:srgbClr val="6BC8D1"/>
                </a:solidFill>
                <a:latin typeface="Consolas"/>
                <a:ea typeface="Consolas"/>
              </a:rPr>
              <a:t>TEACHING</a:t>
            </a:r>
            <a:endParaRPr/>
          </a:p>
        </p:txBody>
      </p:sp>
      <p:sp>
        <p:nvSpPr>
          <p:cNvPr id="429" name="" descr="{&quot;isTemplate&quot;:true,&quot;type&quot;:&quot;text&quot;}"/>
          <p:cNvSpPr txBox="1"/>
          <p:nvPr/>
        </p:nvSpPr>
        <p:spPr>
          <a:xfrm rot="0" flipH="0" flipV="0">
            <a:off x="9563100" y="2362200"/>
            <a:ext cx="857250" cy="1143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750">
                <a:solidFill>
                  <a:srgbClr val="F2F7F8">
                    <a:alpha val="58000"/>
                  </a:srgbClr>
                </a:solidFill>
                <a:latin typeface="Microsoft YaHei"/>
                <a:ea typeface="Microsoft YaHei"/>
              </a:rPr>
              <a:t>入门</a:t>
            </a:r>
            <a:endParaRPr/>
          </a:p>
        </p:txBody>
      </p:sp>
      <p:sp>
        <p:nvSpPr>
          <p:cNvPr id="430" name="" descr="{&quot;isTemplate&quot;:true,&quot;type&quot;:&quot;text&quot;}"/>
          <p:cNvSpPr txBox="1"/>
          <p:nvPr/>
        </p:nvSpPr>
        <p:spPr>
          <a:xfrm rot="0" flipH="0" flipV="0">
            <a:off x="10420350" y="2362200"/>
            <a:ext cx="666750" cy="114300"/>
          </a:xfrm>
          <a:prstGeom prst="rect"/>
        </p:spPr>
        <p:txBody>
          <a:bodyPr wrap="none" lIns="0" tIns="0" rIns="0" bIns="0"/>
          <a:p>
            <a:pPr algn="r">
              <a:lnSpc>
                <a:spcPct val="100000"/>
              </a:lnSpc>
            </a:pPr>
            <a:r>
              <a:rPr lang="en-US" sz="713">
                <a:solidFill>
                  <a:srgbClr val="F2F7F8">
                    <a:alpha val="44000"/>
                  </a:srgbClr>
                </a:solidFill>
                <a:latin typeface="Consolas"/>
                <a:ea typeface="Consolas"/>
              </a:rPr>
              <a:t>5 min</a:t>
            </a:r>
            <a:endParaRPr/>
          </a:p>
        </p:txBody>
      </p:sp>
      <p:sp>
        <p:nvSpPr>
          <p:cNvPr id="431" name=""/>
          <p:cNvSpPr/>
          <p:nvPr/>
        </p:nvSpPr>
        <p:spPr>
          <a:xfrm rot="0" flipH="0" flipV="0">
            <a:off x="3143250" y="2724150"/>
            <a:ext cx="8515350" cy="609600"/>
          </a:xfrm>
          <a:custGeom>
            <a:pathLst>
              <a:path w="894" h="64">
                <a:moveTo>
                  <a:pt x="0" y="63"/>
                </a:moveTo>
                <a:lnTo>
                  <a:pt x="894" y="63"/>
                </a:lnTo>
                <a:lnTo>
                  <a:pt x="894" y="64"/>
                </a:lnTo>
                <a:lnTo>
                  <a:pt x="0" y="64"/>
                </a:lnTo>
                <a:close/>
              </a:path>
            </a:pathLst>
          </a:custGeom>
          <a:solidFill>
            <a:srgbClr val="F2F7F8">
              <a:alpha val="8000"/>
            </a:srgbClr>
          </a:solidFill>
          <a:ln/>
        </p:spPr>
        <p:txBody>
          <a:bodyPr/>
          <a:p/>
        </p:txBody>
      </p:sp>
      <p:sp>
        <p:nvSpPr>
          <p:cNvPr id="432" name="" descr="{&quot;isTemplate&quot;:true,&quot;type&quot;:&quot;text&quot;}"/>
          <p:cNvSpPr txBox="1"/>
          <p:nvPr/>
        </p:nvSpPr>
        <p:spPr>
          <a:xfrm rot="0" flipH="0" flipV="0">
            <a:off x="3143250" y="2971800"/>
            <a:ext cx="342900" cy="1143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750">
                <a:solidFill>
                  <a:srgbClr val="F2F7F8">
                    <a:alpha val="42000"/>
                  </a:srgbClr>
                </a:solidFill>
                <a:latin typeface="Consolas"/>
                <a:ea typeface="Consolas"/>
              </a:rPr>
              <a:t>03</a:t>
            </a:r>
            <a:endParaRPr/>
          </a:p>
        </p:txBody>
      </p:sp>
      <p:sp>
        <p:nvSpPr>
          <p:cNvPr id="433" name="" descr="{&quot;isTemplate&quot;:true,&quot;type&quot;:&quot;text&quot;}"/>
          <p:cNvSpPr txBox="1"/>
          <p:nvPr/>
        </p:nvSpPr>
        <p:spPr>
          <a:xfrm rot="0" flipH="0" flipV="0">
            <a:off x="3486150" y="2876550"/>
            <a:ext cx="44767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13" b="1">
                <a:solidFill>
                  <a:srgbClr val="F2F7F8"/>
                </a:solidFill>
                <a:latin typeface="Microsoft YaHei"/>
                <a:ea typeface="Microsoft YaHei"/>
              </a:rPr>
              <a:t>网络分区防御实验</a:t>
            </a:r>
            <a:endParaRPr/>
          </a:p>
        </p:txBody>
      </p:sp>
      <p:sp>
        <p:nvSpPr>
          <p:cNvPr id="434" name="" descr="{&quot;isTemplate&quot;:true,&quot;type&quot;:&quot;text&quot;}"/>
          <p:cNvSpPr txBox="1"/>
          <p:nvPr/>
        </p:nvSpPr>
        <p:spPr>
          <a:xfrm rot="0" flipH="0" flipV="0">
            <a:off x="3486150" y="3067050"/>
            <a:ext cx="4476750" cy="1143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713">
                <a:solidFill>
                  <a:srgbClr val="F2F7F8">
                    <a:alpha val="46000"/>
                  </a:srgbClr>
                </a:solidFill>
                <a:latin typeface="Microsoft YaHei"/>
                <a:ea typeface="Microsoft YaHei"/>
              </a:rPr>
              <a:t>VLAN </a:t>
            </a:r>
            <a:r>
              <a:rPr lang="zh-CN" sz="713">
                <a:solidFill>
                  <a:srgbClr val="F2F7F8">
                    <a:alpha val="46000"/>
                  </a:srgbClr>
                </a:solidFill>
                <a:latin typeface="Microsoft YaHei"/>
                <a:ea typeface="Microsoft YaHei"/>
              </a:rPr>
              <a:t>与区域边界之间的取舍</a:t>
            </a:r>
            <a:endParaRPr/>
          </a:p>
        </p:txBody>
      </p:sp>
      <p:sp>
        <p:nvSpPr>
          <p:cNvPr id="435" name=""/>
          <p:cNvSpPr/>
          <p:nvPr/>
        </p:nvSpPr>
        <p:spPr>
          <a:xfrm rot="0" flipH="0" flipV="0">
            <a:off x="7962900" y="2952750"/>
            <a:ext cx="914400" cy="152400"/>
          </a:xfrm>
          <a:prstGeom prst="roundRect">
            <a:avLst>
              <a:gd name="adj" fmla="val 18750"/>
            </a:avLst>
          </a:prstGeom>
          <a:ln w="12700">
            <a:solidFill>
              <a:srgbClr val="6BC8D1">
                <a:alpha val="22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436" name="" descr="{&quot;isTemplate&quot;:true,&quot;type&quot;:&quot;text&quot;}"/>
          <p:cNvSpPr txBox="1"/>
          <p:nvPr/>
        </p:nvSpPr>
        <p:spPr>
          <a:xfrm rot="0" flipH="0" flipV="0">
            <a:off x="8248650" y="2981325"/>
            <a:ext cx="342900" cy="952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600">
                <a:solidFill>
                  <a:srgbClr val="6BC8D1"/>
                </a:solidFill>
                <a:latin typeface="Consolas"/>
                <a:ea typeface="Consolas"/>
              </a:rPr>
              <a:t>TEACHING</a:t>
            </a:r>
            <a:endParaRPr/>
          </a:p>
        </p:txBody>
      </p:sp>
      <p:sp>
        <p:nvSpPr>
          <p:cNvPr id="437" name="" descr="{&quot;isTemplate&quot;:true,&quot;type&quot;:&quot;text&quot;}"/>
          <p:cNvSpPr txBox="1"/>
          <p:nvPr/>
        </p:nvSpPr>
        <p:spPr>
          <a:xfrm rot="0" flipH="0" flipV="0">
            <a:off x="9563100" y="2971800"/>
            <a:ext cx="857250" cy="1143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750">
                <a:solidFill>
                  <a:srgbClr val="F2F7F8">
                    <a:alpha val="58000"/>
                  </a:srgbClr>
                </a:solidFill>
                <a:latin typeface="Microsoft YaHei"/>
                <a:ea typeface="Microsoft YaHei"/>
              </a:rPr>
              <a:t>进阶</a:t>
            </a:r>
            <a:endParaRPr/>
          </a:p>
        </p:txBody>
      </p:sp>
      <p:sp>
        <p:nvSpPr>
          <p:cNvPr id="438" name="" descr="{&quot;isTemplate&quot;:true,&quot;type&quot;:&quot;text&quot;}"/>
          <p:cNvSpPr txBox="1"/>
          <p:nvPr/>
        </p:nvSpPr>
        <p:spPr>
          <a:xfrm rot="0" flipH="0" flipV="0">
            <a:off x="10420350" y="2971800"/>
            <a:ext cx="666750" cy="114300"/>
          </a:xfrm>
          <a:prstGeom prst="rect"/>
        </p:spPr>
        <p:txBody>
          <a:bodyPr wrap="none" lIns="0" tIns="0" rIns="0" bIns="0"/>
          <a:p>
            <a:pPr algn="r">
              <a:lnSpc>
                <a:spcPct val="100000"/>
              </a:lnSpc>
            </a:pPr>
            <a:r>
              <a:rPr lang="en-US" sz="713">
                <a:solidFill>
                  <a:srgbClr val="F2F7F8">
                    <a:alpha val="44000"/>
                  </a:srgbClr>
                </a:solidFill>
                <a:latin typeface="Consolas"/>
                <a:ea typeface="Consolas"/>
              </a:rPr>
              <a:t>6 min</a:t>
            </a:r>
            <a:endParaRPr/>
          </a:p>
        </p:txBody>
      </p:sp>
      <p:sp>
        <p:nvSpPr>
          <p:cNvPr id="439" name=""/>
          <p:cNvSpPr/>
          <p:nvPr/>
        </p:nvSpPr>
        <p:spPr>
          <a:xfrm rot="0" flipH="0" flipV="0">
            <a:off x="3143250" y="3333750"/>
            <a:ext cx="8515350" cy="609600"/>
          </a:xfrm>
          <a:custGeom>
            <a:pathLst>
              <a:path w="894" h="64">
                <a:moveTo>
                  <a:pt x="0" y="63"/>
                </a:moveTo>
                <a:lnTo>
                  <a:pt x="894" y="63"/>
                </a:lnTo>
                <a:lnTo>
                  <a:pt x="894" y="64"/>
                </a:lnTo>
                <a:lnTo>
                  <a:pt x="0" y="64"/>
                </a:lnTo>
                <a:close/>
              </a:path>
            </a:pathLst>
          </a:custGeom>
          <a:solidFill>
            <a:srgbClr val="F2F7F8">
              <a:alpha val="8000"/>
            </a:srgbClr>
          </a:solidFill>
          <a:ln/>
        </p:spPr>
        <p:txBody>
          <a:bodyPr/>
          <a:p/>
        </p:txBody>
      </p:sp>
      <p:sp>
        <p:nvSpPr>
          <p:cNvPr id="440" name="" descr="{&quot;isTemplate&quot;:true,&quot;type&quot;:&quot;text&quot;}"/>
          <p:cNvSpPr txBox="1"/>
          <p:nvPr/>
        </p:nvSpPr>
        <p:spPr>
          <a:xfrm rot="0" flipH="0" flipV="0">
            <a:off x="3143250" y="3581400"/>
            <a:ext cx="342900" cy="1143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750">
                <a:solidFill>
                  <a:srgbClr val="F2F7F8">
                    <a:alpha val="42000"/>
                  </a:srgbClr>
                </a:solidFill>
                <a:latin typeface="Consolas"/>
                <a:ea typeface="Consolas"/>
              </a:rPr>
              <a:t>04</a:t>
            </a:r>
            <a:endParaRPr/>
          </a:p>
        </p:txBody>
      </p:sp>
      <p:sp>
        <p:nvSpPr>
          <p:cNvPr id="441" name="" descr="{&quot;isTemplate&quot;:true,&quot;type&quot;:&quot;text&quot;}"/>
          <p:cNvSpPr txBox="1"/>
          <p:nvPr/>
        </p:nvSpPr>
        <p:spPr>
          <a:xfrm rot="0" flipH="0" flipV="0">
            <a:off x="3486150" y="3486150"/>
            <a:ext cx="44767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13" b="1">
                <a:solidFill>
                  <a:srgbClr val="F2F7F8"/>
                </a:solidFill>
                <a:latin typeface="Microsoft YaHei"/>
                <a:ea typeface="Microsoft YaHei"/>
              </a:rPr>
              <a:t>供应链入口传播路径</a:t>
            </a:r>
            <a:endParaRPr/>
          </a:p>
        </p:txBody>
      </p:sp>
      <p:sp>
        <p:nvSpPr>
          <p:cNvPr id="442" name="" descr="{&quot;isTemplate&quot;:true,&quot;type&quot;:&quot;text&quot;}"/>
          <p:cNvSpPr txBox="1"/>
          <p:nvPr/>
        </p:nvSpPr>
        <p:spPr>
          <a:xfrm rot="0" flipH="0" flipV="0">
            <a:off x="3486150" y="3676650"/>
            <a:ext cx="4476750" cy="1143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713">
                <a:solidFill>
                  <a:srgbClr val="F2F7F8">
                    <a:alpha val="46000"/>
                  </a:srgbClr>
                </a:solidFill>
                <a:latin typeface="Microsoft YaHei"/>
                <a:ea typeface="Microsoft YaHei"/>
              </a:rPr>
              <a:t>跨区必须逐跳命中显式放行</a:t>
            </a:r>
            <a:endParaRPr/>
          </a:p>
        </p:txBody>
      </p:sp>
      <p:sp>
        <p:nvSpPr>
          <p:cNvPr id="443" name=""/>
          <p:cNvSpPr/>
          <p:nvPr/>
        </p:nvSpPr>
        <p:spPr>
          <a:xfrm rot="0" flipH="0" flipV="0">
            <a:off x="7962900" y="3562350"/>
            <a:ext cx="914400" cy="152400"/>
          </a:xfrm>
          <a:prstGeom prst="roundRect">
            <a:avLst>
              <a:gd name="adj" fmla="val 18750"/>
            </a:avLst>
          </a:prstGeom>
          <a:ln w="12700">
            <a:solidFill>
              <a:srgbClr val="6BC8D1">
                <a:alpha val="22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444" name="" descr="{&quot;isTemplate&quot;:true,&quot;type&quot;:&quot;text&quot;}"/>
          <p:cNvSpPr txBox="1"/>
          <p:nvPr/>
        </p:nvSpPr>
        <p:spPr>
          <a:xfrm rot="0" flipH="0" flipV="0">
            <a:off x="8248650" y="3590925"/>
            <a:ext cx="342900" cy="952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600">
                <a:solidFill>
                  <a:srgbClr val="6BC8D1"/>
                </a:solidFill>
                <a:latin typeface="Consolas"/>
                <a:ea typeface="Consolas"/>
              </a:rPr>
              <a:t>TEACHING</a:t>
            </a:r>
            <a:endParaRPr/>
          </a:p>
        </p:txBody>
      </p:sp>
      <p:sp>
        <p:nvSpPr>
          <p:cNvPr id="445" name="" descr="{&quot;isTemplate&quot;:true,&quot;type&quot;:&quot;text&quot;}"/>
          <p:cNvSpPr txBox="1"/>
          <p:nvPr/>
        </p:nvSpPr>
        <p:spPr>
          <a:xfrm rot="0" flipH="0" flipV="0">
            <a:off x="9563100" y="3581400"/>
            <a:ext cx="857250" cy="1143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750">
                <a:solidFill>
                  <a:srgbClr val="E78172"/>
                </a:solidFill>
                <a:latin typeface="Microsoft YaHei"/>
                <a:ea typeface="Microsoft YaHei"/>
              </a:rPr>
              <a:t>挑战</a:t>
            </a:r>
            <a:endParaRPr/>
          </a:p>
        </p:txBody>
      </p:sp>
      <p:sp>
        <p:nvSpPr>
          <p:cNvPr id="446" name="" descr="{&quot;isTemplate&quot;:true,&quot;type&quot;:&quot;text&quot;}"/>
          <p:cNvSpPr txBox="1"/>
          <p:nvPr/>
        </p:nvSpPr>
        <p:spPr>
          <a:xfrm rot="0" flipH="0" flipV="0">
            <a:off x="10420350" y="3581400"/>
            <a:ext cx="666750" cy="114300"/>
          </a:xfrm>
          <a:prstGeom prst="rect"/>
        </p:spPr>
        <p:txBody>
          <a:bodyPr wrap="none" lIns="0" tIns="0" rIns="0" bIns="0"/>
          <a:p>
            <a:pPr algn="r">
              <a:lnSpc>
                <a:spcPct val="100000"/>
              </a:lnSpc>
            </a:pPr>
            <a:r>
              <a:rPr lang="en-US" sz="713">
                <a:solidFill>
                  <a:srgbClr val="F2F7F8">
                    <a:alpha val="44000"/>
                  </a:srgbClr>
                </a:solidFill>
                <a:latin typeface="Consolas"/>
                <a:ea typeface="Consolas"/>
              </a:rPr>
              <a:t>10 min</a:t>
            </a:r>
            <a:endParaRPr/>
          </a:p>
        </p:txBody>
      </p:sp>
      <p:sp>
        <p:nvSpPr>
          <p:cNvPr id="447" name=""/>
          <p:cNvSpPr/>
          <p:nvPr/>
        </p:nvSpPr>
        <p:spPr>
          <a:xfrm rot="0" flipH="0" flipV="0">
            <a:off x="3143250" y="3943350"/>
            <a:ext cx="8515350" cy="609600"/>
          </a:xfrm>
          <a:custGeom>
            <a:pathLst>
              <a:path w="894" h="64">
                <a:moveTo>
                  <a:pt x="0" y="63"/>
                </a:moveTo>
                <a:lnTo>
                  <a:pt x="894" y="63"/>
                </a:lnTo>
                <a:lnTo>
                  <a:pt x="894" y="64"/>
                </a:lnTo>
                <a:lnTo>
                  <a:pt x="0" y="64"/>
                </a:lnTo>
                <a:close/>
              </a:path>
            </a:pathLst>
          </a:custGeom>
          <a:solidFill>
            <a:srgbClr val="F2F7F8">
              <a:alpha val="8000"/>
            </a:srgbClr>
          </a:solidFill>
          <a:ln/>
        </p:spPr>
        <p:txBody>
          <a:bodyPr/>
          <a:p/>
        </p:txBody>
      </p:sp>
      <p:sp>
        <p:nvSpPr>
          <p:cNvPr id="448" name="" descr="{&quot;isTemplate&quot;:true,&quot;type&quot;:&quot;text&quot;}"/>
          <p:cNvSpPr txBox="1"/>
          <p:nvPr/>
        </p:nvSpPr>
        <p:spPr>
          <a:xfrm rot="0" flipH="0" flipV="0">
            <a:off x="3143250" y="4191000"/>
            <a:ext cx="342900" cy="1143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750">
                <a:solidFill>
                  <a:srgbClr val="F2F7F8">
                    <a:alpha val="42000"/>
                  </a:srgbClr>
                </a:solidFill>
                <a:latin typeface="Consolas"/>
                <a:ea typeface="Consolas"/>
              </a:rPr>
              <a:t>05</a:t>
            </a:r>
            <a:endParaRPr/>
          </a:p>
        </p:txBody>
      </p:sp>
      <p:sp>
        <p:nvSpPr>
          <p:cNvPr id="449" name="" descr="{&quot;isTemplate&quot;:true,&quot;type&quot;:&quot;text&quot;}"/>
          <p:cNvSpPr txBox="1"/>
          <p:nvPr/>
        </p:nvSpPr>
        <p:spPr>
          <a:xfrm rot="0" flipH="0" flipV="0">
            <a:off x="3486150" y="4095750"/>
            <a:ext cx="44767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13" b="1">
                <a:solidFill>
                  <a:srgbClr val="F2F7F8"/>
                </a:solidFill>
                <a:latin typeface="Microsoft YaHei"/>
                <a:ea typeface="Microsoft YaHei"/>
              </a:rPr>
              <a:t>勒索风险与文件服务保护</a:t>
            </a:r>
            <a:endParaRPr/>
          </a:p>
        </p:txBody>
      </p:sp>
      <p:sp>
        <p:nvSpPr>
          <p:cNvPr id="450" name="" descr="{&quot;isTemplate&quot;:true,&quot;type&quot;:&quot;text&quot;}"/>
          <p:cNvSpPr txBox="1"/>
          <p:nvPr/>
        </p:nvSpPr>
        <p:spPr>
          <a:xfrm rot="0" flipH="0" flipV="0">
            <a:off x="3486150" y="4286250"/>
            <a:ext cx="4476750" cy="1143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713">
                <a:solidFill>
                  <a:srgbClr val="F2F7F8">
                    <a:alpha val="46000"/>
                  </a:srgbClr>
                </a:solidFill>
                <a:latin typeface="Microsoft YaHei"/>
                <a:ea typeface="Microsoft YaHei"/>
              </a:rPr>
              <a:t>终端防护与业务连续性的权衡</a:t>
            </a:r>
            <a:endParaRPr/>
          </a:p>
        </p:txBody>
      </p:sp>
      <p:sp>
        <p:nvSpPr>
          <p:cNvPr id="451" name=""/>
          <p:cNvSpPr/>
          <p:nvPr/>
        </p:nvSpPr>
        <p:spPr>
          <a:xfrm rot="0" flipH="0" flipV="0">
            <a:off x="7962900" y="4171950"/>
            <a:ext cx="914400" cy="152400"/>
          </a:xfrm>
          <a:prstGeom prst="roundRect">
            <a:avLst>
              <a:gd name="adj" fmla="val 18750"/>
            </a:avLst>
          </a:prstGeom>
          <a:ln w="12700">
            <a:solidFill>
              <a:srgbClr val="6BC8D1">
                <a:alpha val="22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452" name="" descr="{&quot;isTemplate&quot;:true,&quot;type&quot;:&quot;text&quot;}"/>
          <p:cNvSpPr txBox="1"/>
          <p:nvPr/>
        </p:nvSpPr>
        <p:spPr>
          <a:xfrm rot="0" flipH="0" flipV="0">
            <a:off x="8248650" y="4200525"/>
            <a:ext cx="342900" cy="952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600">
                <a:solidFill>
                  <a:srgbClr val="6BC8D1"/>
                </a:solidFill>
                <a:latin typeface="Consolas"/>
                <a:ea typeface="Consolas"/>
              </a:rPr>
              <a:t>TEACHING</a:t>
            </a:r>
            <a:endParaRPr/>
          </a:p>
        </p:txBody>
      </p:sp>
      <p:sp>
        <p:nvSpPr>
          <p:cNvPr id="453" name="" descr="{&quot;isTemplate&quot;:true,&quot;type&quot;:&quot;text&quot;}"/>
          <p:cNvSpPr txBox="1"/>
          <p:nvPr/>
        </p:nvSpPr>
        <p:spPr>
          <a:xfrm rot="0" flipH="0" flipV="0">
            <a:off x="9563100" y="4191000"/>
            <a:ext cx="857250" cy="1143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750">
                <a:solidFill>
                  <a:srgbClr val="F2F7F8">
                    <a:alpha val="58000"/>
                  </a:srgbClr>
                </a:solidFill>
                <a:latin typeface="Microsoft YaHei"/>
                <a:ea typeface="Microsoft YaHei"/>
              </a:rPr>
              <a:t>进阶</a:t>
            </a:r>
            <a:endParaRPr/>
          </a:p>
        </p:txBody>
      </p:sp>
      <p:sp>
        <p:nvSpPr>
          <p:cNvPr id="454" name="" descr="{&quot;isTemplate&quot;:true,&quot;type&quot;:&quot;text&quot;}"/>
          <p:cNvSpPr txBox="1"/>
          <p:nvPr/>
        </p:nvSpPr>
        <p:spPr>
          <a:xfrm rot="0" flipH="0" flipV="0">
            <a:off x="10420350" y="4191000"/>
            <a:ext cx="666750" cy="114300"/>
          </a:xfrm>
          <a:prstGeom prst="rect"/>
        </p:spPr>
        <p:txBody>
          <a:bodyPr wrap="none" lIns="0" tIns="0" rIns="0" bIns="0"/>
          <a:p>
            <a:pPr algn="r">
              <a:lnSpc>
                <a:spcPct val="100000"/>
              </a:lnSpc>
            </a:pPr>
            <a:r>
              <a:rPr lang="en-US" sz="713">
                <a:solidFill>
                  <a:srgbClr val="F2F7F8">
                    <a:alpha val="44000"/>
                  </a:srgbClr>
                </a:solidFill>
                <a:latin typeface="Consolas"/>
                <a:ea typeface="Consolas"/>
              </a:rPr>
              <a:t>9 min</a:t>
            </a:r>
            <a:endParaRPr/>
          </a:p>
        </p:txBody>
      </p:sp>
      <p:sp>
        <p:nvSpPr>
          <p:cNvPr id="455" name=""/>
          <p:cNvSpPr/>
          <p:nvPr/>
        </p:nvSpPr>
        <p:spPr>
          <a:xfrm rot="0" flipH="0" flipV="0">
            <a:off x="3143250" y="4552950"/>
            <a:ext cx="8515350" cy="609600"/>
          </a:xfrm>
          <a:custGeom>
            <a:pathLst>
              <a:path w="894" h="64">
                <a:moveTo>
                  <a:pt x="0" y="63"/>
                </a:moveTo>
                <a:lnTo>
                  <a:pt x="894" y="63"/>
                </a:lnTo>
                <a:lnTo>
                  <a:pt x="894" y="64"/>
                </a:lnTo>
                <a:lnTo>
                  <a:pt x="0" y="64"/>
                </a:lnTo>
                <a:close/>
              </a:path>
            </a:pathLst>
          </a:custGeom>
          <a:solidFill>
            <a:srgbClr val="F2F7F8">
              <a:alpha val="8000"/>
            </a:srgbClr>
          </a:solidFill>
          <a:ln/>
        </p:spPr>
        <p:txBody>
          <a:bodyPr/>
          <a:p/>
        </p:txBody>
      </p:sp>
      <p:sp>
        <p:nvSpPr>
          <p:cNvPr id="456" name="" descr="{&quot;isTemplate&quot;:true,&quot;type&quot;:&quot;text&quot;}"/>
          <p:cNvSpPr txBox="1"/>
          <p:nvPr/>
        </p:nvSpPr>
        <p:spPr>
          <a:xfrm rot="0" flipH="0" flipV="0">
            <a:off x="3143250" y="4800600"/>
            <a:ext cx="342900" cy="1143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750">
                <a:solidFill>
                  <a:srgbClr val="F2F7F8">
                    <a:alpha val="42000"/>
                  </a:srgbClr>
                </a:solidFill>
                <a:latin typeface="Consolas"/>
                <a:ea typeface="Consolas"/>
              </a:rPr>
              <a:t>06</a:t>
            </a:r>
            <a:endParaRPr/>
          </a:p>
        </p:txBody>
      </p:sp>
      <p:sp>
        <p:nvSpPr>
          <p:cNvPr id="457" name="" descr="{&quot;isTemplate&quot;:true,&quot;type&quot;:&quot;text&quot;}"/>
          <p:cNvSpPr txBox="1"/>
          <p:nvPr/>
        </p:nvSpPr>
        <p:spPr>
          <a:xfrm rot="0" flipH="0" flipV="0">
            <a:off x="3486150" y="4705350"/>
            <a:ext cx="44767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13" b="1">
                <a:solidFill>
                  <a:srgbClr val="F2F7F8"/>
                </a:solidFill>
                <a:latin typeface="Microsoft YaHei"/>
                <a:ea typeface="Microsoft YaHei"/>
              </a:rPr>
              <a:t>零信任微隔离：主机对主机</a:t>
            </a:r>
            <a:endParaRPr/>
          </a:p>
        </p:txBody>
      </p:sp>
      <p:sp>
        <p:nvSpPr>
          <p:cNvPr id="458" name="" descr="{&quot;isTemplate&quot;:true,&quot;type&quot;:&quot;text&quot;}"/>
          <p:cNvSpPr txBox="1"/>
          <p:nvPr/>
        </p:nvSpPr>
        <p:spPr>
          <a:xfrm rot="0" flipH="0" flipV="0">
            <a:off x="3486150" y="4895850"/>
            <a:ext cx="4476750" cy="1143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713">
                <a:solidFill>
                  <a:srgbClr val="F2F7F8">
                    <a:alpha val="46000"/>
                  </a:srgbClr>
                </a:solidFill>
                <a:latin typeface="Microsoft YaHei"/>
                <a:ea typeface="Microsoft YaHei"/>
              </a:rPr>
              <a:t>取消“同区域即可信”后的最小权限</a:t>
            </a:r>
            <a:endParaRPr/>
          </a:p>
        </p:txBody>
      </p:sp>
      <p:sp>
        <p:nvSpPr>
          <p:cNvPr id="459" name=""/>
          <p:cNvSpPr/>
          <p:nvPr/>
        </p:nvSpPr>
        <p:spPr>
          <a:xfrm rot="0" flipH="0" flipV="0">
            <a:off x="7962900" y="4781550"/>
            <a:ext cx="914400" cy="152400"/>
          </a:xfrm>
          <a:prstGeom prst="roundRect">
            <a:avLst>
              <a:gd name="adj" fmla="val 18750"/>
            </a:avLst>
          </a:prstGeom>
          <a:ln w="12700">
            <a:solidFill>
              <a:srgbClr val="6BC8D1">
                <a:alpha val="22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460" name="" descr="{&quot;isTemplate&quot;:true,&quot;type&quot;:&quot;text&quot;}"/>
          <p:cNvSpPr txBox="1"/>
          <p:nvPr/>
        </p:nvSpPr>
        <p:spPr>
          <a:xfrm rot="0" flipH="0" flipV="0">
            <a:off x="8248650" y="4810125"/>
            <a:ext cx="342900" cy="952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600">
                <a:solidFill>
                  <a:srgbClr val="6BC8D1"/>
                </a:solidFill>
                <a:latin typeface="Consolas"/>
                <a:ea typeface="Consolas"/>
              </a:rPr>
              <a:t>TEACHING</a:t>
            </a:r>
            <a:endParaRPr/>
          </a:p>
        </p:txBody>
      </p:sp>
      <p:sp>
        <p:nvSpPr>
          <p:cNvPr id="461" name="" descr="{&quot;isTemplate&quot;:true,&quot;type&quot;:&quot;text&quot;}"/>
          <p:cNvSpPr txBox="1"/>
          <p:nvPr/>
        </p:nvSpPr>
        <p:spPr>
          <a:xfrm rot="0" flipH="0" flipV="0">
            <a:off x="9563100" y="4800600"/>
            <a:ext cx="857250" cy="1143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750">
                <a:solidFill>
                  <a:srgbClr val="E78172"/>
                </a:solidFill>
                <a:latin typeface="Microsoft YaHei"/>
                <a:ea typeface="Microsoft YaHei"/>
              </a:rPr>
              <a:t>挑战</a:t>
            </a:r>
            <a:endParaRPr/>
          </a:p>
        </p:txBody>
      </p:sp>
      <p:sp>
        <p:nvSpPr>
          <p:cNvPr id="462" name="" descr="{&quot;isTemplate&quot;:true,&quot;type&quot;:&quot;text&quot;}"/>
          <p:cNvSpPr txBox="1"/>
          <p:nvPr/>
        </p:nvSpPr>
        <p:spPr>
          <a:xfrm rot="0" flipH="0" flipV="0">
            <a:off x="10420350" y="4800600"/>
            <a:ext cx="666750" cy="114300"/>
          </a:xfrm>
          <a:prstGeom prst="rect"/>
        </p:spPr>
        <p:txBody>
          <a:bodyPr wrap="none" lIns="0" tIns="0" rIns="0" bIns="0"/>
          <a:p>
            <a:pPr algn="r">
              <a:lnSpc>
                <a:spcPct val="100000"/>
              </a:lnSpc>
            </a:pPr>
            <a:r>
              <a:rPr lang="en-US" sz="713">
                <a:solidFill>
                  <a:srgbClr val="F2F7F8">
                    <a:alpha val="44000"/>
                  </a:srgbClr>
                </a:solidFill>
                <a:latin typeface="Consolas"/>
                <a:ea typeface="Consolas"/>
              </a:rPr>
              <a:t>8 min</a:t>
            </a:r>
            <a:endParaRPr/>
          </a:p>
        </p:txBody>
      </p:sp>
      <p:sp>
        <p:nvSpPr>
          <p:cNvPr id="463" name=""/>
          <p:cNvSpPr/>
          <p:nvPr/>
        </p:nvSpPr>
        <p:spPr>
          <a:xfrm rot="0" flipH="0" flipV="0">
            <a:off x="3143250" y="5162550"/>
            <a:ext cx="8515350" cy="609600"/>
          </a:xfrm>
          <a:custGeom>
            <a:pathLst>
              <a:path w="894" h="64">
                <a:moveTo>
                  <a:pt x="0" y="63"/>
                </a:moveTo>
                <a:lnTo>
                  <a:pt x="894" y="63"/>
                </a:lnTo>
                <a:lnTo>
                  <a:pt x="894" y="64"/>
                </a:lnTo>
                <a:lnTo>
                  <a:pt x="0" y="64"/>
                </a:lnTo>
                <a:close/>
              </a:path>
            </a:pathLst>
          </a:custGeom>
          <a:solidFill>
            <a:srgbClr val="F2F7F8">
              <a:alpha val="8000"/>
            </a:srgbClr>
          </a:solidFill>
          <a:ln/>
        </p:spPr>
        <p:txBody>
          <a:bodyPr/>
          <a:p/>
        </p:txBody>
      </p:sp>
      <p:sp>
        <p:nvSpPr>
          <p:cNvPr id="464" name="" descr="{&quot;isTemplate&quot;:true,&quot;type&quot;:&quot;text&quot;}"/>
          <p:cNvSpPr txBox="1"/>
          <p:nvPr/>
        </p:nvSpPr>
        <p:spPr>
          <a:xfrm rot="0" flipH="0" flipV="0">
            <a:off x="3143250" y="5410200"/>
            <a:ext cx="342900" cy="1143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750">
                <a:solidFill>
                  <a:srgbClr val="F2F7F8">
                    <a:alpha val="42000"/>
                  </a:srgbClr>
                </a:solidFill>
                <a:latin typeface="Consolas"/>
                <a:ea typeface="Consolas"/>
              </a:rPr>
              <a:t>07</a:t>
            </a:r>
            <a:endParaRPr/>
          </a:p>
        </p:txBody>
      </p:sp>
      <p:sp>
        <p:nvSpPr>
          <p:cNvPr id="465" name="" descr="{&quot;isTemplate&quot;:true,&quot;type&quot;:&quot;text&quot;}"/>
          <p:cNvSpPr txBox="1"/>
          <p:nvPr/>
        </p:nvSpPr>
        <p:spPr>
          <a:xfrm rot="0" flipH="0" flipV="0">
            <a:off x="3486150" y="5314950"/>
            <a:ext cx="44767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13" b="1">
                <a:solidFill>
                  <a:srgbClr val="F2F7F8"/>
                </a:solidFill>
                <a:latin typeface="Microsoft YaHei"/>
                <a:ea typeface="Microsoft YaHei"/>
              </a:rPr>
              <a:t>工业控制网：</a:t>
            </a:r>
            <a:r>
              <a:rPr lang="en-US" sz="1013" b="1">
                <a:solidFill>
                  <a:srgbClr val="F2F7F8"/>
                </a:solidFill>
                <a:latin typeface="Microsoft YaHei"/>
                <a:ea typeface="Microsoft YaHei"/>
              </a:rPr>
              <a:t>SCADA / PLC</a:t>
            </a:r>
            <a:endParaRPr/>
          </a:p>
        </p:txBody>
      </p:sp>
      <p:sp>
        <p:nvSpPr>
          <p:cNvPr id="466" name="" descr="{&quot;isTemplate&quot;:true,&quot;type&quot;:&quot;text&quot;}"/>
          <p:cNvSpPr txBox="1"/>
          <p:nvPr/>
        </p:nvSpPr>
        <p:spPr>
          <a:xfrm rot="0" flipH="0" flipV="0">
            <a:off x="3486150" y="5505450"/>
            <a:ext cx="4476750" cy="1143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713">
                <a:solidFill>
                  <a:srgbClr val="F2F7F8">
                    <a:alpha val="46000"/>
                  </a:srgbClr>
                </a:solidFill>
                <a:latin typeface="Microsoft YaHei"/>
                <a:ea typeface="Microsoft YaHei"/>
              </a:rPr>
              <a:t>控制区、现场区与历史数据区</a:t>
            </a:r>
            <a:endParaRPr/>
          </a:p>
        </p:txBody>
      </p:sp>
      <p:sp>
        <p:nvSpPr>
          <p:cNvPr id="467" name=""/>
          <p:cNvSpPr/>
          <p:nvPr/>
        </p:nvSpPr>
        <p:spPr>
          <a:xfrm rot="0" flipH="0" flipV="0">
            <a:off x="7962900" y="5391150"/>
            <a:ext cx="914400" cy="152400"/>
          </a:xfrm>
          <a:prstGeom prst="roundRect">
            <a:avLst>
              <a:gd name="adj" fmla="val 18750"/>
            </a:avLst>
          </a:prstGeom>
          <a:ln w="12700">
            <a:solidFill>
              <a:srgbClr val="6BC8D1">
                <a:alpha val="22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468" name="" descr="{&quot;isTemplate&quot;:true,&quot;type&quot;:&quot;text&quot;}"/>
          <p:cNvSpPr txBox="1"/>
          <p:nvPr/>
        </p:nvSpPr>
        <p:spPr>
          <a:xfrm rot="0" flipH="0" flipV="0">
            <a:off x="8248650" y="5419725"/>
            <a:ext cx="342900" cy="952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600">
                <a:solidFill>
                  <a:srgbClr val="6BC8D1"/>
                </a:solidFill>
                <a:latin typeface="Consolas"/>
                <a:ea typeface="Consolas"/>
              </a:rPr>
              <a:t>TEACHING</a:t>
            </a:r>
            <a:endParaRPr/>
          </a:p>
        </p:txBody>
      </p:sp>
      <p:sp>
        <p:nvSpPr>
          <p:cNvPr id="469" name="" descr="{&quot;isTemplate&quot;:true,&quot;type&quot;:&quot;text&quot;}"/>
          <p:cNvSpPr txBox="1"/>
          <p:nvPr/>
        </p:nvSpPr>
        <p:spPr>
          <a:xfrm rot="0" flipH="0" flipV="0">
            <a:off x="9563100" y="5410200"/>
            <a:ext cx="857250" cy="1143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750">
                <a:solidFill>
                  <a:srgbClr val="E78172"/>
                </a:solidFill>
                <a:latin typeface="Microsoft YaHei"/>
                <a:ea typeface="Microsoft YaHei"/>
              </a:rPr>
              <a:t>挑战</a:t>
            </a:r>
            <a:endParaRPr/>
          </a:p>
        </p:txBody>
      </p:sp>
      <p:sp>
        <p:nvSpPr>
          <p:cNvPr id="470" name="" descr="{&quot;isTemplate&quot;:true,&quot;type&quot;:&quot;text&quot;}"/>
          <p:cNvSpPr txBox="1"/>
          <p:nvPr/>
        </p:nvSpPr>
        <p:spPr>
          <a:xfrm rot="0" flipH="0" flipV="0">
            <a:off x="10420350" y="5410200"/>
            <a:ext cx="666750" cy="114300"/>
          </a:xfrm>
          <a:prstGeom prst="rect"/>
        </p:spPr>
        <p:txBody>
          <a:bodyPr wrap="none" lIns="0" tIns="0" rIns="0" bIns="0"/>
          <a:p>
            <a:pPr algn="r">
              <a:lnSpc>
                <a:spcPct val="100000"/>
              </a:lnSpc>
            </a:pPr>
            <a:r>
              <a:rPr lang="en-US" sz="713">
                <a:solidFill>
                  <a:srgbClr val="F2F7F8">
                    <a:alpha val="44000"/>
                  </a:srgbClr>
                </a:solidFill>
                <a:latin typeface="Consolas"/>
                <a:ea typeface="Consolas"/>
              </a:rPr>
              <a:t>10 min</a:t>
            </a:r>
            <a:endParaRPr/>
          </a:p>
        </p:txBody>
      </p:sp>
      <p:sp>
        <p:nvSpPr>
          <p:cNvPr id="471" name=""/>
          <p:cNvSpPr/>
          <p:nvPr/>
        </p:nvSpPr>
        <p:spPr>
          <a:xfrm rot="0" flipH="0" flipV="0">
            <a:off x="533400" y="6029325"/>
            <a:ext cx="190500" cy="9525"/>
          </a:xfrm>
          <a:prstGeom prst="rect">
            <a:avLst/>
          </a:prstGeom>
          <a:solidFill>
            <a:srgbClr val="6BC8D1"/>
          </a:solidFill>
          <a:ln/>
        </p:spPr>
        <p:txBody>
          <a:bodyPr/>
          <a:p/>
        </p:txBody>
      </p:sp>
      <p:sp>
        <p:nvSpPr>
          <p:cNvPr id="472" name="" descr="{&quot;isTemplate&quot;:true,&quot;type&quot;:&quot;text&quot;}"/>
          <p:cNvSpPr txBox="1"/>
          <p:nvPr/>
        </p:nvSpPr>
        <p:spPr>
          <a:xfrm rot="0" flipH="0" flipV="0">
            <a:off x="819150" y="5962650"/>
            <a:ext cx="4067175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825">
                <a:solidFill>
                  <a:srgbClr val="F2F7F8">
                    <a:alpha val="46000"/>
                  </a:srgbClr>
                </a:solidFill>
                <a:latin typeface="Microsoft YaHei"/>
                <a:ea typeface="Microsoft YaHei"/>
              </a:rPr>
              <a:t>场景不是七套脚本：拓扑、接口、</a:t>
            </a:r>
            <a:r>
              <a:rPr lang="en-US" sz="825">
                <a:solidFill>
                  <a:srgbClr val="F2F7F8">
                    <a:alpha val="46000"/>
                  </a:srgbClr>
                </a:solidFill>
                <a:latin typeface="Microsoft YaHei"/>
                <a:ea typeface="Microsoft YaHei"/>
              </a:rPr>
              <a:t>VLAN</a:t>
            </a:r>
            <a:r>
              <a:rPr lang="zh-CN" sz="825">
                <a:solidFill>
                  <a:srgbClr val="F2F7F8">
                    <a:alpha val="46000"/>
                  </a:srgbClr>
                </a:solidFill>
                <a:latin typeface="Microsoft YaHei"/>
                <a:ea typeface="Microsoft YaHei"/>
              </a:rPr>
              <a:t>、路由、策略与初始条件共同驱动同一套引擎。</a:t>
            </a:r>
            <a:endParaRPr/>
          </a:p>
        </p:txBody>
      </p:sp>
      <p:sp>
        <p:nvSpPr>
          <p:cNvPr id="473" name=""/>
          <p:cNvSpPr/>
          <p:nvPr/>
        </p:nvSpPr>
        <p:spPr>
          <a:xfrm rot="0" flipH="0" flipV="0">
            <a:off x="533400" y="6324600"/>
            <a:ext cx="11125200" cy="9525"/>
          </a:xfrm>
          <a:prstGeom prst="rect">
            <a:avLst/>
          </a:prstGeom>
          <a:solidFill>
            <a:srgbClr val="F2F7F8">
              <a:alpha val="10000"/>
            </a:srgbClr>
          </a:solidFill>
          <a:ln/>
        </p:spPr>
        <p:txBody>
          <a:bodyPr/>
          <a:p/>
        </p:txBody>
      </p:sp>
      <p:sp>
        <p:nvSpPr>
          <p:cNvPr id="474" name="" descr="{&quot;isTemplate&quot;:true,&quot;type&quot;:&quot;text&quot;}"/>
          <p:cNvSpPr txBox="1"/>
          <p:nvPr/>
        </p:nvSpPr>
        <p:spPr>
          <a:xfrm rot="0" flipH="0" flipV="0">
            <a:off x="533400" y="6457950"/>
            <a:ext cx="3248025" cy="1238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788" spc="60">
                <a:solidFill>
                  <a:srgbClr val="F2F7F8">
                    <a:alpha val="40000"/>
                  </a:srgbClr>
                </a:solidFill>
                <a:latin typeface="Consolas"/>
                <a:ea typeface="Consolas"/>
              </a:rPr>
              <a:t>智御网络</a:t>
            </a:r>
            <a:r>
              <a:rPr lang="en-US" sz="788" spc="60">
                <a:solidFill>
                  <a:srgbClr val="F2F7F8">
                    <a:alpha val="40000"/>
                  </a:srgbClr>
                </a:solidFill>
                <a:latin typeface="Consolas"/>
                <a:ea typeface="Consolas"/>
              </a:rPr>
              <a:t> · </a:t>
            </a:r>
            <a:r>
              <a:rPr lang="zh-CN" sz="788" spc="60">
                <a:solidFill>
                  <a:srgbClr val="F2F7F8">
                    <a:alpha val="40000"/>
                  </a:srgbClr>
                </a:solidFill>
                <a:latin typeface="Consolas"/>
                <a:ea typeface="Consolas"/>
              </a:rPr>
              <a:t>三维网络安全策略交互验证平台</a:t>
            </a:r>
            <a:endParaRPr/>
          </a:p>
        </p:txBody>
      </p:sp>
      <p:sp>
        <p:nvSpPr>
          <p:cNvPr id="475" name="" descr="{&quot;isTemplate&quot;:true,&quot;type&quot;:&quot;text&quot;}"/>
          <p:cNvSpPr txBox="1"/>
          <p:nvPr/>
        </p:nvSpPr>
        <p:spPr>
          <a:xfrm rot="0" flipH="0" flipV="0">
            <a:off x="11268075" y="6457950"/>
            <a:ext cx="390525" cy="1238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788">
                <a:solidFill>
                  <a:srgbClr val="F2F7F8">
                    <a:alpha val="40000"/>
                  </a:srgbClr>
                </a:solidFill>
                <a:latin typeface="Consolas"/>
                <a:ea typeface="Consolas"/>
              </a:rPr>
              <a:t>17 / 22</a:t>
            </a:r>
            <a:endParaRPr/>
          </a:p>
        </p:txBody>
      </p:sp>
    </p:spTree>
  </p:cSld>
</p:sld>
</file>

<file path=ppt/slides/slide18.xml><?xml version="1.0" encoding="utf-8"?>
<p:sld xmlns:p="http://schemas.openxmlformats.org/presentationml/2006/main" xmlns:r="http://schemas.openxmlformats.org/officeDocument/2006/relationships" xmlns:a="http://schemas.openxmlformats.org/drawingml/2006/main" xmlns:asvg="http://schemas.microsoft.com/office/drawing/2016/SVG/main" xmlns:mc="http://schemas.openxmlformats.org/markup-compatibility/2006" mc:Ignorable="asvg">
  <p:cSld>
    <p:spTree>
      <p:nvGrpSpPr>
        <p:cNvPr id="476" name="" descr="&lt;Slide style={{ width: 1280, height: 720, background: '#07111B', padding: 0, position: 'relative', overflow: 'hidden' }}&gt;&#13;&#10;    &lt;svg width={1280} height={720} viewBox='0 0 1280 720' style={{ position: 'absolute', left: 0, top: 0 }}&gt;&#13;&#10;        &lt;g stroke='rgba(242,247,248,0.022)' strokeWidth='1'&gt;&#13;&#10;            &lt;path d='M0 96H1280M0 192H1280M0 288H1280M0 384H1280M0 480H1280M0 576H1280M0 672H1280' /&gt;&#13;&#10;        &lt;/g&gt;&#13;&#10;    &lt;/svg&gt;&#13;&#10;&#13;&#10;    &lt;Box style={{ position: 'absolute', left: 56, top: 38 }}&gt;&#13;&#10;        &lt;Text style={{ fontFamily: 'Consolas', fontSize: 11, color: '#6BC8D1', letterSpacing: 1.8 }}&gt;04 / 实验与验证&lt;/Text&gt;&#13;&#10;    &lt;/Box&gt;&#13;&#10;    &lt;Text style={{ position: 'absolute', left: 56, top: 62, fontFamily: 'Microsoft YaHei', fontSize: 32, fontWeight: 'bold', color: '#F2F7F8', letterSpacing: 0.5 }}&gt;从学到考，再到验证：一条闭环&lt;/Text&gt;&#13;&#10;    &lt;Text style={{ position: 'absolute', right: 56, top: 76, fontFamily: 'Consolas', fontSize: 10.5, color: 'rgba(242,247,248,0.42)' }}&gt;LEARN · PRACTICE · EXAM · VERIFY&lt;/Text&gt;&#13;&#10;&#13;&#10;    &lt;Box style={{ position: 'absolute', left: 56, top: 140, width: 440, height: 460 }}&gt;&#13;&#10;        &lt;svg width={440} height={460} viewBox='0 0 440 460' style={{ position: 'absolute', left: 0, top: 0 }}&gt;&#13;&#10;            &lt;circle cx='220' cy='220' r='156' fill='none' stroke='rgba(107,200,209,0.22)' strokeWidth='1' strokeDasharray='5 6' /&gt;&#13;&#10;            &lt;circle cx='220' cy='220' r='112' fill='none' stroke='rgba(242,247,248,0.06)' strokeWidth='1' /&gt;&#13;&#10;            &lt;circle cx='220' cy='220' r='156' fill='rgba(107,200,209,0.025)' /&gt;&#13;&#10;        &lt;/svg&gt;&#13;&#10;&#13;&#10;        &lt;Box style={{ position: 'absolute', left: 156, top: 32, width: 128, height: 128, borderRadius: 64, background: 'rgba(107,200,209,0.10)', border: '1px solid rgba(107,200,209,0.34)', alignItems: 'center', justifyContent: 'center' }}&gt;&#13;&#10;            &lt;Text style={{ fontFamily: 'Microsoft YaHei', fontSize: 25, fontWeight: 'bold', color: '#6BC8D1' }}&gt;学&lt;/Text&gt;&#13;&#10;            &lt;Text style={{ marginTop: 4, fontFamily: 'Consolas', fontSize: 8.5, color: 'rgba(242,247,248,0.46)' }}&gt;5 MODULES&lt;/Text&gt;&#13;&#10;        &lt;/Box&gt;&#13;&#10;        &lt;Box style={{ position: 'absolute', left: 316, top: 188, width: 128, height: 128, borderRadius: 64, background: 'rgba(107,200,209,0.08)', border: '1px solid rgba(107,200,209,0.28)', alignItems: 'center', justifyContent: 'center' }}&gt;&#13;&#10;            &lt;Text style={{ fontFamily: 'Microsoft YaHei', fontSize: 25, fontWeight: 'bold', color: '#6BC8D1' }}&gt;练&lt;/Text&gt;&#13;&#10;            &lt;Text style={{ marginTop: 4, fontFamily: 'Consolas', fontSize: 8.5, color: 'rgba(242,247,248,0.46)' }}&gt;20 QUESTIONS&lt;/Text&gt;&#13;&#10;        &lt;/Box&gt;&#13;&#10;        &lt;Box style={{ position: 'absolute', left: 156, top: 344, width: 128, height: 128, borderRadius: 64, background: 'rgba(107,200,209,0.08)', border: '1px solid rgba(107,200,209,0.28)', alignItems: 'center', justifyContent: 'center' }}&gt;&#13;&#10;            &lt;Text style={{ fontFamily: 'Microsoft YaHei', fontSize: 25, fontWeight: 'bold', color: '#6BC8D1' }}&gt;考&lt;/Text&gt;&#13;&#10;            &lt;Text style={{ marginTop: 4, fontFamily: 'Consolas', fontSize: 8.5, color: 'rgba(242,247,248,0.46)' }}&gt;EXAM&lt;/Text&gt;&#13;&#10;        &lt;/Box&gt;&#13;&#10;        &lt;Box style={{ position: 'absolute', left: -4, top: 188, width: 128, height: 128, borderRadius: 64, background: 'rgba(231,129,114,0.08)', border: '1px solid rgba(231,129,114,0.28)', alignItems: 'center', justifyContent: 'center' }}&gt;&#13;&#10;            &lt;Text style={{ fontFamily: 'Microsoft YaHei', fontSize: 25, fontWeight: 'bold', color: '#E78172' }}&gt;验&lt;/Text&gt;&#13;&#10;            &lt;Text style={{ marginTop: 4, fontFamily: 'Consolas', fontSize: 8.5, color: 'rgba(242,247,248,0.46)' }}&gt;CHALLENGE&lt;/Text&gt;&#13;&#10;        &lt;/Box&gt;&#13;&#10;&#13;&#10;        &lt;Box style={{ position: 'absolute', left: 150, top: 190, width: 140, alignItems: 'center' }}&gt;&#13;&#10;            &lt;Text style={{ fontFamily: 'Consolas', fontSize: 40, fontWeight: 'bold', color: '#F2F7F8', lineHeight: 1 }}&gt;04&lt;/Text&gt;&#13;&#10;            &lt;Text style={{ marginTop: 4, fontFamily: 'Consolas', fontSize: 9, color: '#6BC8D1', letterSpacing: 1.5 }}&gt;STEPS&lt;/Text&gt;&#13;&#10;            &lt;Text style={{ marginTop: 10, fontFamily: 'Microsoft YaHei', fontSize: 10, color: 'rgba(242,247,248,0.42)' }}&gt;知识 → 操作 → 反馈&lt;/Text&gt;&#13;&#10;        &lt;/Box&gt;&#13;&#10;    &lt;/Box&gt;&#13;&#10;&#13;&#10;    &lt;Box style={{ position: 'absolute', left: 560, top: 140, width: 664 }}&gt;&#13;&#10;        &lt;Box style={{ flexDirection: 'row', alignItems: 'flex-start', height: 94, borderTop: '1px solid rgba(242,247,248,0.10)' }}&gt;&#13;&#10;            &lt;Text style={{ width: 46, marginTop: 14, fontFamily: 'Consolas', fontSize: 10, color: '#6BC8D1' }}&gt;01&lt;/Text&gt;&#13;&#10;            &lt;Box style={{ width: 608 }}&gt;&#13;&#10;                &lt;Text style={{ marginTop: 12, fontFamily: 'Microsoft YaHei', fontSize: 17, fontWeight: 'bold', color: '#F2F7F8' }}&gt;学 · 建立概念&lt;/Text&gt;&#13;&#10;                &lt;Text style={{ marginTop: 4, fontFamily: 'Microsoft YaHei', fontSize: 11.5, color: 'rgba(242,247,248,0.54)', lineHeight: 1.7 }}&gt;六个知识模块：网络分区、防火墙、终端防护、关键资产、横向传播、最小权限。&lt;/Text&gt;&#13;&#10;            &lt;/Box&gt;&#13;&#10;        &lt;/Box&gt;&#13;&#10;        &lt;Box style={{ flexDirection: 'row', alignItems: 'flex-start', height: 94, borderTop: '1px solid rgba(242,247,248,0.10)' }}&gt;&#13;&#10;            &lt;Text style={{ width: 46, marginTop: 14, fontFamily: 'Consolas', fontSize: 10, color: '#6BC8D1' }}&gt;02&lt;/Text&gt;&#13;&#10;            &lt;Box style={{ width: 608 }}&gt;&#13;&#10;                &lt;Text style={{ marginTop: 12, fontFamily: 'Microsoft YaHei', fontSize: 17, fontWeight: 'bold', color: '#F2F7F8' }}&gt;练 · 即时反馈&lt;/Text&gt;&#13;&#10;                &lt;Text style={{ marginTop: 4, fontFamily: 'Microsoft YaHei', fontSize: 11.5, color: 'rgba(242,247,248,0.54)', lineHeight: 1.7 }}&gt;20 题随堂练习；作答后立即给出解析与静态示意图，并可跳转到关联实验。&lt;/Text&gt;&#13;&#10;            &lt;/Box&gt;&#13;&#10;        &lt;/Box&gt;&#13;&#10;        &lt;Box style={{ flexDirection: 'row', alignItems: 'flex-start', height: 94, borderTop: '1px solid rgba(242,247,248,0.10)' }}&gt;&#13;&#10;            &lt;Text style={{ width: 46, marginTop: 14, fontFamily: 'Consolas', fontSize: 10, color: '#6BC8D1' }}&gt;03&lt;/Text&gt;&#13;&#10;            &lt;Box style={{ width: 608 }}&gt;&#13;&#10;                &lt;Text style={{ marginTop: 12, fontFamily: 'Microsoft YaHei', fontSize: 17, fontWeight: 'bold', color: '#F2F7F8' }}&gt;考 · 可回看&lt;/Text&gt;&#13;&#10;                &lt;Text style={{ marginTop: 4, fontFamily: 'Microsoft YaHei', fontSize: 11.5, color: 'rgba(242,247,248,0.54)', lineHeight: 1.7 }}&gt;模拟考试含答题卡、交卷评分与错题回看；记录每次得分与最佳成绩。&lt;/Text&gt;&#13;&#10;            &lt;/Box&gt;&#13;&#10;        &lt;/Box&gt;&#13;&#10;        &lt;Box style={{ flexDirection: 'row', alignItems: 'flex-start', height: 94, borderTop: '1px solid rgba(242,247,248,0.10)', borderBottom: '1px solid rgba(242,247,248,0.10)' }}&gt;&#13;&#10;            &lt;Text style={{ width: 46, marginTop: 14, fontFamily: 'Consolas', fontSize: 10, color: '#E78172' }}&gt;04&lt;/Text&gt;&#13;&#10;            &lt;Box style={{ width: 608 }}&gt;&#13;&#10;                &lt;Text style={{ marginTop: 12, fontFamily: 'Microsoft YaHei', fontSize: 17, fontWeight: 'bold', color: '#F2F7F8' }}&gt;验 · 双条件通过&lt;/Text&gt;&#13;&#10;                &lt;Text style={{ marginTop: 4, fontFamily: 'Microsoft YaHei', fontSize: 11.5, color: 'rgba(242,247,248,0.54)', lineHeight: 1.7 }}&gt;在实验室验证：关键目标保护 + 必要业务可达，同时满足才算通过，而不是“全断开”。&lt;/Text&gt;&#13;&#10;            &lt;/Box&gt;&#13;&#10;        &lt;/Box&gt;&#13;&#10;    &lt;/Box&gt;&#13;&#10;&#13;&#10;    &lt;Box style={{ position: 'absolute', left: 560, top: 532, width: 664, paddingTop: 14, borderTop: '1px solid rgba(107,200,209,0.20)' }}&gt;&#13;&#10;        &lt;Text style={{ fontFamily: 'Consolas', fontSize: 9.5, color: '#6BC8D1', letterSpacing: 1 }}&gt;LOCAL PROGRESS&lt;/Text&gt;&#13;&#10;        &lt;Text style={{ marginTop: 6, fontFamily: 'Microsoft YaHei', fontSize: 11.5, color: 'rgba(242,247,248,0.50)', lineHeight: 1.7 }}&gt;学习与考试进度保存在浏览器本地，不需要账号、后端或数据库；换一台设备就从零开始。&lt;/Text&gt;&#13;&#10;    &lt;/Box&gt;&#13;&#10;&#13;&#10;    &lt;Box style={{ position: 'absolute', left: 56, top: 664, width: 1168, height: 1, background: 'rgba(242,247,248,0.10)' }} /&gt;&#13;&#10;    &lt;Text style={{ position: 'absolute', left: 56, top: 678, fontFamily: 'Consolas', fontSize: 10.5, color: 'rgba(242,247,248,0.40)', letterSpacing: 0.8 }}&gt;智御网络 · 三维网络安全策略交互验证平台&lt;/Text&gt;&#13;&#10;    &lt;Text style={{ position: 'absolute', right: 56, top: 678, fontFamily: 'Consolas', fontSize: 10.5, color: 'rgba(242,247,248,0.40)' }}&gt;18 / 22&lt;/Text&gt;&#13;&#10;&lt;/Slide&gt;&#13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7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07111B"/>
          </a:solidFill>
          <a:ln/>
        </p:spPr>
        <p:txBody>
          <a:bodyPr/>
          <a:p/>
        </p:txBody>
      </p:sp>
      <p:pic>
        <p:nvPicPr>
          <p:cNvPr id="478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1"/>
              </a:ext>
            </a:extLst>
          </a:blip>
          <a:stretch>
            <a:fillRect/>
          </a:stretch>
        </p:blipFill>
        <p:spPr>
          <a:xfrm rot="0" flipH="0" flipV="0">
            <a:off x="0" y="0"/>
            <a:ext cx="12192000" cy="6858000"/>
          </a:xfrm>
          <a:prstGeom prst="rect">
            <a:avLst/>
          </a:prstGeom>
          <a:ln/>
        </p:spPr>
      </p:pic>
      <p:sp>
        <p:nvSpPr>
          <p:cNvPr id="479" name="" descr="{&quot;isTemplate&quot;:true,&quot;type&quot;:&quot;text&quot;}"/>
          <p:cNvSpPr txBox="1"/>
          <p:nvPr/>
        </p:nvSpPr>
        <p:spPr>
          <a:xfrm rot="0" flipH="0" flipV="0">
            <a:off x="533400" y="361950"/>
            <a:ext cx="1276350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825" spc="135">
                <a:solidFill>
                  <a:srgbClr val="6BC8D1"/>
                </a:solidFill>
                <a:latin typeface="Consolas"/>
                <a:ea typeface="Consolas"/>
              </a:rPr>
              <a:t>04 / </a:t>
            </a:r>
            <a:r>
              <a:rPr lang="zh-CN" sz="825" spc="135">
                <a:solidFill>
                  <a:srgbClr val="6BC8D1"/>
                </a:solidFill>
                <a:latin typeface="Consolas"/>
                <a:ea typeface="Consolas"/>
              </a:rPr>
              <a:t>实验与验证</a:t>
            </a:r>
            <a:endParaRPr/>
          </a:p>
        </p:txBody>
      </p:sp>
      <p:sp>
        <p:nvSpPr>
          <p:cNvPr id="480" name="" descr="{&quot;isTemplate&quot;:true,&quot;type&quot;:&quot;text&quot;}"/>
          <p:cNvSpPr txBox="1"/>
          <p:nvPr/>
        </p:nvSpPr>
        <p:spPr>
          <a:xfrm rot="0" flipH="0" flipV="0">
            <a:off x="533400" y="590550"/>
            <a:ext cx="4333875" cy="3714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400" b="1" spc="38">
                <a:solidFill>
                  <a:srgbClr val="F2F7F8"/>
                </a:solidFill>
                <a:latin typeface="Microsoft YaHei"/>
                <a:ea typeface="Microsoft YaHei"/>
              </a:rPr>
              <a:t>从学到考，再到验证：一条闭环</a:t>
            </a:r>
            <a:endParaRPr/>
          </a:p>
        </p:txBody>
      </p:sp>
      <p:sp>
        <p:nvSpPr>
          <p:cNvPr id="481" name="" descr="{&quot;isTemplate&quot;:true,&quot;type&quot;:&quot;text&quot;}"/>
          <p:cNvSpPr txBox="1"/>
          <p:nvPr/>
        </p:nvSpPr>
        <p:spPr>
          <a:xfrm rot="0" flipH="0" flipV="0">
            <a:off x="9896475" y="723900"/>
            <a:ext cx="1762125" cy="1238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788">
                <a:solidFill>
                  <a:srgbClr val="F2F7F8">
                    <a:alpha val="42000"/>
                  </a:srgbClr>
                </a:solidFill>
                <a:latin typeface="Consolas"/>
                <a:ea typeface="Consolas"/>
              </a:rPr>
              <a:t>LEARN · PRACTICE · EXAM · VERIFY</a:t>
            </a:r>
            <a:endParaRPr/>
          </a:p>
        </p:txBody>
      </p:sp>
      <p:pic>
        <p:nvPicPr>
          <p:cNvPr id="482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2"/>
              </a:ext>
            </a:extLst>
          </a:blip>
          <a:stretch>
            <a:fillRect/>
          </a:stretch>
        </p:blipFill>
        <p:spPr>
          <a:xfrm rot="0" flipH="0" flipV="0">
            <a:off x="533400" y="1333500"/>
            <a:ext cx="4191000" cy="4381500"/>
          </a:xfrm>
          <a:prstGeom prst="rect">
            <a:avLst/>
          </a:prstGeom>
          <a:ln/>
        </p:spPr>
      </p:pic>
      <p:sp>
        <p:nvSpPr>
          <p:cNvPr id="483" name=""/>
          <p:cNvSpPr/>
          <p:nvPr/>
        </p:nvSpPr>
        <p:spPr>
          <a:xfrm rot="0" flipH="0" flipV="0">
            <a:off x="2019300" y="1638300"/>
            <a:ext cx="1219200" cy="1219200"/>
          </a:xfrm>
          <a:prstGeom prst="roundRect">
            <a:avLst>
              <a:gd name="adj" fmla="val 50000"/>
            </a:avLst>
          </a:prstGeom>
          <a:solidFill>
            <a:srgbClr val="6BC8D1">
              <a:alpha val="10000"/>
            </a:srgbClr>
          </a:solidFill>
          <a:ln w="12700">
            <a:solidFill>
              <a:srgbClr val="6BC8D1">
                <a:alpha val="34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484" name="" descr="{&quot;isTemplate&quot;:true,&quot;type&quot;:&quot;text&quot;}"/>
          <p:cNvSpPr txBox="1"/>
          <p:nvPr/>
        </p:nvSpPr>
        <p:spPr>
          <a:xfrm rot="0" flipH="0" flipV="0">
            <a:off x="2514600" y="2038350"/>
            <a:ext cx="238125" cy="2857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875" b="1">
                <a:solidFill>
                  <a:srgbClr val="6BC8D1"/>
                </a:solidFill>
                <a:latin typeface="Microsoft YaHei"/>
                <a:ea typeface="Microsoft YaHei"/>
              </a:rPr>
              <a:t>学</a:t>
            </a:r>
            <a:endParaRPr/>
          </a:p>
        </p:txBody>
      </p:sp>
      <p:sp>
        <p:nvSpPr>
          <p:cNvPr id="485" name="" descr="{&quot;isTemplate&quot;:true,&quot;type&quot;:&quot;text&quot;}"/>
          <p:cNvSpPr txBox="1"/>
          <p:nvPr/>
        </p:nvSpPr>
        <p:spPr>
          <a:xfrm rot="0" flipH="0" flipV="0">
            <a:off x="2428875" y="2362200"/>
            <a:ext cx="409575" cy="1047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638">
                <a:solidFill>
                  <a:srgbClr val="F2F7F8">
                    <a:alpha val="46000"/>
                  </a:srgbClr>
                </a:solidFill>
                <a:latin typeface="Consolas"/>
                <a:ea typeface="Consolas"/>
              </a:rPr>
              <a:t>5 MODULES</a:t>
            </a:r>
            <a:endParaRPr/>
          </a:p>
        </p:txBody>
      </p:sp>
      <p:sp>
        <p:nvSpPr>
          <p:cNvPr id="486" name=""/>
          <p:cNvSpPr/>
          <p:nvPr/>
        </p:nvSpPr>
        <p:spPr>
          <a:xfrm rot="0" flipH="0" flipV="0">
            <a:off x="3543300" y="3124200"/>
            <a:ext cx="1219200" cy="1219200"/>
          </a:xfrm>
          <a:prstGeom prst="roundRect">
            <a:avLst>
              <a:gd name="adj" fmla="val 50000"/>
            </a:avLst>
          </a:prstGeom>
          <a:solidFill>
            <a:srgbClr val="6BC8D1">
              <a:alpha val="8000"/>
            </a:srgbClr>
          </a:solidFill>
          <a:ln w="12700">
            <a:solidFill>
              <a:srgbClr val="6BC8D1">
                <a:alpha val="28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487" name="" descr="{&quot;isTemplate&quot;:true,&quot;type&quot;:&quot;text&quot;}"/>
          <p:cNvSpPr txBox="1"/>
          <p:nvPr/>
        </p:nvSpPr>
        <p:spPr>
          <a:xfrm rot="0" flipH="0" flipV="0">
            <a:off x="4038600" y="3524250"/>
            <a:ext cx="238125" cy="2857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875" b="1">
                <a:solidFill>
                  <a:srgbClr val="6BC8D1"/>
                </a:solidFill>
                <a:latin typeface="Microsoft YaHei"/>
                <a:ea typeface="Microsoft YaHei"/>
              </a:rPr>
              <a:t>练</a:t>
            </a:r>
            <a:endParaRPr/>
          </a:p>
        </p:txBody>
      </p:sp>
      <p:sp>
        <p:nvSpPr>
          <p:cNvPr id="488" name="" descr="{&quot;isTemplate&quot;:true,&quot;type&quot;:&quot;text&quot;}"/>
          <p:cNvSpPr txBox="1"/>
          <p:nvPr/>
        </p:nvSpPr>
        <p:spPr>
          <a:xfrm rot="0" flipH="0" flipV="0">
            <a:off x="3886200" y="3848100"/>
            <a:ext cx="542925" cy="1047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638">
                <a:solidFill>
                  <a:srgbClr val="F2F7F8">
                    <a:alpha val="46000"/>
                  </a:srgbClr>
                </a:solidFill>
                <a:latin typeface="Consolas"/>
                <a:ea typeface="Consolas"/>
              </a:rPr>
              <a:t>20 QUESTIONS</a:t>
            </a:r>
            <a:endParaRPr/>
          </a:p>
        </p:txBody>
      </p:sp>
      <p:sp>
        <p:nvSpPr>
          <p:cNvPr id="489" name=""/>
          <p:cNvSpPr/>
          <p:nvPr/>
        </p:nvSpPr>
        <p:spPr>
          <a:xfrm rot="0" flipH="0" flipV="0">
            <a:off x="2019300" y="4610100"/>
            <a:ext cx="1219200" cy="1219200"/>
          </a:xfrm>
          <a:prstGeom prst="roundRect">
            <a:avLst>
              <a:gd name="adj" fmla="val 50000"/>
            </a:avLst>
          </a:prstGeom>
          <a:solidFill>
            <a:srgbClr val="6BC8D1">
              <a:alpha val="8000"/>
            </a:srgbClr>
          </a:solidFill>
          <a:ln w="12700">
            <a:solidFill>
              <a:srgbClr val="6BC8D1">
                <a:alpha val="28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490" name="" descr="{&quot;isTemplate&quot;:true,&quot;type&quot;:&quot;text&quot;}"/>
          <p:cNvSpPr txBox="1"/>
          <p:nvPr/>
        </p:nvSpPr>
        <p:spPr>
          <a:xfrm rot="0" flipH="0" flipV="0">
            <a:off x="2514600" y="5010150"/>
            <a:ext cx="238125" cy="2857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875" b="1">
                <a:solidFill>
                  <a:srgbClr val="6BC8D1"/>
                </a:solidFill>
                <a:latin typeface="Microsoft YaHei"/>
                <a:ea typeface="Microsoft YaHei"/>
              </a:rPr>
              <a:t>考</a:t>
            </a:r>
            <a:endParaRPr/>
          </a:p>
        </p:txBody>
      </p:sp>
      <p:sp>
        <p:nvSpPr>
          <p:cNvPr id="491" name="" descr="{&quot;isTemplate&quot;:true,&quot;type&quot;:&quot;text&quot;}"/>
          <p:cNvSpPr txBox="1"/>
          <p:nvPr/>
        </p:nvSpPr>
        <p:spPr>
          <a:xfrm rot="0" flipH="0" flipV="0">
            <a:off x="2543175" y="5334000"/>
            <a:ext cx="180975" cy="1047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638">
                <a:solidFill>
                  <a:srgbClr val="F2F7F8">
                    <a:alpha val="46000"/>
                  </a:srgbClr>
                </a:solidFill>
                <a:latin typeface="Consolas"/>
                <a:ea typeface="Consolas"/>
              </a:rPr>
              <a:t>EXAM</a:t>
            </a:r>
            <a:endParaRPr/>
          </a:p>
        </p:txBody>
      </p:sp>
      <p:sp>
        <p:nvSpPr>
          <p:cNvPr id="492" name=""/>
          <p:cNvSpPr/>
          <p:nvPr/>
        </p:nvSpPr>
        <p:spPr>
          <a:xfrm rot="0" flipH="0" flipV="0">
            <a:off x="495300" y="3124200"/>
            <a:ext cx="1219200" cy="1219200"/>
          </a:xfrm>
          <a:prstGeom prst="roundRect">
            <a:avLst>
              <a:gd name="adj" fmla="val 50000"/>
            </a:avLst>
          </a:prstGeom>
          <a:solidFill>
            <a:srgbClr val="E78172">
              <a:alpha val="8000"/>
            </a:srgbClr>
          </a:solidFill>
          <a:ln w="12700">
            <a:solidFill>
              <a:srgbClr val="E78172">
                <a:alpha val="28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493" name="" descr="{&quot;isTemplate&quot;:true,&quot;type&quot;:&quot;text&quot;}"/>
          <p:cNvSpPr txBox="1"/>
          <p:nvPr/>
        </p:nvSpPr>
        <p:spPr>
          <a:xfrm rot="0" flipH="0" flipV="0">
            <a:off x="990600" y="3524250"/>
            <a:ext cx="238125" cy="2857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875" b="1">
                <a:solidFill>
                  <a:srgbClr val="E78172"/>
                </a:solidFill>
                <a:latin typeface="Microsoft YaHei"/>
                <a:ea typeface="Microsoft YaHei"/>
              </a:rPr>
              <a:t>验</a:t>
            </a:r>
            <a:endParaRPr/>
          </a:p>
        </p:txBody>
      </p:sp>
      <p:sp>
        <p:nvSpPr>
          <p:cNvPr id="494" name="" descr="{&quot;isTemplate&quot;:true,&quot;type&quot;:&quot;text&quot;}"/>
          <p:cNvSpPr txBox="1"/>
          <p:nvPr/>
        </p:nvSpPr>
        <p:spPr>
          <a:xfrm rot="0" flipH="0" flipV="0">
            <a:off x="904875" y="3848100"/>
            <a:ext cx="409575" cy="1047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638">
                <a:solidFill>
                  <a:srgbClr val="F2F7F8">
                    <a:alpha val="46000"/>
                  </a:srgbClr>
                </a:solidFill>
                <a:latin typeface="Consolas"/>
                <a:ea typeface="Consolas"/>
              </a:rPr>
              <a:t>CHALLENGE</a:t>
            </a:r>
            <a:endParaRPr/>
          </a:p>
        </p:txBody>
      </p:sp>
      <p:sp>
        <p:nvSpPr>
          <p:cNvPr id="495" name="" descr="{&quot;isTemplate&quot;:true,&quot;type&quot;:&quot;text&quot;}"/>
          <p:cNvSpPr txBox="1"/>
          <p:nvPr/>
        </p:nvSpPr>
        <p:spPr>
          <a:xfrm rot="0" flipH="0" flipV="0">
            <a:off x="2419350" y="3143250"/>
            <a:ext cx="419100" cy="4572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3000" b="1">
                <a:solidFill>
                  <a:srgbClr val="F2F7F8"/>
                </a:solidFill>
                <a:latin typeface="Consolas"/>
                <a:ea typeface="Consolas"/>
              </a:rPr>
              <a:t>04</a:t>
            </a:r>
            <a:endParaRPr/>
          </a:p>
        </p:txBody>
      </p:sp>
      <p:sp>
        <p:nvSpPr>
          <p:cNvPr id="496" name="" descr="{&quot;isTemplate&quot;:true,&quot;type&quot;:&quot;text&quot;}"/>
          <p:cNvSpPr txBox="1"/>
          <p:nvPr/>
        </p:nvSpPr>
        <p:spPr>
          <a:xfrm rot="0" flipH="0" flipV="0">
            <a:off x="2476500" y="3638550"/>
            <a:ext cx="314325" cy="1047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675" spc="113">
                <a:solidFill>
                  <a:srgbClr val="6BC8D1"/>
                </a:solidFill>
                <a:latin typeface="Consolas"/>
                <a:ea typeface="Consolas"/>
              </a:rPr>
              <a:t>STEPS</a:t>
            </a:r>
            <a:endParaRPr/>
          </a:p>
        </p:txBody>
      </p:sp>
      <p:sp>
        <p:nvSpPr>
          <p:cNvPr id="497" name="" descr="{&quot;isTemplate&quot;:true,&quot;type&quot;:&quot;text&quot;}"/>
          <p:cNvSpPr txBox="1"/>
          <p:nvPr/>
        </p:nvSpPr>
        <p:spPr>
          <a:xfrm rot="0" flipH="0" flipV="0">
            <a:off x="2190750" y="3838575"/>
            <a:ext cx="876300" cy="1143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750">
                <a:solidFill>
                  <a:srgbClr val="F2F7F8">
                    <a:alpha val="42000"/>
                  </a:srgbClr>
                </a:solidFill>
                <a:latin typeface="Microsoft YaHei"/>
                <a:ea typeface="Microsoft YaHei"/>
              </a:rPr>
              <a:t>知识</a:t>
            </a:r>
            <a:r>
              <a:rPr lang="en-US" sz="750">
                <a:solidFill>
                  <a:srgbClr val="F2F7F8">
                    <a:alpha val="42000"/>
                  </a:srgbClr>
                </a:solidFill>
                <a:latin typeface="Microsoft YaHei"/>
                <a:ea typeface="Microsoft YaHei"/>
              </a:rPr>
              <a:t> → </a:t>
            </a:r>
            <a:r>
              <a:rPr lang="zh-CN" sz="750">
                <a:solidFill>
                  <a:srgbClr val="F2F7F8">
                    <a:alpha val="42000"/>
                  </a:srgbClr>
                </a:solidFill>
                <a:latin typeface="Microsoft YaHei"/>
                <a:ea typeface="Microsoft YaHei"/>
              </a:rPr>
              <a:t>操作</a:t>
            </a:r>
            <a:r>
              <a:rPr lang="en-US" sz="750">
                <a:solidFill>
                  <a:srgbClr val="F2F7F8">
                    <a:alpha val="42000"/>
                  </a:srgbClr>
                </a:solidFill>
                <a:latin typeface="Microsoft YaHei"/>
                <a:ea typeface="Microsoft YaHei"/>
              </a:rPr>
              <a:t> → </a:t>
            </a:r>
            <a:r>
              <a:rPr lang="zh-CN" sz="750">
                <a:solidFill>
                  <a:srgbClr val="F2F7F8">
                    <a:alpha val="42000"/>
                  </a:srgbClr>
                </a:solidFill>
                <a:latin typeface="Microsoft YaHei"/>
                <a:ea typeface="Microsoft YaHei"/>
              </a:rPr>
              <a:t>反馈</a:t>
            </a:r>
            <a:endParaRPr/>
          </a:p>
        </p:txBody>
      </p:sp>
      <p:sp>
        <p:nvSpPr>
          <p:cNvPr id="498" name=""/>
          <p:cNvSpPr/>
          <p:nvPr/>
        </p:nvSpPr>
        <p:spPr>
          <a:xfrm rot="0" flipH="0" flipV="0">
            <a:off x="5334000" y="1333500"/>
            <a:ext cx="6324600" cy="895350"/>
          </a:xfrm>
          <a:custGeom>
            <a:pathLst>
              <a:path w="664" h="94">
                <a:moveTo>
                  <a:pt x="0" y="0"/>
                </a:moveTo>
                <a:lnTo>
                  <a:pt x="664" y="0"/>
                </a:lnTo>
                <a:lnTo>
                  <a:pt x="664" y="1"/>
                </a:lnTo>
                <a:lnTo>
                  <a:pt x="0" y="1"/>
                </a:lnTo>
                <a:close/>
              </a:path>
            </a:pathLst>
          </a:custGeom>
          <a:solidFill>
            <a:srgbClr val="F2F7F8">
              <a:alpha val="10000"/>
            </a:srgbClr>
          </a:solidFill>
          <a:ln/>
        </p:spPr>
        <p:txBody>
          <a:bodyPr/>
          <a:p/>
        </p:txBody>
      </p:sp>
      <p:sp>
        <p:nvSpPr>
          <p:cNvPr id="499" name="" descr="{&quot;isTemplate&quot;:true,&quot;type&quot;:&quot;text&quot;}"/>
          <p:cNvSpPr txBox="1"/>
          <p:nvPr/>
        </p:nvSpPr>
        <p:spPr>
          <a:xfrm rot="0" flipH="0" flipV="0">
            <a:off x="5334000" y="1476375"/>
            <a:ext cx="438150" cy="1143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750">
                <a:solidFill>
                  <a:srgbClr val="6BC8D1"/>
                </a:solidFill>
                <a:latin typeface="Consolas"/>
                <a:ea typeface="Consolas"/>
              </a:rPr>
              <a:t>01</a:t>
            </a:r>
            <a:endParaRPr/>
          </a:p>
        </p:txBody>
      </p:sp>
      <p:sp>
        <p:nvSpPr>
          <p:cNvPr id="500" name="" descr="{&quot;isTemplate&quot;:true,&quot;type&quot;:&quot;text&quot;}"/>
          <p:cNvSpPr txBox="1"/>
          <p:nvPr/>
        </p:nvSpPr>
        <p:spPr>
          <a:xfrm rot="0" flipH="0" flipV="0">
            <a:off x="5772150" y="1457325"/>
            <a:ext cx="579120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F2F7F8"/>
                </a:solidFill>
                <a:latin typeface="Microsoft YaHei"/>
                <a:ea typeface="Microsoft YaHei"/>
              </a:rPr>
              <a:t>学</a:t>
            </a:r>
            <a:r>
              <a:rPr lang="en-US" sz="1275" b="1">
                <a:solidFill>
                  <a:srgbClr val="F2F7F8"/>
                </a:solidFill>
                <a:latin typeface="Microsoft YaHei"/>
                <a:ea typeface="Microsoft YaHei"/>
              </a:rPr>
              <a:t> · </a:t>
            </a:r>
            <a:r>
              <a:rPr lang="zh-CN" sz="1275" b="1">
                <a:solidFill>
                  <a:srgbClr val="F2F7F8"/>
                </a:solidFill>
                <a:latin typeface="Microsoft YaHei"/>
                <a:ea typeface="Microsoft YaHei"/>
              </a:rPr>
              <a:t>建立概念</a:t>
            </a:r>
            <a:endParaRPr/>
          </a:p>
        </p:txBody>
      </p:sp>
      <p:sp>
        <p:nvSpPr>
          <p:cNvPr id="501" name="" descr="{&quot;isTemplate&quot;:true,&quot;type&quot;:&quot;text&quot;}"/>
          <p:cNvSpPr txBox="1"/>
          <p:nvPr/>
        </p:nvSpPr>
        <p:spPr>
          <a:xfrm rot="0" flipH="0" flipV="0">
            <a:off x="5772150" y="1695450"/>
            <a:ext cx="5791200" cy="228600"/>
          </a:xfrm>
          <a:prstGeom prst="rect"/>
        </p:spPr>
        <p:txBody>
          <a:bodyPr wrap="none" lIns="0" tIns="0" rIns="0" bIns="0"/>
          <a:p>
            <a:pPr>
              <a:lnSpc>
                <a:spcPct val="170000"/>
              </a:lnSpc>
            </a:pPr>
            <a:r>
              <a:rPr lang="zh-CN" sz="863">
                <a:solidFill>
                  <a:srgbClr val="F2F7F8">
                    <a:alpha val="54000"/>
                  </a:srgbClr>
                </a:solidFill>
                <a:latin typeface="Microsoft YaHei"/>
                <a:ea typeface="Microsoft YaHei"/>
              </a:rPr>
              <a:t>六个知识模块：网络分区、防火墙、终端防护、关键资产、横向传播、最小权限。</a:t>
            </a:r>
            <a:endParaRPr/>
          </a:p>
        </p:txBody>
      </p:sp>
      <p:sp>
        <p:nvSpPr>
          <p:cNvPr id="502" name=""/>
          <p:cNvSpPr/>
          <p:nvPr/>
        </p:nvSpPr>
        <p:spPr>
          <a:xfrm rot="0" flipH="0" flipV="0">
            <a:off x="5334000" y="2228850"/>
            <a:ext cx="6324600" cy="895350"/>
          </a:xfrm>
          <a:custGeom>
            <a:pathLst>
              <a:path w="664" h="94">
                <a:moveTo>
                  <a:pt x="0" y="0"/>
                </a:moveTo>
                <a:lnTo>
                  <a:pt x="664" y="0"/>
                </a:lnTo>
                <a:lnTo>
                  <a:pt x="664" y="1"/>
                </a:lnTo>
                <a:lnTo>
                  <a:pt x="0" y="1"/>
                </a:lnTo>
                <a:close/>
              </a:path>
            </a:pathLst>
          </a:custGeom>
          <a:solidFill>
            <a:srgbClr val="F2F7F8">
              <a:alpha val="10000"/>
            </a:srgbClr>
          </a:solidFill>
          <a:ln/>
        </p:spPr>
        <p:txBody>
          <a:bodyPr/>
          <a:p/>
        </p:txBody>
      </p:sp>
      <p:sp>
        <p:nvSpPr>
          <p:cNvPr id="503" name="" descr="{&quot;isTemplate&quot;:true,&quot;type&quot;:&quot;text&quot;}"/>
          <p:cNvSpPr txBox="1"/>
          <p:nvPr/>
        </p:nvSpPr>
        <p:spPr>
          <a:xfrm rot="0" flipH="0" flipV="0">
            <a:off x="5334000" y="2371725"/>
            <a:ext cx="438150" cy="1143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750">
                <a:solidFill>
                  <a:srgbClr val="6BC8D1"/>
                </a:solidFill>
                <a:latin typeface="Consolas"/>
                <a:ea typeface="Consolas"/>
              </a:rPr>
              <a:t>02</a:t>
            </a:r>
            <a:endParaRPr/>
          </a:p>
        </p:txBody>
      </p:sp>
      <p:sp>
        <p:nvSpPr>
          <p:cNvPr id="504" name="" descr="{&quot;isTemplate&quot;:true,&quot;type&quot;:&quot;text&quot;}"/>
          <p:cNvSpPr txBox="1"/>
          <p:nvPr/>
        </p:nvSpPr>
        <p:spPr>
          <a:xfrm rot="0" flipH="0" flipV="0">
            <a:off x="5772150" y="2352675"/>
            <a:ext cx="579120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F2F7F8"/>
                </a:solidFill>
                <a:latin typeface="Microsoft YaHei"/>
                <a:ea typeface="Microsoft YaHei"/>
              </a:rPr>
              <a:t>练</a:t>
            </a:r>
            <a:r>
              <a:rPr lang="en-US" sz="1275" b="1">
                <a:solidFill>
                  <a:srgbClr val="F2F7F8"/>
                </a:solidFill>
                <a:latin typeface="Microsoft YaHei"/>
                <a:ea typeface="Microsoft YaHei"/>
              </a:rPr>
              <a:t> · </a:t>
            </a:r>
            <a:r>
              <a:rPr lang="zh-CN" sz="1275" b="1">
                <a:solidFill>
                  <a:srgbClr val="F2F7F8"/>
                </a:solidFill>
                <a:latin typeface="Microsoft YaHei"/>
                <a:ea typeface="Microsoft YaHei"/>
              </a:rPr>
              <a:t>即时反馈</a:t>
            </a:r>
            <a:endParaRPr/>
          </a:p>
        </p:txBody>
      </p:sp>
      <p:sp>
        <p:nvSpPr>
          <p:cNvPr id="505" name="" descr="{&quot;isTemplate&quot;:true,&quot;type&quot;:&quot;text&quot;}"/>
          <p:cNvSpPr txBox="1"/>
          <p:nvPr/>
        </p:nvSpPr>
        <p:spPr>
          <a:xfrm rot="0" flipH="0" flipV="0">
            <a:off x="5772150" y="2590800"/>
            <a:ext cx="5791200" cy="228600"/>
          </a:xfrm>
          <a:prstGeom prst="rect"/>
        </p:spPr>
        <p:txBody>
          <a:bodyPr wrap="none" lIns="0" tIns="0" rIns="0" bIns="0"/>
          <a:p>
            <a:pPr>
              <a:lnSpc>
                <a:spcPct val="170000"/>
              </a:lnSpc>
            </a:pPr>
            <a:r>
              <a:rPr lang="en-US" sz="863">
                <a:solidFill>
                  <a:srgbClr val="F2F7F8">
                    <a:alpha val="54000"/>
                  </a:srgbClr>
                </a:solidFill>
                <a:latin typeface="Microsoft YaHei"/>
                <a:ea typeface="Microsoft YaHei"/>
              </a:rPr>
              <a:t>20 </a:t>
            </a:r>
            <a:r>
              <a:rPr lang="zh-CN" sz="863">
                <a:solidFill>
                  <a:srgbClr val="F2F7F8">
                    <a:alpha val="54000"/>
                  </a:srgbClr>
                </a:solidFill>
                <a:latin typeface="Microsoft YaHei"/>
                <a:ea typeface="Microsoft YaHei"/>
              </a:rPr>
              <a:t>题随堂练习；作答后立即给出解析与静态示意图，并可跳转到关联实验。</a:t>
            </a:r>
            <a:endParaRPr/>
          </a:p>
        </p:txBody>
      </p:sp>
      <p:sp>
        <p:nvSpPr>
          <p:cNvPr id="506" name=""/>
          <p:cNvSpPr/>
          <p:nvPr/>
        </p:nvSpPr>
        <p:spPr>
          <a:xfrm rot="0" flipH="0" flipV="0">
            <a:off x="5334000" y="3124200"/>
            <a:ext cx="6324600" cy="895350"/>
          </a:xfrm>
          <a:custGeom>
            <a:pathLst>
              <a:path w="664" h="94">
                <a:moveTo>
                  <a:pt x="0" y="0"/>
                </a:moveTo>
                <a:lnTo>
                  <a:pt x="664" y="0"/>
                </a:lnTo>
                <a:lnTo>
                  <a:pt x="664" y="1"/>
                </a:lnTo>
                <a:lnTo>
                  <a:pt x="0" y="1"/>
                </a:lnTo>
                <a:close/>
              </a:path>
            </a:pathLst>
          </a:custGeom>
          <a:solidFill>
            <a:srgbClr val="F2F7F8">
              <a:alpha val="10000"/>
            </a:srgbClr>
          </a:solidFill>
          <a:ln/>
        </p:spPr>
        <p:txBody>
          <a:bodyPr/>
          <a:p/>
        </p:txBody>
      </p:sp>
      <p:sp>
        <p:nvSpPr>
          <p:cNvPr id="507" name="" descr="{&quot;isTemplate&quot;:true,&quot;type&quot;:&quot;text&quot;}"/>
          <p:cNvSpPr txBox="1"/>
          <p:nvPr/>
        </p:nvSpPr>
        <p:spPr>
          <a:xfrm rot="0" flipH="0" flipV="0">
            <a:off x="5334000" y="3267075"/>
            <a:ext cx="438150" cy="1143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750">
                <a:solidFill>
                  <a:srgbClr val="6BC8D1"/>
                </a:solidFill>
                <a:latin typeface="Consolas"/>
                <a:ea typeface="Consolas"/>
              </a:rPr>
              <a:t>03</a:t>
            </a:r>
            <a:endParaRPr/>
          </a:p>
        </p:txBody>
      </p:sp>
      <p:sp>
        <p:nvSpPr>
          <p:cNvPr id="508" name="" descr="{&quot;isTemplate&quot;:true,&quot;type&quot;:&quot;text&quot;}"/>
          <p:cNvSpPr txBox="1"/>
          <p:nvPr/>
        </p:nvSpPr>
        <p:spPr>
          <a:xfrm rot="0" flipH="0" flipV="0">
            <a:off x="5772150" y="3248025"/>
            <a:ext cx="579120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F2F7F8"/>
                </a:solidFill>
                <a:latin typeface="Microsoft YaHei"/>
                <a:ea typeface="Microsoft YaHei"/>
              </a:rPr>
              <a:t>考</a:t>
            </a:r>
            <a:r>
              <a:rPr lang="en-US" sz="1275" b="1">
                <a:solidFill>
                  <a:srgbClr val="F2F7F8"/>
                </a:solidFill>
                <a:latin typeface="Microsoft YaHei"/>
                <a:ea typeface="Microsoft YaHei"/>
              </a:rPr>
              <a:t> · </a:t>
            </a:r>
            <a:r>
              <a:rPr lang="zh-CN" sz="1275" b="1">
                <a:solidFill>
                  <a:srgbClr val="F2F7F8"/>
                </a:solidFill>
                <a:latin typeface="Microsoft YaHei"/>
                <a:ea typeface="Microsoft YaHei"/>
              </a:rPr>
              <a:t>可回看</a:t>
            </a:r>
            <a:endParaRPr/>
          </a:p>
        </p:txBody>
      </p:sp>
      <p:sp>
        <p:nvSpPr>
          <p:cNvPr id="509" name="" descr="{&quot;isTemplate&quot;:true,&quot;type&quot;:&quot;text&quot;}"/>
          <p:cNvSpPr txBox="1"/>
          <p:nvPr/>
        </p:nvSpPr>
        <p:spPr>
          <a:xfrm rot="0" flipH="0" flipV="0">
            <a:off x="5772150" y="3486150"/>
            <a:ext cx="5791200" cy="228600"/>
          </a:xfrm>
          <a:prstGeom prst="rect"/>
        </p:spPr>
        <p:txBody>
          <a:bodyPr wrap="none" lIns="0" tIns="0" rIns="0" bIns="0"/>
          <a:p>
            <a:pPr>
              <a:lnSpc>
                <a:spcPct val="170000"/>
              </a:lnSpc>
            </a:pPr>
            <a:r>
              <a:rPr lang="zh-CN" sz="863">
                <a:solidFill>
                  <a:srgbClr val="F2F7F8">
                    <a:alpha val="54000"/>
                  </a:srgbClr>
                </a:solidFill>
                <a:latin typeface="Microsoft YaHei"/>
                <a:ea typeface="Microsoft YaHei"/>
              </a:rPr>
              <a:t>模拟考试含答题卡、交卷评分与错题回看；记录每次得分与最佳成绩。</a:t>
            </a:r>
            <a:endParaRPr/>
          </a:p>
        </p:txBody>
      </p:sp>
      <p:sp>
        <p:nvSpPr>
          <p:cNvPr id="510" name=""/>
          <p:cNvSpPr/>
          <p:nvPr/>
        </p:nvSpPr>
        <p:spPr>
          <a:xfrm rot="0" flipH="0" flipV="0">
            <a:off x="5334000" y="4019550"/>
            <a:ext cx="6324600" cy="895350"/>
          </a:xfrm>
          <a:custGeom>
            <a:pathLst>
              <a:path w="664" h="94">
                <a:moveTo>
                  <a:pt x="0" y="0"/>
                </a:moveTo>
                <a:lnTo>
                  <a:pt x="664" y="0"/>
                </a:lnTo>
                <a:lnTo>
                  <a:pt x="664" y="1"/>
                </a:lnTo>
                <a:lnTo>
                  <a:pt x="0" y="1"/>
                </a:lnTo>
                <a:close/>
              </a:path>
            </a:pathLst>
          </a:custGeom>
          <a:solidFill>
            <a:srgbClr val="F2F7F8">
              <a:alpha val="10000"/>
            </a:srgbClr>
          </a:solidFill>
          <a:ln/>
        </p:spPr>
        <p:txBody>
          <a:bodyPr/>
          <a:p/>
        </p:txBody>
      </p:sp>
      <p:sp>
        <p:nvSpPr>
          <p:cNvPr id="511" name=""/>
          <p:cNvSpPr/>
          <p:nvPr/>
        </p:nvSpPr>
        <p:spPr>
          <a:xfrm rot="0" flipH="0" flipV="0">
            <a:off x="5334000" y="4019550"/>
            <a:ext cx="6324600" cy="895350"/>
          </a:xfrm>
          <a:custGeom>
            <a:pathLst>
              <a:path w="664" h="94">
                <a:moveTo>
                  <a:pt x="0" y="93"/>
                </a:moveTo>
                <a:lnTo>
                  <a:pt x="664" y="93"/>
                </a:lnTo>
                <a:lnTo>
                  <a:pt x="664" y="94"/>
                </a:lnTo>
                <a:lnTo>
                  <a:pt x="0" y="94"/>
                </a:lnTo>
                <a:close/>
              </a:path>
            </a:pathLst>
          </a:custGeom>
          <a:solidFill>
            <a:srgbClr val="F2F7F8">
              <a:alpha val="10000"/>
            </a:srgbClr>
          </a:solidFill>
          <a:ln/>
        </p:spPr>
        <p:txBody>
          <a:bodyPr/>
          <a:p/>
        </p:txBody>
      </p:sp>
      <p:sp>
        <p:nvSpPr>
          <p:cNvPr id="512" name="" descr="{&quot;isTemplate&quot;:true,&quot;type&quot;:&quot;text&quot;}"/>
          <p:cNvSpPr txBox="1"/>
          <p:nvPr/>
        </p:nvSpPr>
        <p:spPr>
          <a:xfrm rot="0" flipH="0" flipV="0">
            <a:off x="5334000" y="4162425"/>
            <a:ext cx="438150" cy="1143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750">
                <a:solidFill>
                  <a:srgbClr val="E78172"/>
                </a:solidFill>
                <a:latin typeface="Consolas"/>
                <a:ea typeface="Consolas"/>
              </a:rPr>
              <a:t>04</a:t>
            </a:r>
            <a:endParaRPr/>
          </a:p>
        </p:txBody>
      </p:sp>
      <p:sp>
        <p:nvSpPr>
          <p:cNvPr id="513" name="" descr="{&quot;isTemplate&quot;:true,&quot;type&quot;:&quot;text&quot;}"/>
          <p:cNvSpPr txBox="1"/>
          <p:nvPr/>
        </p:nvSpPr>
        <p:spPr>
          <a:xfrm rot="0" flipH="0" flipV="0">
            <a:off x="5772150" y="4143375"/>
            <a:ext cx="579120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F2F7F8"/>
                </a:solidFill>
                <a:latin typeface="Microsoft YaHei"/>
                <a:ea typeface="Microsoft YaHei"/>
              </a:rPr>
              <a:t>验</a:t>
            </a:r>
            <a:r>
              <a:rPr lang="en-US" sz="1275" b="1">
                <a:solidFill>
                  <a:srgbClr val="F2F7F8"/>
                </a:solidFill>
                <a:latin typeface="Microsoft YaHei"/>
                <a:ea typeface="Microsoft YaHei"/>
              </a:rPr>
              <a:t> · </a:t>
            </a:r>
            <a:r>
              <a:rPr lang="zh-CN" sz="1275" b="1">
                <a:solidFill>
                  <a:srgbClr val="F2F7F8"/>
                </a:solidFill>
                <a:latin typeface="Microsoft YaHei"/>
                <a:ea typeface="Microsoft YaHei"/>
              </a:rPr>
              <a:t>双条件通过</a:t>
            </a:r>
            <a:endParaRPr/>
          </a:p>
        </p:txBody>
      </p:sp>
      <p:sp>
        <p:nvSpPr>
          <p:cNvPr id="514" name="" descr="{&quot;isTemplate&quot;:true,&quot;type&quot;:&quot;text&quot;}"/>
          <p:cNvSpPr txBox="1"/>
          <p:nvPr/>
        </p:nvSpPr>
        <p:spPr>
          <a:xfrm rot="0" flipH="0" flipV="0">
            <a:off x="5772150" y="4381500"/>
            <a:ext cx="5791200" cy="228600"/>
          </a:xfrm>
          <a:prstGeom prst="rect"/>
        </p:spPr>
        <p:txBody>
          <a:bodyPr wrap="none" lIns="0" tIns="0" rIns="0" bIns="0"/>
          <a:p>
            <a:pPr>
              <a:lnSpc>
                <a:spcPct val="170000"/>
              </a:lnSpc>
            </a:pPr>
            <a:r>
              <a:rPr lang="zh-CN" sz="863">
                <a:solidFill>
                  <a:srgbClr val="F2F7F8">
                    <a:alpha val="54000"/>
                  </a:srgbClr>
                </a:solidFill>
                <a:latin typeface="Microsoft YaHei"/>
                <a:ea typeface="Microsoft YaHei"/>
              </a:rPr>
              <a:t>在实验室验证：关键目标保护</a:t>
            </a:r>
            <a:r>
              <a:rPr lang="en-US" sz="863">
                <a:solidFill>
                  <a:srgbClr val="F2F7F8">
                    <a:alpha val="54000"/>
                  </a:srgbClr>
                </a:solidFill>
                <a:latin typeface="Microsoft YaHei"/>
                <a:ea typeface="Microsoft YaHei"/>
              </a:rPr>
              <a:t> + </a:t>
            </a:r>
            <a:r>
              <a:rPr lang="zh-CN" sz="863">
                <a:solidFill>
                  <a:srgbClr val="F2F7F8">
                    <a:alpha val="54000"/>
                  </a:srgbClr>
                </a:solidFill>
                <a:latin typeface="Microsoft YaHei"/>
                <a:ea typeface="Microsoft YaHei"/>
              </a:rPr>
              <a:t>必要业务可达，同时满足才算通过，而不是“全断开”。</a:t>
            </a:r>
            <a:endParaRPr/>
          </a:p>
        </p:txBody>
      </p:sp>
      <p:sp>
        <p:nvSpPr>
          <p:cNvPr id="515" name=""/>
          <p:cNvSpPr/>
          <p:nvPr/>
        </p:nvSpPr>
        <p:spPr>
          <a:xfrm rot="0" flipH="0" flipV="0">
            <a:off x="5334000" y="5067300"/>
            <a:ext cx="6324600" cy="552450"/>
          </a:xfrm>
          <a:custGeom>
            <a:pathLst>
              <a:path w="664" h="58">
                <a:moveTo>
                  <a:pt x="0" y="0"/>
                </a:moveTo>
                <a:lnTo>
                  <a:pt x="664" y="0"/>
                </a:lnTo>
                <a:lnTo>
                  <a:pt x="664" y="1"/>
                </a:lnTo>
                <a:lnTo>
                  <a:pt x="0" y="1"/>
                </a:lnTo>
                <a:close/>
              </a:path>
            </a:pathLst>
          </a:custGeom>
          <a:solidFill>
            <a:srgbClr val="6BC8D1">
              <a:alpha val="20000"/>
            </a:srgbClr>
          </a:solidFill>
          <a:ln/>
        </p:spPr>
        <p:txBody>
          <a:bodyPr/>
          <a:p/>
        </p:txBody>
      </p:sp>
      <p:sp>
        <p:nvSpPr>
          <p:cNvPr id="516" name="" descr="{&quot;isTemplate&quot;:true,&quot;type&quot;:&quot;text&quot;}"/>
          <p:cNvSpPr txBox="1"/>
          <p:nvPr/>
        </p:nvSpPr>
        <p:spPr>
          <a:xfrm rot="0" flipH="0" flipV="0">
            <a:off x="5334000" y="5210175"/>
            <a:ext cx="6324600" cy="1143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713" spc="75">
                <a:solidFill>
                  <a:srgbClr val="6BC8D1"/>
                </a:solidFill>
                <a:latin typeface="Consolas"/>
                <a:ea typeface="Consolas"/>
              </a:rPr>
              <a:t>LOCAL PROGRESS</a:t>
            </a:r>
            <a:endParaRPr/>
          </a:p>
        </p:txBody>
      </p:sp>
      <p:sp>
        <p:nvSpPr>
          <p:cNvPr id="517" name="" descr="{&quot;isTemplate&quot;:true,&quot;type&quot;:&quot;text&quot;}"/>
          <p:cNvSpPr txBox="1"/>
          <p:nvPr/>
        </p:nvSpPr>
        <p:spPr>
          <a:xfrm rot="0" flipH="0" flipV="0">
            <a:off x="5334000" y="5381625"/>
            <a:ext cx="6324600" cy="228600"/>
          </a:xfrm>
          <a:prstGeom prst="rect"/>
        </p:spPr>
        <p:txBody>
          <a:bodyPr wrap="none" lIns="0" tIns="0" rIns="0" bIns="0"/>
          <a:p>
            <a:pPr>
              <a:lnSpc>
                <a:spcPct val="170000"/>
              </a:lnSpc>
            </a:pPr>
            <a:r>
              <a:rPr lang="zh-CN" sz="863">
                <a:solidFill>
                  <a:srgbClr val="F2F7F8">
                    <a:alpha val="50000"/>
                  </a:srgbClr>
                </a:solidFill>
                <a:latin typeface="Microsoft YaHei"/>
                <a:ea typeface="Microsoft YaHei"/>
              </a:rPr>
              <a:t>学习与考试进度保存在浏览器本地，不需要账号、后端或数据库；换一台设备就从零开始。</a:t>
            </a:r>
            <a:endParaRPr/>
          </a:p>
        </p:txBody>
      </p:sp>
      <p:sp>
        <p:nvSpPr>
          <p:cNvPr id="518" name=""/>
          <p:cNvSpPr/>
          <p:nvPr/>
        </p:nvSpPr>
        <p:spPr>
          <a:xfrm rot="0" flipH="0" flipV="0">
            <a:off x="533400" y="6324600"/>
            <a:ext cx="11125200" cy="9525"/>
          </a:xfrm>
          <a:prstGeom prst="rect">
            <a:avLst/>
          </a:prstGeom>
          <a:solidFill>
            <a:srgbClr val="F2F7F8">
              <a:alpha val="10000"/>
            </a:srgbClr>
          </a:solidFill>
          <a:ln/>
        </p:spPr>
        <p:txBody>
          <a:bodyPr/>
          <a:p/>
        </p:txBody>
      </p:sp>
      <p:sp>
        <p:nvSpPr>
          <p:cNvPr id="519" name="" descr="{&quot;isTemplate&quot;:true,&quot;type&quot;:&quot;text&quot;}"/>
          <p:cNvSpPr txBox="1"/>
          <p:nvPr/>
        </p:nvSpPr>
        <p:spPr>
          <a:xfrm rot="0" flipH="0" flipV="0">
            <a:off x="533400" y="6457950"/>
            <a:ext cx="3248025" cy="1238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788" spc="60">
                <a:solidFill>
                  <a:srgbClr val="F2F7F8">
                    <a:alpha val="40000"/>
                  </a:srgbClr>
                </a:solidFill>
                <a:latin typeface="Consolas"/>
                <a:ea typeface="Consolas"/>
              </a:rPr>
              <a:t>智御网络</a:t>
            </a:r>
            <a:r>
              <a:rPr lang="en-US" sz="788" spc="60">
                <a:solidFill>
                  <a:srgbClr val="F2F7F8">
                    <a:alpha val="40000"/>
                  </a:srgbClr>
                </a:solidFill>
                <a:latin typeface="Consolas"/>
                <a:ea typeface="Consolas"/>
              </a:rPr>
              <a:t> · </a:t>
            </a:r>
            <a:r>
              <a:rPr lang="zh-CN" sz="788" spc="60">
                <a:solidFill>
                  <a:srgbClr val="F2F7F8">
                    <a:alpha val="40000"/>
                  </a:srgbClr>
                </a:solidFill>
                <a:latin typeface="Consolas"/>
                <a:ea typeface="Consolas"/>
              </a:rPr>
              <a:t>三维网络安全策略交互验证平台</a:t>
            </a:r>
            <a:endParaRPr/>
          </a:p>
        </p:txBody>
      </p:sp>
      <p:sp>
        <p:nvSpPr>
          <p:cNvPr id="520" name="" descr="{&quot;isTemplate&quot;:true,&quot;type&quot;:&quot;text&quot;}"/>
          <p:cNvSpPr txBox="1"/>
          <p:nvPr/>
        </p:nvSpPr>
        <p:spPr>
          <a:xfrm rot="0" flipH="0" flipV="0">
            <a:off x="11268075" y="6457950"/>
            <a:ext cx="390525" cy="1238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788">
                <a:solidFill>
                  <a:srgbClr val="F2F7F8">
                    <a:alpha val="40000"/>
                  </a:srgbClr>
                </a:solidFill>
                <a:latin typeface="Consolas"/>
                <a:ea typeface="Consolas"/>
              </a:rPr>
              <a:t>18 / 22</a:t>
            </a:r>
            <a:endParaRPr/>
          </a:p>
        </p:txBody>
      </p:sp>
    </p:spTree>
  </p:cSld>
</p:sld>
</file>

<file path=ppt/slides/slide19.xml><?xml version="1.0" encoding="utf-8"?>
<p:sld xmlns:p="http://schemas.openxmlformats.org/presentationml/2006/main" xmlns:r="http://schemas.openxmlformats.org/officeDocument/2006/relationships" xmlns:a="http://schemas.openxmlformats.org/drawingml/2006/main" xmlns:asvg="http://schemas.microsoft.com/office/drawing/2016/SVG/main" xmlns:mc="http://schemas.openxmlformats.org/markup-compatibility/2006" mc:Ignorable="asvg">
  <p:cSld>
    <p:spTree>
      <p:nvGrpSpPr>
        <p:cNvPr id="521" name="" descr="&lt;Slide style={{ width: 1280, height: 720, background: '#07111B', padding: 0, position: 'relative', overflow: 'hidden' }}&gt;&#10;    &lt;svg width={1280} height={720} viewBox='0 0 1280 720' style={{ position: 'absolute', left: 0, top: 0 }}&gt;&#10;        &lt;g stroke='rgba(242,247,248,0.022)' strokeWidth='1'&gt;&#10;            &lt;path d='M0 96H1280M0 192H1280M0 288H1280M0 384H1280M0 480H1280M0 576H1280M0 672H1280' /&gt;&#10;        &lt;/g&gt;&#10;        &lt;circle cx='80' cy='120' r='220' fill='rgba(107,200,209,0.03)' /&gt;&#10;    &lt;/svg&gt;&#10;&#10;    &lt;Box style={{ position: 'absolute', left: 56, top: 38 }}&gt;&#10;        &lt;Text style={{ fontFamily: 'Consolas', fontSize: 11, color: '#6BC8D1', letterSpacing: 1.8 }}&gt;04 / 实验与验证&lt;/Text&gt;&#10;    &lt;/Box&gt;&#10;    &lt;Text style={{ position: 'absolute', left: 56, top: 62, fontFamily: 'Microsoft YaHei', fontSize: 32, fontWeight: 'bold', color: '#F2F7F8', letterSpacing: 0.5 }}&gt;边界越清楚，教学才越可信&lt;/Text&gt;&#10;    &lt;Text style={{ position: 'absolute', right: 56, top: 76, fontFamily: 'Consolas', fontSize: 10.5, color: 'rgba(242,247,248,0.42)' }}&gt;BOUNDARY · SOURCES&lt;/Text&gt;&#10;&#10;    &lt;Box style={{ position: 'absolute', left: 56, top: 150, width: 486 }}&gt;&#10;        &lt;Text style={{ fontFamily: 'Consolas', fontSize: 9.5, color: '#6BC8D1', letterSpacing: 1.2 }}&gt;WHAT THIS IS / IS NOT&lt;/Text&gt;&#10;        &lt;Text style={{ marginTop: 18, fontFamily: 'Microsoft YaHei', fontSize: 42, fontWeight: 'bold', color: '#F2F7F8', lineHeight: 1.35, letterSpacing: 0.5 }}&gt;&#10;            这是教学抽象，&lt;br /&gt;&lt;span style={{ color: '#E78172' }}&gt;不是攻击预测。&lt;/span&gt;&#10;        &lt;/Text&gt;&#10;        &lt;Box style={{ marginTop: 24, width: 42, height: 2, background: 'rgba(107,200,209,0.55)' }} /&gt;&#10;        &lt;Text style={{ marginTop: 20, fontFamily: 'Microsoft YaHei', fontSize: 12, color: 'rgba(242,247,248,0.54)', lineHeight: 1.9 }}&gt;&#10;            不模拟漏洞利用、凭据或恶意代码；&lt;br /&gt;&#10;            不连接真实网络，也不执行任何攻击行为；&lt;br /&gt;&#10;            不输出真实网络的风险概率或预测结论。&#10;        &lt;/Text&gt;&#10;    &lt;/Box&gt;&#10;&#10;    &lt;Box style={{ position: 'absolute', left: 596, top: 142, width: 628 }}&gt;&#10;        &lt;Box style={{ flexDirection: 'row', alignItems: 'flex-start', height: 78, borderTop: '1px solid rgba(242,247,248,0.10)' }}&gt;&#10;            &lt;Text style={{ width: 44, marginTop: 12, fontFamily: 'Consolas', fontSize: 10, color: '#6BC8D1' }}&gt;01&lt;/Text&gt;&#10;            &lt;Box style={{ width: 572 }}&gt;&#10;                &lt;Text style={{ marginTop: 10, fontFamily: 'Microsoft YaHei', fontSize: 14, fontWeight: 'bold', color: '#F2F7F8' }}&gt;模式边界&lt;/Text&gt;&#10;                &lt;Text style={{ marginTop: 3, fontFamily: 'Microsoft YaHei', fontSize: 11.5, color: 'rgba(242,247,248,0.54)', lineHeight: 1.65 }}&gt;通信判定与状态转移分开；seed 是实验前已存在的状态，不计入本轮传播步骤。&lt;/Text&gt;&#10;            &lt;/Box&gt;&#10;        &lt;/Box&gt;&#10;        &lt;Box style={{ flexDirection: 'row', alignItems: 'flex-start', height: 78, borderTop: '1px solid rgba(242,247,248,0.10)' }}&gt;&#10;            &lt;Text style={{ width: 44, marginTop: 12, fontFamily: 'Consolas', fontSize: 10, color: '#6BC8D1' }}&gt;02&lt;/Text&gt;&#10;            &lt;Box style={{ width: 572 }}&gt;&#10;                &lt;Text style={{ marginTop: 10, fontFamily: 'Microsoft YaHei', fontSize: 14, fontWeight: 'bold', color: '#F2F7F8' }}&gt;能力边界&lt;/Text&gt;&#10;                &lt;Text style={{ marginTop: 3, fontFamily: 'Microsoft YaHei', fontSize: 11.5, color: 'rgba(242,247,248,0.54)', lineHeight: 1.65 }}&gt;只表示权限级别与数据访问能力；DATA_ACCESS 不等于数据库主机被控制。&lt;/Text&gt;&#10;            &lt;/Box&gt;&#10;        &lt;/Box&gt;&#10;        &lt;Box style={{ flexDirection: 'row', alignItems: 'flex-start', height: 78, borderTop: '1px solid rgba(242,247,248,0.10)' }}&gt;&#10;            &lt;Text style={{ width: 44, marginTop: 12, fontFamily: 'Consolas', fontSize: 10, color: '#6BC8D1' }}&gt;03&lt;/Text&gt;&#10;            &lt;Box style={{ width: 572 }}&gt;&#10;                &lt;Text style={{ marginTop: 10, fontFamily: 'Microsoft YaHei', fontSize: 14, fontWeight: 'bold', color: '#F2F7F8' }}&gt;数据边界&lt;/Text&gt;&#10;                &lt;Text style={{ marginTop: 3, fontFamily: 'Microsoft YaHei', fontSize: 11.5, color: 'rgba(242,247,248,0.54)', lineHeight: 1.65 }}&gt;纯前端应用；场景、结果与学习进度都留在本地，不上传任何实验数据。&lt;/Text&gt;&#10;            &lt;/Box&gt;&#10;        &lt;/Box&gt;&#10;        &lt;Box style={{ flexDirection: 'row', alignItems: 'flex-start', height: 78, borderTop: '1px solid rgba(242,247,248,0.10)', borderBottom: '1px solid rgba(242,247,248,0.10)' }}&gt;&#10;            &lt;Text style={{ width: 44, marginTop: 12, fontFamily: 'Consolas', fontSize: 10, color: '#E78172' }}&gt;04&lt;/Text&gt;&#10;            &lt;Box style={{ width: 572 }}&gt;&#10;                &lt;Text style={{ marginTop: 10, fontFamily: 'Microsoft YaHei', fontSize: 14, fontWeight: 'bold', color: '#F2F7F8' }}&gt;结论边界&lt;/Text&gt;&#10;                &lt;Text style={{ marginTop: 3, fontFamily: 'Microsoft YaHei', fontSize: 11.5, color: 'rgba(242,247,248,0.54)', lineHeight: 1.65 }}&gt;搜索达到深度或状态上限时标注“未完整”；不把“没搜到”当作“安全”。&lt;/Text&gt;&#10;            &lt;/Box&gt;&#10;        &lt;/Box&gt;&#10;    &lt;/Box&gt;&#10;&#10;    &lt;Box style={{ position: 'absolute', left: 56, top: 546, width: 1168, paddingTop: 12, borderTop: '1px solid rgba(242,247,248,0.10)' }}&gt;&#10;        &lt;Box style={{ flexDirection: 'row', alignItems: 'center', justifyContent: 'space-between' }}&gt;&#10;            &lt;Text style={{ fontFamily: 'Consolas', fontSize: 9.5, color: '#6BC8D1', letterSpacing: 1.2 }}&gt;PUBLIC SOURCES / 每个场景内置&lt;/Text&gt;&#10;            &lt;Text style={{ fontFamily: 'Microsoft YaHei', fontSize: 9.5, color: 'rgba(242,247,248,0.34)' }}&gt;随实验可查，不参与结果指纹&lt;/Text&gt;&#10;        &lt;/Box&gt;&#10;        &lt;Box style={{ marginTop: 10, flexDirection: 'row', flexWrap: 'wrap', gap: 8 }}&gt;&#10;            &lt;Box style={{ paddingLeft: 9, paddingRight: 9, paddingTop: 5, paddingBottom: 5, border: '1px solid rgba(242,247,248,0.12)', borderRadius: 4 }}&gt;&#10;                &lt;Text style={{ fontFamily: 'Consolas', fontSize: 9, color: 'rgba(242,247,248,0.56)' }}&gt;NIST SP 800-41&lt;/Text&gt;&#10;            &lt;/Box&gt;&#10;            &lt;Box style={{ paddingLeft: 9, paddingRight: 9, paddingTop: 5, paddingBottom: 5, border: '1px solid rgba(242,247,248,0.12)', borderRadius: 4 }}&gt;&#10;                &lt;Text style={{ fontFamily: 'Consolas', fontSize: 9, color: 'rgba(242,247,248,0.56)' }}&gt;NIST SP 800-53&lt;/Text&gt;&#10;            &lt;/Box&gt;&#10;            &lt;Box style={{ paddingLeft: 9, paddingRight: 9, paddingTop: 5, paddingBottom: 5, border: '1px solid rgba(242,247,248,0.12)', borderRadius: 4 }}&gt;&#10;                &lt;Text style={{ fontFamily: 'Consolas', fontSize: 9, color: 'rgba(242,247,248,0.56)' }}&gt;NIST SP 800-207&lt;/Text&gt;&#10;            &lt;/Box&gt;&#10;            &lt;Box style={{ paddingLeft: 9, paddingRight: 9, paddingTop: 5, paddingBottom: 5, border: '1px solid rgba(242,247,248,0.12)', borderRadius: 4 }}&gt;&#10;                &lt;Text style={{ fontFamily: 'Consolas', fontSize: 9, color: 'rgba(242,247,248,0.56)' }}&gt;MITRE ATT&amp;CK&lt;/Text&gt;&#10;            &lt;/Box&gt;&#10;            &lt;Box style={{ paddingLeft: 9, paddingRight: 9, paddingTop: 5, paddingBottom: 5, border: '1px solid rgba(242,247,248,0.12)', borderRadius: 4 }}&gt;&#10;                &lt;Text style={{ fontFamily: 'Consolas', fontSize: 9, color: 'rgba(242,247,248,0.56)' }}&gt;GB/T 22239-2019&lt;/Text&gt;&#10;            &lt;/Box&gt;&#10;            &lt;Box style={{ paddingLeft: 9, paddingRight: 9, paddingTop: 5, paddingBottom: 5, border: '1px solid rgba(242,247,248,0.12)', borderRadius: 4 }}&gt;&#10;                &lt;Text style={{ fontFamily: 'Consolas', fontSize: 9, color: 'rgba(242,247,248,0.56)' }}&gt;IEC 62443-3-3&lt;/Text&gt;&#10;            &lt;/Box&gt;&#10;        &lt;/Box&gt;&#10;    &lt;/Box&gt;&#10;&#10;    &lt;Box style={{ position: 'absolute', left: 56, top: 664, width: 1168, height: 1, background: 'rgba(242,247,248,0.10)' }} /&gt;&#10;    &lt;Text style={{ position: 'absolute', left: 56, top: 678, fontFamily: 'Consolas', fontSize: 10.5, color: 'rgba(242,247,248,0.40)', letterSpacing: 0.8 }}&gt;智御网络 · 三维网络安全策略交互验证平台&lt;/Text&gt;&#10;    &lt;Text style={{ position: 'absolute', right: 56, top: 678, fontFamily: 'Consolas', fontSize: 10.5, color: 'rgba(242,247,248,0.40)' }}&gt;19 / 22&lt;/Text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07111B"/>
          </a:solidFill>
          <a:ln/>
        </p:spPr>
        <p:txBody>
          <a:bodyPr/>
          <a:p/>
        </p:txBody>
      </p:sp>
      <p:pic>
        <p:nvPicPr>
          <p:cNvPr id="523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1"/>
              </a:ext>
            </a:extLst>
          </a:blip>
          <a:stretch>
            <a:fillRect/>
          </a:stretch>
        </p:blipFill>
        <p:spPr>
          <a:xfrm rot="0" flipH="0" flipV="0">
            <a:off x="0" y="0"/>
            <a:ext cx="12192000" cy="6858000"/>
          </a:xfrm>
          <a:prstGeom prst="rect">
            <a:avLst/>
          </a:prstGeom>
          <a:ln/>
        </p:spPr>
      </p:pic>
      <p:sp>
        <p:nvSpPr>
          <p:cNvPr id="524" name="" descr="{&quot;isTemplate&quot;:true,&quot;type&quot;:&quot;text&quot;}"/>
          <p:cNvSpPr txBox="1"/>
          <p:nvPr/>
        </p:nvSpPr>
        <p:spPr>
          <a:xfrm rot="0" flipH="0" flipV="0">
            <a:off x="533400" y="361950"/>
            <a:ext cx="1276350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825" spc="135">
                <a:solidFill>
                  <a:srgbClr val="6BC8D1"/>
                </a:solidFill>
                <a:latin typeface="Consolas"/>
                <a:ea typeface="Consolas"/>
              </a:rPr>
              <a:t>04 / </a:t>
            </a:r>
            <a:r>
              <a:rPr lang="zh-CN" sz="825" spc="135">
                <a:solidFill>
                  <a:srgbClr val="6BC8D1"/>
                </a:solidFill>
                <a:latin typeface="Consolas"/>
                <a:ea typeface="Consolas"/>
              </a:rPr>
              <a:t>实验与验证</a:t>
            </a:r>
            <a:endParaRPr/>
          </a:p>
        </p:txBody>
      </p:sp>
      <p:sp>
        <p:nvSpPr>
          <p:cNvPr id="525" name="" descr="{&quot;isTemplate&quot;:true,&quot;type&quot;:&quot;text&quot;}"/>
          <p:cNvSpPr txBox="1"/>
          <p:nvPr/>
        </p:nvSpPr>
        <p:spPr>
          <a:xfrm rot="0" flipH="0" flipV="0">
            <a:off x="533400" y="590550"/>
            <a:ext cx="3714750" cy="3714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400" b="1" spc="38">
                <a:solidFill>
                  <a:srgbClr val="F2F7F8"/>
                </a:solidFill>
                <a:latin typeface="Microsoft YaHei"/>
                <a:ea typeface="Microsoft YaHei"/>
              </a:rPr>
              <a:t>边界越清楚，教学才越可信</a:t>
            </a:r>
            <a:endParaRPr/>
          </a:p>
        </p:txBody>
      </p:sp>
      <p:sp>
        <p:nvSpPr>
          <p:cNvPr id="526" name="" descr="{&quot;isTemplate&quot;:true,&quot;type&quot;:&quot;text&quot;}"/>
          <p:cNvSpPr txBox="1"/>
          <p:nvPr/>
        </p:nvSpPr>
        <p:spPr>
          <a:xfrm rot="0" flipH="0" flipV="0">
            <a:off x="10668000" y="723900"/>
            <a:ext cx="990600" cy="1238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788">
                <a:solidFill>
                  <a:srgbClr val="F2F7F8">
                    <a:alpha val="42000"/>
                  </a:srgbClr>
                </a:solidFill>
                <a:latin typeface="Consolas"/>
                <a:ea typeface="Consolas"/>
              </a:rPr>
              <a:t>BOUNDARY · SOURCES</a:t>
            </a:r>
            <a:endParaRPr/>
          </a:p>
        </p:txBody>
      </p:sp>
      <p:sp>
        <p:nvSpPr>
          <p:cNvPr id="527" name="" descr="{&quot;isTemplate&quot;:true,&quot;type&quot;:&quot;text&quot;}"/>
          <p:cNvSpPr txBox="1"/>
          <p:nvPr/>
        </p:nvSpPr>
        <p:spPr>
          <a:xfrm rot="0" flipH="0" flipV="0">
            <a:off x="533400" y="1428750"/>
            <a:ext cx="4629150" cy="21907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00000"/>
              </a:lnSpc>
            </a:pPr>
            <a:r>
              <a:rPr lang="en-US" sz="713" spc="90">
                <a:solidFill>
                  <a:srgbClr val="6BC8D1"/>
                </a:solidFill>
                <a:latin typeface="Consolas"/>
                <a:ea typeface="Consolas"/>
              </a:rPr>
              <a:t>WHAT THIS IS / IS NOT</a:t>
            </a:r>
            <a:endParaRPr/>
          </a:p>
        </p:txBody>
      </p:sp>
      <p:sp>
        <p:nvSpPr>
          <p:cNvPr id="528" name="" descr="{&quot;isTemplate&quot;:true,&quot;type&quot;:&quot;text&quot;}"/>
          <p:cNvSpPr txBox="1"/>
          <p:nvPr/>
        </p:nvSpPr>
        <p:spPr>
          <a:xfrm rot="0" flipH="0" flipV="0">
            <a:off x="533400" y="1819275"/>
            <a:ext cx="4629150" cy="1304925"/>
          </a:xfrm>
          <a:prstGeom prst="rect"/>
        </p:spPr>
        <p:txBody>
          <a:bodyPr wrap="none" lIns="0" tIns="0" rIns="0" bIns="0"/>
          <a:p>
            <a:pPr>
              <a:lnSpc>
                <a:spcPct val="135000"/>
              </a:lnSpc>
            </a:pPr>
            <a:r>
              <a:rPr lang="zh-CN" sz="3150" b="1" spc="38">
                <a:solidFill>
                  <a:srgbClr val="F2F7F8"/>
                </a:solidFill>
                <a:latin typeface="Microsoft YaHei"/>
                <a:ea typeface="Microsoft YaHei"/>
              </a:rPr>
              <a:t>这是教学抽象，</a:t>
            </a:r>
            <a:endParaRPr/>
          </a:p>
          <a:p>
            <a:pPr>
              <a:lnSpc>
                <a:spcPct val="135000"/>
              </a:lnSpc>
            </a:pPr>
            <a:r>
              <a:rPr lang="zh-CN" sz="3150" b="1" spc="38">
                <a:solidFill>
                  <a:srgbClr val="E78172"/>
                </a:solidFill>
                <a:latin typeface="Microsoft YaHei"/>
                <a:ea typeface="Microsoft YaHei"/>
              </a:rPr>
              <a:t>不是攻击预测。</a:t>
            </a:r>
            <a:endParaRPr/>
          </a:p>
        </p:txBody>
      </p:sp>
      <p:sp>
        <p:nvSpPr>
          <p:cNvPr id="529" name=""/>
          <p:cNvSpPr/>
          <p:nvPr/>
        </p:nvSpPr>
        <p:spPr>
          <a:xfrm rot="0" flipH="0" flipV="0">
            <a:off x="533400" y="3352800"/>
            <a:ext cx="400050" cy="19050"/>
          </a:xfrm>
          <a:prstGeom prst="rect">
            <a:avLst/>
          </a:prstGeom>
          <a:solidFill>
            <a:srgbClr val="6BC8D1">
              <a:alpha val="55000"/>
            </a:srgbClr>
          </a:solidFill>
          <a:ln/>
        </p:spPr>
        <p:txBody>
          <a:bodyPr/>
          <a:p/>
        </p:txBody>
      </p:sp>
      <p:sp>
        <p:nvSpPr>
          <p:cNvPr id="530" name="" descr="{&quot;isTemplate&quot;:true,&quot;type&quot;:&quot;text&quot;}"/>
          <p:cNvSpPr txBox="1"/>
          <p:nvPr/>
        </p:nvSpPr>
        <p:spPr>
          <a:xfrm rot="0" flipH="0" flipV="0">
            <a:off x="533400" y="3562350"/>
            <a:ext cx="4629150" cy="790575"/>
          </a:xfrm>
          <a:prstGeom prst="rect"/>
        </p:spPr>
        <p:txBody>
          <a:bodyPr wrap="none" lIns="0" tIns="0" rIns="0" bIns="0"/>
          <a:p>
            <a:pPr>
              <a:lnSpc>
                <a:spcPct val="190000"/>
              </a:lnSpc>
            </a:pPr>
            <a:r>
              <a:rPr lang="zh-CN" sz="900">
                <a:solidFill>
                  <a:srgbClr val="F2F7F8">
                    <a:alpha val="54000"/>
                  </a:srgbClr>
                </a:solidFill>
                <a:latin typeface="Microsoft YaHei"/>
                <a:ea typeface="Microsoft YaHei"/>
              </a:rPr>
              <a:t>不模拟漏洞利用、凭据或恶意代码；</a:t>
            </a:r>
            <a:endParaRPr/>
          </a:p>
          <a:p>
            <a:pPr>
              <a:lnSpc>
                <a:spcPct val="190000"/>
              </a:lnSpc>
            </a:pPr>
            <a:r>
              <a:rPr lang="zh-CN" sz="900">
                <a:solidFill>
                  <a:srgbClr val="F2F7F8">
                    <a:alpha val="54000"/>
                  </a:srgbClr>
                </a:solidFill>
                <a:latin typeface="Microsoft YaHei"/>
                <a:ea typeface="Microsoft YaHei"/>
              </a:rPr>
              <a:t>不连接真实网络，也不执行任何攻击行为；</a:t>
            </a:r>
            <a:endParaRPr/>
          </a:p>
          <a:p>
            <a:pPr>
              <a:lnSpc>
                <a:spcPct val="190000"/>
              </a:lnSpc>
            </a:pPr>
            <a:r>
              <a:rPr lang="zh-CN" sz="900">
                <a:solidFill>
                  <a:srgbClr val="F2F7F8">
                    <a:alpha val="54000"/>
                  </a:srgbClr>
                </a:solidFill>
                <a:latin typeface="Microsoft YaHei"/>
                <a:ea typeface="Microsoft YaHei"/>
              </a:rPr>
              <a:t>不输出真实网络的风险概率或预测结论。</a:t>
            </a:r>
            <a:endParaRPr/>
          </a:p>
        </p:txBody>
      </p:sp>
      <p:sp>
        <p:nvSpPr>
          <p:cNvPr id="531" name=""/>
          <p:cNvSpPr/>
          <p:nvPr/>
        </p:nvSpPr>
        <p:spPr>
          <a:xfrm rot="0" flipH="0" flipV="0">
            <a:off x="5676900" y="1352550"/>
            <a:ext cx="5981700" cy="742950"/>
          </a:xfrm>
          <a:custGeom>
            <a:pathLst>
              <a:path w="628" h="78">
                <a:moveTo>
                  <a:pt x="0" y="0"/>
                </a:moveTo>
                <a:lnTo>
                  <a:pt x="628" y="0"/>
                </a:lnTo>
                <a:lnTo>
                  <a:pt x="628" y="1"/>
                </a:lnTo>
                <a:lnTo>
                  <a:pt x="0" y="1"/>
                </a:lnTo>
                <a:close/>
              </a:path>
            </a:pathLst>
          </a:custGeom>
          <a:solidFill>
            <a:srgbClr val="F2F7F8">
              <a:alpha val="10000"/>
            </a:srgbClr>
          </a:solidFill>
          <a:ln/>
        </p:spPr>
        <p:txBody>
          <a:bodyPr/>
          <a:p/>
        </p:txBody>
      </p:sp>
      <p:sp>
        <p:nvSpPr>
          <p:cNvPr id="532" name="" descr="{&quot;isTemplate&quot;:true,&quot;type&quot;:&quot;text&quot;}"/>
          <p:cNvSpPr txBox="1"/>
          <p:nvPr/>
        </p:nvSpPr>
        <p:spPr>
          <a:xfrm rot="0" flipH="0" flipV="0">
            <a:off x="5676900" y="1476375"/>
            <a:ext cx="419100" cy="1143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750">
                <a:solidFill>
                  <a:srgbClr val="6BC8D1"/>
                </a:solidFill>
                <a:latin typeface="Consolas"/>
                <a:ea typeface="Consolas"/>
              </a:rPr>
              <a:t>01</a:t>
            </a:r>
            <a:endParaRPr/>
          </a:p>
        </p:txBody>
      </p:sp>
      <p:sp>
        <p:nvSpPr>
          <p:cNvPr id="533" name="" descr="{&quot;isTemplate&quot;:true,&quot;type&quot;:&quot;text&quot;}"/>
          <p:cNvSpPr txBox="1"/>
          <p:nvPr/>
        </p:nvSpPr>
        <p:spPr>
          <a:xfrm rot="0" flipH="0" flipV="0">
            <a:off x="6096000" y="1457325"/>
            <a:ext cx="54483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 b="1">
                <a:solidFill>
                  <a:srgbClr val="F2F7F8"/>
                </a:solidFill>
                <a:latin typeface="Microsoft YaHei"/>
                <a:ea typeface="Microsoft YaHei"/>
              </a:rPr>
              <a:t>模式边界</a:t>
            </a:r>
            <a:endParaRPr/>
          </a:p>
        </p:txBody>
      </p:sp>
      <p:sp>
        <p:nvSpPr>
          <p:cNvPr id="534" name="" descr="{&quot;isTemplate&quot;:true,&quot;type&quot;:&quot;text&quot;}"/>
          <p:cNvSpPr txBox="1"/>
          <p:nvPr/>
        </p:nvSpPr>
        <p:spPr>
          <a:xfrm rot="0" flipH="0" flipV="0">
            <a:off x="6096000" y="1647825"/>
            <a:ext cx="5448300" cy="219075"/>
          </a:xfrm>
          <a:prstGeom prst="rect"/>
        </p:spPr>
        <p:txBody>
          <a:bodyPr wrap="none" lIns="0" tIns="0" rIns="0" bIns="0"/>
          <a:p>
            <a:pPr>
              <a:lnSpc>
                <a:spcPct val="165000"/>
              </a:lnSpc>
            </a:pPr>
            <a:r>
              <a:rPr lang="zh-CN" sz="863">
                <a:solidFill>
                  <a:srgbClr val="F2F7F8">
                    <a:alpha val="54000"/>
                  </a:srgbClr>
                </a:solidFill>
                <a:latin typeface="Microsoft YaHei"/>
                <a:ea typeface="Microsoft YaHei"/>
              </a:rPr>
              <a:t>通信判定与状态转移分开；</a:t>
            </a:r>
            <a:r>
              <a:rPr lang="en-US" sz="863">
                <a:solidFill>
                  <a:srgbClr val="F2F7F8">
                    <a:alpha val="54000"/>
                  </a:srgbClr>
                </a:solidFill>
                <a:latin typeface="Microsoft YaHei"/>
                <a:ea typeface="Microsoft YaHei"/>
              </a:rPr>
              <a:t>seed </a:t>
            </a:r>
            <a:r>
              <a:rPr lang="zh-CN" sz="863">
                <a:solidFill>
                  <a:srgbClr val="F2F7F8">
                    <a:alpha val="54000"/>
                  </a:srgbClr>
                </a:solidFill>
                <a:latin typeface="Microsoft YaHei"/>
                <a:ea typeface="Microsoft YaHei"/>
              </a:rPr>
              <a:t>是实验前已存在的状态，不计入本轮传播步骤。</a:t>
            </a:r>
            <a:endParaRPr/>
          </a:p>
        </p:txBody>
      </p:sp>
      <p:sp>
        <p:nvSpPr>
          <p:cNvPr id="535" name=""/>
          <p:cNvSpPr/>
          <p:nvPr/>
        </p:nvSpPr>
        <p:spPr>
          <a:xfrm rot="0" flipH="0" flipV="0">
            <a:off x="5676900" y="2095500"/>
            <a:ext cx="5981700" cy="742950"/>
          </a:xfrm>
          <a:custGeom>
            <a:pathLst>
              <a:path w="628" h="78">
                <a:moveTo>
                  <a:pt x="0" y="0"/>
                </a:moveTo>
                <a:lnTo>
                  <a:pt x="628" y="0"/>
                </a:lnTo>
                <a:lnTo>
                  <a:pt x="628" y="1"/>
                </a:lnTo>
                <a:lnTo>
                  <a:pt x="0" y="1"/>
                </a:lnTo>
                <a:close/>
              </a:path>
            </a:pathLst>
          </a:custGeom>
          <a:solidFill>
            <a:srgbClr val="F2F7F8">
              <a:alpha val="10000"/>
            </a:srgbClr>
          </a:solidFill>
          <a:ln/>
        </p:spPr>
        <p:txBody>
          <a:bodyPr/>
          <a:p/>
        </p:txBody>
      </p:sp>
      <p:sp>
        <p:nvSpPr>
          <p:cNvPr id="536" name="" descr="{&quot;isTemplate&quot;:true,&quot;type&quot;:&quot;text&quot;}"/>
          <p:cNvSpPr txBox="1"/>
          <p:nvPr/>
        </p:nvSpPr>
        <p:spPr>
          <a:xfrm rot="0" flipH="0" flipV="0">
            <a:off x="5676900" y="2219325"/>
            <a:ext cx="419100" cy="1143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750">
                <a:solidFill>
                  <a:srgbClr val="6BC8D1"/>
                </a:solidFill>
                <a:latin typeface="Consolas"/>
                <a:ea typeface="Consolas"/>
              </a:rPr>
              <a:t>02</a:t>
            </a:r>
            <a:endParaRPr/>
          </a:p>
        </p:txBody>
      </p:sp>
      <p:sp>
        <p:nvSpPr>
          <p:cNvPr id="537" name="" descr="{&quot;isTemplate&quot;:true,&quot;type&quot;:&quot;text&quot;}"/>
          <p:cNvSpPr txBox="1"/>
          <p:nvPr/>
        </p:nvSpPr>
        <p:spPr>
          <a:xfrm rot="0" flipH="0" flipV="0">
            <a:off x="6096000" y="2200275"/>
            <a:ext cx="54483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 b="1">
                <a:solidFill>
                  <a:srgbClr val="F2F7F8"/>
                </a:solidFill>
                <a:latin typeface="Microsoft YaHei"/>
                <a:ea typeface="Microsoft YaHei"/>
              </a:rPr>
              <a:t>能力边界</a:t>
            </a:r>
            <a:endParaRPr/>
          </a:p>
        </p:txBody>
      </p:sp>
      <p:sp>
        <p:nvSpPr>
          <p:cNvPr id="538" name="" descr="{&quot;isTemplate&quot;:true,&quot;type&quot;:&quot;text&quot;}"/>
          <p:cNvSpPr txBox="1"/>
          <p:nvPr/>
        </p:nvSpPr>
        <p:spPr>
          <a:xfrm rot="0" flipH="0" flipV="0">
            <a:off x="6096000" y="2390775"/>
            <a:ext cx="5448300" cy="219075"/>
          </a:xfrm>
          <a:prstGeom prst="rect"/>
        </p:spPr>
        <p:txBody>
          <a:bodyPr wrap="none" lIns="0" tIns="0" rIns="0" bIns="0"/>
          <a:p>
            <a:pPr>
              <a:lnSpc>
                <a:spcPct val="165000"/>
              </a:lnSpc>
            </a:pPr>
            <a:r>
              <a:rPr lang="zh-CN" sz="863">
                <a:solidFill>
                  <a:srgbClr val="F2F7F8">
                    <a:alpha val="54000"/>
                  </a:srgbClr>
                </a:solidFill>
                <a:latin typeface="Microsoft YaHei"/>
                <a:ea typeface="Microsoft YaHei"/>
              </a:rPr>
              <a:t>只表示权限级别与数据访问能力；</a:t>
            </a:r>
            <a:r>
              <a:rPr lang="en-US" sz="863">
                <a:solidFill>
                  <a:srgbClr val="F2F7F8">
                    <a:alpha val="54000"/>
                  </a:srgbClr>
                </a:solidFill>
                <a:latin typeface="Microsoft YaHei"/>
                <a:ea typeface="Microsoft YaHei"/>
              </a:rPr>
              <a:t>DATA_ACCESS </a:t>
            </a:r>
            <a:r>
              <a:rPr lang="zh-CN" sz="863">
                <a:solidFill>
                  <a:srgbClr val="F2F7F8">
                    <a:alpha val="54000"/>
                  </a:srgbClr>
                </a:solidFill>
                <a:latin typeface="Microsoft YaHei"/>
                <a:ea typeface="Microsoft YaHei"/>
              </a:rPr>
              <a:t>不等于数据库主机被控制。</a:t>
            </a:r>
            <a:endParaRPr/>
          </a:p>
        </p:txBody>
      </p:sp>
      <p:sp>
        <p:nvSpPr>
          <p:cNvPr id="539" name=""/>
          <p:cNvSpPr/>
          <p:nvPr/>
        </p:nvSpPr>
        <p:spPr>
          <a:xfrm rot="0" flipH="0" flipV="0">
            <a:off x="5676900" y="2838450"/>
            <a:ext cx="5981700" cy="742950"/>
          </a:xfrm>
          <a:custGeom>
            <a:pathLst>
              <a:path w="628" h="78">
                <a:moveTo>
                  <a:pt x="0" y="0"/>
                </a:moveTo>
                <a:lnTo>
                  <a:pt x="628" y="0"/>
                </a:lnTo>
                <a:lnTo>
                  <a:pt x="628" y="1"/>
                </a:lnTo>
                <a:lnTo>
                  <a:pt x="0" y="1"/>
                </a:lnTo>
                <a:close/>
              </a:path>
            </a:pathLst>
          </a:custGeom>
          <a:solidFill>
            <a:srgbClr val="F2F7F8">
              <a:alpha val="10000"/>
            </a:srgbClr>
          </a:solidFill>
          <a:ln/>
        </p:spPr>
        <p:txBody>
          <a:bodyPr/>
          <a:p/>
        </p:txBody>
      </p:sp>
      <p:sp>
        <p:nvSpPr>
          <p:cNvPr id="540" name="" descr="{&quot;isTemplate&quot;:true,&quot;type&quot;:&quot;text&quot;}"/>
          <p:cNvSpPr txBox="1"/>
          <p:nvPr/>
        </p:nvSpPr>
        <p:spPr>
          <a:xfrm rot="0" flipH="0" flipV="0">
            <a:off x="5676900" y="2962275"/>
            <a:ext cx="419100" cy="1143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750">
                <a:solidFill>
                  <a:srgbClr val="6BC8D1"/>
                </a:solidFill>
                <a:latin typeface="Consolas"/>
                <a:ea typeface="Consolas"/>
              </a:rPr>
              <a:t>03</a:t>
            </a:r>
            <a:endParaRPr/>
          </a:p>
        </p:txBody>
      </p:sp>
      <p:sp>
        <p:nvSpPr>
          <p:cNvPr id="541" name="" descr="{&quot;isTemplate&quot;:true,&quot;type&quot;:&quot;text&quot;}"/>
          <p:cNvSpPr txBox="1"/>
          <p:nvPr/>
        </p:nvSpPr>
        <p:spPr>
          <a:xfrm rot="0" flipH="0" flipV="0">
            <a:off x="6096000" y="2943225"/>
            <a:ext cx="54483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 b="1">
                <a:solidFill>
                  <a:srgbClr val="F2F7F8"/>
                </a:solidFill>
                <a:latin typeface="Microsoft YaHei"/>
                <a:ea typeface="Microsoft YaHei"/>
              </a:rPr>
              <a:t>数据边界</a:t>
            </a:r>
            <a:endParaRPr/>
          </a:p>
        </p:txBody>
      </p:sp>
      <p:sp>
        <p:nvSpPr>
          <p:cNvPr id="542" name="" descr="{&quot;isTemplate&quot;:true,&quot;type&quot;:&quot;text&quot;}"/>
          <p:cNvSpPr txBox="1"/>
          <p:nvPr/>
        </p:nvSpPr>
        <p:spPr>
          <a:xfrm rot="0" flipH="0" flipV="0">
            <a:off x="6096000" y="3133725"/>
            <a:ext cx="5448300" cy="219075"/>
          </a:xfrm>
          <a:prstGeom prst="rect"/>
        </p:spPr>
        <p:txBody>
          <a:bodyPr wrap="none" lIns="0" tIns="0" rIns="0" bIns="0"/>
          <a:p>
            <a:pPr>
              <a:lnSpc>
                <a:spcPct val="165000"/>
              </a:lnSpc>
            </a:pPr>
            <a:r>
              <a:rPr lang="zh-CN" sz="863">
                <a:solidFill>
                  <a:srgbClr val="F2F7F8">
                    <a:alpha val="54000"/>
                  </a:srgbClr>
                </a:solidFill>
                <a:latin typeface="Microsoft YaHei"/>
                <a:ea typeface="Microsoft YaHei"/>
              </a:rPr>
              <a:t>纯前端应用；场景、结果与学习进度都留在本地，不上传任何实验数据。</a:t>
            </a:r>
            <a:endParaRPr/>
          </a:p>
        </p:txBody>
      </p:sp>
      <p:sp>
        <p:nvSpPr>
          <p:cNvPr id="543" name=""/>
          <p:cNvSpPr/>
          <p:nvPr/>
        </p:nvSpPr>
        <p:spPr>
          <a:xfrm rot="0" flipH="0" flipV="0">
            <a:off x="5676900" y="3581400"/>
            <a:ext cx="5981700" cy="742950"/>
          </a:xfrm>
          <a:custGeom>
            <a:pathLst>
              <a:path w="628" h="78">
                <a:moveTo>
                  <a:pt x="0" y="0"/>
                </a:moveTo>
                <a:lnTo>
                  <a:pt x="628" y="0"/>
                </a:lnTo>
                <a:lnTo>
                  <a:pt x="628" y="1"/>
                </a:lnTo>
                <a:lnTo>
                  <a:pt x="0" y="1"/>
                </a:lnTo>
                <a:close/>
              </a:path>
            </a:pathLst>
          </a:custGeom>
          <a:solidFill>
            <a:srgbClr val="F2F7F8">
              <a:alpha val="10000"/>
            </a:srgbClr>
          </a:solidFill>
          <a:ln/>
        </p:spPr>
        <p:txBody>
          <a:bodyPr/>
          <a:p/>
        </p:txBody>
      </p:sp>
      <p:sp>
        <p:nvSpPr>
          <p:cNvPr id="544" name=""/>
          <p:cNvSpPr/>
          <p:nvPr/>
        </p:nvSpPr>
        <p:spPr>
          <a:xfrm rot="0" flipH="0" flipV="0">
            <a:off x="5676900" y="3581400"/>
            <a:ext cx="5981700" cy="742950"/>
          </a:xfrm>
          <a:custGeom>
            <a:pathLst>
              <a:path w="628" h="78">
                <a:moveTo>
                  <a:pt x="0" y="77"/>
                </a:moveTo>
                <a:lnTo>
                  <a:pt x="628" y="77"/>
                </a:lnTo>
                <a:lnTo>
                  <a:pt x="628" y="78"/>
                </a:lnTo>
                <a:lnTo>
                  <a:pt x="0" y="78"/>
                </a:lnTo>
                <a:close/>
              </a:path>
            </a:pathLst>
          </a:custGeom>
          <a:solidFill>
            <a:srgbClr val="F2F7F8">
              <a:alpha val="10000"/>
            </a:srgbClr>
          </a:solidFill>
          <a:ln/>
        </p:spPr>
        <p:txBody>
          <a:bodyPr/>
          <a:p/>
        </p:txBody>
      </p:sp>
      <p:sp>
        <p:nvSpPr>
          <p:cNvPr id="545" name="" descr="{&quot;isTemplate&quot;:true,&quot;type&quot;:&quot;text&quot;}"/>
          <p:cNvSpPr txBox="1"/>
          <p:nvPr/>
        </p:nvSpPr>
        <p:spPr>
          <a:xfrm rot="0" flipH="0" flipV="0">
            <a:off x="5676900" y="3705225"/>
            <a:ext cx="419100" cy="1143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750">
                <a:solidFill>
                  <a:srgbClr val="E78172"/>
                </a:solidFill>
                <a:latin typeface="Consolas"/>
                <a:ea typeface="Consolas"/>
              </a:rPr>
              <a:t>04</a:t>
            </a:r>
            <a:endParaRPr/>
          </a:p>
        </p:txBody>
      </p:sp>
      <p:sp>
        <p:nvSpPr>
          <p:cNvPr id="546" name="" descr="{&quot;isTemplate&quot;:true,&quot;type&quot;:&quot;text&quot;}"/>
          <p:cNvSpPr txBox="1"/>
          <p:nvPr/>
        </p:nvSpPr>
        <p:spPr>
          <a:xfrm rot="0" flipH="0" flipV="0">
            <a:off x="6096000" y="3686175"/>
            <a:ext cx="54483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 b="1">
                <a:solidFill>
                  <a:srgbClr val="F2F7F8"/>
                </a:solidFill>
                <a:latin typeface="Microsoft YaHei"/>
                <a:ea typeface="Microsoft YaHei"/>
              </a:rPr>
              <a:t>结论边界</a:t>
            </a:r>
            <a:endParaRPr/>
          </a:p>
        </p:txBody>
      </p:sp>
      <p:sp>
        <p:nvSpPr>
          <p:cNvPr id="547" name="" descr="{&quot;isTemplate&quot;:true,&quot;type&quot;:&quot;text&quot;}"/>
          <p:cNvSpPr txBox="1"/>
          <p:nvPr/>
        </p:nvSpPr>
        <p:spPr>
          <a:xfrm rot="0" flipH="0" flipV="0">
            <a:off x="6096000" y="3876675"/>
            <a:ext cx="5448300" cy="219075"/>
          </a:xfrm>
          <a:prstGeom prst="rect"/>
        </p:spPr>
        <p:txBody>
          <a:bodyPr wrap="none" lIns="0" tIns="0" rIns="0" bIns="0"/>
          <a:p>
            <a:pPr>
              <a:lnSpc>
                <a:spcPct val="165000"/>
              </a:lnSpc>
            </a:pPr>
            <a:r>
              <a:rPr lang="zh-CN" sz="863">
                <a:solidFill>
                  <a:srgbClr val="F2F7F8">
                    <a:alpha val="54000"/>
                  </a:srgbClr>
                </a:solidFill>
                <a:latin typeface="Microsoft YaHei"/>
                <a:ea typeface="Microsoft YaHei"/>
              </a:rPr>
              <a:t>搜索达到深度或状态上限时标注“未完整”；不把“没搜到”当作“安全”。</a:t>
            </a:r>
            <a:endParaRPr/>
          </a:p>
        </p:txBody>
      </p:sp>
      <p:sp>
        <p:nvSpPr>
          <p:cNvPr id="548" name=""/>
          <p:cNvSpPr/>
          <p:nvPr/>
        </p:nvSpPr>
        <p:spPr>
          <a:xfrm rot="0" flipH="0" flipV="0">
            <a:off x="533400" y="5200650"/>
            <a:ext cx="11125200" cy="542925"/>
          </a:xfrm>
          <a:custGeom>
            <a:pathLst>
              <a:path w="1168" h="57">
                <a:moveTo>
                  <a:pt x="0" y="0"/>
                </a:moveTo>
                <a:lnTo>
                  <a:pt x="1168" y="0"/>
                </a:lnTo>
                <a:lnTo>
                  <a:pt x="1168" y="1"/>
                </a:lnTo>
                <a:lnTo>
                  <a:pt x="0" y="1"/>
                </a:lnTo>
                <a:close/>
              </a:path>
            </a:pathLst>
          </a:custGeom>
          <a:solidFill>
            <a:srgbClr val="F2F7F8">
              <a:alpha val="10000"/>
            </a:srgbClr>
          </a:solidFill>
          <a:ln/>
        </p:spPr>
        <p:txBody>
          <a:bodyPr/>
          <a:p/>
        </p:txBody>
      </p:sp>
      <p:sp>
        <p:nvSpPr>
          <p:cNvPr id="549" name="" descr="{&quot;isTemplate&quot;:true,&quot;type&quot;:&quot;text&quot;}"/>
          <p:cNvSpPr txBox="1"/>
          <p:nvPr/>
        </p:nvSpPr>
        <p:spPr>
          <a:xfrm rot="0" flipH="0" flipV="0">
            <a:off x="533400" y="5324475"/>
            <a:ext cx="2085975" cy="1143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713" spc="90">
                <a:solidFill>
                  <a:srgbClr val="6BC8D1"/>
                </a:solidFill>
                <a:latin typeface="Consolas"/>
                <a:ea typeface="Consolas"/>
              </a:rPr>
              <a:t>PUBLIC SOURCES / </a:t>
            </a:r>
            <a:r>
              <a:rPr lang="zh-CN" sz="713" spc="90">
                <a:solidFill>
                  <a:srgbClr val="6BC8D1"/>
                </a:solidFill>
                <a:latin typeface="Consolas"/>
                <a:ea typeface="Consolas"/>
              </a:rPr>
              <a:t>每个场景内置</a:t>
            </a:r>
            <a:endParaRPr/>
          </a:p>
        </p:txBody>
      </p:sp>
      <p:sp>
        <p:nvSpPr>
          <p:cNvPr id="550" name="" descr="{&quot;isTemplate&quot;:true,&quot;type&quot;:&quot;text&quot;}"/>
          <p:cNvSpPr txBox="1"/>
          <p:nvPr/>
        </p:nvSpPr>
        <p:spPr>
          <a:xfrm rot="0" flipH="0" flipV="0">
            <a:off x="10477500" y="5324475"/>
            <a:ext cx="1181100" cy="1143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713">
                <a:solidFill>
                  <a:srgbClr val="F2F7F8">
                    <a:alpha val="34000"/>
                  </a:srgbClr>
                </a:solidFill>
                <a:latin typeface="Microsoft YaHei"/>
                <a:ea typeface="Microsoft YaHei"/>
              </a:rPr>
              <a:t>随实验可查，不参与结果指纹</a:t>
            </a:r>
            <a:endParaRPr/>
          </a:p>
        </p:txBody>
      </p:sp>
      <p:sp>
        <p:nvSpPr>
          <p:cNvPr id="551" name=""/>
          <p:cNvSpPr/>
          <p:nvPr/>
        </p:nvSpPr>
        <p:spPr>
          <a:xfrm rot="0" flipH="0" flipV="0">
            <a:off x="533400" y="5534025"/>
            <a:ext cx="838200" cy="200025"/>
          </a:xfrm>
          <a:prstGeom prst="roundRect">
            <a:avLst>
              <a:gd name="adj" fmla="val 19048"/>
            </a:avLst>
          </a:prstGeom>
          <a:ln w="12700">
            <a:solidFill>
              <a:srgbClr val="F2F7F8">
                <a:alpha val="12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552" name="" descr="{&quot;isTemplate&quot;:true,&quot;type&quot;:&quot;text&quot;}"/>
          <p:cNvSpPr txBox="1"/>
          <p:nvPr/>
        </p:nvSpPr>
        <p:spPr>
          <a:xfrm rot="0" flipH="0" flipV="0">
            <a:off x="619125" y="5581650"/>
            <a:ext cx="666750" cy="1047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675">
                <a:solidFill>
                  <a:srgbClr val="F2F7F8">
                    <a:alpha val="56000"/>
                  </a:srgbClr>
                </a:solidFill>
                <a:latin typeface="Consolas"/>
                <a:ea typeface="Consolas"/>
              </a:rPr>
              <a:t>NIST SP 800-41</a:t>
            </a:r>
            <a:endParaRPr/>
          </a:p>
        </p:txBody>
      </p:sp>
      <p:sp>
        <p:nvSpPr>
          <p:cNvPr id="553" name=""/>
          <p:cNvSpPr/>
          <p:nvPr/>
        </p:nvSpPr>
        <p:spPr>
          <a:xfrm rot="0" flipH="0" flipV="0">
            <a:off x="1447800" y="5534025"/>
            <a:ext cx="838200" cy="200025"/>
          </a:xfrm>
          <a:prstGeom prst="roundRect">
            <a:avLst>
              <a:gd name="adj" fmla="val 19048"/>
            </a:avLst>
          </a:prstGeom>
          <a:ln w="12700">
            <a:solidFill>
              <a:srgbClr val="F2F7F8">
                <a:alpha val="12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554" name="" descr="{&quot;isTemplate&quot;:true,&quot;type&quot;:&quot;text&quot;}"/>
          <p:cNvSpPr txBox="1"/>
          <p:nvPr/>
        </p:nvSpPr>
        <p:spPr>
          <a:xfrm rot="0" flipH="0" flipV="0">
            <a:off x="1533525" y="5581650"/>
            <a:ext cx="666750" cy="1047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675">
                <a:solidFill>
                  <a:srgbClr val="F2F7F8">
                    <a:alpha val="56000"/>
                  </a:srgbClr>
                </a:solidFill>
                <a:latin typeface="Consolas"/>
                <a:ea typeface="Consolas"/>
              </a:rPr>
              <a:t>NIST SP 800-53</a:t>
            </a:r>
            <a:endParaRPr/>
          </a:p>
        </p:txBody>
      </p:sp>
      <p:sp>
        <p:nvSpPr>
          <p:cNvPr id="555" name=""/>
          <p:cNvSpPr/>
          <p:nvPr/>
        </p:nvSpPr>
        <p:spPr>
          <a:xfrm rot="0" flipH="0" flipV="0">
            <a:off x="2362200" y="5534025"/>
            <a:ext cx="885825" cy="200025"/>
          </a:xfrm>
          <a:prstGeom prst="roundRect">
            <a:avLst>
              <a:gd name="adj" fmla="val 19048"/>
            </a:avLst>
          </a:prstGeom>
          <a:ln w="12700">
            <a:solidFill>
              <a:srgbClr val="F2F7F8">
                <a:alpha val="12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556" name="" descr="{&quot;isTemplate&quot;:true,&quot;type&quot;:&quot;text&quot;}"/>
          <p:cNvSpPr txBox="1"/>
          <p:nvPr/>
        </p:nvSpPr>
        <p:spPr>
          <a:xfrm rot="0" flipH="0" flipV="0">
            <a:off x="2447925" y="5581650"/>
            <a:ext cx="714375" cy="1047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675">
                <a:solidFill>
                  <a:srgbClr val="F2F7F8">
                    <a:alpha val="56000"/>
                  </a:srgbClr>
                </a:solidFill>
                <a:latin typeface="Consolas"/>
                <a:ea typeface="Consolas"/>
              </a:rPr>
              <a:t>NIST SP 800-207</a:t>
            </a:r>
            <a:endParaRPr/>
          </a:p>
        </p:txBody>
      </p:sp>
      <p:sp>
        <p:nvSpPr>
          <p:cNvPr id="557" name=""/>
          <p:cNvSpPr/>
          <p:nvPr/>
        </p:nvSpPr>
        <p:spPr>
          <a:xfrm rot="0" flipH="0" flipV="0">
            <a:off x="3324225" y="5534025"/>
            <a:ext cx="742950" cy="200025"/>
          </a:xfrm>
          <a:prstGeom prst="roundRect">
            <a:avLst>
              <a:gd name="adj" fmla="val 19048"/>
            </a:avLst>
          </a:prstGeom>
          <a:ln w="12700">
            <a:solidFill>
              <a:srgbClr val="F2F7F8">
                <a:alpha val="12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558" name="" descr="{&quot;isTemplate&quot;:true,&quot;type&quot;:&quot;text&quot;}"/>
          <p:cNvSpPr txBox="1"/>
          <p:nvPr/>
        </p:nvSpPr>
        <p:spPr>
          <a:xfrm rot="0" flipH="0" flipV="0">
            <a:off x="3409950" y="5581650"/>
            <a:ext cx="571500" cy="1047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675">
                <a:solidFill>
                  <a:srgbClr val="F2F7F8">
                    <a:alpha val="56000"/>
                  </a:srgbClr>
                </a:solidFill>
                <a:latin typeface="Consolas"/>
                <a:ea typeface="Consolas"/>
              </a:rPr>
              <a:t>MITRE ATT&amp;CK</a:t>
            </a:r>
            <a:endParaRPr/>
          </a:p>
        </p:txBody>
      </p:sp>
      <p:sp>
        <p:nvSpPr>
          <p:cNvPr id="559" name=""/>
          <p:cNvSpPr/>
          <p:nvPr/>
        </p:nvSpPr>
        <p:spPr>
          <a:xfrm rot="0" flipH="0" flipV="0">
            <a:off x="4143375" y="5534025"/>
            <a:ext cx="885825" cy="200025"/>
          </a:xfrm>
          <a:prstGeom prst="roundRect">
            <a:avLst>
              <a:gd name="adj" fmla="val 19048"/>
            </a:avLst>
          </a:prstGeom>
          <a:ln w="12700">
            <a:solidFill>
              <a:srgbClr val="F2F7F8">
                <a:alpha val="12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560" name="" descr="{&quot;isTemplate&quot;:true,&quot;type&quot;:&quot;text&quot;}"/>
          <p:cNvSpPr txBox="1"/>
          <p:nvPr/>
        </p:nvSpPr>
        <p:spPr>
          <a:xfrm rot="0" flipH="0" flipV="0">
            <a:off x="4229100" y="5581650"/>
            <a:ext cx="714375" cy="1047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675">
                <a:solidFill>
                  <a:srgbClr val="F2F7F8">
                    <a:alpha val="56000"/>
                  </a:srgbClr>
                </a:solidFill>
                <a:latin typeface="Consolas"/>
                <a:ea typeface="Consolas"/>
              </a:rPr>
              <a:t>GB/T 22239-2019</a:t>
            </a:r>
            <a:endParaRPr/>
          </a:p>
        </p:txBody>
      </p:sp>
      <p:sp>
        <p:nvSpPr>
          <p:cNvPr id="561" name=""/>
          <p:cNvSpPr/>
          <p:nvPr/>
        </p:nvSpPr>
        <p:spPr>
          <a:xfrm rot="0" flipH="0" flipV="0">
            <a:off x="5105400" y="5534025"/>
            <a:ext cx="790575" cy="200025"/>
          </a:xfrm>
          <a:prstGeom prst="roundRect">
            <a:avLst>
              <a:gd name="adj" fmla="val 19048"/>
            </a:avLst>
          </a:prstGeom>
          <a:ln w="12700">
            <a:solidFill>
              <a:srgbClr val="F2F7F8">
                <a:alpha val="12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562" name="" descr="{&quot;isTemplate&quot;:true,&quot;type&quot;:&quot;text&quot;}"/>
          <p:cNvSpPr txBox="1"/>
          <p:nvPr/>
        </p:nvSpPr>
        <p:spPr>
          <a:xfrm rot="0" flipH="0" flipV="0">
            <a:off x="5191125" y="5581650"/>
            <a:ext cx="619125" cy="1047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675">
                <a:solidFill>
                  <a:srgbClr val="F2F7F8">
                    <a:alpha val="56000"/>
                  </a:srgbClr>
                </a:solidFill>
                <a:latin typeface="Consolas"/>
                <a:ea typeface="Consolas"/>
              </a:rPr>
              <a:t>IEC 62443-3-3</a:t>
            </a:r>
            <a:endParaRPr/>
          </a:p>
        </p:txBody>
      </p:sp>
      <p:sp>
        <p:nvSpPr>
          <p:cNvPr id="563" name=""/>
          <p:cNvSpPr/>
          <p:nvPr/>
        </p:nvSpPr>
        <p:spPr>
          <a:xfrm rot="0" flipH="0" flipV="0">
            <a:off x="533400" y="6324600"/>
            <a:ext cx="11125200" cy="9525"/>
          </a:xfrm>
          <a:prstGeom prst="rect">
            <a:avLst/>
          </a:prstGeom>
          <a:solidFill>
            <a:srgbClr val="F2F7F8">
              <a:alpha val="10000"/>
            </a:srgbClr>
          </a:solidFill>
          <a:ln/>
        </p:spPr>
        <p:txBody>
          <a:bodyPr/>
          <a:p/>
        </p:txBody>
      </p:sp>
      <p:sp>
        <p:nvSpPr>
          <p:cNvPr id="564" name="" descr="{&quot;isTemplate&quot;:true,&quot;type&quot;:&quot;text&quot;}"/>
          <p:cNvSpPr txBox="1"/>
          <p:nvPr/>
        </p:nvSpPr>
        <p:spPr>
          <a:xfrm rot="0" flipH="0" flipV="0">
            <a:off x="533400" y="6457950"/>
            <a:ext cx="3248025" cy="1238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788" spc="60">
                <a:solidFill>
                  <a:srgbClr val="F2F7F8">
                    <a:alpha val="40000"/>
                  </a:srgbClr>
                </a:solidFill>
                <a:latin typeface="Consolas"/>
                <a:ea typeface="Consolas"/>
              </a:rPr>
              <a:t>智御网络</a:t>
            </a:r>
            <a:r>
              <a:rPr lang="en-US" sz="788" spc="60">
                <a:solidFill>
                  <a:srgbClr val="F2F7F8">
                    <a:alpha val="40000"/>
                  </a:srgbClr>
                </a:solidFill>
                <a:latin typeface="Consolas"/>
                <a:ea typeface="Consolas"/>
              </a:rPr>
              <a:t> · </a:t>
            </a:r>
            <a:r>
              <a:rPr lang="zh-CN" sz="788" spc="60">
                <a:solidFill>
                  <a:srgbClr val="F2F7F8">
                    <a:alpha val="40000"/>
                  </a:srgbClr>
                </a:solidFill>
                <a:latin typeface="Consolas"/>
                <a:ea typeface="Consolas"/>
              </a:rPr>
              <a:t>三维网络安全策略交互验证平台</a:t>
            </a:r>
            <a:endParaRPr/>
          </a:p>
        </p:txBody>
      </p:sp>
      <p:sp>
        <p:nvSpPr>
          <p:cNvPr id="565" name="" descr="{&quot;isTemplate&quot;:true,&quot;type&quot;:&quot;text&quot;}"/>
          <p:cNvSpPr txBox="1"/>
          <p:nvPr/>
        </p:nvSpPr>
        <p:spPr>
          <a:xfrm rot="0" flipH="0" flipV="0">
            <a:off x="11268075" y="6457950"/>
            <a:ext cx="390525" cy="1238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788">
                <a:solidFill>
                  <a:srgbClr val="F2F7F8">
                    <a:alpha val="40000"/>
                  </a:srgbClr>
                </a:solidFill>
                <a:latin typeface="Consolas"/>
                <a:ea typeface="Consolas"/>
              </a:rPr>
              <a:t>19 / 22</a:t>
            </a:r>
            <a:endParaRPr/>
          </a:p>
        </p:txBody>
      </p:sp>
    </p:spTree>
  </p:cSld>
</p:sld>
</file>

<file path=ppt/slides/slide20.xml><?xml version="1.0" encoding="utf-8"?>
<p:sld xmlns:p="http://schemas.openxmlformats.org/presentationml/2006/main" xmlns:r="http://schemas.openxmlformats.org/officeDocument/2006/relationships" xmlns:a="http://schemas.openxmlformats.org/drawingml/2006/main" xmlns:asvg="http://schemas.microsoft.com/office/drawing/2016/SVG/main" xmlns:mc="http://schemas.openxmlformats.org/markup-compatibility/2006" mc:Ignorable="asvg">
  <p:cSld>
    <p:spTree>
      <p:nvGrpSpPr>
        <p:cNvPr id="607" name="" descr="&lt;Slide style={{ width: 1280, height: 720, background: '#07111B', padding: 0, position: 'relative', overflow: 'hidden' }}&gt;&#10;    &lt;svg width={1280} height={720} viewBox='0 0 1280 720' style={{ position: 'absolute', left: 0, top: 0 }}&gt;&#10;        &lt;g stroke='rgba(242,247,248,0.03)' strokeWidth='1'&gt;&#10;            &lt;path d='M0 80H1280M0 160H1280M0 240H1280M0 320H1280M0 400H1280M0 480H1280M0 560H1280M0 640H1280' /&gt;&#10;            &lt;path d='M80 0V720M160 0V720M240 0V720M320 0V720M400 0V720M480 0V720M560 0V720M640 0V720M720 0V720M800 0V720M880 0V720M960 0V720M1040 0V720M1120 0V720M1200 0V720' /&gt;&#10;        &lt;/g&gt;&#10;        &lt;g stroke='rgba(107,200,209,0.18)' strokeWidth='1' fill='none'&gt;&#10;            &lt;path d='M760 420L850 320L970 370L1080 260L1170 320' /&gt;&#10;            &lt;path d='M850 320L910 460L1020 500L1080 260' /&gt;&#10;        &lt;/g&gt;&#10;        &lt;g fill='#6BC8D1'&gt;&#10;            &lt;circle cx='760' cy='420' r='4' opacity='0.45' /&gt;&#10;            &lt;circle cx='850' cy='320' r='6' opacity='0.85' /&gt;&#10;            &lt;circle cx='970' cy='370' r='4.5' opacity='0.6' /&gt;&#10;            &lt;circle cx='1080' cy='260' r='5' opacity='0.7' /&gt;&#10;            &lt;circle cx='1170' cy='320' r='3.5' opacity='0.4' /&gt;&#10;            &lt;circle cx='910' cy='460' r='4' opacity='0.5' /&gt;&#10;            &lt;circle cx='1020' cy='500' r='4' opacity='0.5' /&gt;&#10;        &lt;/g&gt;&#10;    &lt;/svg&gt;&#10;    &lt;Text style={{ position: 'absolute', right: 56, top: 154, width: 520, textAlign: 'right', fontFamily: 'Consolas', fontSize: 290, fontWeight: 'bold', color: '#F2F7F8', opacity: 0.055, lineHeight: 1 }}&gt;05&lt;/Text&gt;&#10;    &lt;Box style={{ position: 'absolute', left: 0, top: 0, width: 5, height: 720, background: '#6BC8D1', opacity: 0.55 }} /&gt;&#10;&#10;    &lt;Box style={{ position: 'absolute', left: 72, top: 46 }}&gt;&#10;        &lt;Text style={{ fontFamily: 'Consolas', fontSize: 11, color: '#6BC8D1', letterSpacing: 2 }}&gt;CHAPTER 05 / 05&lt;/Text&gt;&#10;    &lt;/Box&gt;&#10;    &lt;Box style={{ position: 'absolute', left: 72, top: 176, width: 620 }}&gt;&#10;        &lt;Text style={{ fontFamily: 'Microsoft YaHei', fontSize: 58, fontWeight: 'bold', color: '#F2F7F8', letterSpacing: 2 }}&gt;价值与展望&lt;/Text&gt;&#10;        &lt;Box style={{ marginTop: 22, width: 52, height: 3, background: '#6BC8D1' }} /&gt;&#10;        &lt;Text style={{ marginTop: 24, fontFamily: 'Microsoft YaHei', fontSize: 19, color: 'rgba(242,247,248,0.68)', lineHeight: 1.7, width: 560 }}&gt;&#10;            三个创新点，最终都指向同一个词：可验证。&#10;        &lt;/Text&gt;&#10;    &lt;/Box&gt;&#10;&#10;    &lt;Box style={{ position: 'absolute', left: 72, top: 420, width: 560 }}&gt;&#10;        &lt;Box style={{ flexDirection: 'row', alignItems: 'center', height: 48, borderTop: '1px solid rgba(242,247,248,0.12)' }}&gt;&#10;            &lt;Text style={{ width: 54, fontFamily: 'Consolas', fontSize: 10, color: '#6BC8D1' }}&gt;05.1&lt;/Text&gt;&#10;            &lt;Text style={{ fontFamily: 'Microsoft YaHei', fontSize: 14, color: 'rgba(242,247,248,0.72)' }}&gt;语义解耦：通与变，分开回答&lt;/Text&gt;&#10;        &lt;/Box&gt;&#10;        &lt;Box style={{ flexDirection: 'row', alignItems: 'center', height: 48, borderTop: '1px solid rgba(242,247,248,0.12)' }}&gt;&#10;            &lt;Text style={{ width: 54, fontFamily: 'Consolas', fontSize: 10, color: '#6BC8D1' }}&gt;05.2&lt;/Text&gt;&#10;            &lt;Text style={{ fontFamily: 'Microsoft YaHei', fontSize: 14, color: 'rgba(242,247,248,0.72)' }}&gt;可解释搜索：见证链与失败原因&lt;/Text&gt;&#10;        &lt;/Box&gt;&#10;        &lt;Box style={{ flexDirection: 'row', alignItems: 'center', height: 48, borderTop: '1px solid rgba(242,247,248,0.12)', borderBottom: '1px solid rgba(242,247,248,0.12)' }}&gt;&#10;            &lt;Text style={{ width: 54, fontFamily: 'Consolas', fontSize: 10, color: '#6BC8D1' }}&gt;05.3&lt;/Text&gt;&#10;            &lt;Text style={{ fontFamily: 'Microsoft YaHei', fontSize: 14, color: 'rgba(242,247,248,0.72)' }}&gt;可复现交付：同输入，同结果&lt;/Text&gt;&#10;        &lt;/Box&gt;&#10;    &lt;/Box&gt;&#10;&#10;    &lt;Box style={{ position: 'absolute', left: 72, top: 664, flexDirection: 'row', alignItems: 'center', gap: 8 }}&gt;&#10;        &lt;Text style={{ fontFamily: 'Consolas', fontSize: 10.5, color: 'rgba(242,247,248,0.40)' }}&gt;智御网络&lt;/Text&gt;&#10;        &lt;Box style={{ width: 16, height: 1, background: 'rgba(242,247,248,0.20)' }} /&gt;&#10;        &lt;Text style={{ fontFamily: 'Consolas', fontSize: 10.5, color: 'rgba(242,247,248,0.40)' }}&gt;VALUE&lt;/Text&gt;&#10;    &lt;/Box&gt;&#10;    &lt;Text style={{ position: 'absolute', right: 56, top: 664, fontFamily: 'Consolas', fontSize: 10.5, color: 'rgba(242,247,248,0.40)' }}&gt;20 / 22&lt;/Text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8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07111B"/>
          </a:solidFill>
          <a:ln/>
        </p:spPr>
        <p:txBody>
          <a:bodyPr/>
          <a:p/>
        </p:txBody>
      </p:sp>
      <p:pic>
        <p:nvPicPr>
          <p:cNvPr id="609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1"/>
              </a:ext>
            </a:extLst>
          </a:blip>
          <a:stretch>
            <a:fillRect/>
          </a:stretch>
        </p:blipFill>
        <p:spPr>
          <a:xfrm rot="0" flipH="0" flipV="0">
            <a:off x="0" y="0"/>
            <a:ext cx="12192000" cy="6858000"/>
          </a:xfrm>
          <a:prstGeom prst="rect">
            <a:avLst/>
          </a:prstGeom>
          <a:ln/>
        </p:spPr>
      </p:pic>
      <p:sp>
        <p:nvSpPr>
          <p:cNvPr id="610" name="" descr="{&quot;isTemplate&quot;:true,&quot;type&quot;:&quot;text&quot;}"/>
          <p:cNvSpPr txBox="1"/>
          <p:nvPr/>
        </p:nvSpPr>
        <p:spPr>
          <a:xfrm rot="0" flipH="0" flipV="0">
            <a:off x="6705600" y="1466850"/>
            <a:ext cx="4953000" cy="3314700"/>
          </a:xfrm>
          <a:prstGeom prst="rect"/>
        </p:spPr>
        <p:txBody>
          <a:bodyPr wrap="none" lIns="0" tIns="0" rIns="0" bIns="0"/>
          <a:p>
            <a:pPr algn="r">
              <a:lnSpc>
                <a:spcPct val="100000"/>
              </a:lnSpc>
            </a:pPr>
            <a:r>
              <a:rPr lang="en-US" sz="21750" b="1">
                <a:solidFill>
                  <a:srgbClr val="F2F7F8">
                    <a:alpha val="5500"/>
                  </a:srgbClr>
                </a:solidFill>
                <a:latin typeface="Consolas"/>
                <a:ea typeface="Consolas"/>
              </a:rPr>
              <a:t>05</a:t>
            </a:r>
            <a:endParaRPr/>
          </a:p>
        </p:txBody>
      </p:sp>
      <p:sp>
        <p:nvSpPr>
          <p:cNvPr id="611" name=""/>
          <p:cNvSpPr/>
          <p:nvPr/>
        </p:nvSpPr>
        <p:spPr>
          <a:xfrm rot="0" flipH="0" flipV="0">
            <a:off x="0" y="0"/>
            <a:ext cx="47625" cy="6858000"/>
          </a:xfrm>
          <a:prstGeom prst="rect">
            <a:avLst/>
          </a:prstGeom>
          <a:solidFill>
            <a:srgbClr val="6BC8D1">
              <a:alpha val="55000"/>
            </a:srgbClr>
          </a:solidFill>
          <a:ln/>
        </p:spPr>
        <p:txBody>
          <a:bodyPr/>
          <a:p/>
        </p:txBody>
      </p:sp>
      <p:sp>
        <p:nvSpPr>
          <p:cNvPr id="612" name="" descr="{&quot;isTemplate&quot;:true,&quot;type&quot;:&quot;text&quot;}"/>
          <p:cNvSpPr txBox="1"/>
          <p:nvPr/>
        </p:nvSpPr>
        <p:spPr>
          <a:xfrm rot="0" flipH="0" flipV="0">
            <a:off x="685800" y="438150"/>
            <a:ext cx="1152525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825" spc="150">
                <a:solidFill>
                  <a:srgbClr val="6BC8D1"/>
                </a:solidFill>
                <a:latin typeface="Consolas"/>
                <a:ea typeface="Consolas"/>
              </a:rPr>
              <a:t>CHAPTER 05 / 05</a:t>
            </a:r>
            <a:endParaRPr/>
          </a:p>
        </p:txBody>
      </p:sp>
      <p:sp>
        <p:nvSpPr>
          <p:cNvPr id="613" name="" descr="{&quot;isTemplate&quot;:true,&quot;type&quot;:&quot;text&quot;}"/>
          <p:cNvSpPr txBox="1"/>
          <p:nvPr/>
        </p:nvSpPr>
        <p:spPr>
          <a:xfrm rot="0" flipH="0" flipV="0">
            <a:off x="685800" y="1676400"/>
            <a:ext cx="5905500" cy="6667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4350" b="1" spc="150">
                <a:solidFill>
                  <a:srgbClr val="F2F7F8"/>
                </a:solidFill>
                <a:latin typeface="Microsoft YaHei"/>
                <a:ea typeface="Microsoft YaHei"/>
              </a:rPr>
              <a:t>价值与展望</a:t>
            </a:r>
            <a:endParaRPr/>
          </a:p>
        </p:txBody>
      </p:sp>
      <p:sp>
        <p:nvSpPr>
          <p:cNvPr id="614" name=""/>
          <p:cNvSpPr/>
          <p:nvPr/>
        </p:nvSpPr>
        <p:spPr>
          <a:xfrm rot="0" flipH="0" flipV="0">
            <a:off x="685800" y="2552700"/>
            <a:ext cx="495300" cy="28575"/>
          </a:xfrm>
          <a:prstGeom prst="rect">
            <a:avLst/>
          </a:prstGeom>
          <a:solidFill>
            <a:srgbClr val="6BC8D1"/>
          </a:solidFill>
          <a:ln/>
        </p:spPr>
        <p:txBody>
          <a:bodyPr/>
          <a:p/>
        </p:txBody>
      </p:sp>
      <p:sp>
        <p:nvSpPr>
          <p:cNvPr id="615" name="" descr="{&quot;isTemplate&quot;:true,&quot;type&quot;:&quot;text&quot;}"/>
          <p:cNvSpPr txBox="1"/>
          <p:nvPr/>
        </p:nvSpPr>
        <p:spPr>
          <a:xfrm rot="0" flipH="0" flipV="0">
            <a:off x="685800" y="2809875"/>
            <a:ext cx="5334000" cy="371475"/>
          </a:xfrm>
          <a:prstGeom prst="rect"/>
        </p:spPr>
        <p:txBody>
          <a:bodyPr wrap="none" lIns="0" tIns="0" rIns="0" bIns="0"/>
          <a:p>
            <a:pPr>
              <a:lnSpc>
                <a:spcPct val="170000"/>
              </a:lnSpc>
            </a:pPr>
            <a:r>
              <a:rPr lang="zh-CN" sz="1425">
                <a:solidFill>
                  <a:srgbClr val="F2F7F8">
                    <a:alpha val="68000"/>
                  </a:srgbClr>
                </a:solidFill>
                <a:latin typeface="Microsoft YaHei"/>
                <a:ea typeface="Microsoft YaHei"/>
              </a:rPr>
              <a:t>三个创新点，最终都指向同一个词：可验证。</a:t>
            </a:r>
            <a:endParaRPr/>
          </a:p>
        </p:txBody>
      </p:sp>
      <p:sp>
        <p:nvSpPr>
          <p:cNvPr id="616" name=""/>
          <p:cNvSpPr/>
          <p:nvPr/>
        </p:nvSpPr>
        <p:spPr>
          <a:xfrm rot="0" flipH="0" flipV="0">
            <a:off x="685800" y="4000500"/>
            <a:ext cx="5334000" cy="457200"/>
          </a:xfrm>
          <a:custGeom>
            <a:pathLst>
              <a:path w="560" h="48">
                <a:moveTo>
                  <a:pt x="0" y="0"/>
                </a:moveTo>
                <a:lnTo>
                  <a:pt x="560" y="0"/>
                </a:lnTo>
                <a:lnTo>
                  <a:pt x="560" y="1"/>
                </a:lnTo>
                <a:lnTo>
                  <a:pt x="0" y="1"/>
                </a:lnTo>
                <a:close/>
              </a:path>
            </a:pathLst>
          </a:custGeom>
          <a:solidFill>
            <a:srgbClr val="F2F7F8">
              <a:alpha val="12000"/>
            </a:srgbClr>
          </a:solidFill>
          <a:ln/>
        </p:spPr>
        <p:txBody>
          <a:bodyPr/>
          <a:p/>
        </p:txBody>
      </p:sp>
      <p:sp>
        <p:nvSpPr>
          <p:cNvPr id="617" name="" descr="{&quot;isTemplate&quot;:true,&quot;type&quot;:&quot;text&quot;}"/>
          <p:cNvSpPr txBox="1"/>
          <p:nvPr/>
        </p:nvSpPr>
        <p:spPr>
          <a:xfrm rot="0" flipH="0" flipV="0">
            <a:off x="685800" y="4181475"/>
            <a:ext cx="514350" cy="1143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750">
                <a:solidFill>
                  <a:srgbClr val="6BC8D1"/>
                </a:solidFill>
                <a:latin typeface="Consolas"/>
                <a:ea typeface="Consolas"/>
              </a:rPr>
              <a:t>05.1</a:t>
            </a:r>
            <a:endParaRPr/>
          </a:p>
        </p:txBody>
      </p:sp>
      <p:sp>
        <p:nvSpPr>
          <p:cNvPr id="618" name="" descr="{&quot;isTemplate&quot;:true,&quot;type&quot;:&quot;text&quot;}"/>
          <p:cNvSpPr txBox="1"/>
          <p:nvPr/>
        </p:nvSpPr>
        <p:spPr>
          <a:xfrm rot="0" flipH="0" flipV="0">
            <a:off x="1200150" y="4152900"/>
            <a:ext cx="17335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F2F7F8">
                    <a:alpha val="72000"/>
                  </a:srgbClr>
                </a:solidFill>
                <a:latin typeface="Microsoft YaHei"/>
                <a:ea typeface="Microsoft YaHei"/>
              </a:rPr>
              <a:t>语义解耦：通与变，分开回答</a:t>
            </a:r>
            <a:endParaRPr/>
          </a:p>
        </p:txBody>
      </p:sp>
      <p:sp>
        <p:nvSpPr>
          <p:cNvPr id="619" name=""/>
          <p:cNvSpPr/>
          <p:nvPr/>
        </p:nvSpPr>
        <p:spPr>
          <a:xfrm rot="0" flipH="0" flipV="0">
            <a:off x="685800" y="4457700"/>
            <a:ext cx="5334000" cy="457200"/>
          </a:xfrm>
          <a:custGeom>
            <a:pathLst>
              <a:path w="560" h="48">
                <a:moveTo>
                  <a:pt x="0" y="0"/>
                </a:moveTo>
                <a:lnTo>
                  <a:pt x="560" y="0"/>
                </a:lnTo>
                <a:lnTo>
                  <a:pt x="560" y="1"/>
                </a:lnTo>
                <a:lnTo>
                  <a:pt x="0" y="1"/>
                </a:lnTo>
                <a:close/>
              </a:path>
            </a:pathLst>
          </a:custGeom>
          <a:solidFill>
            <a:srgbClr val="F2F7F8">
              <a:alpha val="12000"/>
            </a:srgbClr>
          </a:solidFill>
          <a:ln/>
        </p:spPr>
        <p:txBody>
          <a:bodyPr/>
          <a:p/>
        </p:txBody>
      </p:sp>
      <p:sp>
        <p:nvSpPr>
          <p:cNvPr id="620" name="" descr="{&quot;isTemplate&quot;:true,&quot;type&quot;:&quot;text&quot;}"/>
          <p:cNvSpPr txBox="1"/>
          <p:nvPr/>
        </p:nvSpPr>
        <p:spPr>
          <a:xfrm rot="0" flipH="0" flipV="0">
            <a:off x="685800" y="4638675"/>
            <a:ext cx="514350" cy="1143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750">
                <a:solidFill>
                  <a:srgbClr val="6BC8D1"/>
                </a:solidFill>
                <a:latin typeface="Consolas"/>
                <a:ea typeface="Consolas"/>
              </a:rPr>
              <a:t>05.2</a:t>
            </a:r>
            <a:endParaRPr/>
          </a:p>
        </p:txBody>
      </p:sp>
      <p:sp>
        <p:nvSpPr>
          <p:cNvPr id="621" name="" descr="{&quot;isTemplate&quot;:true,&quot;type&quot;:&quot;text&quot;}"/>
          <p:cNvSpPr txBox="1"/>
          <p:nvPr/>
        </p:nvSpPr>
        <p:spPr>
          <a:xfrm rot="0" flipH="0" flipV="0">
            <a:off x="1200150" y="4610100"/>
            <a:ext cx="18669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F2F7F8">
                    <a:alpha val="72000"/>
                  </a:srgbClr>
                </a:solidFill>
                <a:latin typeface="Microsoft YaHei"/>
                <a:ea typeface="Microsoft YaHei"/>
              </a:rPr>
              <a:t>可解释搜索：见证链与失败原因</a:t>
            </a:r>
            <a:endParaRPr/>
          </a:p>
        </p:txBody>
      </p:sp>
      <p:sp>
        <p:nvSpPr>
          <p:cNvPr id="622" name=""/>
          <p:cNvSpPr/>
          <p:nvPr/>
        </p:nvSpPr>
        <p:spPr>
          <a:xfrm rot="0" flipH="0" flipV="0">
            <a:off x="685800" y="4914900"/>
            <a:ext cx="5334000" cy="457200"/>
          </a:xfrm>
          <a:custGeom>
            <a:pathLst>
              <a:path w="560" h="48">
                <a:moveTo>
                  <a:pt x="0" y="0"/>
                </a:moveTo>
                <a:lnTo>
                  <a:pt x="560" y="0"/>
                </a:lnTo>
                <a:lnTo>
                  <a:pt x="560" y="1"/>
                </a:lnTo>
                <a:lnTo>
                  <a:pt x="0" y="1"/>
                </a:lnTo>
                <a:close/>
              </a:path>
            </a:pathLst>
          </a:custGeom>
          <a:solidFill>
            <a:srgbClr val="F2F7F8">
              <a:alpha val="12000"/>
            </a:srgbClr>
          </a:solidFill>
          <a:ln/>
        </p:spPr>
        <p:txBody>
          <a:bodyPr/>
          <a:p/>
        </p:txBody>
      </p:sp>
      <p:sp>
        <p:nvSpPr>
          <p:cNvPr id="623" name=""/>
          <p:cNvSpPr/>
          <p:nvPr/>
        </p:nvSpPr>
        <p:spPr>
          <a:xfrm rot="0" flipH="0" flipV="0">
            <a:off x="685800" y="4914900"/>
            <a:ext cx="5334000" cy="457200"/>
          </a:xfrm>
          <a:custGeom>
            <a:pathLst>
              <a:path w="560" h="48">
                <a:moveTo>
                  <a:pt x="0" y="47"/>
                </a:moveTo>
                <a:lnTo>
                  <a:pt x="560" y="47"/>
                </a:lnTo>
                <a:lnTo>
                  <a:pt x="560" y="48"/>
                </a:lnTo>
                <a:lnTo>
                  <a:pt x="0" y="48"/>
                </a:lnTo>
                <a:close/>
              </a:path>
            </a:pathLst>
          </a:custGeom>
          <a:solidFill>
            <a:srgbClr val="F2F7F8">
              <a:alpha val="12000"/>
            </a:srgbClr>
          </a:solidFill>
          <a:ln/>
        </p:spPr>
        <p:txBody>
          <a:bodyPr/>
          <a:p/>
        </p:txBody>
      </p:sp>
      <p:sp>
        <p:nvSpPr>
          <p:cNvPr id="624" name="" descr="{&quot;isTemplate&quot;:true,&quot;type&quot;:&quot;text&quot;}"/>
          <p:cNvSpPr txBox="1"/>
          <p:nvPr/>
        </p:nvSpPr>
        <p:spPr>
          <a:xfrm rot="0" flipH="0" flipV="0">
            <a:off x="685800" y="5086350"/>
            <a:ext cx="514350" cy="1143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750">
                <a:solidFill>
                  <a:srgbClr val="6BC8D1"/>
                </a:solidFill>
                <a:latin typeface="Consolas"/>
                <a:ea typeface="Consolas"/>
              </a:rPr>
              <a:t>05.3</a:t>
            </a:r>
            <a:endParaRPr/>
          </a:p>
        </p:txBody>
      </p:sp>
      <p:sp>
        <p:nvSpPr>
          <p:cNvPr id="625" name="" descr="{&quot;isTemplate&quot;:true,&quot;type&quot;:&quot;text&quot;}"/>
          <p:cNvSpPr txBox="1"/>
          <p:nvPr/>
        </p:nvSpPr>
        <p:spPr>
          <a:xfrm rot="0" flipH="0" flipV="0">
            <a:off x="1200150" y="5067300"/>
            <a:ext cx="17335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F2F7F8">
                    <a:alpha val="72000"/>
                  </a:srgbClr>
                </a:solidFill>
                <a:latin typeface="Microsoft YaHei"/>
                <a:ea typeface="Microsoft YaHei"/>
              </a:rPr>
              <a:t>可复现交付：同输入，同结果</a:t>
            </a:r>
            <a:endParaRPr/>
          </a:p>
        </p:txBody>
      </p:sp>
      <p:sp>
        <p:nvSpPr>
          <p:cNvPr id="626" name="" descr="{&quot;isTemplate&quot;:true,&quot;type&quot;:&quot;text&quot;}"/>
          <p:cNvSpPr txBox="1"/>
          <p:nvPr/>
        </p:nvSpPr>
        <p:spPr>
          <a:xfrm rot="0" flipH="0" flipV="0">
            <a:off x="685800" y="6324600"/>
            <a:ext cx="647700" cy="1238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788">
                <a:solidFill>
                  <a:srgbClr val="F2F7F8">
                    <a:alpha val="40000"/>
                  </a:srgbClr>
                </a:solidFill>
                <a:latin typeface="Consolas"/>
                <a:ea typeface="Consolas"/>
              </a:rPr>
              <a:t>智御网络</a:t>
            </a:r>
            <a:endParaRPr/>
          </a:p>
        </p:txBody>
      </p:sp>
      <p:sp>
        <p:nvSpPr>
          <p:cNvPr id="627" name=""/>
          <p:cNvSpPr/>
          <p:nvPr/>
        </p:nvSpPr>
        <p:spPr>
          <a:xfrm rot="0" flipH="0" flipV="0">
            <a:off x="1409700" y="6381750"/>
            <a:ext cx="152400" cy="9525"/>
          </a:xfrm>
          <a:prstGeom prst="rect">
            <a:avLst/>
          </a:prstGeom>
          <a:solidFill>
            <a:srgbClr val="F2F7F8">
              <a:alpha val="20000"/>
            </a:srgbClr>
          </a:solidFill>
          <a:ln/>
        </p:spPr>
        <p:txBody>
          <a:bodyPr/>
          <a:p/>
        </p:txBody>
      </p:sp>
      <p:sp>
        <p:nvSpPr>
          <p:cNvPr id="628" name="" descr="{&quot;isTemplate&quot;:true,&quot;type&quot;:&quot;text&quot;}"/>
          <p:cNvSpPr txBox="1"/>
          <p:nvPr/>
        </p:nvSpPr>
        <p:spPr>
          <a:xfrm rot="0" flipH="0" flipV="0">
            <a:off x="1638300" y="6324600"/>
            <a:ext cx="276225" cy="1238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788">
                <a:solidFill>
                  <a:srgbClr val="F2F7F8">
                    <a:alpha val="40000"/>
                  </a:srgbClr>
                </a:solidFill>
                <a:latin typeface="Consolas"/>
                <a:ea typeface="Consolas"/>
              </a:rPr>
              <a:t>VALUE</a:t>
            </a:r>
            <a:endParaRPr/>
          </a:p>
        </p:txBody>
      </p:sp>
      <p:sp>
        <p:nvSpPr>
          <p:cNvPr id="629" name="" descr="{&quot;isTemplate&quot;:true,&quot;type&quot;:&quot;text&quot;}"/>
          <p:cNvSpPr txBox="1"/>
          <p:nvPr/>
        </p:nvSpPr>
        <p:spPr>
          <a:xfrm rot="0" flipH="0" flipV="0">
            <a:off x="11268075" y="6324600"/>
            <a:ext cx="390525" cy="1238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788">
                <a:solidFill>
                  <a:srgbClr val="F2F7F8">
                    <a:alpha val="40000"/>
                  </a:srgbClr>
                </a:solidFill>
                <a:latin typeface="Consolas"/>
                <a:ea typeface="Consolas"/>
              </a:rPr>
              <a:t>20 / 22</a:t>
            </a:r>
            <a:endParaRPr/>
          </a:p>
        </p:txBody>
      </p:sp>
    </p:spTree>
  </p:cSld>
</p:sld>
</file>

<file path=ppt/slides/slide21.xml><?xml version="1.0" encoding="utf-8"?>
<p:sld xmlns:p="http://schemas.openxmlformats.org/presentationml/2006/main" xmlns:r="http://schemas.openxmlformats.org/officeDocument/2006/relationships" xmlns:a="http://schemas.openxmlformats.org/drawingml/2006/main" xmlns:asvg="http://schemas.microsoft.com/office/drawing/2016/SVG/main" xmlns:mc="http://schemas.openxmlformats.org/markup-compatibility/2006" mc:Ignorable="asvg">
  <p:cSld>
    <p:spTree>
      <p:nvGrpSpPr>
        <p:cNvPr id="630" name="" descr="&lt;Slide style={{ width: 1280, height: 720, background: '#07111B', padding: 0, position: 'relative', overflow: 'hidden' }}&gt;&#10;    &lt;svg width={1280} height={720} viewBox='0 0 1280 720' style={{ position: 'absolute', left: 0, top: 0 }}&gt;&#10;        &lt;g stroke='rgba(242,247,248,0.022)' strokeWidth='1'&gt;&#10;            &lt;path d='M0 96H1280M0 192H1280M0 288H1280M0 384H1280M0 480H1280M0 576H1280M0 672H1280' /&gt;&#10;        &lt;/g&gt;&#10;        &lt;circle cx='1180' cy='120' r='230' fill='rgba(107,200,209,0.035)' /&gt;&#10;    &lt;/svg&gt;&#10;&#10;    &lt;Box style={{ position: 'absolute', left: 56, top: 38 }}&gt;&#10;        &lt;Text style={{ fontFamily: 'Consolas', fontSize: 11, color: '#6BC8D1', letterSpacing: 1.8 }}&gt;05 / 价值与展望&lt;/Text&gt;&#10;    &lt;/Box&gt;&#10;    &lt;Text style={{ position: 'absolute', left: 56, top: 62, fontFamily: 'Microsoft YaHei', fontSize: 32, fontWeight: 'bold', color: '#F2F7F8', letterSpacing: 0.5 }}&gt;三个创新点，最终都指向“可验证”&lt;/Text&gt;&#10;    &lt;Text style={{ position: 'absolute', right: 56, top: 76, fontFamily: 'Consolas', fontSize: 10.5, color: 'rgba(242,247,248,0.42)' }}&gt;FROM MECHANISM TO DELIVERY&lt;/Text&gt;&#10;&#10;    &lt;Box style={{ position: 'absolute', left: 56, top: 150, width: 880, height: 118, paddingLeft: 20, paddingRight: 20, flexDirection: 'row', alignItems: 'center', background: 'linear-gradient(90deg, rgba(107,200,209,0.10) 0%, rgba(242,247,248,0.02) 100%)', borderLeft: '2px solid #6BC8D1' }}&gt;&#10;        &lt;Text style={{ width: 88, fontFamily: 'Consolas', fontSize: 40, fontWeight: 'bold', color: 'rgba(107,200,209,0.80)', lineHeight: 1 }}&gt;01&lt;/Text&gt;&#10;        &lt;Box style={{ width: 752 }}&gt;&#10;            &lt;Text style={{ fontFamily: 'Microsoft YaHei', fontSize: 17, fontWeight: 'bold', color: '#F2F7F8' }}&gt;语义解耦&lt;/Text&gt;&#10;            &lt;Text style={{ marginTop: 6, fontFamily: 'Microsoft YaHei', fontSize: 11.5, color: 'rgba(242,247,248,0.56)', lineHeight: 1.7 }}&gt;通信引擎只回答可达性；状态引擎再检查权限、来源、条件与控制。通信可达不等于状态改变。&lt;/Text&gt;&#10;        &lt;/Box&gt;&#10;    &lt;/Box&gt;&#10;&#10;    &lt;Box style={{ position: 'absolute', left: 56, top: 286, width: 880, height: 118, paddingLeft: 20, paddingRight: 20, flexDirection: 'row', alignItems: 'center', background: 'linear-gradient(90deg, rgba(242,247,248,0.045) 0%, rgba(242,247,248,0.015) 100%)', borderLeft: '2px solid rgba(107,200,209,0.40)' }}&gt;&#10;        &lt;Text style={{ width: 88, fontFamily: 'Consolas', fontSize: 40, fontWeight: 'bold', color: 'rgba(242,247,248,0.30)', lineHeight: 1 }}&gt;02&lt;/Text&gt;&#10;        &lt;Box style={{ width: 752 }}&gt;&#10;            &lt;Text style={{ fontFamily: 'Microsoft YaHei', fontSize: 17, fontWeight: 'bold', color: '#F2F7F8' }}&gt;可解释搜索&lt;/Text&gt;&#10;            &lt;Text style={{ marginTop: 6, fontFamily: 'Microsoft YaHei', fontSize: 11.5, color: 'rgba(242,247,248,0.56)', lineHeight: 1.7 }}&gt;每条链有见证，每个失败有原因；SUCCESS / BLOCKED / N.A. 三态，深度 8 / 160 状态都有边界。&lt;/Text&gt;&#10;        &lt;/Box&gt;&#10;    &lt;/Box&gt;&#10;&#10;    &lt;Box style={{ position: 'absolute', left: 56, top: 422, width: 880, height: 118, paddingLeft: 20, paddingRight: 20, flexDirection: 'row', alignItems: 'center', background: 'linear-gradient(90deg, rgba(242,247,248,0.045) 0%, rgba(242,247,248,0.015) 100%)', borderLeft: '2px solid rgba(107,200,209,0.40)' }}&gt;&#10;        &lt;Text style={{ width: 88, fontFamily: 'Consolas', fontSize: 40, fontWeight: 'bold', color: 'rgba(242,247,248,0.30)', lineHeight: 1 }}&gt;03&lt;/Text&gt;&#10;        &lt;Box style={{ width: 752 }}&gt;&#10;            &lt;Text style={{ fontFamily: 'Microsoft YaHei', fontSize: 17, fontWeight: 'bold', color: '#F2F7F8' }}&gt;可复现交付&lt;/Text&gt;&#10;            &lt;Text style={{ marginTop: 6, fontFamily: 'Microsoft YaHei', fontSize: 11.5, color: 'rgba(242,247,248,0.56)', lineHeight: 1.7 }}&gt;纯前端、无后端；配置指纹让过期结果失效；场景压缩进链接，接收方本地重算，同输入同结果。&lt;/Text&gt;&#10;        &lt;/Box&gt;&#10;    &lt;/Box&gt;&#10;&#10;    &lt;Box style={{ position: 'absolute', left: 986, top: 150, width: 238 }}&gt;&#10;        &lt;Text style={{ fontFamily: 'Consolas', fontSize: 9.5, color: '#6BC8D1', letterSpacing: 1.2 }}&gt;APPLICATION&lt;/Text&gt;&#10;        &lt;Box style={{ marginTop: 16, paddingBottom: 12, borderBottom: '1px solid rgba(242,247,248,0.10)' }}&gt;&#10;            &lt;Text style={{ fontFamily: 'Microsoft YaHei', fontSize: 13, fontWeight: 'bold', color: '#F2F7F8' }}&gt;高校课堂&lt;/Text&gt;&#10;            &lt;Text style={{ marginTop: 3, fontFamily: 'Microsoft YaHei', fontSize: 10.5, color: 'rgba(242,247,248,0.46)' }}&gt;网络与安全课程实验&lt;/Text&gt;&#10;        &lt;/Box&gt;&#10;        &lt;Box style={{ marginTop: 12, paddingBottom: 12, borderBottom: '1px solid rgba(242,247,248,0.10)' }}&gt;&#10;            &lt;Text style={{ fontFamily: 'Microsoft YaHei', fontSize: 13, fontWeight: 'bold', color: '#F2F7F8' }}&gt;企业培训&lt;/Text&gt;&#10;            &lt;Text style={{ marginTop: 3, fontFamily: 'Microsoft YaHei', fontSize: 10.5, color: 'rgba(242,247,248,0.46)' }}&gt;策略变更前的沙盘演练&lt;/Text&gt;&#10;        &lt;/Box&gt;&#10;        &lt;Box style={{ marginTop: 12 }}&gt;&#10;            &lt;Text style={{ fontFamily: 'Microsoft YaHei', fontSize: 13, fontWeight: 'bold', color: '#F2F7F8' }}&gt;竞赛实训&lt;/Text&gt;&#10;            &lt;Text style={{ marginTop: 3, fontFamily: 'Microsoft YaHei', fontSize: 10.5, color: 'rgba(242,247,248,0.46)' }}&gt;可解释的攻防推演&lt;/Text&gt;&#10;        &lt;/Box&gt;&#10;        &lt;Box style={{ marginTop: 28, paddingTop: 14, borderTop: '1px solid rgba(107,200,209,0.22)' }}&gt;&#10;            &lt;Text style={{ fontFamily: 'Microsoft YaHei', fontSize: 18, fontWeight: 'bold', color: '#6BC8D1', lineHeight: 1.6 }}&gt;把“讲策略”&lt;br /&gt;变成“做验证”。&lt;/Text&gt;&#10;        &lt;/Box&gt;&#10;    &lt;/Box&gt;&#10;&#10;    &lt;Box style={{ position: 'absolute', left: 56, top: 580, width: 880, flexDirection: 'row', alignItems: 'center', gap: 10 }}&gt;&#10;        &lt;Box style={{ width: 20, height: 1, background: '#6BC8D1' }} /&gt;&#10;        &lt;Text style={{ fontFamily: 'Microsoft YaHei', fontSize: 11.5, color: 'rgba(242,247,248,0.46)' }}&gt;从课堂到实训，同一套可验证的沙盘；下一步将扩展更多行业场景与协作式实验。&lt;/Text&gt;&#10;    &lt;/Box&gt;&#10;&#10;    &lt;Box style={{ position: 'absolute', left: 56, top: 664, width: 1168, height: 1, background: 'rgba(242,247,248,0.10)' }} /&gt;&#10;    &lt;Text style={{ position: 'absolute', left: 56, top: 678, fontFamily: 'Consolas', fontSize: 10.5, color: 'rgba(242,247,248,0.40)', letterSpacing: 0.8 }}&gt;智御网络 · 三维网络安全策略交互验证平台&lt;/Text&gt;&#10;    &lt;Text style={{ position: 'absolute', right: 56, top: 678, fontFamily: 'Consolas', fontSize: 10.5, color: 'rgba(242,247,248,0.40)' }}&gt;21 / 22&lt;/Text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1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07111B"/>
          </a:solidFill>
          <a:ln/>
        </p:spPr>
        <p:txBody>
          <a:bodyPr/>
          <a:p/>
        </p:txBody>
      </p:sp>
      <p:pic>
        <p:nvPicPr>
          <p:cNvPr id="632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1"/>
              </a:ext>
            </a:extLst>
          </a:blip>
          <a:stretch>
            <a:fillRect/>
          </a:stretch>
        </p:blipFill>
        <p:spPr>
          <a:xfrm rot="0" flipH="0" flipV="0">
            <a:off x="0" y="0"/>
            <a:ext cx="12192000" cy="6858000"/>
          </a:xfrm>
          <a:prstGeom prst="rect">
            <a:avLst/>
          </a:prstGeom>
          <a:ln/>
        </p:spPr>
      </p:pic>
      <p:sp>
        <p:nvSpPr>
          <p:cNvPr id="633" name="" descr="{&quot;isTemplate&quot;:true,&quot;type&quot;:&quot;text&quot;}"/>
          <p:cNvSpPr txBox="1"/>
          <p:nvPr/>
        </p:nvSpPr>
        <p:spPr>
          <a:xfrm rot="0" flipH="0" flipV="0">
            <a:off x="533400" y="361950"/>
            <a:ext cx="1276350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825" spc="135">
                <a:solidFill>
                  <a:srgbClr val="6BC8D1"/>
                </a:solidFill>
                <a:latin typeface="Consolas"/>
                <a:ea typeface="Consolas"/>
              </a:rPr>
              <a:t>05 / </a:t>
            </a:r>
            <a:r>
              <a:rPr lang="zh-CN" sz="825" spc="135">
                <a:solidFill>
                  <a:srgbClr val="6BC8D1"/>
                </a:solidFill>
                <a:latin typeface="Consolas"/>
                <a:ea typeface="Consolas"/>
              </a:rPr>
              <a:t>价值与展望</a:t>
            </a:r>
            <a:endParaRPr/>
          </a:p>
        </p:txBody>
      </p:sp>
      <p:sp>
        <p:nvSpPr>
          <p:cNvPr id="634" name="" descr="{&quot;isTemplate&quot;:true,&quot;type&quot;:&quot;text&quot;}"/>
          <p:cNvSpPr txBox="1"/>
          <p:nvPr/>
        </p:nvSpPr>
        <p:spPr>
          <a:xfrm rot="0" flipH="0" flipV="0">
            <a:off x="533400" y="590550"/>
            <a:ext cx="4953000" cy="3714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400" b="1" spc="38">
                <a:solidFill>
                  <a:srgbClr val="F2F7F8"/>
                </a:solidFill>
                <a:latin typeface="Microsoft YaHei"/>
                <a:ea typeface="Microsoft YaHei"/>
              </a:rPr>
              <a:t>三个创新点，最终都指向“可验证”</a:t>
            </a:r>
            <a:endParaRPr/>
          </a:p>
        </p:txBody>
      </p:sp>
      <p:sp>
        <p:nvSpPr>
          <p:cNvPr id="635" name="" descr="{&quot;isTemplate&quot;:true,&quot;type&quot;:&quot;text&quot;}"/>
          <p:cNvSpPr txBox="1"/>
          <p:nvPr/>
        </p:nvSpPr>
        <p:spPr>
          <a:xfrm rot="0" flipH="0" flipV="0">
            <a:off x="10220325" y="723900"/>
            <a:ext cx="1438275" cy="1238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788">
                <a:solidFill>
                  <a:srgbClr val="F2F7F8">
                    <a:alpha val="42000"/>
                  </a:srgbClr>
                </a:solidFill>
                <a:latin typeface="Consolas"/>
                <a:ea typeface="Consolas"/>
              </a:rPr>
              <a:t>FROM MECHANISM TO DELIVERY</a:t>
            </a:r>
            <a:endParaRPr/>
          </a:p>
        </p:txBody>
      </p:sp>
      <p:sp>
        <p:nvSpPr>
          <p:cNvPr id="636" name=""/>
          <p:cNvSpPr/>
          <p:nvPr/>
        </p:nvSpPr>
        <p:spPr>
          <a:xfrm rot="0" flipH="0" flipV="0">
            <a:off x="552450" y="1428750"/>
            <a:ext cx="8362950" cy="1123950"/>
          </a:xfrm>
          <a:prstGeom prst="rect">
            <a:avLst/>
          </a:prstGeom>
          <a:gradFill>
            <a:gsLst>
              <a:gs pos="0">
                <a:srgbClr val="6BC8D1">
                  <a:alpha val="10000"/>
                </a:srgbClr>
              </a:gs>
              <a:gs pos="100000">
                <a:srgbClr val="F2F7F8">
                  <a:alpha val="2000"/>
                </a:srgbClr>
              </a:gs>
            </a:gsLst>
            <a:lin ang="0" scaled="1"/>
          </a:gradFill>
          <a:ln/>
        </p:spPr>
        <p:txBody>
          <a:bodyPr/>
          <a:p/>
        </p:txBody>
      </p:sp>
      <p:sp>
        <p:nvSpPr>
          <p:cNvPr id="637" name=""/>
          <p:cNvSpPr/>
          <p:nvPr/>
        </p:nvSpPr>
        <p:spPr>
          <a:xfrm rot="0" flipH="0" flipV="0">
            <a:off x="533400" y="1428750"/>
            <a:ext cx="8382000" cy="1123950"/>
          </a:xfrm>
          <a:custGeom>
            <a:pathLst>
              <a:path w="880" h="118">
                <a:moveTo>
                  <a:pt x="0" y="0"/>
                </a:moveTo>
                <a:lnTo>
                  <a:pt x="2" y="0"/>
                </a:lnTo>
                <a:lnTo>
                  <a:pt x="2" y="118"/>
                </a:lnTo>
                <a:lnTo>
                  <a:pt x="0" y="118"/>
                </a:lnTo>
                <a:close/>
              </a:path>
            </a:pathLst>
          </a:custGeom>
          <a:solidFill>
            <a:srgbClr val="6BC8D1"/>
          </a:solidFill>
          <a:ln/>
        </p:spPr>
        <p:txBody>
          <a:bodyPr/>
          <a:p/>
        </p:txBody>
      </p:sp>
      <p:sp>
        <p:nvSpPr>
          <p:cNvPr id="638" name="" descr="{&quot;isTemplate&quot;:true,&quot;type&quot;:&quot;text&quot;}"/>
          <p:cNvSpPr txBox="1"/>
          <p:nvPr/>
        </p:nvSpPr>
        <p:spPr>
          <a:xfrm rot="0" flipH="0" flipV="0">
            <a:off x="742950" y="1762125"/>
            <a:ext cx="838200" cy="4572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3000" b="1">
                <a:solidFill>
                  <a:srgbClr val="6BC8D1">
                    <a:alpha val="80000"/>
                  </a:srgbClr>
                </a:solidFill>
                <a:latin typeface="Consolas"/>
                <a:ea typeface="Consolas"/>
              </a:rPr>
              <a:t>01</a:t>
            </a:r>
            <a:endParaRPr/>
          </a:p>
        </p:txBody>
      </p:sp>
      <p:sp>
        <p:nvSpPr>
          <p:cNvPr id="639" name="" descr="{&quot;isTemplate&quot;:true,&quot;type&quot;:&quot;text&quot;}"/>
          <p:cNvSpPr txBox="1"/>
          <p:nvPr/>
        </p:nvSpPr>
        <p:spPr>
          <a:xfrm rot="0" flipH="0" flipV="0">
            <a:off x="1581150" y="1752600"/>
            <a:ext cx="716280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F2F7F8"/>
                </a:solidFill>
                <a:latin typeface="Microsoft YaHei"/>
                <a:ea typeface="Microsoft YaHei"/>
              </a:rPr>
              <a:t>语义解耦</a:t>
            </a:r>
            <a:endParaRPr/>
          </a:p>
        </p:txBody>
      </p:sp>
      <p:sp>
        <p:nvSpPr>
          <p:cNvPr id="640" name="" descr="{&quot;isTemplate&quot;:true,&quot;type&quot;:&quot;text&quot;}"/>
          <p:cNvSpPr txBox="1"/>
          <p:nvPr/>
        </p:nvSpPr>
        <p:spPr>
          <a:xfrm rot="0" flipH="0" flipV="0">
            <a:off x="1581150" y="2009775"/>
            <a:ext cx="7162800" cy="228600"/>
          </a:xfrm>
          <a:prstGeom prst="rect"/>
        </p:spPr>
        <p:txBody>
          <a:bodyPr wrap="none" lIns="0" tIns="0" rIns="0" bIns="0"/>
          <a:p>
            <a:pPr>
              <a:lnSpc>
                <a:spcPct val="170000"/>
              </a:lnSpc>
            </a:pPr>
            <a:r>
              <a:rPr lang="zh-CN" sz="863">
                <a:solidFill>
                  <a:srgbClr val="F2F7F8">
                    <a:alpha val="56000"/>
                  </a:srgbClr>
                </a:solidFill>
                <a:latin typeface="Microsoft YaHei"/>
                <a:ea typeface="Microsoft YaHei"/>
              </a:rPr>
              <a:t>通信引擎只回答可达性；状态引擎再检查权限、来源、条件与控制。通信可达不等于状态改变。</a:t>
            </a:r>
            <a:endParaRPr/>
          </a:p>
        </p:txBody>
      </p:sp>
      <p:sp>
        <p:nvSpPr>
          <p:cNvPr id="641" name=""/>
          <p:cNvSpPr/>
          <p:nvPr/>
        </p:nvSpPr>
        <p:spPr>
          <a:xfrm rot="0" flipH="0" flipV="0">
            <a:off x="552450" y="2724150"/>
            <a:ext cx="8362950" cy="1123950"/>
          </a:xfrm>
          <a:prstGeom prst="rect">
            <a:avLst/>
          </a:prstGeom>
          <a:gradFill>
            <a:gsLst>
              <a:gs pos="0">
                <a:srgbClr val="F2F7F8">
                  <a:alpha val="4500"/>
                </a:srgbClr>
              </a:gs>
              <a:gs pos="100000">
                <a:srgbClr val="F2F7F8">
                  <a:alpha val="1500"/>
                </a:srgbClr>
              </a:gs>
            </a:gsLst>
            <a:lin ang="0" scaled="1"/>
          </a:gradFill>
          <a:ln/>
        </p:spPr>
        <p:txBody>
          <a:bodyPr/>
          <a:p/>
        </p:txBody>
      </p:sp>
      <p:sp>
        <p:nvSpPr>
          <p:cNvPr id="642" name=""/>
          <p:cNvSpPr/>
          <p:nvPr/>
        </p:nvSpPr>
        <p:spPr>
          <a:xfrm rot="0" flipH="0" flipV="0">
            <a:off x="533400" y="2724150"/>
            <a:ext cx="8382000" cy="1123950"/>
          </a:xfrm>
          <a:custGeom>
            <a:pathLst>
              <a:path w="880" h="118">
                <a:moveTo>
                  <a:pt x="0" y="0"/>
                </a:moveTo>
                <a:lnTo>
                  <a:pt x="2" y="0"/>
                </a:lnTo>
                <a:lnTo>
                  <a:pt x="2" y="118"/>
                </a:lnTo>
                <a:lnTo>
                  <a:pt x="0" y="118"/>
                </a:lnTo>
                <a:close/>
              </a:path>
            </a:pathLst>
          </a:custGeom>
          <a:solidFill>
            <a:srgbClr val="6BC8D1">
              <a:alpha val="40000"/>
            </a:srgbClr>
          </a:solidFill>
          <a:ln/>
        </p:spPr>
        <p:txBody>
          <a:bodyPr/>
          <a:p/>
        </p:txBody>
      </p:sp>
      <p:sp>
        <p:nvSpPr>
          <p:cNvPr id="643" name="" descr="{&quot;isTemplate&quot;:true,&quot;type&quot;:&quot;text&quot;}"/>
          <p:cNvSpPr txBox="1"/>
          <p:nvPr/>
        </p:nvSpPr>
        <p:spPr>
          <a:xfrm rot="0" flipH="0" flipV="0">
            <a:off x="742950" y="3057525"/>
            <a:ext cx="838200" cy="4572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3000" b="1">
                <a:solidFill>
                  <a:srgbClr val="F2F7F8">
                    <a:alpha val="30000"/>
                  </a:srgbClr>
                </a:solidFill>
                <a:latin typeface="Consolas"/>
                <a:ea typeface="Consolas"/>
              </a:rPr>
              <a:t>02</a:t>
            </a:r>
            <a:endParaRPr/>
          </a:p>
        </p:txBody>
      </p:sp>
      <p:sp>
        <p:nvSpPr>
          <p:cNvPr id="644" name="" descr="{&quot;isTemplate&quot;:true,&quot;type&quot;:&quot;text&quot;}"/>
          <p:cNvSpPr txBox="1"/>
          <p:nvPr/>
        </p:nvSpPr>
        <p:spPr>
          <a:xfrm rot="0" flipH="0" flipV="0">
            <a:off x="1581150" y="3048000"/>
            <a:ext cx="716280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F2F7F8"/>
                </a:solidFill>
                <a:latin typeface="Microsoft YaHei"/>
                <a:ea typeface="Microsoft YaHei"/>
              </a:rPr>
              <a:t>可解释搜索</a:t>
            </a:r>
            <a:endParaRPr/>
          </a:p>
        </p:txBody>
      </p:sp>
      <p:sp>
        <p:nvSpPr>
          <p:cNvPr id="645" name="" descr="{&quot;isTemplate&quot;:true,&quot;type&quot;:&quot;text&quot;}"/>
          <p:cNvSpPr txBox="1"/>
          <p:nvPr/>
        </p:nvSpPr>
        <p:spPr>
          <a:xfrm rot="0" flipH="0" flipV="0">
            <a:off x="1581150" y="3305175"/>
            <a:ext cx="7162800" cy="228600"/>
          </a:xfrm>
          <a:prstGeom prst="rect"/>
        </p:spPr>
        <p:txBody>
          <a:bodyPr wrap="none" lIns="0" tIns="0" rIns="0" bIns="0"/>
          <a:p>
            <a:pPr>
              <a:lnSpc>
                <a:spcPct val="170000"/>
              </a:lnSpc>
            </a:pPr>
            <a:r>
              <a:rPr lang="zh-CN" sz="863">
                <a:solidFill>
                  <a:srgbClr val="F2F7F8">
                    <a:alpha val="56000"/>
                  </a:srgbClr>
                </a:solidFill>
                <a:latin typeface="Microsoft YaHei"/>
                <a:ea typeface="Microsoft YaHei"/>
              </a:rPr>
              <a:t>每条链有见证，每个失败有原因；</a:t>
            </a:r>
            <a:r>
              <a:rPr lang="en-US" sz="863">
                <a:solidFill>
                  <a:srgbClr val="F2F7F8">
                    <a:alpha val="56000"/>
                  </a:srgbClr>
                </a:solidFill>
                <a:latin typeface="Microsoft YaHei"/>
                <a:ea typeface="Microsoft YaHei"/>
              </a:rPr>
              <a:t>SUCCESS / BLOCKED / N.A. </a:t>
            </a:r>
            <a:r>
              <a:rPr lang="zh-CN" sz="863">
                <a:solidFill>
                  <a:srgbClr val="F2F7F8">
                    <a:alpha val="56000"/>
                  </a:srgbClr>
                </a:solidFill>
                <a:latin typeface="Microsoft YaHei"/>
                <a:ea typeface="Microsoft YaHei"/>
              </a:rPr>
              <a:t>三态，深度</a:t>
            </a:r>
            <a:r>
              <a:rPr lang="en-US" sz="863">
                <a:solidFill>
                  <a:srgbClr val="F2F7F8">
                    <a:alpha val="56000"/>
                  </a:srgbClr>
                </a:solidFill>
                <a:latin typeface="Microsoft YaHei"/>
                <a:ea typeface="Microsoft YaHei"/>
              </a:rPr>
              <a:t> 8 / 160 </a:t>
            </a:r>
            <a:r>
              <a:rPr lang="zh-CN" sz="863">
                <a:solidFill>
                  <a:srgbClr val="F2F7F8">
                    <a:alpha val="56000"/>
                  </a:srgbClr>
                </a:solidFill>
                <a:latin typeface="Microsoft YaHei"/>
                <a:ea typeface="Microsoft YaHei"/>
              </a:rPr>
              <a:t>状态都有边界。</a:t>
            </a:r>
            <a:endParaRPr/>
          </a:p>
        </p:txBody>
      </p:sp>
      <p:sp>
        <p:nvSpPr>
          <p:cNvPr id="646" name=""/>
          <p:cNvSpPr/>
          <p:nvPr/>
        </p:nvSpPr>
        <p:spPr>
          <a:xfrm rot="0" flipH="0" flipV="0">
            <a:off x="552450" y="4019550"/>
            <a:ext cx="8362950" cy="1123950"/>
          </a:xfrm>
          <a:prstGeom prst="rect">
            <a:avLst/>
          </a:prstGeom>
          <a:gradFill>
            <a:gsLst>
              <a:gs pos="0">
                <a:srgbClr val="F2F7F8">
                  <a:alpha val="4500"/>
                </a:srgbClr>
              </a:gs>
              <a:gs pos="100000">
                <a:srgbClr val="F2F7F8">
                  <a:alpha val="1500"/>
                </a:srgbClr>
              </a:gs>
            </a:gsLst>
            <a:lin ang="0" scaled="1"/>
          </a:gradFill>
          <a:ln/>
        </p:spPr>
        <p:txBody>
          <a:bodyPr/>
          <a:p/>
        </p:txBody>
      </p:sp>
      <p:sp>
        <p:nvSpPr>
          <p:cNvPr id="647" name=""/>
          <p:cNvSpPr/>
          <p:nvPr/>
        </p:nvSpPr>
        <p:spPr>
          <a:xfrm rot="0" flipH="0" flipV="0">
            <a:off x="533400" y="4019550"/>
            <a:ext cx="8382000" cy="1123950"/>
          </a:xfrm>
          <a:custGeom>
            <a:pathLst>
              <a:path w="880" h="118">
                <a:moveTo>
                  <a:pt x="0" y="0"/>
                </a:moveTo>
                <a:lnTo>
                  <a:pt x="2" y="0"/>
                </a:lnTo>
                <a:lnTo>
                  <a:pt x="2" y="118"/>
                </a:lnTo>
                <a:lnTo>
                  <a:pt x="0" y="118"/>
                </a:lnTo>
                <a:close/>
              </a:path>
            </a:pathLst>
          </a:custGeom>
          <a:solidFill>
            <a:srgbClr val="6BC8D1">
              <a:alpha val="40000"/>
            </a:srgbClr>
          </a:solidFill>
          <a:ln/>
        </p:spPr>
        <p:txBody>
          <a:bodyPr/>
          <a:p/>
        </p:txBody>
      </p:sp>
      <p:sp>
        <p:nvSpPr>
          <p:cNvPr id="648" name="" descr="{&quot;isTemplate&quot;:true,&quot;type&quot;:&quot;text&quot;}"/>
          <p:cNvSpPr txBox="1"/>
          <p:nvPr/>
        </p:nvSpPr>
        <p:spPr>
          <a:xfrm rot="0" flipH="0" flipV="0">
            <a:off x="742950" y="4352925"/>
            <a:ext cx="838200" cy="4572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3000" b="1">
                <a:solidFill>
                  <a:srgbClr val="F2F7F8">
                    <a:alpha val="30000"/>
                  </a:srgbClr>
                </a:solidFill>
                <a:latin typeface="Consolas"/>
                <a:ea typeface="Consolas"/>
              </a:rPr>
              <a:t>03</a:t>
            </a:r>
            <a:endParaRPr/>
          </a:p>
        </p:txBody>
      </p:sp>
      <p:sp>
        <p:nvSpPr>
          <p:cNvPr id="649" name="" descr="{&quot;isTemplate&quot;:true,&quot;type&quot;:&quot;text&quot;}"/>
          <p:cNvSpPr txBox="1"/>
          <p:nvPr/>
        </p:nvSpPr>
        <p:spPr>
          <a:xfrm rot="0" flipH="0" flipV="0">
            <a:off x="1581150" y="4343400"/>
            <a:ext cx="716280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F2F7F8"/>
                </a:solidFill>
                <a:latin typeface="Microsoft YaHei"/>
                <a:ea typeface="Microsoft YaHei"/>
              </a:rPr>
              <a:t>可复现交付</a:t>
            </a:r>
            <a:endParaRPr/>
          </a:p>
        </p:txBody>
      </p:sp>
      <p:sp>
        <p:nvSpPr>
          <p:cNvPr id="650" name="" descr="{&quot;isTemplate&quot;:true,&quot;type&quot;:&quot;text&quot;}"/>
          <p:cNvSpPr txBox="1"/>
          <p:nvPr/>
        </p:nvSpPr>
        <p:spPr>
          <a:xfrm rot="0" flipH="0" flipV="0">
            <a:off x="1581150" y="4600575"/>
            <a:ext cx="7162800" cy="228600"/>
          </a:xfrm>
          <a:prstGeom prst="rect"/>
        </p:spPr>
        <p:txBody>
          <a:bodyPr wrap="none" lIns="0" tIns="0" rIns="0" bIns="0"/>
          <a:p>
            <a:pPr>
              <a:lnSpc>
                <a:spcPct val="170000"/>
              </a:lnSpc>
            </a:pPr>
            <a:r>
              <a:rPr lang="zh-CN" sz="863">
                <a:solidFill>
                  <a:srgbClr val="F2F7F8">
                    <a:alpha val="56000"/>
                  </a:srgbClr>
                </a:solidFill>
                <a:latin typeface="Microsoft YaHei"/>
                <a:ea typeface="Microsoft YaHei"/>
              </a:rPr>
              <a:t>纯前端、无后端；配置指纹让过期结果失效；场景压缩进链接，接收方本地重算，同输入同结果。</a:t>
            </a:r>
            <a:endParaRPr/>
          </a:p>
        </p:txBody>
      </p:sp>
      <p:sp>
        <p:nvSpPr>
          <p:cNvPr id="651" name="" descr="{&quot;isTemplate&quot;:true,&quot;type&quot;:&quot;text&quot;}"/>
          <p:cNvSpPr txBox="1"/>
          <p:nvPr/>
        </p:nvSpPr>
        <p:spPr>
          <a:xfrm rot="0" flipH="0" flipV="0">
            <a:off x="9391650" y="1428750"/>
            <a:ext cx="2266950" cy="1143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713" spc="90">
                <a:solidFill>
                  <a:srgbClr val="6BC8D1"/>
                </a:solidFill>
                <a:latin typeface="Consolas"/>
                <a:ea typeface="Consolas"/>
              </a:rPr>
              <a:t>APPLICATION</a:t>
            </a:r>
            <a:endParaRPr/>
          </a:p>
        </p:txBody>
      </p:sp>
      <p:sp>
        <p:nvSpPr>
          <p:cNvPr id="652" name=""/>
          <p:cNvSpPr/>
          <p:nvPr/>
        </p:nvSpPr>
        <p:spPr>
          <a:xfrm rot="0" flipH="0" flipV="0">
            <a:off x="9391650" y="1695450"/>
            <a:ext cx="2266950" cy="438150"/>
          </a:xfrm>
          <a:custGeom>
            <a:pathLst>
              <a:path w="238" h="46">
                <a:moveTo>
                  <a:pt x="0" y="45"/>
                </a:moveTo>
                <a:lnTo>
                  <a:pt x="238" y="45"/>
                </a:lnTo>
                <a:lnTo>
                  <a:pt x="238" y="46"/>
                </a:lnTo>
                <a:lnTo>
                  <a:pt x="0" y="46"/>
                </a:lnTo>
                <a:close/>
              </a:path>
            </a:pathLst>
          </a:custGeom>
          <a:solidFill>
            <a:srgbClr val="F2F7F8">
              <a:alpha val="10000"/>
            </a:srgbClr>
          </a:solidFill>
          <a:ln/>
        </p:spPr>
        <p:txBody>
          <a:bodyPr/>
          <a:p/>
        </p:txBody>
      </p:sp>
      <p:sp>
        <p:nvSpPr>
          <p:cNvPr id="653" name="" descr="{&quot;isTemplate&quot;:true,&quot;type&quot;:&quot;text&quot;}"/>
          <p:cNvSpPr txBox="1"/>
          <p:nvPr/>
        </p:nvSpPr>
        <p:spPr>
          <a:xfrm rot="0" flipH="0" flipV="0">
            <a:off x="9391650" y="1695450"/>
            <a:ext cx="226695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 b="1">
                <a:solidFill>
                  <a:srgbClr val="F2F7F8"/>
                </a:solidFill>
                <a:latin typeface="Microsoft YaHei"/>
                <a:ea typeface="Microsoft YaHei"/>
              </a:rPr>
              <a:t>高校课堂</a:t>
            </a:r>
            <a:endParaRPr/>
          </a:p>
        </p:txBody>
      </p:sp>
      <p:sp>
        <p:nvSpPr>
          <p:cNvPr id="654" name="" descr="{&quot;isTemplate&quot;:true,&quot;type&quot;:&quot;text&quot;}"/>
          <p:cNvSpPr txBox="1"/>
          <p:nvPr/>
        </p:nvSpPr>
        <p:spPr>
          <a:xfrm rot="0" flipH="0" flipV="0">
            <a:off x="9391650" y="1876425"/>
            <a:ext cx="2266950" cy="1238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788">
                <a:solidFill>
                  <a:srgbClr val="F2F7F8">
                    <a:alpha val="46000"/>
                  </a:srgbClr>
                </a:solidFill>
                <a:latin typeface="Microsoft YaHei"/>
                <a:ea typeface="Microsoft YaHei"/>
              </a:rPr>
              <a:t>网络与安全课程实验</a:t>
            </a:r>
            <a:endParaRPr/>
          </a:p>
        </p:txBody>
      </p:sp>
      <p:sp>
        <p:nvSpPr>
          <p:cNvPr id="655" name=""/>
          <p:cNvSpPr/>
          <p:nvPr/>
        </p:nvSpPr>
        <p:spPr>
          <a:xfrm rot="0" flipH="0" flipV="0">
            <a:off x="9391650" y="2238375"/>
            <a:ext cx="2266950" cy="438150"/>
          </a:xfrm>
          <a:custGeom>
            <a:pathLst>
              <a:path w="238" h="46">
                <a:moveTo>
                  <a:pt x="0" y="45"/>
                </a:moveTo>
                <a:lnTo>
                  <a:pt x="238" y="45"/>
                </a:lnTo>
                <a:lnTo>
                  <a:pt x="238" y="46"/>
                </a:lnTo>
                <a:lnTo>
                  <a:pt x="0" y="46"/>
                </a:lnTo>
                <a:close/>
              </a:path>
            </a:pathLst>
          </a:custGeom>
          <a:solidFill>
            <a:srgbClr val="F2F7F8">
              <a:alpha val="10000"/>
            </a:srgbClr>
          </a:solidFill>
          <a:ln/>
        </p:spPr>
        <p:txBody>
          <a:bodyPr/>
          <a:p/>
        </p:txBody>
      </p:sp>
      <p:sp>
        <p:nvSpPr>
          <p:cNvPr id="656" name="" descr="{&quot;isTemplate&quot;:true,&quot;type&quot;:&quot;text&quot;}"/>
          <p:cNvSpPr txBox="1"/>
          <p:nvPr/>
        </p:nvSpPr>
        <p:spPr>
          <a:xfrm rot="0" flipH="0" flipV="0">
            <a:off x="9391650" y="2238375"/>
            <a:ext cx="226695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 b="1">
                <a:solidFill>
                  <a:srgbClr val="F2F7F8"/>
                </a:solidFill>
                <a:latin typeface="Microsoft YaHei"/>
                <a:ea typeface="Microsoft YaHei"/>
              </a:rPr>
              <a:t>企业培训</a:t>
            </a:r>
            <a:endParaRPr/>
          </a:p>
        </p:txBody>
      </p:sp>
      <p:sp>
        <p:nvSpPr>
          <p:cNvPr id="657" name="" descr="{&quot;isTemplate&quot;:true,&quot;type&quot;:&quot;text&quot;}"/>
          <p:cNvSpPr txBox="1"/>
          <p:nvPr/>
        </p:nvSpPr>
        <p:spPr>
          <a:xfrm rot="0" flipH="0" flipV="0">
            <a:off x="9391650" y="2419350"/>
            <a:ext cx="2266950" cy="1238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788">
                <a:solidFill>
                  <a:srgbClr val="F2F7F8">
                    <a:alpha val="46000"/>
                  </a:srgbClr>
                </a:solidFill>
                <a:latin typeface="Microsoft YaHei"/>
                <a:ea typeface="Microsoft YaHei"/>
              </a:rPr>
              <a:t>策略变更前的沙盘演练</a:t>
            </a:r>
            <a:endParaRPr/>
          </a:p>
        </p:txBody>
      </p:sp>
      <p:sp>
        <p:nvSpPr>
          <p:cNvPr id="658" name="" descr="{&quot;isTemplate&quot;:true,&quot;type&quot;:&quot;text&quot;}"/>
          <p:cNvSpPr txBox="1"/>
          <p:nvPr/>
        </p:nvSpPr>
        <p:spPr>
          <a:xfrm rot="0" flipH="0" flipV="0">
            <a:off x="9391650" y="2781300"/>
            <a:ext cx="226695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 b="1">
                <a:solidFill>
                  <a:srgbClr val="F2F7F8"/>
                </a:solidFill>
                <a:latin typeface="Microsoft YaHei"/>
                <a:ea typeface="Microsoft YaHei"/>
              </a:rPr>
              <a:t>竞赛实训</a:t>
            </a:r>
            <a:endParaRPr/>
          </a:p>
        </p:txBody>
      </p:sp>
      <p:sp>
        <p:nvSpPr>
          <p:cNvPr id="659" name="" descr="{&quot;isTemplate&quot;:true,&quot;type&quot;:&quot;text&quot;}"/>
          <p:cNvSpPr txBox="1"/>
          <p:nvPr/>
        </p:nvSpPr>
        <p:spPr>
          <a:xfrm rot="0" flipH="0" flipV="0">
            <a:off x="9391650" y="2962275"/>
            <a:ext cx="2266950" cy="1238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788">
                <a:solidFill>
                  <a:srgbClr val="F2F7F8">
                    <a:alpha val="46000"/>
                  </a:srgbClr>
                </a:solidFill>
                <a:latin typeface="Microsoft YaHei"/>
                <a:ea typeface="Microsoft YaHei"/>
              </a:rPr>
              <a:t>可解释的攻防推演</a:t>
            </a:r>
            <a:endParaRPr/>
          </a:p>
        </p:txBody>
      </p:sp>
      <p:sp>
        <p:nvSpPr>
          <p:cNvPr id="660" name=""/>
          <p:cNvSpPr/>
          <p:nvPr/>
        </p:nvSpPr>
        <p:spPr>
          <a:xfrm rot="0" flipH="0" flipV="0">
            <a:off x="9391650" y="3352800"/>
            <a:ext cx="2266950" cy="819150"/>
          </a:xfrm>
          <a:custGeom>
            <a:pathLst>
              <a:path w="238" h="86">
                <a:moveTo>
                  <a:pt x="0" y="0"/>
                </a:moveTo>
                <a:lnTo>
                  <a:pt x="238" y="0"/>
                </a:lnTo>
                <a:lnTo>
                  <a:pt x="238" y="1"/>
                </a:lnTo>
                <a:lnTo>
                  <a:pt x="0" y="1"/>
                </a:lnTo>
                <a:close/>
              </a:path>
            </a:pathLst>
          </a:custGeom>
          <a:solidFill>
            <a:srgbClr val="6BC8D1">
              <a:alpha val="22000"/>
            </a:srgbClr>
          </a:solidFill>
          <a:ln/>
        </p:spPr>
        <p:txBody>
          <a:bodyPr/>
          <a:p/>
        </p:txBody>
      </p:sp>
      <p:sp>
        <p:nvSpPr>
          <p:cNvPr id="661" name="" descr="{&quot;isTemplate&quot;:true,&quot;type&quot;:&quot;text&quot;}"/>
          <p:cNvSpPr txBox="1"/>
          <p:nvPr/>
        </p:nvSpPr>
        <p:spPr>
          <a:xfrm rot="0" flipH="0" flipV="0">
            <a:off x="9391650" y="3495675"/>
            <a:ext cx="2266950" cy="666750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1350" b="1">
                <a:solidFill>
                  <a:srgbClr val="6BC8D1"/>
                </a:solidFill>
                <a:latin typeface="Microsoft YaHei"/>
                <a:ea typeface="Microsoft YaHei"/>
              </a:rPr>
              <a:t>把“讲策略”</a:t>
            </a:r>
            <a:endParaRPr/>
          </a:p>
          <a:p>
            <a:pPr>
              <a:lnSpc>
                <a:spcPct val="160000"/>
              </a:lnSpc>
            </a:pPr>
            <a:r>
              <a:rPr lang="zh-CN" sz="1350" b="1">
                <a:solidFill>
                  <a:srgbClr val="6BC8D1"/>
                </a:solidFill>
                <a:latin typeface="Microsoft YaHei"/>
                <a:ea typeface="Microsoft YaHei"/>
              </a:rPr>
              <a:t>变成“做验证”。</a:t>
            </a:r>
            <a:endParaRPr/>
          </a:p>
        </p:txBody>
      </p:sp>
      <p:sp>
        <p:nvSpPr>
          <p:cNvPr id="662" name=""/>
          <p:cNvSpPr/>
          <p:nvPr/>
        </p:nvSpPr>
        <p:spPr>
          <a:xfrm rot="0" flipH="0" flipV="0">
            <a:off x="533400" y="5591175"/>
            <a:ext cx="190500" cy="9525"/>
          </a:xfrm>
          <a:prstGeom prst="rect">
            <a:avLst/>
          </a:prstGeom>
          <a:solidFill>
            <a:srgbClr val="6BC8D1"/>
          </a:solidFill>
          <a:ln/>
        </p:spPr>
        <p:txBody>
          <a:bodyPr/>
          <a:p/>
        </p:txBody>
      </p:sp>
      <p:sp>
        <p:nvSpPr>
          <p:cNvPr id="663" name="" descr="{&quot;isTemplate&quot;:true,&quot;type&quot;:&quot;text&quot;}"/>
          <p:cNvSpPr txBox="1"/>
          <p:nvPr/>
        </p:nvSpPr>
        <p:spPr>
          <a:xfrm rot="0" flipH="0" flipV="0">
            <a:off x="819150" y="5524500"/>
            <a:ext cx="3943350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863">
                <a:solidFill>
                  <a:srgbClr val="F2F7F8">
                    <a:alpha val="46000"/>
                  </a:srgbClr>
                </a:solidFill>
                <a:latin typeface="Microsoft YaHei"/>
                <a:ea typeface="Microsoft YaHei"/>
              </a:rPr>
              <a:t>从课堂到实训，同一套可验证的沙盘；下一步将扩展更多行业场景与协作式实验。</a:t>
            </a:r>
            <a:endParaRPr/>
          </a:p>
        </p:txBody>
      </p:sp>
      <p:sp>
        <p:nvSpPr>
          <p:cNvPr id="664" name=""/>
          <p:cNvSpPr/>
          <p:nvPr/>
        </p:nvSpPr>
        <p:spPr>
          <a:xfrm rot="0" flipH="0" flipV="0">
            <a:off x="533400" y="6324600"/>
            <a:ext cx="11125200" cy="9525"/>
          </a:xfrm>
          <a:prstGeom prst="rect">
            <a:avLst/>
          </a:prstGeom>
          <a:solidFill>
            <a:srgbClr val="F2F7F8">
              <a:alpha val="10000"/>
            </a:srgbClr>
          </a:solidFill>
          <a:ln/>
        </p:spPr>
        <p:txBody>
          <a:bodyPr/>
          <a:p/>
        </p:txBody>
      </p:sp>
      <p:sp>
        <p:nvSpPr>
          <p:cNvPr id="665" name="" descr="{&quot;isTemplate&quot;:true,&quot;type&quot;:&quot;text&quot;}"/>
          <p:cNvSpPr txBox="1"/>
          <p:nvPr/>
        </p:nvSpPr>
        <p:spPr>
          <a:xfrm rot="0" flipH="0" flipV="0">
            <a:off x="533400" y="6457950"/>
            <a:ext cx="3248025" cy="1238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788" spc="60">
                <a:solidFill>
                  <a:srgbClr val="F2F7F8">
                    <a:alpha val="40000"/>
                  </a:srgbClr>
                </a:solidFill>
                <a:latin typeface="Consolas"/>
                <a:ea typeface="Consolas"/>
              </a:rPr>
              <a:t>智御网络</a:t>
            </a:r>
            <a:r>
              <a:rPr lang="en-US" sz="788" spc="60">
                <a:solidFill>
                  <a:srgbClr val="F2F7F8">
                    <a:alpha val="40000"/>
                  </a:srgbClr>
                </a:solidFill>
                <a:latin typeface="Consolas"/>
                <a:ea typeface="Consolas"/>
              </a:rPr>
              <a:t> · </a:t>
            </a:r>
            <a:r>
              <a:rPr lang="zh-CN" sz="788" spc="60">
                <a:solidFill>
                  <a:srgbClr val="F2F7F8">
                    <a:alpha val="40000"/>
                  </a:srgbClr>
                </a:solidFill>
                <a:latin typeface="Consolas"/>
                <a:ea typeface="Consolas"/>
              </a:rPr>
              <a:t>三维网络安全策略交互验证平台</a:t>
            </a:r>
            <a:endParaRPr/>
          </a:p>
        </p:txBody>
      </p:sp>
      <p:sp>
        <p:nvSpPr>
          <p:cNvPr id="666" name="" descr="{&quot;isTemplate&quot;:true,&quot;type&quot;:&quot;text&quot;}"/>
          <p:cNvSpPr txBox="1"/>
          <p:nvPr/>
        </p:nvSpPr>
        <p:spPr>
          <a:xfrm rot="0" flipH="0" flipV="0">
            <a:off x="11268075" y="6457950"/>
            <a:ext cx="390525" cy="1238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788">
                <a:solidFill>
                  <a:srgbClr val="F2F7F8">
                    <a:alpha val="40000"/>
                  </a:srgbClr>
                </a:solidFill>
                <a:latin typeface="Consolas"/>
                <a:ea typeface="Consolas"/>
              </a:rPr>
              <a:t>21 / 22</a:t>
            </a:r>
            <a:endParaRPr/>
          </a:p>
        </p:txBody>
      </p:sp>
    </p:spTree>
  </p:cSld>
</p:sld>
</file>

<file path=ppt/slides/slide22.xml><?xml version="1.0" encoding="utf-8"?>
<p:sld xmlns:p="http://schemas.openxmlformats.org/presentationml/2006/main" xmlns:r="http://schemas.openxmlformats.org/officeDocument/2006/relationships" xmlns:a="http://schemas.openxmlformats.org/drawingml/2006/main">
  <p:cSld>
    <p:spTree>
      <p:nvGrpSpPr>
        <p:cNvPr id="667" name="" descr="&lt;Slide style={{ width: 1280, height: 720, background: '#07111B', padding: 0, position: 'relative', overflow: 'hidden' }}&gt;&#10;    &lt;Image src=&quot;assets/cover_topology.png&quot; style={{ position: 'absolute', left: 0, top: 0, width: 1280, height: 720, objectFit: 'cover', opacity: 0.38 }} /&gt;&#10;    &lt;Box style={{ position: 'absolute', left: 0, top: 0, width: 1280, height: 720, background: 'linear-gradient(90deg, #07111B 0%, rgba(7,17,27,0.97) 40%, rgba(7,17,27,0.76) 70%, rgba(7,17,27,0.60) 100%)' }} /&gt;&#10;    &lt;Box style={{ position: 'absolute', left: 0, top: 0, width: 1280, height: 720, background: 'linear-gradient(180deg, rgba(7,17,27,0.35) 0%, rgba(7,17,27,0) 35%, rgba(7,17,27,0.55) 100%)' }} /&gt;&#10;    &lt;Box style={{ position: 'absolute', left: 0, top: 0, width: 5, height: 720, background: '#6BC8D1', opacity: 0.6 }} /&gt;&#10;&#10;    &lt;Box style={{ position: 'absolute', left: 92, top: 150, width: 760 }}&gt;&#10;        &lt;Box style={{ flexDirection: 'row', alignItems: 'center', gap: 10 }}&gt;&#10;            &lt;Box style={{ width: 18, height: 1, background: '#6BC8D1' }} /&gt;&#10;            &lt;Text style={{ fontFamily: 'Consolas', fontSize: 10.5, color: '#6BC8D1', letterSpacing: 2 }}&gt;THANK YOU FOR LISTENING&lt;/Text&gt;&#10;        &lt;/Box&gt;&#10;        &lt;Text style={{ marginTop: 34, fontFamily: 'Microsoft YaHei', fontSize: 52, fontWeight: 'bold', color: '#F2F7F8', lineHeight: 1.45, letterSpacing: 1 }}&gt;&#10;            让每一条安全策略，&lt;br /&gt;都能&lt;span style={{ color: '#6BC8D1' }}&gt;被看见&lt;/span&gt;、&lt;span style={{ color: '#6BC8D1' }}&gt;被验证&lt;/span&gt;。&#10;        &lt;/Text&gt;&#10;        &lt;Box style={{ marginTop: 24, width: 52, height: 3, background: '#6BC8D1' }} /&gt;&#10;        &lt;Text style={{ marginTop: 20, fontFamily: 'Microsoft YaHei', fontSize: 17, color: 'rgba(242,247,248,0.66)', letterSpacing: 0.8 }}&gt;智御网络 · 三维网络安全策略交互验证平台&lt;/Text&gt;&#10;        &lt;Box style={{ marginTop: 26, flexDirection: 'row', gap: 10 }}&gt;&#10;            &lt;Box style={{ paddingLeft: 12, paddingRight: 12, paddingTop: 6, paddingBottom: 6, border: '1px solid rgba(107,200,209,0.28)', borderRadius: 4 }}&gt;&#10;                &lt;Text style={{ fontFamily: 'Consolas', fontSize: 9.5, color: '#6BC8D1' }}&gt;可观察&lt;/Text&gt;&#10;            &lt;/Box&gt;&#10;            &lt;Box style={{ paddingLeft: 12, paddingRight: 12, paddingTop: 6, paddingBottom: 6, border: '1px solid rgba(107,200,209,0.28)', borderRadius: 4 }}&gt;&#10;                &lt;Text style={{ fontFamily: 'Consolas', fontSize: 9.5, color: '#6BC8D1' }}&gt;可干预&lt;/Text&gt;&#10;            &lt;/Box&gt;&#10;            &lt;Box style={{ paddingLeft: 12, paddingRight: 12, paddingTop: 6, paddingBottom: 6, border: '1px solid rgba(107,200,209,0.28)', borderRadius: 4 }}&gt;&#10;                &lt;Text style={{ fontFamily: 'Consolas', fontSize: 9.5, color: '#6BC8D1' }}&gt;可解释&lt;/Text&gt;&#10;            &lt;/Box&gt;&#10;            &lt;Box style={{ paddingLeft: 12, paddingRight: 12, paddingTop: 6, paddingBottom: 6, border: '1px solid rgba(107,200,209,0.28)', borderRadius: 4 }}&gt;&#10;                &lt;Text style={{ fontFamily: 'Consolas', fontSize: 9.5, color: '#6BC8D1' }}&gt;可复现&lt;/Text&gt;&#10;            &lt;/Box&gt;&#10;        &lt;/Box&gt;&#10;    &lt;/Box&gt;&#10;&#10;    &lt;Box style={{ position: 'absolute', left: 92, bottom: 62, flexDirection: 'row', alignItems: 'center', gap: 14 }}&gt;&#10;        &lt;Text style={{ fontFamily: 'Microsoft YaHei', fontSize: 12, color: 'rgba(242,247,248,0.50)' }}&gt;谢谢聆听 · 欢迎批评指正&lt;/Text&gt;&#10;        &lt;Box style={{ width: 26, height: 1, background: 'rgba(242,247,248,0.22)' }} /&gt;&#10;        &lt;Text style={{ fontFamily: 'Consolas', fontSize: 9.5, color: 'rgba(242,247,248,0.34)', letterSpacing: 0.8 }}&gt;2026 全国大学生数字媒体科技作品及创意竞赛&lt;/Text&gt;&#10;    &lt;/Box&gt;&#10;&#10;    &lt;Box style={{ position: 'absolute', right: 62, top: 54, flexDirection: 'row', alignItems: 'center', gap: 8 }}&gt;&#10;        &lt;Box style={{ width: 6, height: 6, borderRadius: 3, background: '#6BC8D1' }} /&gt;&#10;        &lt;Text style={{ fontFamily: 'Consolas', fontSize: 9.5, color: 'rgba(242,247,248,0.46)', letterSpacing: 1.4 }}&gt;ZHIYU NETWORK LAB&lt;/Text&gt;&#10;    &lt;/Box&gt;&#10;    &lt;Text style={{ position: 'absolute', right: 56, top: 678, fontFamily: 'Consolas', fontSize: 10.5, color: 'rgba(242,247,248,0.40)' }}&gt;22 / 22&lt;/Text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8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07111B"/>
          </a:solidFill>
          <a:ln/>
        </p:spPr>
        <p:txBody>
          <a:bodyPr/>
          <a:p/>
        </p:txBody>
      </p:sp>
      <p:pic>
        <p:nvPicPr>
          <p:cNvPr id="669" name=""/>
          <p:cNvPicPr>
            <a:picLocks noChangeAspect="1"/>
          </p:cNvPicPr>
          <p:nvPr/>
        </p:nvPicPr>
        <p:blipFill>
          <a:blip r:embed="rId1">
            <a:alphaModFix amt="38000"/>
          </a:blip>
          <a:srcRect l="43" t="0" r="43" b="0"/>
          <a:stretch>
            <a:fillRect/>
          </a:stretch>
        </p:blipFill>
        <p:spPr>
          <a:xfrm rot="0" flipH="0" flipV="0">
            <a:off x="0" y="0"/>
            <a:ext cx="12192000" cy="6858000"/>
          </a:xfrm>
          <a:prstGeom prst="rect">
            <a:avLst/>
          </a:prstGeom>
          <a:ln/>
        </p:spPr>
      </p:pic>
      <p:sp>
        <p:nvSpPr>
          <p:cNvPr id="670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07111B"/>
              </a:gs>
              <a:gs pos="40000">
                <a:srgbClr val="07111B">
                  <a:alpha val="97000"/>
                </a:srgbClr>
              </a:gs>
              <a:gs pos="70000">
                <a:srgbClr val="07111B">
                  <a:alpha val="76000"/>
                </a:srgbClr>
              </a:gs>
              <a:gs pos="100000">
                <a:srgbClr val="07111B">
                  <a:alpha val="60000"/>
                </a:srgbClr>
              </a:gs>
            </a:gsLst>
            <a:lin ang="0" scaled="1"/>
          </a:gradFill>
          <a:ln/>
        </p:spPr>
        <p:txBody>
          <a:bodyPr/>
          <a:p/>
        </p:txBody>
      </p:sp>
      <p:sp>
        <p:nvSpPr>
          <p:cNvPr id="671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07111B">
                  <a:alpha val="35000"/>
                </a:srgbClr>
              </a:gs>
              <a:gs pos="35000">
                <a:srgbClr val="07111B">
                  <a:alpha val="0"/>
                </a:srgbClr>
              </a:gs>
              <a:gs pos="100000">
                <a:srgbClr val="07111B">
                  <a:alpha val="55000"/>
                </a:srgbClr>
              </a:gs>
            </a:gsLst>
            <a:lin ang="5400000" scaled="1"/>
          </a:gradFill>
          <a:ln/>
        </p:spPr>
        <p:txBody>
          <a:bodyPr/>
          <a:p/>
        </p:txBody>
      </p:sp>
      <p:sp>
        <p:nvSpPr>
          <p:cNvPr id="672" name=""/>
          <p:cNvSpPr/>
          <p:nvPr/>
        </p:nvSpPr>
        <p:spPr>
          <a:xfrm rot="0" flipH="0" flipV="0">
            <a:off x="0" y="0"/>
            <a:ext cx="47625" cy="6858000"/>
          </a:xfrm>
          <a:prstGeom prst="rect">
            <a:avLst/>
          </a:prstGeom>
          <a:solidFill>
            <a:srgbClr val="6BC8D1">
              <a:alpha val="60000"/>
            </a:srgbClr>
          </a:solidFill>
          <a:ln/>
        </p:spPr>
        <p:txBody>
          <a:bodyPr/>
          <a:p/>
        </p:txBody>
      </p:sp>
      <p:sp>
        <p:nvSpPr>
          <p:cNvPr id="673" name=""/>
          <p:cNvSpPr/>
          <p:nvPr/>
        </p:nvSpPr>
        <p:spPr>
          <a:xfrm rot="0" flipH="0" flipV="0">
            <a:off x="876300" y="1485900"/>
            <a:ext cx="171450" cy="9525"/>
          </a:xfrm>
          <a:prstGeom prst="rect">
            <a:avLst/>
          </a:prstGeom>
          <a:solidFill>
            <a:srgbClr val="6BC8D1"/>
          </a:solidFill>
          <a:ln/>
        </p:spPr>
        <p:txBody>
          <a:bodyPr/>
          <a:p/>
        </p:txBody>
      </p:sp>
      <p:sp>
        <p:nvSpPr>
          <p:cNvPr id="674" name="" descr="{&quot;isTemplate&quot;:true,&quot;type&quot;:&quot;text&quot;}"/>
          <p:cNvSpPr txBox="1"/>
          <p:nvPr/>
        </p:nvSpPr>
        <p:spPr>
          <a:xfrm rot="0" flipH="0" flipV="0">
            <a:off x="1143000" y="1428750"/>
            <a:ext cx="1704975" cy="1238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788" spc="150">
                <a:solidFill>
                  <a:srgbClr val="6BC8D1"/>
                </a:solidFill>
                <a:latin typeface="Consolas"/>
                <a:ea typeface="Consolas"/>
              </a:rPr>
              <a:t>THANK YOU FOR LISTENING</a:t>
            </a:r>
            <a:endParaRPr/>
          </a:p>
        </p:txBody>
      </p:sp>
      <p:sp>
        <p:nvSpPr>
          <p:cNvPr id="675" name="" descr="{&quot;isTemplate&quot;:true,&quot;type&quot;:&quot;text&quot;}"/>
          <p:cNvSpPr txBox="1"/>
          <p:nvPr/>
        </p:nvSpPr>
        <p:spPr>
          <a:xfrm rot="0" flipH="0" flipV="0">
            <a:off x="876300" y="1876425"/>
            <a:ext cx="7239000" cy="1724025"/>
          </a:xfrm>
          <a:prstGeom prst="rect"/>
        </p:spPr>
        <p:txBody>
          <a:bodyPr wrap="none" lIns="0" tIns="0" rIns="0" bIns="0"/>
          <a:p>
            <a:pPr>
              <a:lnSpc>
                <a:spcPct val="145000"/>
              </a:lnSpc>
            </a:pPr>
            <a:r>
              <a:rPr lang="zh-CN" sz="3900" b="1" spc="75">
                <a:solidFill>
                  <a:srgbClr val="F2F7F8"/>
                </a:solidFill>
                <a:latin typeface="Microsoft YaHei"/>
                <a:ea typeface="Microsoft YaHei"/>
              </a:rPr>
              <a:t>让每一条安全策略，</a:t>
            </a:r>
            <a:endParaRPr/>
          </a:p>
          <a:p>
            <a:pPr>
              <a:lnSpc>
                <a:spcPct val="145000"/>
              </a:lnSpc>
            </a:pPr>
            <a:r>
              <a:rPr lang="zh-CN" sz="3900" b="1" spc="75">
                <a:solidFill>
                  <a:srgbClr val="F2F7F8"/>
                </a:solidFill>
                <a:latin typeface="Microsoft YaHei"/>
                <a:ea typeface="Microsoft YaHei"/>
              </a:rPr>
              <a:t>都能</a:t>
            </a:r>
            <a:r>
              <a:rPr lang="zh-CN" sz="3900" b="1" spc="75">
                <a:solidFill>
                  <a:srgbClr val="6BC8D1"/>
                </a:solidFill>
                <a:latin typeface="Microsoft YaHei"/>
                <a:ea typeface="Microsoft YaHei"/>
              </a:rPr>
              <a:t>被看见</a:t>
            </a:r>
            <a:r>
              <a:rPr lang="zh-CN" sz="3900" b="1" spc="75">
                <a:solidFill>
                  <a:srgbClr val="F2F7F8"/>
                </a:solidFill>
                <a:latin typeface="Microsoft YaHei"/>
                <a:ea typeface="Microsoft YaHei"/>
              </a:rPr>
              <a:t>、</a:t>
            </a:r>
            <a:r>
              <a:rPr lang="zh-CN" sz="3900" b="1" spc="75">
                <a:solidFill>
                  <a:srgbClr val="6BC8D1"/>
                </a:solidFill>
                <a:latin typeface="Microsoft YaHei"/>
                <a:ea typeface="Microsoft YaHei"/>
              </a:rPr>
              <a:t>被验证</a:t>
            </a:r>
            <a:r>
              <a:rPr lang="zh-CN" sz="3900" b="1" spc="75">
                <a:solidFill>
                  <a:srgbClr val="F2F7F8"/>
                </a:solidFill>
                <a:latin typeface="Microsoft YaHei"/>
                <a:ea typeface="Microsoft YaHei"/>
              </a:rPr>
              <a:t>。</a:t>
            </a:r>
            <a:endParaRPr/>
          </a:p>
        </p:txBody>
      </p:sp>
      <p:sp>
        <p:nvSpPr>
          <p:cNvPr id="676" name=""/>
          <p:cNvSpPr/>
          <p:nvPr/>
        </p:nvSpPr>
        <p:spPr>
          <a:xfrm rot="0" flipH="0" flipV="0">
            <a:off x="876300" y="3829050"/>
            <a:ext cx="495300" cy="28575"/>
          </a:xfrm>
          <a:prstGeom prst="rect">
            <a:avLst/>
          </a:prstGeom>
          <a:solidFill>
            <a:srgbClr val="6BC8D1"/>
          </a:solidFill>
          <a:ln/>
        </p:spPr>
        <p:txBody>
          <a:bodyPr/>
          <a:p/>
        </p:txBody>
      </p:sp>
      <p:sp>
        <p:nvSpPr>
          <p:cNvPr id="677" name="" descr="{&quot;isTemplate&quot;:true,&quot;type&quot;:&quot;text&quot;}"/>
          <p:cNvSpPr txBox="1"/>
          <p:nvPr/>
        </p:nvSpPr>
        <p:spPr>
          <a:xfrm rot="0" flipH="0" flipV="0">
            <a:off x="876300" y="4048125"/>
            <a:ext cx="723900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spc="60">
                <a:solidFill>
                  <a:srgbClr val="F2F7F8">
                    <a:alpha val="66000"/>
                  </a:srgbClr>
                </a:solidFill>
                <a:latin typeface="Microsoft YaHei"/>
                <a:ea typeface="Microsoft YaHei"/>
              </a:rPr>
              <a:t>智御网络</a:t>
            </a:r>
            <a:r>
              <a:rPr lang="en-US" sz="1275" spc="60">
                <a:solidFill>
                  <a:srgbClr val="F2F7F8">
                    <a:alpha val="66000"/>
                  </a:srgbClr>
                </a:solidFill>
                <a:latin typeface="Microsoft YaHei"/>
                <a:ea typeface="Microsoft YaHei"/>
              </a:rPr>
              <a:t> · </a:t>
            </a:r>
            <a:r>
              <a:rPr lang="zh-CN" sz="1275" spc="60">
                <a:solidFill>
                  <a:srgbClr val="F2F7F8">
                    <a:alpha val="66000"/>
                  </a:srgbClr>
                </a:solidFill>
                <a:latin typeface="Microsoft YaHei"/>
                <a:ea typeface="Microsoft YaHei"/>
              </a:rPr>
              <a:t>三维网络安全策略交互验证平台</a:t>
            </a:r>
            <a:endParaRPr/>
          </a:p>
        </p:txBody>
      </p:sp>
      <p:sp>
        <p:nvSpPr>
          <p:cNvPr id="678" name=""/>
          <p:cNvSpPr/>
          <p:nvPr/>
        </p:nvSpPr>
        <p:spPr>
          <a:xfrm rot="0" flipH="0" flipV="0">
            <a:off x="876300" y="4495800"/>
            <a:ext cx="714375" cy="228600"/>
          </a:xfrm>
          <a:prstGeom prst="roundRect">
            <a:avLst>
              <a:gd name="adj" fmla="val 16667"/>
            </a:avLst>
          </a:prstGeom>
          <a:ln w="12700">
            <a:solidFill>
              <a:srgbClr val="6BC8D1">
                <a:alpha val="28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679" name="" descr="{&quot;isTemplate&quot;:true,&quot;type&quot;:&quot;text&quot;}"/>
          <p:cNvSpPr txBox="1"/>
          <p:nvPr/>
        </p:nvSpPr>
        <p:spPr>
          <a:xfrm rot="0" flipH="0" flipV="0">
            <a:off x="990600" y="4552950"/>
            <a:ext cx="485775" cy="1143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713">
                <a:solidFill>
                  <a:srgbClr val="6BC8D1"/>
                </a:solidFill>
                <a:latin typeface="Consolas"/>
                <a:ea typeface="Consolas"/>
              </a:rPr>
              <a:t>可观察</a:t>
            </a:r>
            <a:endParaRPr/>
          </a:p>
        </p:txBody>
      </p:sp>
      <p:sp>
        <p:nvSpPr>
          <p:cNvPr id="680" name=""/>
          <p:cNvSpPr/>
          <p:nvPr/>
        </p:nvSpPr>
        <p:spPr>
          <a:xfrm rot="0" flipH="0" flipV="0">
            <a:off x="1685925" y="4495800"/>
            <a:ext cx="714375" cy="228600"/>
          </a:xfrm>
          <a:prstGeom prst="roundRect">
            <a:avLst>
              <a:gd name="adj" fmla="val 16667"/>
            </a:avLst>
          </a:prstGeom>
          <a:ln w="12700">
            <a:solidFill>
              <a:srgbClr val="6BC8D1">
                <a:alpha val="28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681" name="" descr="{&quot;isTemplate&quot;:true,&quot;type&quot;:&quot;text&quot;}"/>
          <p:cNvSpPr txBox="1"/>
          <p:nvPr/>
        </p:nvSpPr>
        <p:spPr>
          <a:xfrm rot="0" flipH="0" flipV="0">
            <a:off x="1800225" y="4552950"/>
            <a:ext cx="485775" cy="1143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713">
                <a:solidFill>
                  <a:srgbClr val="6BC8D1"/>
                </a:solidFill>
                <a:latin typeface="Consolas"/>
                <a:ea typeface="Consolas"/>
              </a:rPr>
              <a:t>可干预</a:t>
            </a:r>
            <a:endParaRPr/>
          </a:p>
        </p:txBody>
      </p:sp>
      <p:sp>
        <p:nvSpPr>
          <p:cNvPr id="682" name=""/>
          <p:cNvSpPr/>
          <p:nvPr/>
        </p:nvSpPr>
        <p:spPr>
          <a:xfrm rot="0" flipH="0" flipV="0">
            <a:off x="2495550" y="4495800"/>
            <a:ext cx="714375" cy="228600"/>
          </a:xfrm>
          <a:prstGeom prst="roundRect">
            <a:avLst>
              <a:gd name="adj" fmla="val 16667"/>
            </a:avLst>
          </a:prstGeom>
          <a:ln w="12700">
            <a:solidFill>
              <a:srgbClr val="6BC8D1">
                <a:alpha val="28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683" name="" descr="{&quot;isTemplate&quot;:true,&quot;type&quot;:&quot;text&quot;}"/>
          <p:cNvSpPr txBox="1"/>
          <p:nvPr/>
        </p:nvSpPr>
        <p:spPr>
          <a:xfrm rot="0" flipH="0" flipV="0">
            <a:off x="2609850" y="4552950"/>
            <a:ext cx="485775" cy="1143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713">
                <a:solidFill>
                  <a:srgbClr val="6BC8D1"/>
                </a:solidFill>
                <a:latin typeface="Consolas"/>
                <a:ea typeface="Consolas"/>
              </a:rPr>
              <a:t>可解释</a:t>
            </a:r>
            <a:endParaRPr/>
          </a:p>
        </p:txBody>
      </p:sp>
      <p:sp>
        <p:nvSpPr>
          <p:cNvPr id="684" name=""/>
          <p:cNvSpPr/>
          <p:nvPr/>
        </p:nvSpPr>
        <p:spPr>
          <a:xfrm rot="0" flipH="0" flipV="0">
            <a:off x="3305175" y="4495800"/>
            <a:ext cx="714375" cy="228600"/>
          </a:xfrm>
          <a:prstGeom prst="roundRect">
            <a:avLst>
              <a:gd name="adj" fmla="val 16667"/>
            </a:avLst>
          </a:prstGeom>
          <a:ln w="12700">
            <a:solidFill>
              <a:srgbClr val="6BC8D1">
                <a:alpha val="28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685" name="" descr="{&quot;isTemplate&quot;:true,&quot;type&quot;:&quot;text&quot;}"/>
          <p:cNvSpPr txBox="1"/>
          <p:nvPr/>
        </p:nvSpPr>
        <p:spPr>
          <a:xfrm rot="0" flipH="0" flipV="0">
            <a:off x="3419475" y="4552950"/>
            <a:ext cx="485775" cy="1143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713">
                <a:solidFill>
                  <a:srgbClr val="6BC8D1"/>
                </a:solidFill>
                <a:latin typeface="Consolas"/>
                <a:ea typeface="Consolas"/>
              </a:rPr>
              <a:t>可复现</a:t>
            </a:r>
            <a:endParaRPr/>
          </a:p>
        </p:txBody>
      </p:sp>
      <p:sp>
        <p:nvSpPr>
          <p:cNvPr id="686" name="" descr="{&quot;isTemplate&quot;:true,&quot;type&quot;:&quot;text&quot;}"/>
          <p:cNvSpPr txBox="1"/>
          <p:nvPr/>
        </p:nvSpPr>
        <p:spPr>
          <a:xfrm rot="0" flipH="0" flipV="0">
            <a:off x="876300" y="6124575"/>
            <a:ext cx="123825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00">
                <a:solidFill>
                  <a:srgbClr val="F2F7F8">
                    <a:alpha val="50000"/>
                  </a:srgbClr>
                </a:solidFill>
                <a:latin typeface="Microsoft YaHei"/>
                <a:ea typeface="Microsoft YaHei"/>
              </a:rPr>
              <a:t>谢谢聆听</a:t>
            </a:r>
            <a:r>
              <a:rPr lang="en-US" sz="900">
                <a:solidFill>
                  <a:srgbClr val="F2F7F8">
                    <a:alpha val="50000"/>
                  </a:srgbClr>
                </a:solidFill>
                <a:latin typeface="Microsoft YaHei"/>
                <a:ea typeface="Microsoft YaHei"/>
              </a:rPr>
              <a:t> · </a:t>
            </a:r>
            <a:r>
              <a:rPr lang="zh-CN" sz="900">
                <a:solidFill>
                  <a:srgbClr val="F2F7F8">
                    <a:alpha val="50000"/>
                  </a:srgbClr>
                </a:solidFill>
                <a:latin typeface="Microsoft YaHei"/>
                <a:ea typeface="Microsoft YaHei"/>
              </a:rPr>
              <a:t>欢迎批评指正</a:t>
            </a:r>
            <a:endParaRPr/>
          </a:p>
        </p:txBody>
      </p:sp>
      <p:sp>
        <p:nvSpPr>
          <p:cNvPr id="687" name=""/>
          <p:cNvSpPr/>
          <p:nvPr/>
        </p:nvSpPr>
        <p:spPr>
          <a:xfrm rot="0" flipH="0" flipV="0">
            <a:off x="2247900" y="6191250"/>
            <a:ext cx="247650" cy="9525"/>
          </a:xfrm>
          <a:prstGeom prst="rect">
            <a:avLst/>
          </a:prstGeom>
          <a:solidFill>
            <a:srgbClr val="F2F7F8">
              <a:alpha val="22000"/>
            </a:srgbClr>
          </a:solidFill>
          <a:ln/>
        </p:spPr>
        <p:txBody>
          <a:bodyPr/>
          <a:p/>
        </p:txBody>
      </p:sp>
      <p:sp>
        <p:nvSpPr>
          <p:cNvPr id="688" name="" descr="{&quot;isTemplate&quot;:true,&quot;type&quot;:&quot;text&quot;}"/>
          <p:cNvSpPr txBox="1"/>
          <p:nvPr/>
        </p:nvSpPr>
        <p:spPr>
          <a:xfrm rot="0" flipH="0" flipV="0">
            <a:off x="2628900" y="6143625"/>
            <a:ext cx="3343275" cy="1143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713" spc="60">
                <a:solidFill>
                  <a:srgbClr val="F2F7F8">
                    <a:alpha val="34000"/>
                  </a:srgbClr>
                </a:solidFill>
                <a:latin typeface="Consolas"/>
                <a:ea typeface="Consolas"/>
              </a:rPr>
              <a:t>2026 </a:t>
            </a:r>
            <a:r>
              <a:rPr lang="zh-CN" sz="713" spc="60">
                <a:solidFill>
                  <a:srgbClr val="F2F7F8">
                    <a:alpha val="34000"/>
                  </a:srgbClr>
                </a:solidFill>
                <a:latin typeface="Consolas"/>
                <a:ea typeface="Consolas"/>
              </a:rPr>
              <a:t>全国大学生数字媒体科技作品及创意竞赛</a:t>
            </a:r>
            <a:endParaRPr/>
          </a:p>
        </p:txBody>
      </p:sp>
      <p:sp>
        <p:nvSpPr>
          <p:cNvPr id="689" name=""/>
          <p:cNvSpPr/>
          <p:nvPr/>
        </p:nvSpPr>
        <p:spPr>
          <a:xfrm rot="0" flipH="0" flipV="0">
            <a:off x="10391775" y="542925"/>
            <a:ext cx="57150" cy="57150"/>
          </a:xfrm>
          <a:prstGeom prst="roundRect">
            <a:avLst>
              <a:gd name="adj" fmla="val 50000"/>
            </a:avLst>
          </a:prstGeom>
          <a:solidFill>
            <a:srgbClr val="6BC8D1"/>
          </a:solidFill>
          <a:ln/>
        </p:spPr>
        <p:txBody>
          <a:bodyPr/>
          <a:p/>
        </p:txBody>
      </p:sp>
      <p:sp>
        <p:nvSpPr>
          <p:cNvPr id="690" name="" descr="{&quot;isTemplate&quot;:true,&quot;type&quot;:&quot;text&quot;}"/>
          <p:cNvSpPr txBox="1"/>
          <p:nvPr/>
        </p:nvSpPr>
        <p:spPr>
          <a:xfrm rot="0" flipH="0" flipV="0">
            <a:off x="10525125" y="514350"/>
            <a:ext cx="1076325" cy="1143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713" spc="105">
                <a:solidFill>
                  <a:srgbClr val="F2F7F8">
                    <a:alpha val="46000"/>
                  </a:srgbClr>
                </a:solidFill>
                <a:latin typeface="Consolas"/>
                <a:ea typeface="Consolas"/>
              </a:rPr>
              <a:t>ZHIYU NETWORK LAB</a:t>
            </a:r>
            <a:endParaRPr/>
          </a:p>
        </p:txBody>
      </p:sp>
      <p:sp>
        <p:nvSpPr>
          <p:cNvPr id="691" name="" descr="{&quot;isTemplate&quot;:true,&quot;type&quot;:&quot;text&quot;}"/>
          <p:cNvSpPr txBox="1"/>
          <p:nvPr/>
        </p:nvSpPr>
        <p:spPr>
          <a:xfrm rot="0" flipH="0" flipV="0">
            <a:off x="11268075" y="6457950"/>
            <a:ext cx="390525" cy="1238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788">
                <a:solidFill>
                  <a:srgbClr val="F2F7F8">
                    <a:alpha val="40000"/>
                  </a:srgbClr>
                </a:solidFill>
                <a:latin typeface="Consolas"/>
                <a:ea typeface="Consolas"/>
              </a:rPr>
              <a:t>22 / 22</a:t>
            </a:r>
            <a:endParaRPr/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Application>Tencent office</Applicat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2026-10-20T09:11:22Z</dcterms:created>
  <dcterms:modified xsi:type="dcterms:W3CDTF">2026-10-20T09:11:22Z</dcterms:modified>
</cp:coreProperties>
</file>